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8" r:id="rId3"/>
    <p:sldId id="260" r:id="rId4"/>
    <p:sldId id="259" r:id="rId5"/>
    <p:sldId id="272" r:id="rId6"/>
    <p:sldId id="267" r:id="rId7"/>
    <p:sldId id="427" r:id="rId8"/>
    <p:sldId id="270" r:id="rId9"/>
    <p:sldId id="273" r:id="rId10"/>
    <p:sldId id="434" r:id="rId11"/>
    <p:sldId id="358" r:id="rId12"/>
    <p:sldId id="439" r:id="rId13"/>
    <p:sldId id="437" r:id="rId14"/>
    <p:sldId id="438" r:id="rId15"/>
    <p:sldId id="440" r:id="rId16"/>
    <p:sldId id="442" r:id="rId17"/>
    <p:sldId id="436" r:id="rId18"/>
    <p:sldId id="435" r:id="rId19"/>
    <p:sldId id="419" r:id="rId20"/>
    <p:sldId id="441" r:id="rId21"/>
    <p:sldId id="364" r:id="rId22"/>
  </p:sldIdLst>
  <p:sldSz cx="9144000" cy="6858000" type="screen4x3"/>
  <p:notesSz cx="6858000" cy="9144000"/>
  <p:embeddedFontLst>
    <p:embeddedFont>
      <p:font typeface="Algerian" panose="04020705040A02060702" pitchFamily="82" charset="0"/>
      <p:regular r:id="rId24"/>
    </p:embeddedFont>
    <p:embeddedFont>
      <p:font typeface="Bookman Old Style" panose="02050604050505020204" pitchFamily="18" charset="0"/>
      <p:regular r:id="rId25"/>
      <p:bold r:id="rId26"/>
      <p:italic r:id="rId27"/>
      <p:boldItalic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20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2D"/>
    <a:srgbClr val="00602B"/>
    <a:srgbClr val="081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01D8F9-A757-453D-A41E-A8C038177BCF}" v="260" dt="2026-02-02T19:08:49.58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6D51072-94E4-4FC1-8697-D52FD32A7993}"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76" autoAdjust="0"/>
    <p:restoredTop sz="94790" autoAdjust="0"/>
  </p:normalViewPr>
  <p:slideViewPr>
    <p:cSldViewPr snapToGrid="0" showGuides="1">
      <p:cViewPr varScale="1">
        <p:scale>
          <a:sx n="69" d="100"/>
          <a:sy n="69" d="100"/>
        </p:scale>
        <p:origin x="1392" y="60"/>
      </p:cViewPr>
      <p:guideLst>
        <p:guide orient="horz" pos="220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61" name="Google Shape;16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80" name="Google Shape;18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4eb6b47e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96" name="Google Shape;196;ge4eb6b47ed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123825" lvl="0" indent="0" algn="just">
              <a:lnSpc>
                <a:spcPct val="150000"/>
              </a:lnSpc>
              <a:spcBef>
                <a:spcPts val="0"/>
              </a:spcBef>
              <a:buClr>
                <a:srgbClr val="282829"/>
              </a:buClr>
              <a:buSzPts val="1650"/>
              <a:buFont typeface="Roboto" panose="02000000000000000000"/>
              <a:buNone/>
            </a:pPr>
            <a:endParaRPr lang="en-US" sz="1200" dirty="0">
              <a:solidFill>
                <a:srgbClr val="282829"/>
              </a:solidFill>
              <a:latin typeface="Bookman Old Style" panose="02050604050505020204" pitchFamily="18" charset="0"/>
              <a:ea typeface="Roboto" panose="02000000000000000000"/>
              <a:cs typeface="Roboto" panose="02000000000000000000"/>
              <a:sym typeface="Roboto" panose="02000000000000000000"/>
            </a:endParaRPr>
          </a:p>
        </p:txBody>
      </p:sp>
      <p:sp>
        <p:nvSpPr>
          <p:cNvPr id="197" name="Google Shape;197;ge4eb6b47ed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panose="020B0604020202020204"/>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88" name="Google Shape;18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06" name="Google Shape;30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63" name="Google Shape;263;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F3A25EE5-320A-6758-0BD0-F9515DAF77AB}"/>
            </a:ext>
          </a:extLst>
        </p:cNvPr>
        <p:cNvGrpSpPr/>
        <p:nvPr/>
      </p:nvGrpSpPr>
      <p:grpSpPr>
        <a:xfrm>
          <a:off x="0" y="0"/>
          <a:ext cx="0" cy="0"/>
          <a:chOff x="0" y="0"/>
          <a:chExt cx="0" cy="0"/>
        </a:xfrm>
      </p:grpSpPr>
      <p:sp>
        <p:nvSpPr>
          <p:cNvPr id="261" name="Google Shape;261;p11:notes">
            <a:extLst>
              <a:ext uri="{FF2B5EF4-FFF2-40B4-BE49-F238E27FC236}">
                <a16:creationId xmlns:a16="http://schemas.microsoft.com/office/drawing/2014/main" id="{31A5B9D3-CB60-1A17-CF84-7CF062636A5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62" name="Google Shape;262;p11:notes">
            <a:extLst>
              <a:ext uri="{FF2B5EF4-FFF2-40B4-BE49-F238E27FC236}">
                <a16:creationId xmlns:a16="http://schemas.microsoft.com/office/drawing/2014/main" id="{027C2F93-B5D6-030E-40B2-12DEA4EC42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63" name="Google Shape;263;p11:notes">
            <a:extLst>
              <a:ext uri="{FF2B5EF4-FFF2-40B4-BE49-F238E27FC236}">
                <a16:creationId xmlns:a16="http://schemas.microsoft.com/office/drawing/2014/main" id="{8584A6B3-0F74-49D1-6F15-9DE10157E58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a:t>7</a:t>
            </a:fld>
            <a:endParaRPr lang="en-US"/>
          </a:p>
        </p:txBody>
      </p:sp>
    </p:spTree>
    <p:extLst>
      <p:ext uri="{BB962C8B-B14F-4D97-AF65-F5344CB8AC3E}">
        <p14:creationId xmlns:p14="http://schemas.microsoft.com/office/powerpoint/2010/main" val="1827668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89" name="Google Shape;28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100"/>
              <a:buFont typeface="Noto Sans Symbols"/>
              <a:buNone/>
            </a:pPr>
            <a:endParaRPr dirty="0"/>
          </a:p>
        </p:txBody>
      </p:sp>
      <p:sp>
        <p:nvSpPr>
          <p:cNvPr id="290" name="Google Shape;290;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14" name="Google Shape;31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14" name="Google Shape;31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664110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40464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85310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05618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00471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9285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62321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36216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1" name="Google Shape;1271;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a:extLst>
            <a:ext uri="{FF2B5EF4-FFF2-40B4-BE49-F238E27FC236}">
              <a16:creationId xmlns:a16="http://schemas.microsoft.com/office/drawing/2014/main" id="{08DCC375-6620-C469-891E-47295AACF4C9}"/>
            </a:ext>
          </a:extLst>
        </p:cNvPr>
        <p:cNvGrpSpPr/>
        <p:nvPr/>
      </p:nvGrpSpPr>
      <p:grpSpPr>
        <a:xfrm>
          <a:off x="0" y="0"/>
          <a:ext cx="0" cy="0"/>
          <a:chOff x="0" y="0"/>
          <a:chExt cx="0" cy="0"/>
        </a:xfrm>
      </p:grpSpPr>
      <p:sp>
        <p:nvSpPr>
          <p:cNvPr id="1270" name="Google Shape;1270;p103:notes">
            <a:extLst>
              <a:ext uri="{FF2B5EF4-FFF2-40B4-BE49-F238E27FC236}">
                <a16:creationId xmlns:a16="http://schemas.microsoft.com/office/drawing/2014/main" id="{F10B216C-16FF-B234-B6F4-14093266044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1" name="Google Shape;1271;p103:notes">
            <a:extLst>
              <a:ext uri="{FF2B5EF4-FFF2-40B4-BE49-F238E27FC236}">
                <a16:creationId xmlns:a16="http://schemas.microsoft.com/office/drawing/2014/main" id="{EF3B8943-91D3-976A-DE08-B11C5C6B3CA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69786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03" name="Google Shape;1303;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4180F06-E0DC-4EE3-87CC-13EFD3DCF758}" type="datetime1">
              <a:rPr lang="en-US" smtClean="0"/>
              <a:t>2/5/2026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D5F056A-0A36-494E-84D6-50EC59491478}" type="datetime1">
              <a:rPr lang="en-US" smtClean="0"/>
              <a:t>2/5/2026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6D6E94-A030-4F2D-8286-532CD28C210A}" type="datetime1">
              <a:rPr lang="en-US" smtClean="0"/>
              <a:t>2/5/2026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36D2D96-FE9E-4CBC-A309-E2C2C2450135}" type="datetime1">
              <a:rPr lang="en-US" smtClean="0"/>
              <a:t>2/5/2026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B9FBEAD-D86A-4836-BDB4-62AE0F8E0709}" type="datetime1">
              <a:rPr lang="en-US" smtClean="0"/>
              <a:t>2/5/2026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2895D39-D238-46EF-B717-94094E26B03F}" type="datetime1">
              <a:rPr lang="en-US" smtClean="0"/>
              <a:t>2/5/2026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4C0506-8C72-4281-B7DE-64218323E3AD}" type="datetime1">
              <a:rPr lang="en-US" smtClean="0"/>
              <a:t>2/5/2026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690B300-98E9-4547-8EAF-4F6636ED984E}" type="datetime1">
              <a:rPr lang="en-US" smtClean="0"/>
              <a:t>2/5/2026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1416B01-9D9E-4E38-A7AB-774CFF697F4B}" type="datetime1">
              <a:rPr lang="en-US" smtClean="0"/>
              <a:t>2/5/2026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7E01AD6-9AAC-452E-AB6B-E37F410EF9E4}" type="datetime1">
              <a:rPr lang="en-US" smtClean="0"/>
              <a:t>2/5/2026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24E06F-904B-463E-90EC-981B753D1E01}" type="datetime1">
              <a:rPr lang="en-US" smtClean="0"/>
              <a:t>2/5/2026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1416B01-9D9E-4E38-A7AB-774CFF697F4B}" type="datetime1">
              <a:rPr lang="en-US" smtClean="0"/>
              <a:t>2/5/2026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adilshamim8/greenhouse-plant-growth-metric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kaggle.com/datasets/trainingdatapro/ripe-strawberries-detection" TargetMode="External"/><Relationship Id="rId5" Type="http://schemas.openxmlformats.org/officeDocument/2006/relationships/hyperlink" Target="https://www.kaggle.com/datasets/arjunsudheer326/tomato-plant-stages-dataset" TargetMode="External"/><Relationship Id="rId4" Type="http://schemas.openxmlformats.org/officeDocument/2006/relationships/hyperlink" Target="https://www.kaggle.com/datasets/chaitanyagopidesi/smart-agriculture-dataset/data"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62"/>
        <p:cNvGrpSpPr/>
        <p:nvPr/>
      </p:nvGrpSpPr>
      <p:grpSpPr>
        <a:xfrm>
          <a:off x="0" y="0"/>
          <a:ext cx="0" cy="0"/>
          <a:chOff x="0" y="0"/>
          <a:chExt cx="0" cy="0"/>
        </a:xfrm>
      </p:grpSpPr>
      <p:sp>
        <p:nvSpPr>
          <p:cNvPr id="163" name="Google Shape;163;p1"/>
          <p:cNvSpPr/>
          <p:nvPr/>
        </p:nvSpPr>
        <p:spPr>
          <a:xfrm>
            <a:off x="544512" y="1543905"/>
            <a:ext cx="7970838" cy="1179513"/>
          </a:xfrm>
          <a:prstGeom prst="roundRect">
            <a:avLst>
              <a:gd name="adj" fmla="val 50000"/>
            </a:avLst>
          </a:prstGeom>
          <a:noFill/>
          <a:ln w="25400" cap="flat" cmpd="sng">
            <a:solidFill>
              <a:srgbClr val="31859B"/>
            </a:solidFill>
            <a:prstDash val="solid"/>
            <a:round/>
            <a:headEnd type="none" w="sm" len="sm"/>
            <a:tailEnd type="none" w="sm" len="sm"/>
          </a:ln>
        </p:spPr>
        <p:txBody>
          <a:bodyPr spcFirstLastPara="1" wrap="square" lIns="91425" tIns="45700" rIns="91425" bIns="45700" anchor="ctr" anchorCtr="0">
            <a:noAutofit/>
          </a:bodyPr>
          <a:lstStyle/>
          <a:p>
            <a:pPr algn="ctr">
              <a:buClr>
                <a:srgbClr val="00B050"/>
              </a:buClr>
              <a:buSzPts val="2400"/>
            </a:pPr>
            <a:r>
              <a:rPr lang="en-US" sz="2300" b="1" i="0" u="none" strike="noStrike" cap="none" dirty="0">
                <a:solidFill>
                  <a:srgbClr val="006600"/>
                </a:solidFill>
                <a:latin typeface="Algerian" panose="04020705040A02060702" pitchFamily="82" charset="0"/>
                <a:ea typeface="Times New Roman" panose="02020603050405020304"/>
                <a:cs typeface="Times New Roman" panose="02020603050405020304"/>
                <a:sym typeface="Times New Roman" panose="02020603050405020304"/>
              </a:rPr>
              <a:t>AGRITWIN-GH: SMART AGRICULTURE TWIN FOR PRECISION GREENHOUSE HORTICULTURE</a:t>
            </a:r>
            <a:endParaRPr lang="en-US" sz="2300" b="1" i="0" u="none" strike="noStrike" cap="none" dirty="0">
              <a:solidFill>
                <a:srgbClr val="00B050"/>
              </a:solidFill>
              <a:latin typeface="Time New Roman"/>
              <a:ea typeface="Times New Roman" panose="02020603050405020304"/>
              <a:cs typeface="Times New Roman" panose="02020603050405020304"/>
              <a:sym typeface="Times New Roman" panose="02020603050405020304"/>
            </a:endParaRPr>
          </a:p>
        </p:txBody>
      </p:sp>
      <p:sp>
        <p:nvSpPr>
          <p:cNvPr id="164" name="Google Shape;164;p1"/>
          <p:cNvSpPr txBox="1">
            <a:spLocks noGrp="1"/>
          </p:cNvSpPr>
          <p:nvPr>
            <p:ph type="subTitle" idx="1"/>
          </p:nvPr>
        </p:nvSpPr>
        <p:spPr>
          <a:xfrm>
            <a:off x="0" y="3036656"/>
            <a:ext cx="9144000" cy="2170344"/>
          </a:xfrm>
          <a:prstGeom prst="rect">
            <a:avLst/>
          </a:prstGeom>
          <a:noFill/>
          <a:ln>
            <a:noFill/>
          </a:ln>
        </p:spPr>
        <p:txBody>
          <a:bodyPr spcFirstLastPara="1" wrap="square" lIns="91425" tIns="45700" rIns="91425" bIns="45700" anchor="t" anchorCtr="0">
            <a:noAutofit/>
          </a:bodyPr>
          <a:lstStyle/>
          <a:p>
            <a:pPr marL="0" lvl="0" indent="0" rtl="0">
              <a:lnSpc>
                <a:spcPct val="60000"/>
              </a:lnSpc>
              <a:spcBef>
                <a:spcPts val="0"/>
              </a:spcBef>
              <a:spcAft>
                <a:spcPts val="0"/>
              </a:spcAft>
              <a:buClr>
                <a:srgbClr val="E830DB"/>
              </a:buClr>
              <a:buSzPts val="2100"/>
              <a:buNone/>
            </a:pPr>
            <a:r>
              <a:rPr lang="en-US" sz="2100" b="1" i="1" dirty="0">
                <a:solidFill>
                  <a:srgbClr val="006600"/>
                </a:solidFill>
                <a:latin typeface="Time New Roman"/>
                <a:cs typeface="Arial" panose="020B0604020202020204"/>
                <a:sym typeface="Times New Roman" panose="02020603050405020304"/>
              </a:rPr>
              <a:t>Under</a:t>
            </a:r>
            <a:r>
              <a:rPr lang="en-US" sz="2100" b="1" i="1" dirty="0">
                <a:solidFill>
                  <a:srgbClr val="00B050"/>
                </a:solidFill>
                <a:latin typeface="Time New Roman"/>
                <a:ea typeface="Times New Roman" panose="02020603050405020304"/>
                <a:cs typeface="Times New Roman" panose="02020603050405020304"/>
                <a:sym typeface="Times New Roman" panose="02020603050405020304"/>
              </a:rPr>
              <a:t> </a:t>
            </a:r>
            <a:r>
              <a:rPr lang="en-US" sz="2100" b="1" i="1" dirty="0">
                <a:solidFill>
                  <a:srgbClr val="006600"/>
                </a:solidFill>
                <a:latin typeface="Time New Roman"/>
                <a:cs typeface="Arial" panose="020B0604020202020204"/>
                <a:sym typeface="Times New Roman" panose="02020603050405020304"/>
              </a:rPr>
              <a:t>the</a:t>
            </a:r>
            <a:r>
              <a:rPr lang="en-US" sz="2100" b="1" i="1" dirty="0">
                <a:solidFill>
                  <a:srgbClr val="00B050"/>
                </a:solidFill>
                <a:latin typeface="Time New Roman"/>
                <a:ea typeface="Times New Roman" panose="02020603050405020304"/>
                <a:cs typeface="Times New Roman" panose="02020603050405020304"/>
                <a:sym typeface="Times New Roman" panose="02020603050405020304"/>
              </a:rPr>
              <a:t> </a:t>
            </a:r>
            <a:r>
              <a:rPr lang="en-US" sz="2100" b="1" i="1" dirty="0">
                <a:solidFill>
                  <a:srgbClr val="006600"/>
                </a:solidFill>
                <a:latin typeface="Time New Roman"/>
                <a:cs typeface="Arial" panose="020B0604020202020204"/>
                <a:sym typeface="Times New Roman" panose="02020603050405020304"/>
              </a:rPr>
              <a:t>Supervision</a:t>
            </a:r>
            <a:r>
              <a:rPr lang="en-US" sz="2100" b="1" i="1" dirty="0">
                <a:solidFill>
                  <a:srgbClr val="00B050"/>
                </a:solidFill>
                <a:latin typeface="Time New Roman"/>
                <a:ea typeface="Times New Roman" panose="02020603050405020304"/>
                <a:cs typeface="Times New Roman" panose="02020603050405020304"/>
                <a:sym typeface="Times New Roman" panose="02020603050405020304"/>
              </a:rPr>
              <a:t> </a:t>
            </a:r>
            <a:r>
              <a:rPr lang="en-US" sz="2100" b="1" i="1" dirty="0">
                <a:solidFill>
                  <a:srgbClr val="006600"/>
                </a:solidFill>
                <a:latin typeface="Time New Roman"/>
                <a:cs typeface="Arial" panose="020B0604020202020204"/>
                <a:sym typeface="Times New Roman" panose="02020603050405020304"/>
              </a:rPr>
              <a:t>of</a:t>
            </a:r>
            <a:endParaRPr lang="en-US" sz="2100" b="1" i="1" dirty="0">
              <a:solidFill>
                <a:srgbClr val="006600"/>
              </a:solidFill>
              <a:latin typeface="Time New Roman"/>
              <a:cs typeface="Arial" panose="020B0604020202020204"/>
              <a:sym typeface="Arial" panose="020B0604020202020204"/>
            </a:endParaRPr>
          </a:p>
          <a:p>
            <a:pPr marL="0" lvl="0" indent="0" rtl="0">
              <a:lnSpc>
                <a:spcPct val="60000"/>
              </a:lnSpc>
              <a:spcBef>
                <a:spcPts val="0"/>
              </a:spcBef>
              <a:spcAft>
                <a:spcPts val="0"/>
              </a:spcAft>
              <a:buClr>
                <a:srgbClr val="E830DB"/>
              </a:buClr>
              <a:buSzPts val="2100"/>
              <a:buNone/>
            </a:pPr>
            <a:endParaRPr lang="en-US" sz="2100" b="1" i="1" dirty="0">
              <a:solidFill>
                <a:srgbClr val="006600"/>
              </a:solidFill>
              <a:latin typeface="Time New Roman"/>
              <a:ea typeface="Times New Roman" panose="02020603050405020304"/>
              <a:cs typeface="Arial" panose="020B0604020202020204"/>
              <a:sym typeface="Arial" panose="020B0604020202020204"/>
            </a:endParaRPr>
          </a:p>
          <a:p>
            <a:pPr marL="0" lvl="0" indent="0" rtl="0">
              <a:lnSpc>
                <a:spcPct val="100000"/>
              </a:lnSpc>
              <a:spcBef>
                <a:spcPts val="0"/>
              </a:spcBef>
              <a:spcAft>
                <a:spcPts val="0"/>
              </a:spcAft>
              <a:buClr>
                <a:srgbClr val="E830DB"/>
              </a:buClr>
              <a:buSzPts val="2100"/>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Dr. V. </a:t>
            </a:r>
            <a:r>
              <a:rPr lang="en-US" sz="20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Govindasamy</a:t>
            </a:r>
            <a:endParaRPr lang="en-US" sz="1350" dirty="0">
              <a:sym typeface="Times New Roman" panose="02020603050405020304"/>
            </a:endParaRPr>
          </a:p>
          <a:p>
            <a:pPr marL="0" lvl="0" indent="0" rtl="0">
              <a:lnSpc>
                <a:spcPct val="100000"/>
              </a:lnSpc>
              <a:spcBef>
                <a:spcPts val="0"/>
              </a:spcBef>
              <a:spcAft>
                <a:spcPts val="0"/>
              </a:spcAft>
              <a:buClr>
                <a:srgbClr val="E830DB"/>
              </a:buClr>
              <a:buSzPts val="2100"/>
              <a:buNone/>
            </a:pPr>
            <a:r>
              <a:rPr lang="en-US" sz="1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Professor</a:t>
            </a:r>
          </a:p>
          <a:p>
            <a:pPr marL="0" lvl="0" indent="0" rtl="0">
              <a:lnSpc>
                <a:spcPct val="100000"/>
              </a:lnSpc>
              <a:spcBef>
                <a:spcPts val="0"/>
              </a:spcBef>
              <a:spcAft>
                <a:spcPts val="0"/>
              </a:spcAft>
              <a:buClr>
                <a:srgbClr val="E830DB"/>
              </a:buClr>
              <a:buSzPts val="2100"/>
              <a:buNone/>
            </a:pPr>
            <a:r>
              <a:rPr lang="en-IN" sz="17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Information Technology</a:t>
            </a:r>
            <a:endParaRPr lang="en-IN" sz="1350" dirty="0">
              <a:ea typeface="Times New Roman" panose="02020603050405020304"/>
              <a:sym typeface="Times New Roman" panose="02020603050405020304"/>
            </a:endParaRPr>
          </a:p>
          <a:p>
            <a:pPr marL="0" lvl="0" indent="0" rtl="0">
              <a:lnSpc>
                <a:spcPct val="100000"/>
              </a:lnSpc>
              <a:spcBef>
                <a:spcPts val="0"/>
              </a:spcBef>
              <a:spcAft>
                <a:spcPts val="0"/>
              </a:spcAft>
              <a:buClr>
                <a:srgbClr val="E830DB"/>
              </a:buClr>
              <a:buSzPts val="2100"/>
              <a:buNone/>
            </a:pPr>
            <a:r>
              <a:rPr lang="en-US" sz="1700" b="1" dirty="0">
                <a:solidFill>
                  <a:schemeClr val="dk1"/>
                </a:solidFill>
                <a:latin typeface="Times New Roman" panose="02020603050405020304"/>
                <a:cs typeface="Times New Roman" panose="02020603050405020304"/>
                <a:sym typeface="Times New Roman" panose="02020603050405020304"/>
              </a:rPr>
              <a:t>Puducherry Technological University</a:t>
            </a:r>
            <a:endParaRPr dirty="0"/>
          </a:p>
        </p:txBody>
      </p:sp>
      <p:sp>
        <p:nvSpPr>
          <p:cNvPr id="167" name="Google Shape;167;p1"/>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4"/>
          <a:stretch>
            <a:fillRect/>
          </a:stretch>
        </p:blipFill>
        <p:spPr>
          <a:xfrm>
            <a:off x="318654" y="63171"/>
            <a:ext cx="1170533" cy="1377815"/>
          </a:xfrm>
          <a:prstGeom prst="rect">
            <a:avLst/>
          </a:prstGeom>
        </p:spPr>
      </p:pic>
      <p:sp>
        <p:nvSpPr>
          <p:cNvPr id="3" name="Rectangle 2"/>
          <p:cNvSpPr/>
          <p:nvPr/>
        </p:nvSpPr>
        <p:spPr>
          <a:xfrm>
            <a:off x="1489187" y="63171"/>
            <a:ext cx="7571303" cy="1138773"/>
          </a:xfrm>
          <a:prstGeom prst="rect">
            <a:avLst/>
          </a:prstGeom>
        </p:spPr>
        <p:txBody>
          <a:bodyPr wrap="none">
            <a:spAutoFit/>
          </a:bodyPr>
          <a:lstStyle/>
          <a:p>
            <a:r>
              <a:rPr lang="en-US" sz="3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a:cs typeface="Times New Roman" panose="02020603050405020304"/>
                <a:sym typeface="Times New Roman" panose="02020603050405020304"/>
              </a:rPr>
              <a:t>Puducherry Technological University</a:t>
            </a:r>
          </a:p>
          <a:p>
            <a:r>
              <a:rPr lang="en-IN" sz="3200" b="1" dirty="0">
                <a:ln w="12700">
                  <a:solidFill>
                    <a:schemeClr val="tx2">
                      <a:lumMod val="75000"/>
                    </a:schemeClr>
                  </a:solidFill>
                  <a:prstDash val="solid"/>
                </a:ln>
                <a:solidFill>
                  <a:srgbClr val="FF0000"/>
                </a:solidFill>
                <a:effectLst>
                  <a:outerShdw dist="38100" dir="2640000" algn="bl" rotWithShape="0">
                    <a:schemeClr val="tx2">
                      <a:lumMod val="75000"/>
                    </a:schemeClr>
                  </a:outerShdw>
                </a:effectLst>
                <a:latin typeface="Times New Roman" panose="02020603050405020304"/>
                <a:cs typeface="Times New Roman" panose="02020603050405020304"/>
              </a:rPr>
              <a:t>   Department of Information Technology</a:t>
            </a:r>
            <a:endParaRPr lang="en-US" sz="3200" b="1" dirty="0">
              <a:ln w="12700">
                <a:solidFill>
                  <a:schemeClr val="tx2">
                    <a:lumMod val="75000"/>
                  </a:schemeClr>
                </a:solidFill>
                <a:prstDash val="solid"/>
              </a:ln>
              <a:solidFill>
                <a:srgbClr val="FF0000"/>
              </a:solidFill>
              <a:effectLst>
                <a:outerShdw dist="38100" dir="2640000" algn="bl" rotWithShape="0">
                  <a:schemeClr val="tx2">
                    <a:lumMod val="75000"/>
                  </a:schemeClr>
                </a:outerShdw>
              </a:effectLst>
              <a:latin typeface="Times New Roman" panose="02020603050405020304"/>
              <a:cs typeface="Times New Roman" panose="02020603050405020304"/>
              <a:sym typeface="Times New Roman" panose="02020603050405020304"/>
            </a:endParaRPr>
          </a:p>
        </p:txBody>
      </p:sp>
      <p:sp>
        <p:nvSpPr>
          <p:cNvPr id="4" name="Rectangle 3"/>
          <p:cNvSpPr/>
          <p:nvPr/>
        </p:nvSpPr>
        <p:spPr>
          <a:xfrm>
            <a:off x="3222885" y="5405026"/>
            <a:ext cx="5832601" cy="1200329"/>
          </a:xfrm>
          <a:prstGeom prst="rect">
            <a:avLst/>
          </a:prstGeom>
        </p:spPr>
        <p:txBody>
          <a:bodyPr wrap="square">
            <a:spAutoFit/>
          </a:bodyPr>
          <a:lstStyle/>
          <a:p>
            <a:pPr lvl="0" algn="ctr">
              <a:buClr>
                <a:schemeClr val="dk1"/>
              </a:buClr>
              <a:buSzPts val="2000"/>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Project By</a:t>
            </a:r>
            <a:endPar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lgn="r">
              <a:buClr>
                <a:schemeClr val="dk1"/>
              </a:buClr>
              <a:buSzPts val="2000"/>
            </a:pP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Mr. Arjun Christopher S </a:t>
            </a:r>
            <a:r>
              <a:rPr lang="en-US" sz="1800" b="1" dirty="0">
                <a:solidFill>
                  <a:schemeClr val="dk1"/>
                </a:solidFill>
                <a:latin typeface="Times New Roman" panose="02020603050405020304"/>
                <a:cs typeface="Times New Roman" panose="02020603050405020304"/>
                <a:sym typeface="Times New Roman" panose="02020603050405020304"/>
              </a:rPr>
              <a:t>(Reg No : 2201112007)</a:t>
            </a:r>
          </a:p>
          <a:p>
            <a:pPr algn="r">
              <a:buClr>
                <a:schemeClr val="dk1"/>
              </a:buClr>
              <a:buSzPts val="2000"/>
            </a:pP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Miss. </a:t>
            </a:r>
            <a:r>
              <a:rPr lang="en-US" sz="18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Bhuvanalakshmi</a:t>
            </a: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J P </a:t>
            </a:r>
            <a:r>
              <a:rPr lang="en-US" sz="1800" b="1" dirty="0">
                <a:solidFill>
                  <a:schemeClr val="dk1"/>
                </a:solidFill>
                <a:latin typeface="Times New Roman" panose="02020603050405020304"/>
                <a:cs typeface="Times New Roman" panose="02020603050405020304"/>
                <a:sym typeface="Times New Roman" panose="02020603050405020304"/>
              </a:rPr>
              <a:t>(Reg No : 2201112009)</a:t>
            </a:r>
            <a:endParaRPr lang="en-US" sz="1800" b="1" dirty="0"/>
          </a:p>
          <a:p>
            <a:pPr algn="r">
              <a:buClr>
                <a:schemeClr val="dk1"/>
              </a:buClr>
              <a:buSzPts val="2000"/>
            </a:pP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Miss. </a:t>
            </a:r>
            <a:r>
              <a:rPr lang="en-US" sz="18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Vantapati</a:t>
            </a: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Raja Rajeswari </a:t>
            </a:r>
            <a:r>
              <a:rPr lang="en-US" sz="1800" b="1" dirty="0">
                <a:solidFill>
                  <a:schemeClr val="dk1"/>
                </a:solidFill>
                <a:latin typeface="Times New Roman" panose="02020603050405020304"/>
                <a:cs typeface="Times New Roman" panose="02020603050405020304"/>
                <a:sym typeface="Times New Roman" panose="02020603050405020304"/>
              </a:rPr>
              <a:t>(Reg No : 2201112052)</a:t>
            </a:r>
            <a:endParaRPr lang="en-US" sz="1200" b="1"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81"/>
        <p:cNvGrpSpPr/>
        <p:nvPr/>
      </p:nvGrpSpPr>
      <p:grpSpPr>
        <a:xfrm>
          <a:off x="0" y="0"/>
          <a:ext cx="0" cy="0"/>
          <a:chOff x="0" y="0"/>
          <a:chExt cx="0" cy="0"/>
        </a:xfrm>
      </p:grpSpPr>
      <p:sp>
        <p:nvSpPr>
          <p:cNvPr id="182" name="Google Shape;182;p3"/>
          <p:cNvSpPr txBox="1">
            <a:spLocks noGrp="1"/>
          </p:cNvSpPr>
          <p:nvPr>
            <p:ph type="title"/>
          </p:nvPr>
        </p:nvSpPr>
        <p:spPr>
          <a:xfrm>
            <a:off x="0" y="-72309"/>
            <a:ext cx="9143998" cy="64557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Arial" panose="020B0604020202020204"/>
                <a:sym typeface="Times New Roman" panose="02020603050405020304"/>
              </a:rPr>
              <a:t>Agenda</a:t>
            </a:r>
            <a:endParaRPr sz="2800" b="1" dirty="0">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 name="Google Shape;185;p3"/>
          <p:cNvSpPr txBox="1">
            <a:spLocks noGrp="1"/>
          </p:cNvSpPr>
          <p:nvPr>
            <p:ph idx="1"/>
          </p:nvPr>
        </p:nvSpPr>
        <p:spPr>
          <a:xfrm>
            <a:off x="-2" y="528886"/>
            <a:ext cx="9143999" cy="6050492"/>
          </a:xfrm>
          <a:prstGeom prst="rect">
            <a:avLst/>
          </a:prstGeom>
          <a:noFill/>
          <a:ln>
            <a:noFill/>
          </a:ln>
        </p:spPr>
        <p:txBody>
          <a:bodyPr spcFirstLastPara="1" wrap="square" lIns="91425" tIns="45700" rIns="91425" bIns="45700" anchor="t" anchorCtr="0">
            <a:noAutofit/>
          </a:bodyPr>
          <a:lstStyle/>
          <a:p>
            <a:pPr marL="468630" marR="0" lvl="0" indent="-285750" algn="l" rtl="0">
              <a:lnSpc>
                <a:spcPts val="2400"/>
              </a:lnSpc>
              <a:spcBef>
                <a:spcPts val="0"/>
              </a:spcBef>
              <a:spcAft>
                <a:spcPts val="0"/>
              </a:spcAft>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Abstract</a:t>
            </a:r>
          </a:p>
          <a:p>
            <a:pPr marL="468630" marR="0" lvl="0" indent="-285750" algn="l" rtl="0">
              <a:lnSpc>
                <a:spcPts val="2400"/>
              </a:lnSpc>
              <a:spcBef>
                <a:spcPts val="0"/>
              </a:spcBef>
              <a:spcAft>
                <a:spcPts val="0"/>
              </a:spcAft>
              <a:buClr>
                <a:schemeClr val="dk1"/>
              </a:buClr>
              <a:buSzPts val="2100"/>
              <a:buFont typeface="Wingdings" panose="05000000000000000000" pitchFamily="2" charset="2"/>
              <a:buChar char="v"/>
            </a:pPr>
            <a:r>
              <a:rPr lang="en-US" sz="1800"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Introduction to </a:t>
            </a:r>
            <a:r>
              <a:rPr lang="en-US" sz="1800" dirty="0" err="1">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AgriTwin</a:t>
            </a:r>
            <a:r>
              <a:rPr lang="en-US" sz="1800"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-GH</a:t>
            </a:r>
            <a:endParaRPr sz="1800" dirty="0">
              <a:latin typeface="Bookman Old Style" panose="02050604050505020204" pitchFamily="18" charset="0"/>
            </a:endParaRPr>
          </a:p>
          <a:p>
            <a:pPr marL="468630" marR="0" lvl="0" indent="-285750" algn="l" rtl="0">
              <a:lnSpc>
                <a:spcPts val="2400"/>
              </a:lnSpc>
              <a:spcBef>
                <a:spcPts val="200"/>
              </a:spcBef>
              <a:spcAft>
                <a:spcPts val="0"/>
              </a:spcAft>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Project Objectives </a:t>
            </a:r>
            <a:endParaRPr sz="1800" dirty="0">
              <a:latin typeface="Bookman Old Style" panose="02050604050505020204" pitchFamily="18" charset="0"/>
            </a:endParaRPr>
          </a:p>
          <a:p>
            <a:pPr marL="468630" marR="0" lvl="0" indent="-285750" algn="l" rtl="0">
              <a:lnSpc>
                <a:spcPts val="2400"/>
              </a:lnSpc>
              <a:spcBef>
                <a:spcPts val="200"/>
              </a:spcBef>
              <a:spcAft>
                <a:spcPts val="0"/>
              </a:spcAft>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Literature Survey</a:t>
            </a:r>
            <a:endParaRPr sz="1800" dirty="0">
              <a:latin typeface="Bookman Old Style" panose="02050604050505020204" pitchFamily="18" charset="0"/>
            </a:endParaRPr>
          </a:p>
          <a:p>
            <a:pPr marL="468630" marR="0" lvl="0" indent="-285750" algn="l" rtl="0">
              <a:lnSpc>
                <a:spcPts val="2400"/>
              </a:lnSpc>
              <a:spcBef>
                <a:spcPts val="200"/>
              </a:spcBef>
              <a:spcAft>
                <a:spcPts val="0"/>
              </a:spcAft>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Inference from Literature Survey</a:t>
            </a:r>
            <a:endParaRPr sz="1800" dirty="0">
              <a:latin typeface="Bookman Old Style" panose="02050604050505020204" pitchFamily="18" charset="0"/>
            </a:endParaRPr>
          </a:p>
          <a:p>
            <a:pPr marL="468630" marR="0" lvl="0" indent="-285750" algn="just" rtl="0">
              <a:lnSpc>
                <a:spcPts val="2400"/>
              </a:lnSpc>
              <a:spcBef>
                <a:spcPts val="200"/>
              </a:spcBef>
              <a:spcAft>
                <a:spcPts val="0"/>
              </a:spcAft>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Proposed Project “</a:t>
            </a:r>
            <a:r>
              <a:rPr lang="en-US" sz="1800" b="1" dirty="0" err="1">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AgriTwin</a:t>
            </a:r>
            <a:r>
              <a:rPr lang="en-US" sz="1800" b="1"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-GH: Smart Agriculture Twin for Precision Greenhouse Horticulture</a:t>
            </a:r>
            <a:r>
              <a:rPr lang="en-US" sz="1800"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a:t>
            </a:r>
            <a:endParaRPr lang="en-US" sz="1800" b="1" dirty="0">
              <a:solidFill>
                <a:srgbClr val="3B3BEF"/>
              </a:solidFill>
              <a:latin typeface="Bookman Old Style" panose="02050604050505020204" pitchFamily="18" charset="0"/>
              <a:ea typeface="Times New Roman" panose="02020603050405020304"/>
              <a:cs typeface="Times New Roman" panose="02020603050405020304"/>
              <a:sym typeface="Times New Roman" panose="02020603050405020304"/>
            </a:endParaRPr>
          </a:p>
          <a:p>
            <a:pPr marL="468630" marR="0" lvl="0" indent="-285750" algn="just" rtl="0">
              <a:lnSpc>
                <a:spcPts val="2400"/>
              </a:lnSpc>
              <a:spcBef>
                <a:spcPts val="200"/>
              </a:spcBef>
              <a:spcAft>
                <a:spcPts val="0"/>
              </a:spcAft>
              <a:buClr>
                <a:schemeClr val="dk1"/>
              </a:buClr>
              <a:buSzPts val="2100"/>
              <a:buFont typeface="Wingdings" panose="05000000000000000000" pitchFamily="2" charset="2"/>
              <a:buChar char="v"/>
            </a:pPr>
            <a:r>
              <a:rPr lang="en-US" sz="1800" dirty="0">
                <a:latin typeface="Bookman Old Style" panose="02050604050505020204" pitchFamily="18" charset="0"/>
                <a:cs typeface="Times New Roman" panose="02020603050405020304"/>
                <a:sym typeface="Times New Roman" panose="02020603050405020304"/>
              </a:rPr>
              <a:t>High-Level Architecture Diagram</a:t>
            </a:r>
          </a:p>
          <a:p>
            <a:pPr marL="468630" marR="0" lvl="0" indent="-285750" algn="just" rtl="0">
              <a:lnSpc>
                <a:spcPts val="2400"/>
              </a:lnSpc>
              <a:spcBef>
                <a:spcPts val="200"/>
              </a:spcBef>
              <a:spcAft>
                <a:spcPts val="0"/>
              </a:spcAft>
              <a:buClr>
                <a:schemeClr val="dk1"/>
              </a:buClr>
              <a:buSzPts val="2100"/>
              <a:buFont typeface="Wingdings" panose="05000000000000000000" pitchFamily="2" charset="2"/>
              <a:buChar char="v"/>
            </a:pPr>
            <a:r>
              <a:rPr lang="en-US" sz="1800" dirty="0">
                <a:latin typeface="Bookman Old Style" panose="02050604050505020204" pitchFamily="18" charset="0"/>
                <a:cs typeface="Times New Roman" panose="02020603050405020304"/>
                <a:sym typeface="Times New Roman" panose="02020603050405020304"/>
              </a:rPr>
              <a:t>Input Data  and Expected Output</a:t>
            </a:r>
          </a:p>
          <a:p>
            <a:pPr marL="468630" marR="0" lvl="0" indent="-285750" algn="l" rtl="0">
              <a:lnSpc>
                <a:spcPts val="2400"/>
              </a:lnSpc>
              <a:spcBef>
                <a:spcPts val="200"/>
              </a:spcBef>
              <a:spcAft>
                <a:spcPts val="0"/>
              </a:spcAft>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Project  Modules</a:t>
            </a:r>
          </a:p>
          <a:p>
            <a:pPr marL="1006475" lvl="2" indent="-285750" algn="just">
              <a:lnSpc>
                <a:spcPts val="2400"/>
              </a:lnSpc>
              <a:spcBef>
                <a:spcPts val="380"/>
              </a:spcBef>
              <a:buClr>
                <a:schemeClr val="dk1"/>
              </a:buClr>
              <a:buSzPts val="1900"/>
              <a:buFont typeface="Wingdings" panose="05000000000000000000" pitchFamily="2" charset="2"/>
              <a:buChar char="q"/>
            </a:pPr>
            <a:r>
              <a:rPr lang="en-US" sz="1800" dirty="0">
                <a:latin typeface="Bookman Old Style" panose="02050604050505020204" pitchFamily="18" charset="0"/>
                <a:cs typeface="Times New Roman" panose="02020603050405020304"/>
                <a:sym typeface="Times New Roman" panose="02020603050405020304"/>
              </a:rPr>
              <a:t>Module – I: Unified Data Processing</a:t>
            </a:r>
            <a:endParaRPr lang="en-US" sz="1800" i="0" u="none" strike="noStrike" cap="none" dirty="0">
              <a:latin typeface="Bookman Old Style" panose="02050604050505020204" pitchFamily="18" charset="0"/>
              <a:ea typeface="Times New Roman" panose="02020603050405020304"/>
              <a:cs typeface="Times New Roman" panose="02020603050405020304"/>
              <a:sym typeface="Times New Roman" panose="02020603050405020304"/>
            </a:endParaRPr>
          </a:p>
          <a:p>
            <a:pPr marL="1006475" lvl="2" indent="-285750" algn="just">
              <a:lnSpc>
                <a:spcPts val="2400"/>
              </a:lnSpc>
              <a:spcBef>
                <a:spcPts val="380"/>
              </a:spcBef>
              <a:buClr>
                <a:schemeClr val="dk1"/>
              </a:buClr>
              <a:buSzPts val="1900"/>
              <a:buFont typeface="Wingdings" panose="05000000000000000000" pitchFamily="2" charset="2"/>
              <a:buChar char="q"/>
            </a:pPr>
            <a:r>
              <a:rPr lang="en-US" sz="1800" dirty="0">
                <a:latin typeface="Bookman Old Style" panose="02050604050505020204" pitchFamily="18" charset="0"/>
                <a:cs typeface="Times New Roman" panose="02020603050405020304"/>
                <a:sym typeface="Times New Roman" panose="02020603050405020304"/>
              </a:rPr>
              <a:t>Module – II: Predictive Analytics &amp; Classification</a:t>
            </a:r>
            <a:endParaRPr lang="en-US" sz="1800" i="0" u="none" strike="noStrike" cap="none" dirty="0">
              <a:latin typeface="Bookman Old Style" panose="02050604050505020204" pitchFamily="18" charset="0"/>
              <a:ea typeface="Times New Roman" panose="02020603050405020304"/>
              <a:cs typeface="Times New Roman" panose="02020603050405020304"/>
              <a:sym typeface="Times New Roman" panose="02020603050405020304"/>
            </a:endParaRPr>
          </a:p>
          <a:p>
            <a:pPr marL="1006475" lvl="2" indent="-285750" algn="just">
              <a:lnSpc>
                <a:spcPts val="2400"/>
              </a:lnSpc>
              <a:spcBef>
                <a:spcPts val="380"/>
              </a:spcBef>
              <a:buClr>
                <a:schemeClr val="dk1"/>
              </a:buClr>
              <a:buSzPts val="1900"/>
              <a:buFont typeface="Wingdings" panose="05000000000000000000" pitchFamily="2" charset="2"/>
              <a:buChar char="q"/>
            </a:pPr>
            <a:r>
              <a:rPr lang="en-US" sz="1800" dirty="0">
                <a:latin typeface="Bookman Old Style" panose="02050604050505020204" pitchFamily="18" charset="0"/>
                <a:cs typeface="Times New Roman" panose="02020603050405020304"/>
                <a:sym typeface="Times New Roman" panose="02020603050405020304"/>
              </a:rPr>
              <a:t>Module – III: Digital Twin &amp; Model Predictive Control </a:t>
            </a:r>
          </a:p>
          <a:p>
            <a:pPr marL="468630" lvl="0" indent="-285750">
              <a:lnSpc>
                <a:spcPts val="2400"/>
              </a:lnSpc>
              <a:spcBef>
                <a:spcPts val="200"/>
              </a:spcBef>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Implementation &amp; System Requirements</a:t>
            </a:r>
          </a:p>
          <a:p>
            <a:pPr marL="468630" lvl="0" indent="-285750">
              <a:lnSpc>
                <a:spcPts val="2400"/>
              </a:lnSpc>
              <a:spcBef>
                <a:spcPts val="200"/>
              </a:spcBef>
              <a:buClr>
                <a:schemeClr val="dk1"/>
              </a:buClr>
              <a:buSzPts val="2100"/>
              <a:buFont typeface="Wingdings" panose="05000000000000000000" pitchFamily="2" charset="2"/>
              <a:buChar char="v"/>
            </a:pPr>
            <a:r>
              <a:rPr lang="en-US" sz="1800"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Project Development Timeline</a:t>
            </a:r>
            <a:endPar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endParaRPr>
          </a:p>
          <a:p>
            <a:pPr marL="468630" lvl="0" indent="-285750">
              <a:lnSpc>
                <a:spcPts val="2400"/>
              </a:lnSpc>
              <a:spcBef>
                <a:spcPts val="200"/>
              </a:spcBef>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Conclusion</a:t>
            </a:r>
          </a:p>
          <a:p>
            <a:pPr marL="468630" lvl="0" indent="-285750">
              <a:lnSpc>
                <a:spcPts val="2400"/>
              </a:lnSpc>
              <a:spcBef>
                <a:spcPts val="200"/>
              </a:spcBef>
              <a:buClr>
                <a:schemeClr val="dk1"/>
              </a:buClr>
              <a:buSzPts val="2100"/>
              <a:buFont typeface="Wingdings" panose="05000000000000000000" pitchFamily="2" charset="2"/>
              <a:buChar char="v"/>
            </a:pPr>
            <a:r>
              <a:rPr lang="en-US" sz="1800" dirty="0">
                <a:solidFill>
                  <a:schemeClr val="dk1"/>
                </a:solidFill>
                <a:latin typeface="Bookman Old Style" panose="02050604050505020204" pitchFamily="18" charset="0"/>
                <a:cs typeface="Times New Roman" panose="02020603050405020304"/>
                <a:sym typeface="Times New Roman" panose="02020603050405020304"/>
              </a:rPr>
              <a:t>Datasets</a:t>
            </a:r>
            <a:endParaRPr lang="en-US" sz="1800" dirty="0">
              <a:latin typeface="Bookman Old Style" panose="02050604050505020204" pitchFamily="18" charset="0"/>
            </a:endParaRPr>
          </a:p>
          <a:p>
            <a:pPr marL="468630" marR="0" lvl="0" indent="-285750" algn="l" rtl="0">
              <a:lnSpc>
                <a:spcPts val="2400"/>
              </a:lnSpc>
              <a:spcBef>
                <a:spcPts val="200"/>
              </a:spcBef>
              <a:spcAft>
                <a:spcPts val="0"/>
              </a:spcAft>
              <a:buClr>
                <a:schemeClr val="dk1"/>
              </a:buClr>
              <a:buSzPts val="2100"/>
              <a:buFont typeface="Wingdings" panose="05000000000000000000" pitchFamily="2" charset="2"/>
              <a:buChar char="v"/>
            </a:pPr>
            <a:r>
              <a:rPr lang="en-US" sz="1800" b="0" i="0" u="none" strike="noStrike" cap="none" dirty="0">
                <a:solidFill>
                  <a:schemeClr val="dk1"/>
                </a:solidFill>
                <a:latin typeface="Bookman Old Style" panose="02050604050505020204" pitchFamily="18" charset="0"/>
                <a:ea typeface="Times New Roman" panose="02020603050405020304"/>
                <a:cs typeface="Times New Roman" panose="02020603050405020304"/>
                <a:sym typeface="Times New Roman" panose="02020603050405020304"/>
              </a:rPr>
              <a:t>References</a:t>
            </a:r>
            <a:endParaRPr sz="1800" dirty="0">
              <a:latin typeface="Bookman Old Style" panose="02050604050505020204" pitchFamily="18" charset="0"/>
            </a:endParaRPr>
          </a:p>
        </p:txBody>
      </p:sp>
      <p:cxnSp>
        <p:nvCxnSpPr>
          <p:cNvPr id="6" name="Google Shape;436;p31"/>
          <p:cNvCxnSpPr/>
          <p:nvPr/>
        </p:nvCxnSpPr>
        <p:spPr>
          <a:xfrm>
            <a:off x="0" y="527298"/>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20CE9F4D-64F9-12C4-FB4C-CC5E7AD2529E}"/>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e4eb6b47ed_0_0"/>
          <p:cNvSpPr txBox="1">
            <a:spLocks noGrp="1"/>
          </p:cNvSpPr>
          <p:nvPr>
            <p:ph type="title"/>
          </p:nvPr>
        </p:nvSpPr>
        <p:spPr>
          <a:xfrm>
            <a:off x="0" y="0"/>
            <a:ext cx="9144000" cy="708561"/>
          </a:xfrm>
          <a:prstGeom prst="rect">
            <a:avLst/>
          </a:prstGeom>
        </p:spPr>
        <p:txBody>
          <a:bodyPr spcFirstLastPara="1" wrap="square" lIns="91425" tIns="45700" rIns="91425" bIns="45700" anchor="ctr" anchorCtr="0">
            <a:noAutofit/>
          </a:bodyPr>
          <a:lstStyle/>
          <a:p>
            <a:pPr algn="ctr">
              <a:spcBef>
                <a:spcPts val="0"/>
              </a:spcBef>
              <a:buClr>
                <a:srgbClr val="000000"/>
              </a:buClr>
            </a:pPr>
            <a:r>
              <a:rPr lang="en-US" sz="2800" b="1" dirty="0">
                <a:solidFill>
                  <a:srgbClr val="006600"/>
                </a:solidFill>
                <a:latin typeface="Bookman Old Style" panose="02050604050505020204" pitchFamily="18" charset="0"/>
                <a:cs typeface="Arial" panose="020B0604020202020204"/>
                <a:sym typeface="Times New Roman" panose="02020603050405020304"/>
              </a:rPr>
              <a:t>Abstract</a:t>
            </a:r>
            <a:endParaRPr sz="2800" b="1" dirty="0">
              <a:solidFill>
                <a:srgbClr val="006600"/>
              </a:solidFill>
              <a:latin typeface="Bookman Old Style" panose="02050604050505020204" pitchFamily="18" charset="0"/>
              <a:cs typeface="Arial" panose="020B0604020202020204"/>
            </a:endParaRPr>
          </a:p>
        </p:txBody>
      </p:sp>
      <p:sp>
        <p:nvSpPr>
          <p:cNvPr id="200" name="Google Shape;200;ge4eb6b47ed_0_0"/>
          <p:cNvSpPr txBox="1">
            <a:spLocks noGrp="1"/>
          </p:cNvSpPr>
          <p:nvPr>
            <p:ph idx="1"/>
          </p:nvPr>
        </p:nvSpPr>
        <p:spPr>
          <a:xfrm>
            <a:off x="124754" y="829205"/>
            <a:ext cx="8894492" cy="5846232"/>
          </a:xfrm>
          <a:prstGeom prst="rect">
            <a:avLst/>
          </a:prstGeom>
        </p:spPr>
        <p:txBody>
          <a:bodyPr spcFirstLastPara="1" wrap="square" lIns="91425" tIns="45700" rIns="91425" bIns="45700" anchor="t" anchorCtr="0">
            <a:noAutofit/>
          </a:bodyPr>
          <a:lstStyle/>
          <a:p>
            <a:pPr algn="just">
              <a:lnSpc>
                <a:spcPts val="28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High-value greenhouse crops such as tomato and strawberry require precise environmental control for high yield, quality, and early disease prevention.</a:t>
            </a:r>
          </a:p>
          <a:p>
            <a:pPr algn="just">
              <a:lnSpc>
                <a:spcPts val="28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Greenhouse cultivation enables year-round crop production by shielding plants from external climate variability, but it demands continuous monitoring and timely control decisions to avoid stress and disease outbreaks.</a:t>
            </a:r>
          </a:p>
          <a:p>
            <a:pPr algn="just">
              <a:lnSpc>
                <a:spcPts val="28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AgriTwin</a:t>
            </a:r>
            <a:r>
              <a:rPr lang="en-IN" sz="1800" dirty="0">
                <a:latin typeface="Times New Roman" panose="02020603050405020304" pitchFamily="18" charset="0"/>
                <a:cs typeface="Times New Roman" panose="02020603050405020304" pitchFamily="18" charset="0"/>
              </a:rPr>
              <a:t>-GH is a software-based AI digital twin for precision greenhouse cultivation of tomato and strawberry using data-driven intelligent models.</a:t>
            </a:r>
            <a:endParaRPr lang="en-US" sz="1800" dirty="0">
              <a:latin typeface="Times New Roman" panose="02020603050405020304" pitchFamily="18" charset="0"/>
              <a:cs typeface="Times New Roman" panose="02020603050405020304" pitchFamily="18" charset="0"/>
            </a:endParaRPr>
          </a:p>
          <a:p>
            <a:pPr algn="just">
              <a:lnSpc>
                <a:spcPts val="28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Uses Short-term forecasting models predict greenhouse conditions, which are evaluated using a digital twin coupled with Model Predictive Control (MPC).</a:t>
            </a:r>
          </a:p>
          <a:p>
            <a:pPr algn="just">
              <a:lnSpc>
                <a:spcPts val="28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The system generates disease-aware predictions and simple non-verbal operational alerts for actionable greenhouse control.</a:t>
            </a:r>
          </a:p>
          <a:p>
            <a:pPr algn="just">
              <a:lnSpc>
                <a:spcPts val="28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Enhances crop yield and strengthens early disease prevention while simultaneously reducing the excessive use of water, energy, and fertilizers, thereby enabling a scalable and cost-effective decision-support framework.</a:t>
            </a:r>
            <a:endParaRPr lang="en-IN" sz="1800" dirty="0">
              <a:latin typeface="Times New Roman" panose="02020603050405020304" pitchFamily="18" charset="0"/>
              <a:cs typeface="Times New Roman" panose="02020603050405020304" pitchFamily="18" charset="0"/>
            </a:endParaRPr>
          </a:p>
        </p:txBody>
      </p:sp>
      <p:cxnSp>
        <p:nvCxnSpPr>
          <p:cNvPr id="9" name="Google Shape;436;p31"/>
          <p:cNvCxnSpPr/>
          <p:nvPr/>
        </p:nvCxnSpPr>
        <p:spPr>
          <a:xfrm>
            <a:off x="0" y="696380"/>
            <a:ext cx="9144000" cy="1588"/>
          </a:xfrm>
          <a:prstGeom prst="straightConnector1">
            <a:avLst/>
          </a:prstGeom>
          <a:noFill/>
          <a:ln w="25400" cap="flat" cmpd="sng">
            <a:solidFill>
              <a:srgbClr val="800000"/>
            </a:solidFill>
            <a:prstDash val="solid"/>
            <a:round/>
            <a:headEnd type="none" w="sm" len="sm"/>
            <a:tailEnd type="none" w="sm" len="sm"/>
          </a:ln>
        </p:spPr>
      </p:cxnSp>
      <p:sp>
        <p:nvSpPr>
          <p:cNvPr id="4" name="Google Shape;167;p1">
            <a:extLst>
              <a:ext uri="{FF2B5EF4-FFF2-40B4-BE49-F238E27FC236}">
                <a16:creationId xmlns:a16="http://schemas.microsoft.com/office/drawing/2014/main" id="{F261BDF7-A2F4-1E1D-A188-938BF621285B}"/>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89"/>
        <p:cNvGrpSpPr/>
        <p:nvPr/>
      </p:nvGrpSpPr>
      <p:grpSpPr>
        <a:xfrm>
          <a:off x="0" y="0"/>
          <a:ext cx="0" cy="0"/>
          <a:chOff x="0" y="0"/>
          <a:chExt cx="0" cy="0"/>
        </a:xfrm>
      </p:grpSpPr>
      <p:sp>
        <p:nvSpPr>
          <p:cNvPr id="16" name="Google Shape;199;ge4eb6b47ed_0_0"/>
          <p:cNvSpPr txBox="1">
            <a:spLocks noGrp="1"/>
          </p:cNvSpPr>
          <p:nvPr>
            <p:ph type="title"/>
          </p:nvPr>
        </p:nvSpPr>
        <p:spPr>
          <a:xfrm>
            <a:off x="0" y="0"/>
            <a:ext cx="9144000" cy="724424"/>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panose="020B0604020202020204"/>
              <a:buNone/>
            </a:pPr>
            <a:r>
              <a:rPr lang="en-US" sz="2800" b="1" dirty="0">
                <a:solidFill>
                  <a:srgbClr val="006600"/>
                </a:solidFill>
                <a:latin typeface="Bookman Old Style" panose="02050604050505020204" pitchFamily="18" charset="0"/>
                <a:cs typeface="Arial" panose="020B0604020202020204"/>
                <a:sym typeface="Times New Roman" panose="02020603050405020304"/>
              </a:rPr>
              <a:t>Introduction</a:t>
            </a:r>
            <a:r>
              <a:rPr lang="en-US" sz="2800" b="1" dirty="0">
                <a:solidFill>
                  <a:srgbClr val="00B050"/>
                </a:solidFill>
                <a:latin typeface="Bookman Old Style" panose="02050604050505020204" pitchFamily="18" charset="0"/>
                <a:ea typeface="Times New Roman" panose="02020603050405020304"/>
                <a:cs typeface="Times New Roman" panose="02020603050405020304"/>
                <a:sym typeface="Times New Roman" panose="02020603050405020304"/>
              </a:rPr>
              <a:t> </a:t>
            </a:r>
            <a:r>
              <a:rPr lang="en-US" sz="2800" b="1" dirty="0">
                <a:solidFill>
                  <a:srgbClr val="006600"/>
                </a:solidFill>
                <a:latin typeface="Bookman Old Style" panose="02050604050505020204" pitchFamily="18" charset="0"/>
                <a:cs typeface="Arial" panose="020B0604020202020204"/>
                <a:sym typeface="Times New Roman" panose="02020603050405020304"/>
              </a:rPr>
              <a:t>to </a:t>
            </a:r>
            <a:r>
              <a:rPr lang="en-US" sz="2800" b="1" dirty="0" err="1">
                <a:solidFill>
                  <a:srgbClr val="006600"/>
                </a:solidFill>
                <a:latin typeface="Bookman Old Style" panose="02050604050505020204" pitchFamily="18" charset="0"/>
                <a:cs typeface="Arial" panose="020B0604020202020204"/>
                <a:sym typeface="Times New Roman" panose="02020603050405020304"/>
              </a:rPr>
              <a:t>AgriTwin</a:t>
            </a:r>
            <a:r>
              <a:rPr lang="en-US" sz="2800" b="1" dirty="0">
                <a:solidFill>
                  <a:srgbClr val="006600"/>
                </a:solidFill>
                <a:latin typeface="Bookman Old Style" panose="02050604050505020204" pitchFamily="18" charset="0"/>
                <a:cs typeface="Arial" panose="020B0604020202020204"/>
                <a:sym typeface="Times New Roman" panose="02020603050405020304"/>
              </a:rPr>
              <a:t>-GH</a:t>
            </a:r>
            <a:endParaRPr sz="2800" b="1" dirty="0">
              <a:solidFill>
                <a:srgbClr val="006600"/>
              </a:solidFill>
              <a:latin typeface="Bookman Old Style" panose="02050604050505020204" pitchFamily="18" charset="0"/>
              <a:cs typeface="Arial" panose="020B0604020202020204"/>
            </a:endParaRPr>
          </a:p>
        </p:txBody>
      </p:sp>
      <p:sp>
        <p:nvSpPr>
          <p:cNvPr id="6" name="Rectangle 5"/>
          <p:cNvSpPr/>
          <p:nvPr/>
        </p:nvSpPr>
        <p:spPr>
          <a:xfrm>
            <a:off x="444500" y="1393190"/>
            <a:ext cx="7096125" cy="4668520"/>
          </a:xfrm>
          <a:prstGeom prst="rect">
            <a:avLst/>
          </a:prstGeom>
        </p:spPr>
        <p:txBody>
          <a:bodyPr wrap="none">
            <a:noAutofit/>
          </a:bodyPr>
          <a:lstStyle/>
          <a:p>
            <a:pPr algn="ctr"/>
            <a:endParaRPr lang="en-US" sz="1600" b="1" dirty="0">
              <a:latin typeface="Bookman Old Style" panose="02050604050505020204" pitchFamily="18" charset="0"/>
              <a:cs typeface="Times New Roman" panose="02020603050405020304" pitchFamily="18" charset="0"/>
            </a:endParaRPr>
          </a:p>
        </p:txBody>
      </p:sp>
      <p:cxnSp>
        <p:nvCxnSpPr>
          <p:cNvPr id="7" name="Google Shape;436;p31"/>
          <p:cNvCxnSpPr/>
          <p:nvPr/>
        </p:nvCxnSpPr>
        <p:spPr>
          <a:xfrm>
            <a:off x="0" y="75063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 Box 1"/>
          <p:cNvSpPr txBox="1"/>
          <p:nvPr/>
        </p:nvSpPr>
        <p:spPr>
          <a:xfrm>
            <a:off x="7289800" y="1609725"/>
            <a:ext cx="3048000" cy="306705"/>
          </a:xfrm>
          <a:prstGeom prst="rect">
            <a:avLst/>
          </a:prstGeom>
          <a:noFill/>
        </p:spPr>
        <p:txBody>
          <a:bodyPr wrap="square" rtlCol="0">
            <a:spAutoFit/>
          </a:bodyPr>
          <a:lstStyle/>
          <a:p>
            <a:endParaRPr lang="en-US"/>
          </a:p>
        </p:txBody>
      </p:sp>
      <p:sp>
        <p:nvSpPr>
          <p:cNvPr id="5" name="Text Box 4"/>
          <p:cNvSpPr txBox="1"/>
          <p:nvPr/>
        </p:nvSpPr>
        <p:spPr>
          <a:xfrm>
            <a:off x="78581" y="721289"/>
            <a:ext cx="8986838" cy="2847785"/>
          </a:xfrm>
          <a:prstGeom prst="rect">
            <a:avLst/>
          </a:prstGeom>
          <a:noFill/>
        </p:spPr>
        <p:txBody>
          <a:bodyPr wrap="square" rtlCol="0">
            <a:noAutofit/>
          </a:bodyPr>
          <a:lstStyle/>
          <a:p>
            <a:pPr marL="285750" indent="-285750" algn="just">
              <a:lnSpc>
                <a:spcPts val="3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Digital twins are virtual representations of physical systems that use data and models to mirror real-world behavior, enabling prediction, what-if analysis, and safe validation of control decisions.</a:t>
            </a:r>
          </a:p>
          <a:p>
            <a:pPr marL="285750" indent="-285750" algn="just">
              <a:lnSpc>
                <a:spcPts val="3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Greenhouse cultivation is well suited due to controlled conditions, continuous data flow, and tightly coupled subsystems. </a:t>
            </a:r>
            <a:r>
              <a:rPr lang="en-US" sz="1800" dirty="0" err="1">
                <a:latin typeface="Times New Roman" panose="02020603050405020304" pitchFamily="18" charset="0"/>
                <a:cs typeface="Times New Roman" panose="02020603050405020304" pitchFamily="18" charset="0"/>
              </a:rPr>
              <a:t>AgriTwin</a:t>
            </a:r>
            <a:r>
              <a:rPr lang="en-US" sz="1800" dirty="0">
                <a:latin typeface="Times New Roman" panose="02020603050405020304" pitchFamily="18" charset="0"/>
                <a:cs typeface="Times New Roman" panose="02020603050405020304" pitchFamily="18" charset="0"/>
              </a:rPr>
              <a:t>-GH applies a software-based digital twin for tomato and strawberry greenhouses to support early risk awareness, worker-friendly alerts, and scalable deployment.</a:t>
            </a:r>
            <a:endParaRPr lang="en-US" altLang="en-US" sz="1800" dirty="0">
              <a:latin typeface="Times New Roman" panose="02020603050405020304" pitchFamily="18" charset="0"/>
              <a:cs typeface="Times New Roman" panose="02020603050405020304" pitchFamily="18" charset="0"/>
            </a:endParaRPr>
          </a:p>
        </p:txBody>
      </p:sp>
      <p:sp>
        <p:nvSpPr>
          <p:cNvPr id="4" name="Google Shape;167;p1">
            <a:extLst>
              <a:ext uri="{FF2B5EF4-FFF2-40B4-BE49-F238E27FC236}">
                <a16:creationId xmlns:a16="http://schemas.microsoft.com/office/drawing/2014/main" id="{ED3FF55A-863C-9AD9-F1B0-ED0C1E56A855}"/>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pic>
        <p:nvPicPr>
          <p:cNvPr id="3" name="Picture 2">
            <a:extLst>
              <a:ext uri="{FF2B5EF4-FFF2-40B4-BE49-F238E27FC236}">
                <a16:creationId xmlns:a16="http://schemas.microsoft.com/office/drawing/2014/main" id="{772BFC2C-F64B-0D18-5072-C626C5D97C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2472" y="3460192"/>
            <a:ext cx="8719055" cy="3034614"/>
          </a:xfrm>
          <a:prstGeom prst="rect">
            <a:avLst/>
          </a:prstGeom>
          <a:noFill/>
          <a:ln>
            <a:noFill/>
          </a:ln>
        </p:spPr>
      </p:pic>
      <p:sp>
        <p:nvSpPr>
          <p:cNvPr id="8" name="TextBox 7">
            <a:extLst>
              <a:ext uri="{FF2B5EF4-FFF2-40B4-BE49-F238E27FC236}">
                <a16:creationId xmlns:a16="http://schemas.microsoft.com/office/drawing/2014/main" id="{681635BA-7429-BA27-3F30-BED6BCECCD0A}"/>
              </a:ext>
            </a:extLst>
          </p:cNvPr>
          <p:cNvSpPr txBox="1"/>
          <p:nvPr/>
        </p:nvSpPr>
        <p:spPr>
          <a:xfrm>
            <a:off x="2288866" y="6492875"/>
            <a:ext cx="5251759"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a:t>
            </a:r>
            <a:r>
              <a:rPr lang="en-IN" dirty="0">
                <a:effectLst/>
                <a:latin typeface="Times New Roman" panose="02020603050405020304" pitchFamily="18" charset="0"/>
                <a:ea typeface="Times New Roman" panose="02020603050405020304" pitchFamily="18" charset="0"/>
              </a:rPr>
              <a:t>Conceptual Digital Twin Architecture for Greenhouse Cultivation</a:t>
            </a:r>
            <a:endParaRPr lang="en-IN"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307"/>
        <p:cNvGrpSpPr/>
        <p:nvPr/>
      </p:nvGrpSpPr>
      <p:grpSpPr>
        <a:xfrm>
          <a:off x="0" y="0"/>
          <a:ext cx="0" cy="0"/>
          <a:chOff x="0" y="0"/>
          <a:chExt cx="0" cy="0"/>
        </a:xfrm>
      </p:grpSpPr>
      <p:sp>
        <p:nvSpPr>
          <p:cNvPr id="9" name="Google Shape;303;p15"/>
          <p:cNvSpPr txBox="1">
            <a:spLocks noGrp="1"/>
          </p:cNvSpPr>
          <p:nvPr>
            <p:ph type="title"/>
          </p:nvPr>
        </p:nvSpPr>
        <p:spPr>
          <a:xfrm>
            <a:off x="0" y="0"/>
            <a:ext cx="9143999" cy="6673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Arial" panose="020B0604020202020204"/>
                <a:sym typeface="Times New Roman" panose="02020603050405020304"/>
              </a:rPr>
              <a:t>Project Objectives</a:t>
            </a:r>
            <a:endParaRPr sz="2800" b="1" dirty="0">
              <a:solidFill>
                <a:srgbClr val="006600"/>
              </a:solidFill>
              <a:latin typeface="Bookman Old Style" panose="02050604050505020204" pitchFamily="18" charset="0"/>
              <a:cs typeface="Arial" panose="020B0604020202020204"/>
              <a:sym typeface="Times New Roman" panose="02020603050405020304"/>
            </a:endParaRPr>
          </a:p>
        </p:txBody>
      </p:sp>
      <p:sp>
        <p:nvSpPr>
          <p:cNvPr id="309" name="Google Shape;309;p16"/>
          <p:cNvSpPr txBox="1">
            <a:spLocks noGrp="1"/>
          </p:cNvSpPr>
          <p:nvPr>
            <p:ph idx="1"/>
          </p:nvPr>
        </p:nvSpPr>
        <p:spPr>
          <a:xfrm>
            <a:off x="141286" y="1240439"/>
            <a:ext cx="8861425" cy="4695978"/>
          </a:xfrm>
          <a:prstGeom prst="rect">
            <a:avLst/>
          </a:prstGeom>
          <a:noFill/>
          <a:ln>
            <a:noFill/>
          </a:ln>
        </p:spPr>
        <p:txBody>
          <a:bodyPr spcFirstLastPara="1" wrap="square" lIns="91425" tIns="45700" rIns="91425" bIns="45700" anchor="t" anchorCtr="0">
            <a:noAutofit/>
          </a:bodyPr>
          <a:lstStyle/>
          <a:p>
            <a:pPr marL="495300" lvl="0" indent="-342900" algn="just" rtl="0">
              <a:lnSpc>
                <a:spcPct val="150000"/>
              </a:lnSpc>
              <a:spcBef>
                <a:spcPts val="48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To design and implement a software-based AI digital twin framework for intelligent greenhouse management, enabling predictive, adaptive, and data-driven control of environmental conditions.</a:t>
            </a:r>
          </a:p>
          <a:p>
            <a:pPr marL="495300" lvl="0" indent="-342900" algn="just" rtl="0">
              <a:lnSpc>
                <a:spcPct val="150000"/>
              </a:lnSpc>
              <a:spcBef>
                <a:spcPts val="48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To facilitate early disease risk identification and progression forecasting, while simultaneously optimizing the use of water, energy, fertilizer, and climate resources without violating crop safety and stress thresholds.</a:t>
            </a:r>
          </a:p>
          <a:p>
            <a:pPr marL="495300" lvl="0" indent="-342900" algn="just" rtl="0">
              <a:lnSpc>
                <a:spcPct val="150000"/>
              </a:lnSpc>
              <a:spcBef>
                <a:spcPts val="48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To develop a scalable and cost-effective decision-support system based on real agricultural datasets, delivering simple non-verbal operational alerts that minimize manual intervention and shift greenhouse operations from reactive to proactive management.</a:t>
            </a:r>
          </a:p>
        </p:txBody>
      </p:sp>
      <p:cxnSp>
        <p:nvCxnSpPr>
          <p:cNvPr id="10" name="Google Shape;436;p31"/>
          <p:cNvCxnSpPr/>
          <p:nvPr/>
        </p:nvCxnSpPr>
        <p:spPr>
          <a:xfrm>
            <a:off x="0" y="682394"/>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BE484EF7-9511-D9A0-17C0-2F000611D8E3}"/>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aphicFrame>
        <p:nvGraphicFramePr>
          <p:cNvPr id="265" name="Google Shape;265;p11"/>
          <p:cNvGraphicFramePr/>
          <p:nvPr>
            <p:custDataLst>
              <p:tags r:id="rId1"/>
            </p:custDataLst>
            <p:extLst>
              <p:ext uri="{D42A27DB-BD31-4B8C-83A1-F6EECF244321}">
                <p14:modId xmlns:p14="http://schemas.microsoft.com/office/powerpoint/2010/main" val="3476312707"/>
              </p:ext>
            </p:extLst>
          </p:nvPr>
        </p:nvGraphicFramePr>
        <p:xfrm>
          <a:off x="146485" y="862600"/>
          <a:ext cx="8839181" cy="5525933"/>
        </p:xfrm>
        <a:graphic>
          <a:graphicData uri="http://schemas.openxmlformats.org/drawingml/2006/table">
            <a:tbl>
              <a:tblPr firstRow="1" bandRow="1">
                <a:noFill/>
                <a:tableStyleId>{56D51072-94E4-4FC1-8697-D52FD32A7993}</a:tableStyleId>
              </a:tblPr>
              <a:tblGrid>
                <a:gridCol w="627786">
                  <a:extLst>
                    <a:ext uri="{9D8B030D-6E8A-4147-A177-3AD203B41FA5}">
                      <a16:colId xmlns:a16="http://schemas.microsoft.com/office/drawing/2014/main" val="20000"/>
                    </a:ext>
                  </a:extLst>
                </a:gridCol>
                <a:gridCol w="1474002">
                  <a:extLst>
                    <a:ext uri="{9D8B030D-6E8A-4147-A177-3AD203B41FA5}">
                      <a16:colId xmlns:a16="http://schemas.microsoft.com/office/drawing/2014/main" val="20001"/>
                    </a:ext>
                  </a:extLst>
                </a:gridCol>
                <a:gridCol w="1629161">
                  <a:extLst>
                    <a:ext uri="{9D8B030D-6E8A-4147-A177-3AD203B41FA5}">
                      <a16:colId xmlns:a16="http://schemas.microsoft.com/office/drawing/2014/main" val="20002"/>
                    </a:ext>
                  </a:extLst>
                </a:gridCol>
                <a:gridCol w="2547183">
                  <a:extLst>
                    <a:ext uri="{9D8B030D-6E8A-4147-A177-3AD203B41FA5}">
                      <a16:colId xmlns:a16="http://schemas.microsoft.com/office/drawing/2014/main" val="20003"/>
                    </a:ext>
                  </a:extLst>
                </a:gridCol>
                <a:gridCol w="2561049">
                  <a:extLst>
                    <a:ext uri="{9D8B030D-6E8A-4147-A177-3AD203B41FA5}">
                      <a16:colId xmlns:a16="http://schemas.microsoft.com/office/drawing/2014/main" val="20004"/>
                    </a:ext>
                  </a:extLst>
                </a:gridCol>
              </a:tblGrid>
              <a:tr h="787699">
                <a:tc>
                  <a:txBody>
                    <a:bodyPr/>
                    <a:lstStyle/>
                    <a:p>
                      <a:pPr marL="0" marR="0" lvl="0" indent="0" algn="l" rtl="0">
                        <a:spcBef>
                          <a:spcPts val="0"/>
                        </a:spcBef>
                        <a:spcAft>
                          <a:spcPts val="0"/>
                        </a:spcAft>
                        <a:buNone/>
                      </a:pPr>
                      <a:r>
                        <a:rPr lang="en-US" sz="135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 No.</a:t>
                      </a:r>
                    </a:p>
                  </a:txBody>
                  <a:tcPr marL="91450" marR="91450" marT="35175" marB="35175" anchor="ctr" anchorCtr="1"/>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135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Title </a:t>
                      </a:r>
                      <a:r>
                        <a:rPr lang="en-US" sz="1350" b="1"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of Paper</a:t>
                      </a:r>
                      <a:endParaRPr lang="en-US" sz="1350" dirty="0"/>
                    </a:p>
                    <a:p>
                      <a:pPr marL="0" marR="0" lvl="0" indent="0" algn="l" rtl="0">
                        <a:spcBef>
                          <a:spcPts val="0"/>
                        </a:spcBef>
                        <a:spcAft>
                          <a:spcPts val="0"/>
                        </a:spcAft>
                        <a:buNone/>
                      </a:pPr>
                      <a:endParaRPr sz="1350" dirty="0"/>
                    </a:p>
                  </a:txBody>
                  <a:tcPr marL="91450" marR="91450" marT="35175" marB="35175" anchor="ctr" anchorCtr="1"/>
                </a:tc>
                <a:tc>
                  <a:txBody>
                    <a:bodyPr/>
                    <a:lstStyle/>
                    <a:p>
                      <a:pPr marL="0" marR="0" lvl="0" indent="0" algn="ctr" rtl="0">
                        <a:spcBef>
                          <a:spcPts val="0"/>
                        </a:spcBef>
                        <a:spcAft>
                          <a:spcPts val="0"/>
                        </a:spcAft>
                        <a:buNone/>
                      </a:pPr>
                      <a:r>
                        <a:rPr lang="en-IN" sz="135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Journal Title  with Year of Publication &amp; Author</a:t>
                      </a:r>
                    </a:p>
                  </a:txBody>
                  <a:tcPr marL="91450" marR="91450" marT="35175" marB="35175" anchor="ctr" anchorCtr="1"/>
                </a:tc>
                <a:tc>
                  <a:txBody>
                    <a:bodyPr/>
                    <a:lstStyle/>
                    <a:p>
                      <a:pPr marL="0" marR="0" lvl="0" indent="0" algn="l" rtl="0">
                        <a:lnSpc>
                          <a:spcPct val="100000"/>
                        </a:lnSpc>
                        <a:spcBef>
                          <a:spcPts val="0"/>
                        </a:spcBef>
                        <a:spcAft>
                          <a:spcPts val="0"/>
                        </a:spcAft>
                        <a:buClr>
                          <a:schemeClr val="dk1"/>
                        </a:buClr>
                        <a:buSzPts val="1400"/>
                        <a:buFont typeface="Times New Roman" panose="02020603050405020304"/>
                        <a:buNone/>
                      </a:pPr>
                      <a:r>
                        <a:rPr lang="en-US" sz="13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Technical Description</a:t>
                      </a:r>
                    </a:p>
                  </a:txBody>
                  <a:tcPr marL="91450" marR="91450" marT="35175" marB="35175" anchor="ctr" anchorCtr="1"/>
                </a:tc>
                <a:tc>
                  <a:txBody>
                    <a:bodyPr/>
                    <a:lstStyle/>
                    <a:p>
                      <a:pPr marL="0" marR="0" lvl="0" indent="0" algn="l" rtl="0">
                        <a:lnSpc>
                          <a:spcPct val="100000"/>
                        </a:lnSpc>
                        <a:spcBef>
                          <a:spcPts val="0"/>
                        </a:spcBef>
                        <a:spcAft>
                          <a:spcPts val="0"/>
                        </a:spcAft>
                        <a:buClr>
                          <a:schemeClr val="dk1"/>
                        </a:buClr>
                        <a:buSzPts val="1400"/>
                        <a:buFont typeface="Times New Roman" panose="02020603050405020304"/>
                        <a:buNone/>
                      </a:pPr>
                      <a:r>
                        <a:rPr lang="en-US" sz="13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Research Gap</a:t>
                      </a:r>
                    </a:p>
                  </a:txBody>
                  <a:tcPr marL="91450" marR="91450" marT="35175" marB="35175" anchor="ctr" anchorCtr="1"/>
                </a:tc>
                <a:extLst>
                  <a:ext uri="{0D108BD9-81ED-4DB2-BD59-A6C34878D82A}">
                    <a16:rowId xmlns:a16="http://schemas.microsoft.com/office/drawing/2014/main" val="10000"/>
                  </a:ext>
                </a:extLst>
              </a:tr>
              <a:tr h="1603303">
                <a:tc>
                  <a:txBody>
                    <a:bodyPr/>
                    <a:lstStyle/>
                    <a:p>
                      <a:pPr marL="0" marR="0" lvl="0" indent="0" algn="just" rtl="0">
                        <a:spcBef>
                          <a:spcPts val="0"/>
                        </a:spcBef>
                        <a:spcAft>
                          <a:spcPts val="0"/>
                        </a:spcAft>
                        <a:buNone/>
                      </a:pPr>
                      <a:r>
                        <a:rPr lang="en-US" sz="1350" b="0" u="none" dirty="0">
                          <a:latin typeface="Times New Roman"/>
                          <a:cs typeface="Times New Roman"/>
                        </a:rPr>
                        <a:t>1</a:t>
                      </a:r>
                      <a:endParaRPr sz="1350" b="0" u="none" dirty="0">
                        <a:latin typeface="Times New Roman"/>
                        <a:cs typeface="Times New Roman"/>
                      </a:endParaRPr>
                    </a:p>
                  </a:txBody>
                  <a:tcPr marL="91450" marR="91450" marT="35175" marB="35175" anchor="ctr"/>
                </a:tc>
                <a:tc>
                  <a:txBody>
                    <a:bodyPr/>
                    <a:lstStyle/>
                    <a:p>
                      <a:pPr marL="0" marR="0" lvl="0" indent="0" algn="just" rtl="0">
                        <a:spcBef>
                          <a:spcPts val="0"/>
                        </a:spcBef>
                        <a:spcAft>
                          <a:spcPts val="0"/>
                        </a:spcAft>
                        <a:buNone/>
                      </a:pPr>
                      <a:r>
                        <a:rPr lang="en-US" b="0" dirty="0">
                          <a:latin typeface="Times New Roman"/>
                          <a:cs typeface="Times New Roman"/>
                        </a:rPr>
                        <a:t>Greenhouse Industry 4.0 – Digital Twin Technology for Commercial Greenhouses</a:t>
                      </a:r>
                      <a:endParaRPr lang="en-US" sz="1350" b="0" dirty="0">
                        <a:latin typeface="Times New Roman"/>
                        <a:cs typeface="Times New Roman"/>
                      </a:endParaRPr>
                    </a:p>
                    <a:p>
                      <a:pPr marL="0" marR="0" lvl="0" indent="0" algn="just" rtl="0">
                        <a:spcBef>
                          <a:spcPts val="0"/>
                        </a:spcBef>
                        <a:spcAft>
                          <a:spcPts val="0"/>
                        </a:spcAft>
                        <a:buNone/>
                      </a:pPr>
                      <a:endParaRPr lang="en-US" b="0" dirty="0"/>
                    </a:p>
                  </a:txBody>
                  <a:tcPr marL="91450" marR="91450" marT="45725" marB="45725" anchor="ctr"/>
                </a:tc>
                <a:tc>
                  <a:txBody>
                    <a:bodyPr/>
                    <a:lstStyle/>
                    <a:p>
                      <a:pPr lvl="0" algn="just">
                        <a:lnSpc>
                          <a:spcPct val="100000"/>
                        </a:lnSpc>
                        <a:spcBef>
                          <a:spcPts val="0"/>
                        </a:spcBef>
                        <a:spcAft>
                          <a:spcPts val="0"/>
                        </a:spcAft>
                        <a:buNone/>
                      </a:pPr>
                      <a:r>
                        <a:rPr lang="en-IN" sz="1350" b="0" i="1" u="none" strike="noStrike" noProof="0" dirty="0">
                          <a:solidFill>
                            <a:schemeClr val="tx1"/>
                          </a:solidFill>
                          <a:latin typeface="Times New Roman"/>
                        </a:rPr>
                        <a:t>Energy Informatics</a:t>
                      </a:r>
                      <a:r>
                        <a:rPr lang="en-IN" sz="1350" b="0" i="0" u="none" strike="noStrike" noProof="0" dirty="0">
                          <a:solidFill>
                            <a:schemeClr val="tx1"/>
                          </a:solidFill>
                          <a:latin typeface="Times New Roman"/>
                        </a:rPr>
                        <a:t>, 2021 </a:t>
                      </a:r>
                      <a:endParaRPr lang="en-US" dirty="0">
                        <a:latin typeface="Times New Roman"/>
                      </a:endParaRPr>
                    </a:p>
                  </a:txBody>
                  <a:tcPr marL="91450" marR="91450" marT="45725" marB="45725" anchor="ctr"/>
                </a:tc>
                <a:tc>
                  <a:txBody>
                    <a:bodyPr/>
                    <a:lstStyle/>
                    <a:p>
                      <a:pPr marL="0" marR="0" lvl="0" indent="0" algn="just">
                        <a:lnSpc>
                          <a:spcPct val="100000"/>
                        </a:lnSpc>
                        <a:spcBef>
                          <a:spcPts val="0"/>
                        </a:spcBef>
                        <a:spcAft>
                          <a:spcPts val="0"/>
                        </a:spcAft>
                        <a:buNone/>
                      </a:pPr>
                      <a:r>
                        <a:rPr lang="en-US" sz="1350" b="0" i="0" u="none" strike="noStrike" noProof="0" dirty="0">
                          <a:latin typeface="Times New Roman"/>
                        </a:rPr>
                        <a:t>Proposes an Industry 4.0–based digital twin ecosystem integrating IoT, AI, and big data to optimize greenhouse energy consumption, production scheduling, and resource utilization through virtual–physical synchronization.</a:t>
                      </a: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rPr>
                        <a:t>• Digital twin does not include plant disease detection or crop health analytics.</a:t>
                      </a:r>
                      <a:endParaRPr lang="en-US" dirty="0">
                        <a:latin typeface="Times New Roman"/>
                      </a:endParaRPr>
                    </a:p>
                    <a:p>
                      <a:pPr marL="0" lvl="0" indent="0" algn="just">
                        <a:lnSpc>
                          <a:spcPct val="100000"/>
                        </a:lnSpc>
                        <a:spcBef>
                          <a:spcPts val="0"/>
                        </a:spcBef>
                        <a:spcAft>
                          <a:spcPts val="0"/>
                        </a:spcAft>
                        <a:buNone/>
                      </a:pPr>
                      <a:r>
                        <a:rPr lang="en-US" sz="1350" b="0" i="0" u="none" strike="noStrike" noProof="0" dirty="0">
                          <a:latin typeface="Times New Roman"/>
                        </a:rPr>
                        <a:t>• Lacks adaptive learning to update the twin based on real-time crop stress or disease conditions.</a:t>
                      </a:r>
                      <a:endParaRPr lang="en-US" dirty="0">
                        <a:latin typeface="Times New Roman"/>
                      </a:endParaRPr>
                    </a:p>
                  </a:txBody>
                  <a:tcPr marL="91450" marR="91450" marT="45725" marB="45725" anchor="ctr"/>
                </a:tc>
                <a:extLst>
                  <a:ext uri="{0D108BD9-81ED-4DB2-BD59-A6C34878D82A}">
                    <a16:rowId xmlns:a16="http://schemas.microsoft.com/office/drawing/2014/main" val="10001"/>
                  </a:ext>
                </a:extLst>
              </a:tr>
              <a:tr h="1603303">
                <a:tc>
                  <a:txBody>
                    <a:bodyPr/>
                    <a:lstStyle/>
                    <a:p>
                      <a:pPr marL="0" marR="0" lvl="0" indent="0" algn="just" rtl="0">
                        <a:spcBef>
                          <a:spcPts val="0"/>
                        </a:spcBef>
                        <a:spcAft>
                          <a:spcPts val="0"/>
                        </a:spcAft>
                        <a:buNone/>
                      </a:pPr>
                      <a:r>
                        <a:rPr lang="en-US" sz="1350" b="0" dirty="0">
                          <a:latin typeface="Times New Roman"/>
                          <a:cs typeface="Times New Roman"/>
                        </a:rPr>
                        <a:t>2</a:t>
                      </a:r>
                      <a:endParaRPr lang="en-US" sz="1350" b="0" dirty="0">
                        <a:latin typeface="Times New Roman"/>
                        <a:cs typeface="Times New Roman"/>
                        <a:sym typeface="Times New Roman" panose="02020603050405020304"/>
                      </a:endParaRPr>
                    </a:p>
                  </a:txBody>
                  <a:tcPr marL="91450" marR="91450" marT="35175" marB="35175" anchor="ctr"/>
                </a:tc>
                <a:tc>
                  <a:txBody>
                    <a:bodyPr/>
                    <a:lstStyle/>
                    <a:p>
                      <a:pPr marL="0" marR="0" lvl="0" indent="0" algn="just" rtl="0">
                        <a:lnSpc>
                          <a:spcPct val="100000"/>
                        </a:lnSpc>
                        <a:spcBef>
                          <a:spcPts val="0"/>
                        </a:spcBef>
                        <a:spcAft>
                          <a:spcPts val="0"/>
                        </a:spcAft>
                        <a:buSzPts val="1200"/>
                        <a:buFont typeface="Times New Roman" panose="02020603050405020304"/>
                        <a:buNone/>
                      </a:pPr>
                      <a:r>
                        <a:rPr lang="en-US" b="0" dirty="0">
                          <a:latin typeface="Times New Roman"/>
                          <a:cs typeface="Times New Roman"/>
                        </a:rPr>
                        <a:t>Optimal Strategy for Energy-Efficient Management of Greenhouse Climate Control</a:t>
                      </a:r>
                      <a:endParaRPr lang="en-US" altLang="en-US" sz="1350" b="0" u="none">
                        <a:latin typeface="Times New Roman"/>
                        <a:cs typeface="Times New Roman"/>
                        <a:sym typeface="Times New Roman" panose="02020603050405020304"/>
                      </a:endParaRPr>
                    </a:p>
                  </a:txBody>
                  <a:tcPr marL="91450" marR="91450" marT="45725" marB="45725" anchor="ctr"/>
                </a:tc>
                <a:tc>
                  <a:txBody>
                    <a:bodyPr/>
                    <a:lstStyle/>
                    <a:p>
                      <a:pPr lvl="0" algn="just">
                        <a:lnSpc>
                          <a:spcPct val="100000"/>
                        </a:lnSpc>
                        <a:spcBef>
                          <a:spcPts val="0"/>
                        </a:spcBef>
                        <a:spcAft>
                          <a:spcPts val="0"/>
                        </a:spcAft>
                        <a:buNone/>
                      </a:pPr>
                      <a:r>
                        <a:rPr lang="en-US" sz="1350" b="0" i="1" u="none" strike="noStrike" noProof="0" dirty="0">
                          <a:latin typeface="Times New Roman"/>
                        </a:rPr>
                        <a:t>IEEE Open Access Journal of Power and Energy</a:t>
                      </a:r>
                      <a:r>
                        <a:rPr lang="en-US" sz="1350" b="0" i="0" u="none" strike="noStrike" noProof="0" dirty="0">
                          <a:latin typeface="Times New Roman"/>
                        </a:rPr>
                        <a:t>, 2025 </a:t>
                      </a:r>
                    </a:p>
                  </a:txBody>
                  <a:tcPr marL="91450" marR="91450" marT="45725" marB="45725" anchor="ctr"/>
                </a:tc>
                <a:tc>
                  <a:txBody>
                    <a:bodyPr/>
                    <a:lstStyle/>
                    <a:p>
                      <a:pPr marL="0" marR="0" lvl="0" indent="0" algn="just">
                        <a:spcBef>
                          <a:spcPts val="0"/>
                        </a:spcBef>
                        <a:spcAft>
                          <a:spcPts val="0"/>
                        </a:spcAft>
                        <a:buNone/>
                      </a:pPr>
                      <a:r>
                        <a:rPr lang="en-IN" sz="1350" b="0" i="0" u="none" strike="noStrike" noProof="0" dirty="0">
                          <a:latin typeface="Times New Roman"/>
                        </a:rPr>
                        <a:t>Develops a multi-objective optimization model to minimize energy cost and peak demand while controlling temperature, humidity, and CO₂ levels in greenhouse environments.</a:t>
                      </a:r>
                      <a:endParaRPr lang="en-US" sz="1350" b="0" i="0" u="none" strike="noStrike" noProof="0" dirty="0">
                        <a:latin typeface="Times New Roman"/>
                      </a:endParaRP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rPr>
                        <a:t>• Focuses only on energy optimization without considering disease-influenced microclimate variations.</a:t>
                      </a:r>
                      <a:endParaRPr lang="en-US" dirty="0">
                        <a:latin typeface="Times New Roman"/>
                      </a:endParaRPr>
                    </a:p>
                    <a:p>
                      <a:pPr marL="0" lvl="0" indent="0" algn="just">
                        <a:lnSpc>
                          <a:spcPct val="100000"/>
                        </a:lnSpc>
                        <a:spcBef>
                          <a:spcPts val="0"/>
                        </a:spcBef>
                        <a:spcAft>
                          <a:spcPts val="0"/>
                        </a:spcAft>
                        <a:buNone/>
                      </a:pPr>
                      <a:r>
                        <a:rPr lang="en-US" sz="1350" b="0" i="0" u="none" strike="noStrike" noProof="0" dirty="0">
                          <a:latin typeface="Times New Roman"/>
                        </a:rPr>
                        <a:t>• Operates mainly on offline simulations without real-time crop-aware feedback.</a:t>
                      </a:r>
                      <a:endParaRPr lang="en-US" dirty="0">
                        <a:latin typeface="Times New Roman"/>
                      </a:endParaRPr>
                    </a:p>
                  </a:txBody>
                  <a:tcPr marL="91450" marR="91450" marT="45725" marB="45725" anchor="ctr"/>
                </a:tc>
                <a:extLst>
                  <a:ext uri="{0D108BD9-81ED-4DB2-BD59-A6C34878D82A}">
                    <a16:rowId xmlns:a16="http://schemas.microsoft.com/office/drawing/2014/main" val="10002"/>
                  </a:ext>
                </a:extLst>
              </a:tr>
              <a:tr h="1357265">
                <a:tc>
                  <a:txBody>
                    <a:bodyPr/>
                    <a:lstStyle/>
                    <a:p>
                      <a:pPr marL="0" marR="0" lvl="0" indent="0" algn="just" rtl="0">
                        <a:spcBef>
                          <a:spcPts val="0"/>
                        </a:spcBef>
                        <a:spcAft>
                          <a:spcPts val="0"/>
                        </a:spcAft>
                        <a:buNone/>
                      </a:pPr>
                      <a:r>
                        <a:rPr lang="en-US" sz="1350" b="0" dirty="0">
                          <a:latin typeface="Times New Roman"/>
                          <a:cs typeface="Times New Roman"/>
                        </a:rPr>
                        <a:t>3</a:t>
                      </a:r>
                      <a:endParaRPr lang="en-US" sz="1350" b="0" dirty="0">
                        <a:latin typeface="Times New Roman"/>
                        <a:cs typeface="Times New Roman"/>
                        <a:sym typeface="Times New Roman" panose="02020603050405020304"/>
                      </a:endParaRPr>
                    </a:p>
                  </a:txBody>
                  <a:tcPr marL="91450" marR="91450" marT="35174" marB="35174" anchor="ctr"/>
                </a:tc>
                <a:tc>
                  <a:txBody>
                    <a:bodyPr/>
                    <a:lstStyle/>
                    <a:p>
                      <a:pPr marL="0" marR="0" lvl="0" indent="0" algn="just">
                        <a:lnSpc>
                          <a:spcPct val="100000"/>
                        </a:lnSpc>
                        <a:spcBef>
                          <a:spcPts val="0"/>
                        </a:spcBef>
                        <a:spcAft>
                          <a:spcPts val="0"/>
                        </a:spcAft>
                        <a:buNone/>
                      </a:pPr>
                      <a:r>
                        <a:rPr lang="en-US" sz="1350" b="0" i="0" u="none" strike="noStrike" noProof="0" dirty="0">
                          <a:latin typeface="Times New Roman"/>
                        </a:rPr>
                        <a:t>An Intelligent IoT-Based System Design for Controlling and Monitoring Greenhouse Temperature</a:t>
                      </a:r>
                      <a:endParaRPr lang="en-US" b="0" dirty="0">
                        <a:latin typeface="Times New Roman"/>
                        <a:sym typeface="Times New Roman" panose="02020603050405020304"/>
                      </a:endParaRPr>
                    </a:p>
                  </a:txBody>
                  <a:tcPr marL="91450" marR="91450" marT="45724" marB="45724" anchor="ctr"/>
                </a:tc>
                <a:tc>
                  <a:txBody>
                    <a:bodyPr/>
                    <a:lstStyle/>
                    <a:p>
                      <a:pPr lvl="0" algn="just">
                        <a:lnSpc>
                          <a:spcPct val="100000"/>
                        </a:lnSpc>
                        <a:spcBef>
                          <a:spcPts val="0"/>
                        </a:spcBef>
                        <a:spcAft>
                          <a:spcPts val="0"/>
                        </a:spcAft>
                        <a:buNone/>
                      </a:pPr>
                      <a:r>
                        <a:rPr lang="en-US" sz="1350" b="0" i="1" u="none" strike="noStrike" noProof="0" dirty="0">
                          <a:latin typeface="Times New Roman"/>
                        </a:rPr>
                        <a:t>IEEE Access</a:t>
                      </a:r>
                      <a:r>
                        <a:rPr lang="en-US" sz="1350" b="0" i="0" u="none" strike="noStrike" noProof="0" dirty="0">
                          <a:latin typeface="Times New Roman"/>
                        </a:rPr>
                        <a:t>, 2022 </a:t>
                      </a:r>
                      <a:endParaRPr lang="en-US" dirty="0">
                        <a:latin typeface="Times New Roman"/>
                      </a:endParaRPr>
                    </a:p>
                  </a:txBody>
                  <a:tcPr marL="91450" marR="91450" marT="45724" marB="45724" anchor="ctr"/>
                </a:tc>
                <a:tc>
                  <a:txBody>
                    <a:bodyPr/>
                    <a:lstStyle/>
                    <a:p>
                      <a:pPr marL="0" marR="0" lvl="0" indent="0" algn="just">
                        <a:spcBef>
                          <a:spcPts val="0"/>
                        </a:spcBef>
                        <a:spcAft>
                          <a:spcPts val="0"/>
                        </a:spcAft>
                        <a:buNone/>
                      </a:pPr>
                      <a:r>
                        <a:rPr lang="en-IN" sz="1350" b="0" i="0" u="none" strike="noStrike" noProof="0" dirty="0">
                          <a:latin typeface="Times New Roman"/>
                        </a:rPr>
                        <a:t>Designs an IoT-based architecture using sensors and Petri Net models to monitor and regulate greenhouse temperature efficiently while reducing energy consumption.</a:t>
                      </a:r>
                      <a:endParaRPr lang="en-US" dirty="0">
                        <a:latin typeface="Times New Roman"/>
                      </a:endParaRPr>
                    </a:p>
                  </a:txBody>
                  <a:tcPr marL="91450" marR="91450" marT="45724" marB="45724" anchor="ctr"/>
                </a:tc>
                <a:tc>
                  <a:txBody>
                    <a:bodyPr/>
                    <a:lstStyle/>
                    <a:p>
                      <a:pPr lvl="0" algn="just">
                        <a:lnSpc>
                          <a:spcPct val="100000"/>
                        </a:lnSpc>
                        <a:spcBef>
                          <a:spcPts val="0"/>
                        </a:spcBef>
                        <a:spcAft>
                          <a:spcPts val="0"/>
                        </a:spcAft>
                        <a:buNone/>
                      </a:pPr>
                      <a:r>
                        <a:rPr lang="en-US" sz="1350" b="0" i="0" u="none" strike="noStrike" noProof="0" dirty="0">
                          <a:latin typeface="Times New Roman"/>
                        </a:rPr>
                        <a:t>• Limited to temperature control, ignoring multi-parameter crop health indicators.</a:t>
                      </a:r>
                      <a:endParaRPr lang="en-US" dirty="0">
                        <a:latin typeface="Times New Roman"/>
                      </a:endParaRPr>
                    </a:p>
                    <a:p>
                      <a:pPr marL="0" lvl="0" indent="0" algn="just">
                        <a:lnSpc>
                          <a:spcPct val="100000"/>
                        </a:lnSpc>
                        <a:spcBef>
                          <a:spcPts val="0"/>
                        </a:spcBef>
                        <a:spcAft>
                          <a:spcPts val="0"/>
                        </a:spcAft>
                        <a:buNone/>
                      </a:pPr>
                      <a:r>
                        <a:rPr lang="en-US" sz="1350" b="0" i="0" u="none" strike="noStrike" noProof="0" dirty="0">
                          <a:latin typeface="Times New Roman"/>
                        </a:rPr>
                        <a:t>• No AI-based predictive mechanism for future environmental or crop risk forecasting.</a:t>
                      </a:r>
                      <a:endParaRPr lang="en-US" dirty="0">
                        <a:latin typeface="Times New Roman"/>
                      </a:endParaRPr>
                    </a:p>
                  </a:txBody>
                  <a:tcPr marL="91450" marR="91450" marT="45724" marB="45724" anchor="ctr"/>
                </a:tc>
                <a:extLst>
                  <a:ext uri="{0D108BD9-81ED-4DB2-BD59-A6C34878D82A}">
                    <a16:rowId xmlns:a16="http://schemas.microsoft.com/office/drawing/2014/main" val="983580325"/>
                  </a:ext>
                </a:extLst>
              </a:tr>
            </a:tbl>
          </a:graphicData>
        </a:graphic>
      </p:graphicFrame>
      <p:cxnSp>
        <p:nvCxnSpPr>
          <p:cNvPr id="6" name="Google Shape;436;p31"/>
          <p:cNvCxnSpPr/>
          <p:nvPr/>
        </p:nvCxnSpPr>
        <p:spPr>
          <a:xfrm>
            <a:off x="0" y="812178"/>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B8DE3DE7-7CCC-7FFC-4B5A-681A97A2AE51}"/>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Google Shape;268;p11">
            <a:extLst>
              <a:ext uri="{FF2B5EF4-FFF2-40B4-BE49-F238E27FC236}">
                <a16:creationId xmlns:a16="http://schemas.microsoft.com/office/drawing/2014/main" id="{71CCD4DD-BA44-5FB6-73F9-84524A62433E}"/>
              </a:ext>
            </a:extLst>
          </p:cNvPr>
          <p:cNvSpPr txBox="1">
            <a:spLocks/>
          </p:cNvSpPr>
          <p:nvPr/>
        </p:nvSpPr>
        <p:spPr>
          <a:xfrm>
            <a:off x="0" y="1"/>
            <a:ext cx="9144000" cy="809000"/>
          </a:xfrm>
          <a:prstGeom prst="rect">
            <a:avLst/>
          </a:prstGeom>
          <a:noFill/>
          <a:ln>
            <a:noFill/>
          </a:ln>
        </p:spPr>
        <p:txBody>
          <a:bodyPr spcFirstLastPara="1" vert="horz" wrap="square" lIns="91425" tIns="45700" rIns="91425" bIns="45700" rtlCol="0" anchor="ctr"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spcBef>
                <a:spcPts val="0"/>
              </a:spcBef>
              <a:buClrTx/>
              <a:buFontTx/>
            </a:pPr>
            <a:r>
              <a:rPr lang="en-US" sz="2800" b="1" dirty="0">
                <a:solidFill>
                  <a:srgbClr val="006600"/>
                </a:solidFill>
                <a:latin typeface="Bookman Old Style" panose="02050604050505020204" pitchFamily="18" charset="0"/>
                <a:cs typeface="Arial" panose="020B0604020202020204"/>
                <a:sym typeface="Times New Roman" panose="02020603050405020304"/>
              </a:rPr>
              <a:t>Literature</a:t>
            </a:r>
            <a:r>
              <a:rPr lang="en-US" sz="2800" b="1" dirty="0">
                <a:solidFill>
                  <a:srgbClr val="00B050"/>
                </a:solidFill>
                <a:latin typeface="Bookman Old Style" panose="02050604050505020204" pitchFamily="18" charset="0"/>
                <a:ea typeface="Times New Roman" panose="02020603050405020304"/>
                <a:cs typeface="Times New Roman" panose="02020603050405020304"/>
                <a:sym typeface="Times New Roman" panose="02020603050405020304"/>
              </a:rPr>
              <a:t> </a:t>
            </a:r>
            <a:r>
              <a:rPr lang="en-US" sz="2800" b="1" dirty="0">
                <a:solidFill>
                  <a:srgbClr val="006600"/>
                </a:solidFill>
                <a:latin typeface="Bookman Old Style" panose="02050604050505020204" pitchFamily="18" charset="0"/>
                <a:cs typeface="Arial" panose="020B0604020202020204"/>
                <a:sym typeface="Times New Roman" panose="02020603050405020304"/>
              </a:rPr>
              <a:t>Survey</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8AF0F2B4-D0F1-D95A-911A-0E633E900494}"/>
            </a:ext>
          </a:extLst>
        </p:cNvPr>
        <p:cNvGrpSpPr/>
        <p:nvPr/>
      </p:nvGrpSpPr>
      <p:grpSpPr>
        <a:xfrm>
          <a:off x="0" y="0"/>
          <a:ext cx="0" cy="0"/>
          <a:chOff x="0" y="0"/>
          <a:chExt cx="0" cy="0"/>
        </a:xfrm>
      </p:grpSpPr>
      <p:graphicFrame>
        <p:nvGraphicFramePr>
          <p:cNvPr id="265" name="Google Shape;265;p11">
            <a:extLst>
              <a:ext uri="{FF2B5EF4-FFF2-40B4-BE49-F238E27FC236}">
                <a16:creationId xmlns:a16="http://schemas.microsoft.com/office/drawing/2014/main" id="{B610B98B-B8B9-E010-2F97-A90DEFA43638}"/>
              </a:ext>
            </a:extLst>
          </p:cNvPr>
          <p:cNvGraphicFramePr/>
          <p:nvPr>
            <p:custDataLst>
              <p:tags r:id="rId1"/>
            </p:custDataLst>
            <p:extLst>
              <p:ext uri="{D42A27DB-BD31-4B8C-83A1-F6EECF244321}">
                <p14:modId xmlns:p14="http://schemas.microsoft.com/office/powerpoint/2010/main" val="3693635207"/>
              </p:ext>
            </p:extLst>
          </p:nvPr>
        </p:nvGraphicFramePr>
        <p:xfrm>
          <a:off x="177800" y="1019175"/>
          <a:ext cx="8771464" cy="5156660"/>
        </p:xfrm>
        <a:graphic>
          <a:graphicData uri="http://schemas.openxmlformats.org/drawingml/2006/table">
            <a:tbl>
              <a:tblPr firstRow="1" bandRow="1">
                <a:noFill/>
                <a:tableStyleId>{56D51072-94E4-4FC1-8697-D52FD32A7993}</a:tableStyleId>
              </a:tblPr>
              <a:tblGrid>
                <a:gridCol w="622974">
                  <a:extLst>
                    <a:ext uri="{9D8B030D-6E8A-4147-A177-3AD203B41FA5}">
                      <a16:colId xmlns:a16="http://schemas.microsoft.com/office/drawing/2014/main" val="20000"/>
                    </a:ext>
                  </a:extLst>
                </a:gridCol>
                <a:gridCol w="2029988">
                  <a:extLst>
                    <a:ext uri="{9D8B030D-6E8A-4147-A177-3AD203B41FA5}">
                      <a16:colId xmlns:a16="http://schemas.microsoft.com/office/drawing/2014/main" val="20001"/>
                    </a:ext>
                  </a:extLst>
                </a:gridCol>
                <a:gridCol w="1410646">
                  <a:extLst>
                    <a:ext uri="{9D8B030D-6E8A-4147-A177-3AD203B41FA5}">
                      <a16:colId xmlns:a16="http://schemas.microsoft.com/office/drawing/2014/main" val="20002"/>
                    </a:ext>
                  </a:extLst>
                </a:gridCol>
                <a:gridCol w="2481915">
                  <a:extLst>
                    <a:ext uri="{9D8B030D-6E8A-4147-A177-3AD203B41FA5}">
                      <a16:colId xmlns:a16="http://schemas.microsoft.com/office/drawing/2014/main" val="20003"/>
                    </a:ext>
                  </a:extLst>
                </a:gridCol>
                <a:gridCol w="2225941">
                  <a:extLst>
                    <a:ext uri="{9D8B030D-6E8A-4147-A177-3AD203B41FA5}">
                      <a16:colId xmlns:a16="http://schemas.microsoft.com/office/drawing/2014/main" val="20004"/>
                    </a:ext>
                  </a:extLst>
                </a:gridCol>
              </a:tblGrid>
              <a:tr h="690478">
                <a:tc>
                  <a:txBody>
                    <a:bodyPr/>
                    <a:lstStyle/>
                    <a:p>
                      <a:pPr marL="0" marR="0" lvl="0" indent="0" algn="l" rtl="0">
                        <a:spcBef>
                          <a:spcPts val="0"/>
                        </a:spcBef>
                        <a:spcAft>
                          <a:spcPts val="0"/>
                        </a:spcAft>
                        <a:buNone/>
                      </a:pPr>
                      <a:r>
                        <a:rPr lang="en-US" sz="135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 No.</a:t>
                      </a:r>
                    </a:p>
                  </a:txBody>
                  <a:tcPr marL="91450" marR="91450" marT="35175" marB="35175" anchor="ctr" anchorCtr="1"/>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135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Title </a:t>
                      </a:r>
                      <a:r>
                        <a:rPr lang="en-US" sz="1350" b="1"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of Paper</a:t>
                      </a:r>
                      <a:endParaRPr lang="en-US" sz="1350" dirty="0"/>
                    </a:p>
                    <a:p>
                      <a:pPr marL="0" marR="0" lvl="0" indent="0" algn="l" rtl="0">
                        <a:spcBef>
                          <a:spcPts val="0"/>
                        </a:spcBef>
                        <a:spcAft>
                          <a:spcPts val="0"/>
                        </a:spcAft>
                        <a:buNone/>
                      </a:pPr>
                      <a:endParaRPr sz="1350" dirty="0"/>
                    </a:p>
                  </a:txBody>
                  <a:tcPr marL="91450" marR="91450" marT="35175" marB="35175" anchor="ctr" anchorCtr="1"/>
                </a:tc>
                <a:tc>
                  <a:txBody>
                    <a:bodyPr/>
                    <a:lstStyle/>
                    <a:p>
                      <a:pPr marL="0" marR="0" lvl="0" indent="0" algn="ctr" rtl="0">
                        <a:spcBef>
                          <a:spcPts val="0"/>
                        </a:spcBef>
                        <a:spcAft>
                          <a:spcPts val="0"/>
                        </a:spcAft>
                        <a:buNone/>
                      </a:pPr>
                      <a:r>
                        <a:rPr lang="en-IN" sz="135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Journal Title  with Year of Publication &amp; Author</a:t>
                      </a:r>
                    </a:p>
                  </a:txBody>
                  <a:tcPr marL="91450" marR="91450" marT="35175" marB="35175" anchor="ctr" anchorCtr="1"/>
                </a:tc>
                <a:tc>
                  <a:txBody>
                    <a:bodyPr/>
                    <a:lstStyle/>
                    <a:p>
                      <a:pPr marL="0" marR="0" lvl="0" indent="0" algn="l" rtl="0">
                        <a:lnSpc>
                          <a:spcPct val="100000"/>
                        </a:lnSpc>
                        <a:spcBef>
                          <a:spcPts val="0"/>
                        </a:spcBef>
                        <a:spcAft>
                          <a:spcPts val="0"/>
                        </a:spcAft>
                        <a:buClr>
                          <a:schemeClr val="dk1"/>
                        </a:buClr>
                        <a:buSzPts val="1400"/>
                        <a:buFont typeface="Times New Roman" panose="02020603050405020304"/>
                        <a:buNone/>
                      </a:pPr>
                      <a:r>
                        <a:rPr lang="en-US" sz="13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Technical Description</a:t>
                      </a:r>
                    </a:p>
                  </a:txBody>
                  <a:tcPr marL="91450" marR="91450" marT="35175" marB="35175" anchor="ctr" anchorCtr="1"/>
                </a:tc>
                <a:tc>
                  <a:txBody>
                    <a:bodyPr/>
                    <a:lstStyle/>
                    <a:p>
                      <a:pPr marL="0" marR="0" lvl="0" indent="0" algn="l" rtl="0">
                        <a:lnSpc>
                          <a:spcPct val="100000"/>
                        </a:lnSpc>
                        <a:spcBef>
                          <a:spcPts val="0"/>
                        </a:spcBef>
                        <a:spcAft>
                          <a:spcPts val="0"/>
                        </a:spcAft>
                        <a:buClr>
                          <a:schemeClr val="dk1"/>
                        </a:buClr>
                        <a:buSzPts val="1400"/>
                        <a:buFont typeface="Times New Roman" panose="02020603050405020304"/>
                        <a:buNone/>
                      </a:pPr>
                      <a:r>
                        <a:rPr lang="en-US" sz="1350" b="1" i="0" u="none" strike="noStrike" cap="none" dirty="0">
                          <a:solidFill>
                            <a:schemeClr val="dk1"/>
                          </a:solidFill>
                          <a:latin typeface="Times New Roman"/>
                          <a:ea typeface="Times New Roman" panose="02020603050405020304"/>
                          <a:cs typeface="Times New Roman"/>
                          <a:sym typeface="Times New Roman" panose="02020603050405020304"/>
                        </a:rPr>
                        <a:t>Research Gap</a:t>
                      </a:r>
                    </a:p>
                  </a:txBody>
                  <a:tcPr marL="91450" marR="91450" marT="35175" marB="35175" anchor="ctr" anchorCtr="1"/>
                </a:tc>
                <a:extLst>
                  <a:ext uri="{0D108BD9-81ED-4DB2-BD59-A6C34878D82A}">
                    <a16:rowId xmlns:a16="http://schemas.microsoft.com/office/drawing/2014/main" val="10000"/>
                  </a:ext>
                </a:extLst>
              </a:tr>
              <a:tr h="1991199">
                <a:tc>
                  <a:txBody>
                    <a:bodyPr/>
                    <a:lstStyle/>
                    <a:p>
                      <a:pPr marL="0" marR="0" lvl="0" indent="0" algn="just" rtl="0">
                        <a:spcBef>
                          <a:spcPts val="0"/>
                        </a:spcBef>
                        <a:spcAft>
                          <a:spcPts val="0"/>
                        </a:spcAft>
                        <a:buNone/>
                      </a:pPr>
                      <a:r>
                        <a:rPr lang="en-US" sz="1350" b="0" dirty="0">
                          <a:latin typeface="Times New Roman"/>
                          <a:cs typeface="Times New Roman"/>
                        </a:rPr>
                        <a:t>4</a:t>
                      </a:r>
                      <a:endParaRPr sz="1350" b="0" dirty="0">
                        <a:latin typeface="Times New Roman"/>
                        <a:cs typeface="Times New Roman"/>
                      </a:endParaRPr>
                    </a:p>
                  </a:txBody>
                  <a:tcPr marL="91450" marR="91450" marT="35175" marB="35175" anchor="ctr"/>
                </a:tc>
                <a:tc>
                  <a:txBody>
                    <a:bodyPr/>
                    <a:lstStyle/>
                    <a:p>
                      <a:pPr marL="0" marR="0" lvl="0" indent="0" algn="just">
                        <a:spcBef>
                          <a:spcPts val="0"/>
                        </a:spcBef>
                        <a:spcAft>
                          <a:spcPts val="0"/>
                        </a:spcAft>
                        <a:buNone/>
                      </a:pPr>
                      <a:r>
                        <a:rPr lang="en-US" sz="1350" b="0" i="0" u="none" strike="noStrike" noProof="0" dirty="0">
                          <a:latin typeface="Times New Roman"/>
                        </a:rPr>
                        <a:t>Precision Agriculture Through Deep Learning: Tomato Plant Multiple Diseases Recognition with CNN and Improved YOLOv7</a:t>
                      </a:r>
                      <a:endParaRPr lang="en-US" b="0" dirty="0">
                        <a:latin typeface="Times New Roman"/>
                      </a:endParaRPr>
                    </a:p>
                  </a:txBody>
                  <a:tcPr marL="91450" marR="91450" marT="45725" marB="45725" anchor="ctr"/>
                </a:tc>
                <a:tc>
                  <a:txBody>
                    <a:bodyPr/>
                    <a:lstStyle/>
                    <a:p>
                      <a:pPr lvl="0" algn="just">
                        <a:lnSpc>
                          <a:spcPct val="100000"/>
                        </a:lnSpc>
                        <a:spcBef>
                          <a:spcPts val="0"/>
                        </a:spcBef>
                        <a:spcAft>
                          <a:spcPts val="0"/>
                        </a:spcAft>
                        <a:buNone/>
                      </a:pPr>
                      <a:r>
                        <a:rPr lang="en-US" sz="1350" b="0" i="1" u="none" strike="noStrike" noProof="0" dirty="0">
                          <a:latin typeface="Times New Roman"/>
                        </a:rPr>
                        <a:t>IEEE Access</a:t>
                      </a:r>
                      <a:r>
                        <a:rPr lang="en-US" sz="1350" b="0" i="0" u="none" strike="noStrike" noProof="0" dirty="0">
                          <a:latin typeface="Times New Roman"/>
                        </a:rPr>
                        <a:t>, 2024 </a:t>
                      </a:r>
                      <a:endParaRPr lang="en-US" dirty="0">
                        <a:latin typeface="Times New Roman"/>
                      </a:endParaRPr>
                    </a:p>
                  </a:txBody>
                  <a:tcPr marL="91450" marR="91450" marT="45725" marB="45725" anchor="ctr"/>
                </a:tc>
                <a:tc>
                  <a:txBody>
                    <a:bodyPr/>
                    <a:lstStyle/>
                    <a:p>
                      <a:pPr marL="0" marR="0" lvl="0" indent="0" algn="just">
                        <a:lnSpc>
                          <a:spcPct val="100000"/>
                        </a:lnSpc>
                        <a:spcBef>
                          <a:spcPts val="0"/>
                        </a:spcBef>
                        <a:spcAft>
                          <a:spcPts val="0"/>
                        </a:spcAft>
                        <a:buNone/>
                      </a:pPr>
                      <a:r>
                        <a:rPr lang="en-US" sz="1350" b="0" i="0" u="none" strike="noStrike" noProof="0" dirty="0">
                          <a:latin typeface="Times New Roman"/>
                        </a:rPr>
                        <a:t>Implements deep learning models (CNN and improved YOLOv7) for high-accuracy detection and classification of multiple tomato leaf diseases using image data.</a:t>
                      </a:r>
                      <a:endParaRPr lang="en-US" dirty="0">
                        <a:latin typeface="Times New Roman"/>
                      </a:endParaRP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rPr>
                        <a:t>• Functions as a standalone disease detection system without integration into greenhouse control systems.</a:t>
                      </a:r>
                      <a:endParaRPr lang="en-US" dirty="0">
                        <a:latin typeface="Times New Roman"/>
                      </a:endParaRPr>
                    </a:p>
                    <a:p>
                      <a:pPr marL="0" lvl="0" indent="0" algn="just">
                        <a:lnSpc>
                          <a:spcPct val="100000"/>
                        </a:lnSpc>
                        <a:spcBef>
                          <a:spcPts val="0"/>
                        </a:spcBef>
                        <a:spcAft>
                          <a:spcPts val="0"/>
                        </a:spcAft>
                        <a:buNone/>
                      </a:pPr>
                      <a:r>
                        <a:rPr lang="en-US" sz="1350" b="0" i="0" u="none" strike="noStrike" noProof="0" dirty="0">
                          <a:latin typeface="Times New Roman"/>
                        </a:rPr>
                        <a:t>• Disease detection results are not used for automated decision-making or control actions.</a:t>
                      </a:r>
                      <a:endParaRPr lang="en-US" dirty="0">
                        <a:latin typeface="Times New Roman"/>
                        <a:sym typeface="+mn-ea"/>
                      </a:endParaRPr>
                    </a:p>
                  </a:txBody>
                  <a:tcPr marL="91450" marR="91450" marT="45725" marB="45725" anchor="ctr"/>
                </a:tc>
                <a:extLst>
                  <a:ext uri="{0D108BD9-81ED-4DB2-BD59-A6C34878D82A}">
                    <a16:rowId xmlns:a16="http://schemas.microsoft.com/office/drawing/2014/main" val="10001"/>
                  </a:ext>
                </a:extLst>
              </a:tr>
              <a:tr h="2272151">
                <a:tc>
                  <a:txBody>
                    <a:bodyPr/>
                    <a:lstStyle/>
                    <a:p>
                      <a:pPr marL="0" marR="0" lvl="0" indent="0" algn="just" rtl="0">
                        <a:spcBef>
                          <a:spcPts val="0"/>
                        </a:spcBef>
                        <a:spcAft>
                          <a:spcPts val="0"/>
                        </a:spcAft>
                        <a:buNone/>
                      </a:pPr>
                      <a:r>
                        <a:rPr lang="en-US" sz="1350" b="0" u="none" dirty="0">
                          <a:latin typeface="Times New Roman"/>
                          <a:cs typeface="Times New Roman"/>
                        </a:rPr>
                        <a:t>5</a:t>
                      </a:r>
                      <a:endParaRPr sz="1350" b="0" u="none" dirty="0">
                        <a:latin typeface="Times New Roman"/>
                        <a:cs typeface="Times New Roman"/>
                      </a:endParaRPr>
                    </a:p>
                  </a:txBody>
                  <a:tcPr marL="91450" marR="91450" marT="35175" marB="35175" anchor="ctr"/>
                </a:tc>
                <a:tc>
                  <a:txBody>
                    <a:bodyPr/>
                    <a:lstStyle/>
                    <a:p>
                      <a:pPr lvl="0" algn="l">
                        <a:lnSpc>
                          <a:spcPct val="100000"/>
                        </a:lnSpc>
                        <a:spcBef>
                          <a:spcPts val="0"/>
                        </a:spcBef>
                        <a:spcAft>
                          <a:spcPts val="0"/>
                        </a:spcAft>
                        <a:buNone/>
                      </a:pPr>
                      <a:r>
                        <a:rPr lang="en-US" b="0" dirty="0">
                          <a:latin typeface="Times New Roman"/>
                        </a:rPr>
                        <a:t>Designing AI-Driven Platforms to Transform Agricultural Ecosystems</a:t>
                      </a:r>
                    </a:p>
                    <a:p>
                      <a:pPr marL="0" marR="0" lvl="0" indent="0" algn="just">
                        <a:spcBef>
                          <a:spcPts val="0"/>
                        </a:spcBef>
                        <a:spcAft>
                          <a:spcPts val="0"/>
                        </a:spcAft>
                        <a:buNone/>
                      </a:pPr>
                      <a:endParaRPr lang="en-US" b="0" dirty="0">
                        <a:latin typeface="Times New Roman"/>
                        <a:cs typeface="Times New Roman"/>
                        <a:sym typeface="Times New Roman" panose="02020603050405020304"/>
                      </a:endParaRPr>
                    </a:p>
                  </a:txBody>
                  <a:tcPr marL="91450" marR="91450" marT="45725" marB="45725" anchor="ctr"/>
                </a:tc>
                <a:tc>
                  <a:txBody>
                    <a:bodyPr/>
                    <a:lstStyle/>
                    <a:p>
                      <a:pPr lvl="0" algn="just">
                        <a:lnSpc>
                          <a:spcPct val="100000"/>
                        </a:lnSpc>
                        <a:spcBef>
                          <a:spcPts val="0"/>
                        </a:spcBef>
                        <a:spcAft>
                          <a:spcPts val="0"/>
                        </a:spcAft>
                        <a:buNone/>
                      </a:pPr>
                      <a:r>
                        <a:rPr lang="it-IT" sz="1350" b="0" i="1" u="none" strike="noStrike" noProof="0" dirty="0">
                          <a:latin typeface="Times New Roman"/>
                        </a:rPr>
                        <a:t>International Journal for Research Publication and Seminar</a:t>
                      </a:r>
                      <a:r>
                        <a:rPr lang="it-IT" sz="1350" b="0" i="0" u="none" strike="noStrike" noProof="0" dirty="0">
                          <a:latin typeface="Times New Roman"/>
                        </a:rPr>
                        <a:t>, 2025 </a:t>
                      </a:r>
                      <a:endParaRPr lang="en-US" dirty="0">
                        <a:latin typeface="Times New Roman"/>
                      </a:endParaRPr>
                    </a:p>
                  </a:txBody>
                  <a:tcPr marL="91450" marR="91450" marT="45725" marB="45725" anchor="ctr"/>
                </a:tc>
                <a:tc>
                  <a:txBody>
                    <a:bodyPr/>
                    <a:lstStyle/>
                    <a:p>
                      <a:pPr marL="0" marR="0" lvl="0" indent="0" algn="just">
                        <a:lnSpc>
                          <a:spcPct val="100000"/>
                        </a:lnSpc>
                        <a:spcBef>
                          <a:spcPts val="0"/>
                        </a:spcBef>
                        <a:spcAft>
                          <a:spcPts val="0"/>
                        </a:spcAft>
                        <a:buNone/>
                      </a:pPr>
                      <a:r>
                        <a:rPr lang="en-US" sz="1350" b="0" i="0" u="none" strike="noStrike" noProof="0" dirty="0">
                          <a:latin typeface="Times New Roman"/>
                        </a:rPr>
                        <a:t>Proposes a modular AI-driven platform integrating IoT, machine learning, reinforcement learning, and explainable AI for end-to-end agricultural decision support.</a:t>
                      </a:r>
                      <a:endParaRPr lang="en-US" dirty="0">
                        <a:latin typeface="Times New Roman"/>
                      </a:endParaRP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rPr>
                        <a:t>• Platform lacks greenhouse-specific digital twin validation.</a:t>
                      </a:r>
                      <a:endParaRPr lang="en-US" dirty="0">
                        <a:latin typeface="Times New Roman"/>
                      </a:endParaRPr>
                    </a:p>
                    <a:p>
                      <a:pPr marL="0" marR="0" lvl="0" indent="0" algn="just">
                        <a:spcBef>
                          <a:spcPts val="0"/>
                        </a:spcBef>
                        <a:spcAft>
                          <a:spcPts val="0"/>
                        </a:spcAft>
                        <a:buNone/>
                      </a:pPr>
                      <a:r>
                        <a:rPr lang="en-US" sz="1350" b="0" i="0" u="none" strike="noStrike" noProof="0" dirty="0">
                          <a:latin typeface="Times New Roman"/>
                        </a:rPr>
                        <a:t>• Does not integrate real-time disease detection with closed-loop control mechanisms.</a:t>
                      </a:r>
                      <a:endParaRPr lang="en-US" dirty="0">
                        <a:latin typeface="Times New Roman"/>
                        <a:sym typeface="+mn-ea"/>
                      </a:endParaRPr>
                    </a:p>
                  </a:txBody>
                  <a:tcPr marL="91450" marR="91450" marT="45725" marB="45725" anchor="ctr"/>
                </a:tc>
                <a:extLst>
                  <a:ext uri="{0D108BD9-81ED-4DB2-BD59-A6C34878D82A}">
                    <a16:rowId xmlns:a16="http://schemas.microsoft.com/office/drawing/2014/main" val="10002"/>
                  </a:ext>
                </a:extLst>
              </a:tr>
            </a:tbl>
          </a:graphicData>
        </a:graphic>
      </p:graphicFrame>
      <p:cxnSp>
        <p:nvCxnSpPr>
          <p:cNvPr id="6" name="Google Shape;436;p31">
            <a:extLst>
              <a:ext uri="{FF2B5EF4-FFF2-40B4-BE49-F238E27FC236}">
                <a16:creationId xmlns:a16="http://schemas.microsoft.com/office/drawing/2014/main" id="{A7ACC763-C5D4-D18D-6897-F2EE7DC489E8}"/>
              </a:ext>
            </a:extLst>
          </p:cNvPr>
          <p:cNvCxnSpPr/>
          <p:nvPr/>
        </p:nvCxnSpPr>
        <p:spPr>
          <a:xfrm>
            <a:off x="0" y="812178"/>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6043EDA5-3A0F-68FD-8525-A986C4C3E215}"/>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Google Shape;268;p11">
            <a:extLst>
              <a:ext uri="{FF2B5EF4-FFF2-40B4-BE49-F238E27FC236}">
                <a16:creationId xmlns:a16="http://schemas.microsoft.com/office/drawing/2014/main" id="{72233F2E-DA87-F73C-BEF4-73847BEB6628}"/>
              </a:ext>
            </a:extLst>
          </p:cNvPr>
          <p:cNvSpPr txBox="1">
            <a:spLocks/>
          </p:cNvSpPr>
          <p:nvPr/>
        </p:nvSpPr>
        <p:spPr>
          <a:xfrm>
            <a:off x="0" y="0"/>
            <a:ext cx="9144000" cy="807414"/>
          </a:xfrm>
          <a:prstGeom prst="rect">
            <a:avLst/>
          </a:prstGeom>
          <a:noFill/>
          <a:ln>
            <a:noFill/>
          </a:ln>
        </p:spPr>
        <p:txBody>
          <a:bodyPr spcFirstLastPara="1" vert="horz" wrap="square" lIns="91425" tIns="45700" rIns="91425" bIns="45700" rtlCol="0" anchor="ctr"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spcBef>
                <a:spcPts val="0"/>
              </a:spcBef>
              <a:buClrTx/>
              <a:buFontTx/>
            </a:pPr>
            <a:r>
              <a:rPr lang="en-US" sz="2800" b="1" dirty="0">
                <a:solidFill>
                  <a:srgbClr val="006600"/>
                </a:solidFill>
                <a:latin typeface="Bookman Old Style" panose="02050604050505020204" pitchFamily="18" charset="0"/>
                <a:cs typeface="Arial" panose="020B0604020202020204"/>
                <a:sym typeface="Times New Roman" panose="02020603050405020304"/>
              </a:rPr>
              <a:t>Literature</a:t>
            </a:r>
            <a:r>
              <a:rPr lang="en-US" sz="2800" b="1" dirty="0">
                <a:solidFill>
                  <a:srgbClr val="00B050"/>
                </a:solidFill>
                <a:latin typeface="Bookman Old Style" panose="02050604050505020204" pitchFamily="18" charset="0"/>
                <a:ea typeface="Times New Roman" panose="02020603050405020304"/>
                <a:cs typeface="Times New Roman" panose="02020603050405020304"/>
                <a:sym typeface="Times New Roman" panose="02020603050405020304"/>
              </a:rPr>
              <a:t> </a:t>
            </a:r>
            <a:r>
              <a:rPr lang="en-US" sz="2800" b="1" dirty="0">
                <a:solidFill>
                  <a:srgbClr val="006600"/>
                </a:solidFill>
                <a:latin typeface="Bookman Old Style" panose="02050604050505020204" pitchFamily="18" charset="0"/>
                <a:cs typeface="Arial" panose="020B0604020202020204"/>
                <a:sym typeface="Times New Roman" panose="02020603050405020304"/>
              </a:rPr>
              <a:t>Survey (Contd..)</a:t>
            </a:r>
          </a:p>
        </p:txBody>
      </p:sp>
    </p:spTree>
    <p:extLst>
      <p:ext uri="{BB962C8B-B14F-4D97-AF65-F5344CB8AC3E}">
        <p14:creationId xmlns:p14="http://schemas.microsoft.com/office/powerpoint/2010/main" val="226921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5" name="Google Shape;295;p14"/>
          <p:cNvSpPr txBox="1">
            <a:spLocks noGrp="1"/>
          </p:cNvSpPr>
          <p:nvPr>
            <p:ph type="title"/>
          </p:nvPr>
        </p:nvSpPr>
        <p:spPr>
          <a:xfrm>
            <a:off x="-1" y="10257"/>
            <a:ext cx="9143999" cy="52582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b="1" dirty="0">
                <a:solidFill>
                  <a:srgbClr val="006600"/>
                </a:solidFill>
                <a:latin typeface="Bookman Old Style" panose="02050604050505020204" pitchFamily="18" charset="0"/>
                <a:cs typeface="Arial" panose="020B0604020202020204"/>
                <a:sym typeface="Times New Roman" panose="02020603050405020304"/>
              </a:rPr>
              <a:t>Inference from Literature Survey</a:t>
            </a:r>
            <a:endParaRPr sz="2000" b="1" dirty="0">
              <a:solidFill>
                <a:srgbClr val="006600"/>
              </a:solidFill>
              <a:latin typeface="Bookman Old Style" panose="02050604050505020204" pitchFamily="18" charset="0"/>
              <a:cs typeface="Arial" panose="020B0604020202020204"/>
              <a:sym typeface="Times New Roman" panose="02020603050405020304"/>
            </a:endParaRPr>
          </a:p>
        </p:txBody>
      </p:sp>
      <p:cxnSp>
        <p:nvCxnSpPr>
          <p:cNvPr id="8" name="Google Shape;436;p31"/>
          <p:cNvCxnSpPr/>
          <p:nvPr/>
        </p:nvCxnSpPr>
        <p:spPr>
          <a:xfrm>
            <a:off x="0" y="526918"/>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6D22E39D-05BB-4208-16DE-45CD2B992922}"/>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Google Shape;292;p14">
            <a:extLst>
              <a:ext uri="{FF2B5EF4-FFF2-40B4-BE49-F238E27FC236}">
                <a16:creationId xmlns:a16="http://schemas.microsoft.com/office/drawing/2014/main" id="{577F5FD9-ED0A-0EBE-1244-978F1736DB43}"/>
              </a:ext>
            </a:extLst>
          </p:cNvPr>
          <p:cNvSpPr txBox="1">
            <a:spLocks noGrp="1"/>
          </p:cNvSpPr>
          <p:nvPr>
            <p:ph idx="1"/>
          </p:nvPr>
        </p:nvSpPr>
        <p:spPr>
          <a:xfrm>
            <a:off x="-1" y="705037"/>
            <a:ext cx="9031942" cy="5618887"/>
          </a:xfrm>
          <a:prstGeom prst="rect">
            <a:avLst/>
          </a:prstGeom>
          <a:noFill/>
          <a:ln>
            <a:noFill/>
          </a:ln>
        </p:spPr>
        <p:txBody>
          <a:bodyPr spcFirstLastPara="1" wrap="square" lIns="91425" tIns="45700" rIns="91425" bIns="45700" anchor="t" anchorCtr="0">
            <a:noAutofit/>
          </a:bodyPr>
          <a:lstStyle/>
          <a:p>
            <a:pPr algn="just">
              <a:lnSpc>
                <a:spcPts val="2800"/>
              </a:lnSpc>
              <a:buClr>
                <a:srgbClr val="000000"/>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Digital Twin used mainly for energy and production optimization, not for plant health or disease intelligence, limiting agronomic decision depth. </a:t>
            </a:r>
            <a:endParaRPr lang="en-US" sz="1800" dirty="0">
              <a:latin typeface="Times New Roman" panose="02020603050405020304" pitchFamily="18" charset="0"/>
              <a:ea typeface="+mn-lt"/>
              <a:cs typeface="Times New Roman" panose="02020603050405020304" pitchFamily="18" charset="0"/>
            </a:endParaRPr>
          </a:p>
          <a:p>
            <a:pPr algn="just">
              <a:lnSpc>
                <a:spcPts val="2800"/>
              </a:lnSpc>
              <a:buClr>
                <a:srgbClr val="000000"/>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Reactive control paradigm — system responds to operational conditions but does not anticipate disease onset or stress progression before symptoms appear.</a:t>
            </a:r>
            <a:endParaRPr lang="en-US" sz="1800" dirty="0">
              <a:latin typeface="Times New Roman" panose="02020603050405020304" pitchFamily="18" charset="0"/>
              <a:ea typeface="+mn-lt"/>
              <a:cs typeface="Times New Roman" panose="02020603050405020304" pitchFamily="18" charset="0"/>
            </a:endParaRPr>
          </a:p>
          <a:p>
            <a:pPr algn="just">
              <a:lnSpc>
                <a:spcPts val="2800"/>
              </a:lnSpc>
              <a:buClr>
                <a:srgbClr val="000000"/>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No integration of plant image intelligence (CNN-based disease detection); crop health is inferred indirectly rather than visually validated. </a:t>
            </a:r>
            <a:endParaRPr lang="en-US" sz="1800" dirty="0">
              <a:latin typeface="Times New Roman" panose="02020603050405020304" pitchFamily="18" charset="0"/>
              <a:ea typeface="+mn-lt"/>
              <a:cs typeface="Times New Roman" panose="02020603050405020304" pitchFamily="18" charset="0"/>
            </a:endParaRPr>
          </a:p>
          <a:p>
            <a:pPr algn="just">
              <a:lnSpc>
                <a:spcPts val="2800"/>
              </a:lnSpc>
              <a:buClr>
                <a:srgbClr val="000000"/>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Lacks temporal disease progression modeling — no sequence learning to forecast how disease risk evolves over time.</a:t>
            </a:r>
          </a:p>
          <a:p>
            <a:pPr algn="just">
              <a:lnSpc>
                <a:spcPts val="2800"/>
              </a:lnSpc>
              <a:buClr>
                <a:srgbClr val="000000"/>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Alerts and decisions are system-centric, not human-centric — no non-verbal or intuitive signaling mechanism for on-field workers. </a:t>
            </a:r>
          </a:p>
          <a:p>
            <a:pPr algn="just">
              <a:lnSpc>
                <a:spcPts val="2800"/>
              </a:lnSpc>
              <a:buClr>
                <a:srgbClr val="000000"/>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Resource optimization focuses heavily on energy markets, with limited emphasis on preventive water, fertilizer, and pesticide efficiency via early intervention.</a:t>
            </a:r>
          </a:p>
          <a:p>
            <a:pPr algn="just">
              <a:lnSpc>
                <a:spcPts val="2800"/>
              </a:lnSpc>
              <a:buClr>
                <a:srgbClr val="000000"/>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Crop–environment–disease coupling is weak, treating climate, energy, and production as dominant layers while disease remains secondary.</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7"/>
          <p:cNvSpPr txBox="1">
            <a:spLocks noGrp="1"/>
          </p:cNvSpPr>
          <p:nvPr>
            <p:ph type="title"/>
          </p:nvPr>
        </p:nvSpPr>
        <p:spPr>
          <a:xfrm>
            <a:off x="0" y="0"/>
            <a:ext cx="9144000" cy="78059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sym typeface="Times New Roman" panose="02020603050405020304"/>
              </a:rPr>
              <a:t>Proposed</a:t>
            </a:r>
            <a:r>
              <a:rPr lang="en-US" sz="2800" b="1" dirty="0">
                <a:solidFill>
                  <a:srgbClr val="00B050"/>
                </a:solidFill>
                <a:latin typeface="Bookman Old Style" panose="02050604050505020204" pitchFamily="18" charset="0"/>
                <a:ea typeface="Times New Roman" panose="02020603050405020304"/>
                <a:cs typeface="Times New Roman" panose="02020603050405020304"/>
                <a:sym typeface="Times New Roman" panose="02020603050405020304"/>
              </a:rPr>
              <a:t> </a:t>
            </a:r>
            <a:r>
              <a:rPr lang="en-US" sz="2800" b="1" dirty="0">
                <a:solidFill>
                  <a:srgbClr val="006600"/>
                </a:solidFill>
                <a:latin typeface="Bookman Old Style" panose="02050604050505020204" pitchFamily="18" charset="0"/>
                <a:sym typeface="Times New Roman" panose="02020603050405020304"/>
              </a:rPr>
              <a:t>Project - </a:t>
            </a:r>
            <a:r>
              <a:rPr lang="en-US" sz="2800" b="1" dirty="0" err="1">
                <a:solidFill>
                  <a:srgbClr val="006600"/>
                </a:solidFill>
                <a:latin typeface="Bookman Old Style" panose="02050604050505020204" pitchFamily="18" charset="0"/>
                <a:cs typeface="Arial" panose="020B0604020202020204"/>
                <a:sym typeface="Times New Roman" panose="02020603050405020304"/>
              </a:rPr>
              <a:t>AgriTwin</a:t>
            </a:r>
            <a:r>
              <a:rPr lang="en-US" sz="2800" b="1" dirty="0">
                <a:solidFill>
                  <a:srgbClr val="006600"/>
                </a:solidFill>
                <a:latin typeface="Bookman Old Style" panose="02050604050505020204" pitchFamily="18" charset="0"/>
                <a:cs typeface="Arial" panose="020B0604020202020204"/>
                <a:sym typeface="Times New Roman" panose="02020603050405020304"/>
              </a:rPr>
              <a:t>-GH</a:t>
            </a:r>
            <a:endParaRPr lang="en-US" sz="2800" b="1" dirty="0">
              <a:solidFill>
                <a:srgbClr val="006600"/>
              </a:solidFill>
              <a:latin typeface="Bookman Old Style" panose="02050604050505020204" pitchFamily="18" charset="0"/>
              <a:sym typeface="Times New Roman" panose="02020603050405020304"/>
            </a:endParaRPr>
          </a:p>
        </p:txBody>
      </p:sp>
      <p:sp>
        <p:nvSpPr>
          <p:cNvPr id="317" name="Google Shape;317;p17"/>
          <p:cNvSpPr txBox="1">
            <a:spLocks noGrp="1"/>
          </p:cNvSpPr>
          <p:nvPr>
            <p:ph idx="1"/>
          </p:nvPr>
        </p:nvSpPr>
        <p:spPr>
          <a:xfrm>
            <a:off x="240030" y="788670"/>
            <a:ext cx="8774430" cy="5567681"/>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600"/>
              <a:buNone/>
            </a:pPr>
            <a:r>
              <a:rPr lang="en-IN" sz="1800" dirty="0" err="1">
                <a:latin typeface="Times New Roman" panose="02020603050405020304" pitchFamily="18" charset="0"/>
                <a:cs typeface="Times New Roman" panose="02020603050405020304" pitchFamily="18" charset="0"/>
              </a:rPr>
              <a:t>AgriTwin</a:t>
            </a:r>
            <a:r>
              <a:rPr lang="en-IN" sz="1800" dirty="0">
                <a:latin typeface="Times New Roman" panose="02020603050405020304" pitchFamily="18" charset="0"/>
                <a:cs typeface="Times New Roman" panose="02020603050405020304" pitchFamily="18" charset="0"/>
              </a:rPr>
              <a:t>-GH introduces a software-based AI digital twin that integrates multi-parameter greenhouse data, disease intelligence, and short-term forecasting to enable predictive and safety-validated control for tomato and strawberry cultivation.</a:t>
            </a:r>
          </a:p>
          <a:p>
            <a:pPr marL="0" lvl="0" indent="0" algn="just" rtl="0">
              <a:lnSpc>
                <a:spcPct val="150000"/>
              </a:lnSpc>
              <a:spcBef>
                <a:spcPts val="0"/>
              </a:spcBef>
              <a:spcAft>
                <a:spcPts val="0"/>
              </a:spcAft>
              <a:buClr>
                <a:schemeClr val="dk1"/>
              </a:buClr>
              <a:buSzPts val="1600"/>
              <a:buNone/>
            </a:pPr>
            <a:endParaRPr lang="en-US" altLang="en-US" sz="1800" b="1" dirty="0">
              <a:latin typeface="Bookman Old Style" panose="02050604050505020204" pitchFamily="18" charset="0"/>
              <a:cs typeface="Times New Roman" panose="02020603050405020304"/>
              <a:sym typeface="Times New Roman" panose="02020603050405020304"/>
            </a:endParaRPr>
          </a:p>
          <a:p>
            <a:pPr marL="0" lvl="0" indent="0" algn="just" rtl="0">
              <a:lnSpc>
                <a:spcPct val="150000"/>
              </a:lnSpc>
              <a:spcBef>
                <a:spcPts val="0"/>
              </a:spcBef>
              <a:spcAft>
                <a:spcPts val="0"/>
              </a:spcAft>
              <a:buClr>
                <a:schemeClr val="dk1"/>
              </a:buClr>
              <a:buSzPts val="1600"/>
              <a:buNone/>
            </a:pPr>
            <a:r>
              <a:rPr lang="en-US" altLang="en-US" sz="1800" b="1" dirty="0">
                <a:latin typeface="Bookman Old Style" panose="02050604050505020204" pitchFamily="18" charset="0"/>
                <a:cs typeface="Times New Roman" panose="02020603050405020304"/>
                <a:sym typeface="Times New Roman" panose="02020603050405020304"/>
              </a:rPr>
              <a:t>Key Differentiators</a:t>
            </a:r>
          </a:p>
          <a:p>
            <a:pPr algn="just">
              <a:lnSpc>
                <a:spcPct val="150000"/>
              </a:lnSpc>
              <a:spcBef>
                <a:spcPts val="0"/>
              </a:spcBef>
              <a:buClr>
                <a:schemeClr val="dk1"/>
              </a:buClr>
              <a:buSzPts val="1600"/>
              <a:buFont typeface="Wingdings" panose="05000000000000000000" pitchFamily="2" charset="2"/>
              <a:buChar char="q"/>
            </a:pPr>
            <a:r>
              <a:rPr lang="en-US"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Digital Twin + AI Integration: Combines data-driven learning with virtual system simulation for safer decision-making.</a:t>
            </a:r>
          </a:p>
          <a:p>
            <a:pPr algn="just">
              <a:lnSpc>
                <a:spcPct val="150000"/>
              </a:lnSpc>
              <a:spcBef>
                <a:spcPts val="0"/>
              </a:spcBef>
              <a:buClr>
                <a:schemeClr val="dk1"/>
              </a:buClr>
              <a:buSzPts val="16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Predictive, Not Reactive: Anticipates disease risk and environmental stress before visible symptoms appear.</a:t>
            </a:r>
          </a:p>
          <a:p>
            <a:pPr algn="just">
              <a:lnSpc>
                <a:spcPct val="150000"/>
              </a:lnSpc>
              <a:spcBef>
                <a:spcPts val="0"/>
              </a:spcBef>
              <a:buClr>
                <a:schemeClr val="dk1"/>
              </a:buClr>
              <a:buSzPts val="16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Human-Centered Design: Uses non-verbal alerts suitable for illiterate or semi-literate workers.</a:t>
            </a:r>
          </a:p>
          <a:p>
            <a:pPr algn="just">
              <a:lnSpc>
                <a:spcPct val="150000"/>
              </a:lnSpc>
              <a:spcBef>
                <a:spcPts val="0"/>
              </a:spcBef>
              <a:buClr>
                <a:schemeClr val="dk1"/>
              </a:buClr>
              <a:buSzPts val="16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Resource-Efficient Control: Reduces water, energy, and fertilizer waste through preventive actions.</a:t>
            </a:r>
          </a:p>
        </p:txBody>
      </p:sp>
      <p:cxnSp>
        <p:nvCxnSpPr>
          <p:cNvPr id="6" name="Google Shape;436;p31"/>
          <p:cNvCxnSpPr/>
          <p:nvPr/>
        </p:nvCxnSpPr>
        <p:spPr>
          <a:xfrm>
            <a:off x="0" y="753186"/>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738C2CB7-A12F-BEF4-485D-A9707730A771}"/>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7"/>
          <p:cNvSpPr txBox="1">
            <a:spLocks noGrp="1"/>
          </p:cNvSpPr>
          <p:nvPr>
            <p:ph type="title"/>
          </p:nvPr>
        </p:nvSpPr>
        <p:spPr>
          <a:xfrm>
            <a:off x="0" y="0"/>
            <a:ext cx="9144000" cy="78059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sym typeface="Times New Roman" panose="02020603050405020304"/>
              </a:rPr>
              <a:t>High-Level Architecture Diagram</a:t>
            </a:r>
          </a:p>
        </p:txBody>
      </p:sp>
      <p:cxnSp>
        <p:nvCxnSpPr>
          <p:cNvPr id="6" name="Google Shape;436;p31"/>
          <p:cNvCxnSpPr/>
          <p:nvPr/>
        </p:nvCxnSpPr>
        <p:spPr>
          <a:xfrm>
            <a:off x="0" y="753186"/>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738C2CB7-A12F-BEF4-485D-A9707730A771}"/>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pic>
        <p:nvPicPr>
          <p:cNvPr id="5" name="Content Placeholder 4" descr="A diagram of a software system">
            <a:extLst>
              <a:ext uri="{FF2B5EF4-FFF2-40B4-BE49-F238E27FC236}">
                <a16:creationId xmlns:a16="http://schemas.microsoft.com/office/drawing/2014/main" id="{FA42B6BB-4A96-F1E8-9D60-DA53B157BEA3}"/>
              </a:ext>
            </a:extLst>
          </p:cNvPr>
          <p:cNvPicPr>
            <a:picLocks noGrp="1" noChangeAspect="1"/>
          </p:cNvPicPr>
          <p:nvPr>
            <p:ph idx="1"/>
          </p:nvPr>
        </p:nvPicPr>
        <p:blipFill>
          <a:blip r:embed="rId3"/>
          <a:stretch>
            <a:fillRect/>
          </a:stretch>
        </p:blipFill>
        <p:spPr>
          <a:xfrm>
            <a:off x="314666" y="1122257"/>
            <a:ext cx="8514668" cy="4982558"/>
          </a:xfrm>
        </p:spPr>
      </p:pic>
      <p:sp>
        <p:nvSpPr>
          <p:cNvPr id="3" name="TextBox 2">
            <a:extLst>
              <a:ext uri="{FF2B5EF4-FFF2-40B4-BE49-F238E27FC236}">
                <a16:creationId xmlns:a16="http://schemas.microsoft.com/office/drawing/2014/main" id="{A79C549D-4EF9-2FD4-C750-1EA334410133}"/>
              </a:ext>
            </a:extLst>
          </p:cNvPr>
          <p:cNvSpPr txBox="1"/>
          <p:nvPr/>
        </p:nvSpPr>
        <p:spPr>
          <a:xfrm>
            <a:off x="2733652" y="6185098"/>
            <a:ext cx="4475905"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High-Level Architecture Diagram for Proposed Project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2132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Input Data and Expected Output</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843778"/>
            <a:ext cx="8915400" cy="5831659"/>
          </a:xfrm>
          <a:prstGeom prst="rect">
            <a:avLst/>
          </a:prstGeom>
          <a:noFill/>
          <a:ln>
            <a:noFill/>
          </a:ln>
        </p:spPr>
        <p:txBody>
          <a:bodyPr spcFirstLastPara="1" wrap="square" lIns="91425" tIns="45700" rIns="91425" bIns="45700" anchor="t" anchorCtr="0">
            <a:noAutofit/>
          </a:bodyPr>
          <a:lstStyle/>
          <a:p>
            <a:pPr marL="0" indent="0" algn="just">
              <a:lnSpc>
                <a:spcPct val="150000"/>
              </a:lnSpc>
              <a:spcBef>
                <a:spcPts val="0"/>
              </a:spcBef>
              <a:buClr>
                <a:schemeClr val="dk1"/>
              </a:buClr>
              <a:buSzPct val="100000"/>
              <a:buNone/>
            </a:pPr>
            <a:r>
              <a:rPr lang="en-US" altLang="en-US" sz="1800" b="1" dirty="0">
                <a:latin typeface="Bookman Old Style" panose="02050604050505020204" pitchFamily="18" charset="0"/>
                <a:cs typeface="Times New Roman" panose="02020603050405020304"/>
                <a:sym typeface="Times New Roman" panose="02020603050405020304"/>
              </a:rPr>
              <a:t>Inputs</a:t>
            </a:r>
            <a:endParaRPr lang="en-US" sz="1800" dirty="0">
              <a:latin typeface="Times New Roman" panose="02020603050405020304" pitchFamily="18" charset="0"/>
              <a:cs typeface="Times New Roman" panose="02020603050405020304" pitchFamily="18" charset="0"/>
            </a:endParaRPr>
          </a:p>
          <a:p>
            <a:pPr lvl="0" algn="just" rtl="0">
              <a:lnSpc>
                <a:spcPts val="26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Uses open greenhouse datasets as virtual sensor streams, eliminating dependency on physical sensors.</a:t>
            </a:r>
          </a:p>
          <a:p>
            <a:pPr lvl="0" algn="just" rtl="0">
              <a:lnSpc>
                <a:spcPts val="26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Time-series inputs include temperature, humidity, light intensity, CO₂, soil moisture, EC, and soil </a:t>
            </a:r>
            <a:r>
              <a:rPr lang="en-US" sz="1800" dirty="0" err="1">
                <a:latin typeface="Times New Roman" panose="02020603050405020304" pitchFamily="18" charset="0"/>
                <a:cs typeface="Times New Roman" panose="02020603050405020304" pitchFamily="18" charset="0"/>
              </a:rPr>
              <a:t>pH.</a:t>
            </a:r>
            <a:endParaRPr lang="en-US" sz="1800" dirty="0">
              <a:latin typeface="Times New Roman" panose="02020603050405020304" pitchFamily="18" charset="0"/>
              <a:cs typeface="Times New Roman" panose="02020603050405020304" pitchFamily="18" charset="0"/>
            </a:endParaRPr>
          </a:p>
          <a:p>
            <a:pPr lvl="0" algn="just" rtl="0">
              <a:lnSpc>
                <a:spcPts val="26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Incorporates labeled tomato and strawberry plant images covering growth stages and disease conditions.</a:t>
            </a:r>
          </a:p>
          <a:p>
            <a:pPr lvl="0" algn="just" rtl="0">
              <a:lnSpc>
                <a:spcPts val="26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Enables identification of diseases (powdery mildew, leaf scorch, leaf mold), growth stages, and fruit maturity.</a:t>
            </a:r>
          </a:p>
          <a:p>
            <a:pPr marL="0" indent="0" algn="just">
              <a:lnSpc>
                <a:spcPct val="150000"/>
              </a:lnSpc>
              <a:spcBef>
                <a:spcPts val="0"/>
              </a:spcBef>
              <a:buClr>
                <a:schemeClr val="dk1"/>
              </a:buClr>
              <a:buSzPct val="100000"/>
              <a:buNone/>
            </a:pPr>
            <a:endParaRPr lang="en-US" altLang="en-US" sz="1050" b="1" dirty="0">
              <a:latin typeface="Bookman Old Style" panose="02050604050505020204" pitchFamily="18" charset="0"/>
              <a:cs typeface="Times New Roman" panose="02020603050405020304"/>
              <a:sym typeface="Times New Roman" panose="02020603050405020304"/>
            </a:endParaRPr>
          </a:p>
          <a:p>
            <a:pPr marL="0" indent="0" algn="just">
              <a:lnSpc>
                <a:spcPct val="150000"/>
              </a:lnSpc>
              <a:spcBef>
                <a:spcPts val="0"/>
              </a:spcBef>
              <a:buClr>
                <a:schemeClr val="dk1"/>
              </a:buClr>
              <a:buSzPct val="100000"/>
              <a:buNone/>
            </a:pPr>
            <a:r>
              <a:rPr lang="en-US" altLang="en-US" sz="1800" b="1" dirty="0">
                <a:latin typeface="Bookman Old Style" panose="02050604050505020204" pitchFamily="18" charset="0"/>
                <a:cs typeface="Times New Roman" panose="02020603050405020304"/>
                <a:sym typeface="Times New Roman" panose="02020603050405020304"/>
              </a:rPr>
              <a:t>Expected Output</a:t>
            </a:r>
            <a:endParaRPr lang="en-US" sz="1400" dirty="0"/>
          </a:p>
          <a:p>
            <a:pPr lvl="0" algn="just" rtl="0">
              <a:lnSpc>
                <a:spcPts val="28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Provides a unified assessment of plant health and disease likelihood.</a:t>
            </a:r>
          </a:p>
          <a:p>
            <a:pPr lvl="0" algn="just" rtl="0">
              <a:lnSpc>
                <a:spcPts val="28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Supports early disease awareness and preventive intervention.</a:t>
            </a:r>
          </a:p>
          <a:p>
            <a:pPr lvl="0" algn="just" rtl="0">
              <a:lnSpc>
                <a:spcPts val="28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Identifies current crop developmental stage.</a:t>
            </a:r>
          </a:p>
          <a:p>
            <a:pPr lvl="0" algn="just" rtl="0">
              <a:lnSpc>
                <a:spcPts val="28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Signals optimal harvest timing, especially critical for strawberries.</a:t>
            </a:r>
          </a:p>
          <a:p>
            <a:pPr lvl="0" algn="just" rtl="0">
              <a:lnSpc>
                <a:spcPts val="28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Improved resource optimization through predictive simulation.</a:t>
            </a:r>
          </a:p>
          <a:p>
            <a:pPr lvl="0" algn="just" rtl="0">
              <a:lnSpc>
                <a:spcPct val="150000"/>
              </a:lnSpc>
              <a:spcBef>
                <a:spcPts val="0"/>
              </a:spcBef>
              <a:spcAft>
                <a:spcPts val="0"/>
              </a:spcAft>
              <a:buClr>
                <a:schemeClr val="dk1"/>
              </a:buClr>
              <a:buSzPct val="100000"/>
              <a:buFont typeface="Wingdings" panose="05000000000000000000" pitchFamily="2" charset="2"/>
              <a:buChar char="q"/>
            </a:pPr>
            <a:endParaRPr lang="en-US" sz="1800" dirty="0">
              <a:latin typeface="Times New Roman" panose="02020603050405020304" pitchFamily="18" charset="0"/>
              <a:cs typeface="Times New Roman" panose="02020603050405020304" pitchFamily="18" charset="0"/>
            </a:endParaRPr>
          </a:p>
        </p:txBody>
      </p:sp>
      <p:cxnSp>
        <p:nvCxnSpPr>
          <p:cNvPr id="6" name="Google Shape;1249;p100"/>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Project Modules</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947093"/>
            <a:ext cx="8915400" cy="5831659"/>
          </a:xfrm>
          <a:prstGeom prst="rect">
            <a:avLst/>
          </a:prstGeom>
          <a:noFill/>
          <a:ln>
            <a:noFill/>
          </a:ln>
        </p:spPr>
        <p:txBody>
          <a:bodyPr spcFirstLastPara="1" wrap="square" lIns="91425" tIns="45700" rIns="91425" bIns="45700" anchor="t" anchorCtr="0">
            <a:noAutofit/>
          </a:bodyPr>
          <a:lstStyle/>
          <a:p>
            <a:pPr marL="720725" lvl="2" indent="0" algn="ctr">
              <a:lnSpc>
                <a:spcPts val="2600"/>
              </a:lnSpc>
              <a:spcBef>
                <a:spcPts val="380"/>
              </a:spcBef>
              <a:buClr>
                <a:schemeClr val="dk1"/>
              </a:buClr>
              <a:buSzPts val="1900"/>
              <a:buNone/>
            </a:pPr>
            <a:r>
              <a:rPr lang="en-US" sz="2000" b="1" dirty="0">
                <a:latin typeface="Bookman Old Style"/>
                <a:cs typeface="Times New Roman" panose="02020603050405020304"/>
                <a:sym typeface="Times New Roman" panose="02020603050405020304"/>
              </a:rPr>
              <a:t>Module – I: Unified Data Processing</a:t>
            </a:r>
            <a:endParaRPr lang="en-US" sz="2000" b="1" dirty="0">
              <a:latin typeface="Bookman Old Style"/>
              <a:cs typeface="Times New Roman" panose="02020603050405020304"/>
            </a:endParaRPr>
          </a:p>
          <a:p>
            <a:pPr marL="720725" lvl="2" indent="0" algn="just">
              <a:lnSpc>
                <a:spcPts val="2600"/>
              </a:lnSpc>
              <a:spcBef>
                <a:spcPts val="380"/>
              </a:spcBef>
              <a:buClr>
                <a:prstClr val="black"/>
              </a:buClr>
              <a:buSzPts val="1900"/>
              <a:buNone/>
            </a:pPr>
            <a:endParaRPr lang="en-US" sz="1900" i="0" u="none" strike="noStrike" cap="none" dirty="0">
              <a:latin typeface="Times New Roman"/>
              <a:ea typeface="Times New Roman" panose="02020603050405020304"/>
              <a:cs typeface="Times New Roman" panose="02020603050405020304"/>
            </a:endParaRPr>
          </a:p>
          <a:p>
            <a:pPr marL="0" indent="0" algn="just">
              <a:lnSpc>
                <a:spcPct val="150000"/>
              </a:lnSpc>
              <a:spcBef>
                <a:spcPts val="0"/>
              </a:spcBef>
              <a:buNone/>
            </a:pPr>
            <a:r>
              <a:rPr lang="en-US" sz="1900" dirty="0">
                <a:latin typeface="Times New Roman"/>
                <a:ea typeface="+mn-lt"/>
                <a:cs typeface="+mn-lt"/>
              </a:rPr>
              <a:t>This module acts as the data preparation layer of the system. It converts raw open-source datasets into structured and usable inputs by processing environmental time-series data and plant image data. The module performs data cleaning, validation, and synchronization of heterogeneous time-series sources. It also normalizes and extracts relevant features for AI models and preprocesses images for disease analysis. Finally, it generates standardized data streams that support digital twin simulation and downstream analytics.</a:t>
            </a:r>
          </a:p>
          <a:p>
            <a:pPr lvl="0" algn="just" rtl="0">
              <a:lnSpc>
                <a:spcPct val="150000"/>
              </a:lnSpc>
              <a:spcBef>
                <a:spcPts val="0"/>
              </a:spcBef>
              <a:spcAft>
                <a:spcPts val="0"/>
              </a:spcAft>
              <a:buClr>
                <a:schemeClr val="dk1"/>
              </a:buClr>
              <a:buSzPct val="100000"/>
              <a:buFont typeface="Wingdings" panose="05000000000000000000" pitchFamily="2" charset="2"/>
              <a:buChar char="q"/>
            </a:pPr>
            <a:endParaRPr lang="en-US" sz="1800" dirty="0">
              <a:latin typeface="Times New Roman" panose="02020603050405020304" pitchFamily="18" charset="0"/>
              <a:cs typeface="Times New Roman" panose="02020603050405020304" pitchFamily="18" charset="0"/>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pic>
        <p:nvPicPr>
          <p:cNvPr id="4" name="Picture 3" descr="A diagram of a data processing process&#10;&#10;AI-generated content may be incorrect.">
            <a:extLst>
              <a:ext uri="{FF2B5EF4-FFF2-40B4-BE49-F238E27FC236}">
                <a16:creationId xmlns:a16="http://schemas.microsoft.com/office/drawing/2014/main" id="{63F1E9EC-8F65-50D8-BB8A-5B59E0E84D61}"/>
              </a:ext>
            </a:extLst>
          </p:cNvPr>
          <p:cNvPicPr>
            <a:picLocks noChangeAspect="1"/>
          </p:cNvPicPr>
          <p:nvPr/>
        </p:nvPicPr>
        <p:blipFill>
          <a:blip r:embed="rId3"/>
          <a:srcRect l="-1257" t="23077" r="1143" b="-1538"/>
          <a:stretch>
            <a:fillRect/>
          </a:stretch>
        </p:blipFill>
        <p:spPr>
          <a:xfrm>
            <a:off x="0" y="4468896"/>
            <a:ext cx="9029700" cy="1286306"/>
          </a:xfrm>
          <a:prstGeom prst="rect">
            <a:avLst/>
          </a:prstGeom>
        </p:spPr>
      </p:pic>
      <p:sp>
        <p:nvSpPr>
          <p:cNvPr id="3" name="TextBox 2">
            <a:extLst>
              <a:ext uri="{FF2B5EF4-FFF2-40B4-BE49-F238E27FC236}">
                <a16:creationId xmlns:a16="http://schemas.microsoft.com/office/drawing/2014/main" id="{3FA18A77-8E34-1176-6828-19E7863F1E37}"/>
              </a:ext>
            </a:extLst>
          </p:cNvPr>
          <p:cNvSpPr txBox="1"/>
          <p:nvPr/>
        </p:nvSpPr>
        <p:spPr>
          <a:xfrm>
            <a:off x="2260079" y="5601313"/>
            <a:ext cx="462384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Times New Roman"/>
                <a:cs typeface="Times New Roman"/>
              </a:rPr>
              <a:t>Fig. </a:t>
            </a:r>
            <a:r>
              <a:rPr lang="en-IN" dirty="0">
                <a:effectLst/>
                <a:latin typeface="Times New Roman" panose="02020603050405020304" pitchFamily="18" charset="0"/>
                <a:ea typeface="Times New Roman" panose="02020603050405020304" pitchFamily="18" charset="0"/>
              </a:rPr>
              <a:t>Module-Level Workflow of Unified Data Processing</a:t>
            </a:r>
            <a:endParaRPr lang="en-US" dirty="0"/>
          </a:p>
        </p:txBody>
      </p:sp>
    </p:spTree>
    <p:extLst>
      <p:ext uri="{BB962C8B-B14F-4D97-AF65-F5344CB8AC3E}">
        <p14:creationId xmlns:p14="http://schemas.microsoft.com/office/powerpoint/2010/main" val="35749873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Project Modules </a:t>
            </a:r>
            <a:r>
              <a:rPr lang="en-US" sz="2800" b="1" dirty="0">
                <a:solidFill>
                  <a:srgbClr val="006600"/>
                </a:solidFill>
                <a:latin typeface="Bookman Old Style" panose="02050604050505020204" pitchFamily="18" charset="0"/>
                <a:cs typeface="Arial" panose="020B0604020202020204"/>
                <a:sym typeface="Times New Roman" panose="02020603050405020304"/>
              </a:rPr>
              <a:t>(Contd..)</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811005"/>
            <a:ext cx="8915400" cy="5831659"/>
          </a:xfrm>
          <a:prstGeom prst="rect">
            <a:avLst/>
          </a:prstGeom>
          <a:noFill/>
          <a:ln>
            <a:noFill/>
          </a:ln>
        </p:spPr>
        <p:txBody>
          <a:bodyPr spcFirstLastPara="1" wrap="square" lIns="91425" tIns="45700" rIns="91425" bIns="45700" anchor="t" anchorCtr="0">
            <a:noAutofit/>
          </a:bodyPr>
          <a:lstStyle/>
          <a:p>
            <a:pPr marL="720725" lvl="2" indent="0" algn="ctr">
              <a:lnSpc>
                <a:spcPts val="2600"/>
              </a:lnSpc>
              <a:spcBef>
                <a:spcPts val="380"/>
              </a:spcBef>
              <a:buClr>
                <a:schemeClr val="dk1"/>
              </a:buClr>
              <a:buSzPts val="1900"/>
              <a:buNone/>
            </a:pPr>
            <a:r>
              <a:rPr lang="en-US" sz="2000" b="1" dirty="0">
                <a:latin typeface="Bookman Old Style"/>
                <a:cs typeface="Times New Roman" panose="02020603050405020304"/>
                <a:sym typeface="Times New Roman" panose="02020603050405020304"/>
              </a:rPr>
              <a:t>Module – II: Predictive Analytics &amp; Classification</a:t>
            </a:r>
            <a:endParaRPr lang="en-US" sz="2000" b="1" i="0" u="none" strike="noStrike" cap="none" dirty="0">
              <a:latin typeface="Bookman Old Style"/>
              <a:ea typeface="Times New Roman" panose="02020603050405020304"/>
              <a:cs typeface="Times New Roman" panose="02020603050405020304"/>
              <a:sym typeface="Times New Roman" panose="02020603050405020304"/>
            </a:endParaRPr>
          </a:p>
          <a:p>
            <a:pPr marL="720725" lvl="2" indent="0" algn="just">
              <a:lnSpc>
                <a:spcPts val="2600"/>
              </a:lnSpc>
              <a:spcBef>
                <a:spcPts val="380"/>
              </a:spcBef>
              <a:buClr>
                <a:schemeClr val="dk1"/>
              </a:buClr>
              <a:buSzPts val="1900"/>
              <a:buNone/>
            </a:pPr>
            <a:endParaRPr lang="en-US" sz="1800" i="0" u="none" strike="noStrike" cap="none" dirty="0">
              <a:latin typeface="Bookman Old Style" panose="02050604050505020204" pitchFamily="18" charset="0"/>
              <a:ea typeface="Times New Roman" panose="02020603050405020304"/>
              <a:cs typeface="Times New Roman" panose="02020603050405020304"/>
              <a:sym typeface="Times New Roman" panose="02020603050405020304"/>
            </a:endParaRPr>
          </a:p>
          <a:p>
            <a:pPr marL="0" indent="0" algn="just">
              <a:lnSpc>
                <a:spcPct val="150000"/>
              </a:lnSpc>
              <a:buClr>
                <a:schemeClr val="dk1"/>
              </a:buClr>
              <a:buSzPct val="100000"/>
              <a:buNone/>
            </a:pPr>
            <a:r>
              <a:rPr lang="en-US" sz="1900" dirty="0">
                <a:latin typeface="Times New Roman"/>
                <a:ea typeface="+mn-lt"/>
                <a:cs typeface="+mn-lt"/>
              </a:rPr>
              <a:t>This module serves as the AI inference layer of the system. It applies convolutional neural network (CNN) models for plant disease detection using leaf images and uses temporal learning models to analyze crop growth patterns and disease progression over time. By combining sensor-based environmental data with image features, the module performs crop health classification and identifies crop growth stages and harvest readiness. It generates early disease risk indicators before visible symptoms appear and integrates multi-modal data to improve prediction accuracy. The reliable outputs produced by this module are forwarded to the digital twin layer for validation and control planning.</a:t>
            </a: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pic>
        <p:nvPicPr>
          <p:cNvPr id="3" name="Picture 2" descr="A diagram of a business model&#10;&#10;AI-generated content may be incorrect.">
            <a:extLst>
              <a:ext uri="{FF2B5EF4-FFF2-40B4-BE49-F238E27FC236}">
                <a16:creationId xmlns:a16="http://schemas.microsoft.com/office/drawing/2014/main" id="{22009DF4-266F-139D-2BA4-CB5EBE0EF12B}"/>
              </a:ext>
            </a:extLst>
          </p:cNvPr>
          <p:cNvPicPr>
            <a:picLocks noChangeAspect="1"/>
          </p:cNvPicPr>
          <p:nvPr/>
        </p:nvPicPr>
        <p:blipFill>
          <a:blip r:embed="rId3"/>
          <a:srcRect t="31251" r="2500" b="-1679"/>
          <a:stretch/>
        </p:blipFill>
        <p:spPr>
          <a:xfrm>
            <a:off x="114300" y="5274841"/>
            <a:ext cx="8915400" cy="1098694"/>
          </a:xfrm>
          <a:prstGeom prst="rect">
            <a:avLst/>
          </a:prstGeom>
        </p:spPr>
      </p:pic>
      <p:sp>
        <p:nvSpPr>
          <p:cNvPr id="4" name="TextBox 3">
            <a:extLst>
              <a:ext uri="{FF2B5EF4-FFF2-40B4-BE49-F238E27FC236}">
                <a16:creationId xmlns:a16="http://schemas.microsoft.com/office/drawing/2014/main" id="{CD1F63DC-C27A-9216-09C8-1DE1FD32812D}"/>
              </a:ext>
            </a:extLst>
          </p:cNvPr>
          <p:cNvSpPr txBox="1"/>
          <p:nvPr/>
        </p:nvSpPr>
        <p:spPr>
          <a:xfrm>
            <a:off x="1386558" y="6213494"/>
            <a:ext cx="659948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Times New Roman"/>
                <a:cs typeface="Times New Roman"/>
              </a:rPr>
              <a:t>Fig. </a:t>
            </a:r>
            <a:r>
              <a:rPr lang="en-IN" dirty="0">
                <a:effectLst/>
                <a:latin typeface="Times New Roman" panose="02020603050405020304" pitchFamily="18" charset="0"/>
                <a:ea typeface="Times New Roman" panose="02020603050405020304" pitchFamily="18" charset="0"/>
              </a:rPr>
              <a:t>Module-Level Workflow of Predictive Analytics &amp; Classification</a:t>
            </a:r>
            <a:endParaRPr lang="en-US" dirty="0"/>
          </a:p>
        </p:txBody>
      </p:sp>
    </p:spTree>
    <p:extLst>
      <p:ext uri="{BB962C8B-B14F-4D97-AF65-F5344CB8AC3E}">
        <p14:creationId xmlns:p14="http://schemas.microsoft.com/office/powerpoint/2010/main" val="22391286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Project Modules </a:t>
            </a:r>
            <a:r>
              <a:rPr lang="en-US" sz="2800" b="1" dirty="0">
                <a:solidFill>
                  <a:srgbClr val="006600"/>
                </a:solidFill>
                <a:latin typeface="Bookman Old Style" panose="02050604050505020204" pitchFamily="18" charset="0"/>
                <a:cs typeface="Arial" panose="020B0604020202020204"/>
                <a:sym typeface="Times New Roman" panose="02020603050405020304"/>
              </a:rPr>
              <a:t>(Contd..)</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699603"/>
            <a:ext cx="8915400" cy="5831659"/>
          </a:xfrm>
          <a:prstGeom prst="rect">
            <a:avLst/>
          </a:prstGeom>
          <a:noFill/>
          <a:ln>
            <a:noFill/>
          </a:ln>
        </p:spPr>
        <p:txBody>
          <a:bodyPr spcFirstLastPara="1" wrap="square" lIns="91425" tIns="45700" rIns="91425" bIns="45700" anchor="t" anchorCtr="0">
            <a:noAutofit/>
          </a:bodyPr>
          <a:lstStyle/>
          <a:p>
            <a:pPr marL="720725" lvl="2" indent="0" algn="ctr">
              <a:lnSpc>
                <a:spcPts val="2600"/>
              </a:lnSpc>
              <a:spcBef>
                <a:spcPts val="380"/>
              </a:spcBef>
              <a:buClr>
                <a:schemeClr val="dk1"/>
              </a:buClr>
              <a:buSzPts val="1900"/>
              <a:buNone/>
            </a:pPr>
            <a:r>
              <a:rPr lang="en-US" sz="2000" b="1" dirty="0">
                <a:latin typeface="Bookman Old Style"/>
                <a:cs typeface="Times New Roman" panose="02020603050405020304"/>
                <a:sym typeface="Times New Roman" panose="02020603050405020304"/>
              </a:rPr>
              <a:t>Module – III: Digital Twin &amp; Model Predictive Control </a:t>
            </a:r>
          </a:p>
          <a:p>
            <a:pPr marL="720725" lvl="2" indent="0" algn="ctr">
              <a:lnSpc>
                <a:spcPct val="100000"/>
              </a:lnSpc>
              <a:spcBef>
                <a:spcPts val="380"/>
              </a:spcBef>
              <a:buClr>
                <a:schemeClr val="dk1"/>
              </a:buClr>
              <a:buSzPts val="1900"/>
              <a:buNone/>
            </a:pPr>
            <a:endParaRPr lang="en-US" sz="800" i="0" u="none" strike="noStrike" cap="none" dirty="0">
              <a:latin typeface="Times New Roman"/>
              <a:ea typeface="Times New Roman" panose="02020603050405020304"/>
              <a:cs typeface="Times New Roman" panose="02020603050405020304"/>
            </a:endParaRPr>
          </a:p>
          <a:p>
            <a:pPr marL="0" indent="0" algn="just">
              <a:lnSpc>
                <a:spcPct val="150000"/>
              </a:lnSpc>
              <a:buClr>
                <a:srgbClr val="000000"/>
              </a:buClr>
              <a:buSzPct val="100000"/>
              <a:buNone/>
            </a:pPr>
            <a:r>
              <a:rPr lang="en-US" sz="1900" dirty="0">
                <a:latin typeface="Times New Roman"/>
                <a:ea typeface="+mn-lt"/>
                <a:cs typeface="+mn-lt"/>
              </a:rPr>
              <a:t>This module represents a virtual replica of the greenhouse system built using data-driven models. It continuously maintains the virtual state of greenhouse climate and crop conditions and simulates system behavior under different control strategies. The module performs short-term forecasting of environmental conditions and evaluates alternative control actions through predictive control techniques. AI-generated decisions are validated through virtual simulation before execution to ensure stable and efficient greenhouse operation. By modeling interactions among climate, irrigation, and ventilation subsystems, this module improves decision reliability under uncertainty and supports informed greenhouse control.</a:t>
            </a:r>
            <a:endParaRPr lang="en-US" sz="1900" dirty="0">
              <a:latin typeface="Times New Roman"/>
              <a:ea typeface="Calibri"/>
              <a:cs typeface="Calibri"/>
            </a:endParaRPr>
          </a:p>
          <a:p>
            <a:pPr lvl="0" algn="just">
              <a:lnSpc>
                <a:spcPct val="150000"/>
              </a:lnSpc>
              <a:spcBef>
                <a:spcPts val="0"/>
              </a:spcBef>
              <a:spcAft>
                <a:spcPts val="0"/>
              </a:spcAft>
              <a:buClr>
                <a:srgbClr val="000000"/>
              </a:buClr>
              <a:buSzPct val="100000"/>
              <a:buFont typeface="Wingdings" panose="05000000000000000000" pitchFamily="2" charset="2"/>
              <a:buChar char="q"/>
            </a:pPr>
            <a:endParaRPr lang="en-US" sz="1800" dirty="0">
              <a:latin typeface="Times New Roman" panose="02020603050405020304" pitchFamily="18" charset="0"/>
              <a:cs typeface="Times New Roman" panose="02020603050405020304" pitchFamily="18" charset="0"/>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pic>
        <p:nvPicPr>
          <p:cNvPr id="3" name="Picture 2" descr="A diagram of a model prediction&#10;&#10;AI-generated content may be incorrect.">
            <a:extLst>
              <a:ext uri="{FF2B5EF4-FFF2-40B4-BE49-F238E27FC236}">
                <a16:creationId xmlns:a16="http://schemas.microsoft.com/office/drawing/2014/main" id="{416EEE24-3C89-B2CD-E472-2C17A890BC06}"/>
              </a:ext>
            </a:extLst>
          </p:cNvPr>
          <p:cNvPicPr>
            <a:picLocks noChangeAspect="1"/>
          </p:cNvPicPr>
          <p:nvPr/>
        </p:nvPicPr>
        <p:blipFill>
          <a:blip r:embed="rId3"/>
          <a:srcRect l="1239" t="43841" r="1235" b="-11736"/>
          <a:stretch/>
        </p:blipFill>
        <p:spPr>
          <a:xfrm>
            <a:off x="114300" y="5481638"/>
            <a:ext cx="8917760" cy="864799"/>
          </a:xfrm>
          <a:prstGeom prst="rect">
            <a:avLst/>
          </a:prstGeom>
        </p:spPr>
      </p:pic>
      <p:sp>
        <p:nvSpPr>
          <p:cNvPr id="4" name="TextBox 3">
            <a:extLst>
              <a:ext uri="{FF2B5EF4-FFF2-40B4-BE49-F238E27FC236}">
                <a16:creationId xmlns:a16="http://schemas.microsoft.com/office/drawing/2014/main" id="{5330A70F-C87B-12EB-DD7D-767D0DBE2DCA}"/>
              </a:ext>
            </a:extLst>
          </p:cNvPr>
          <p:cNvSpPr txBox="1"/>
          <p:nvPr/>
        </p:nvSpPr>
        <p:spPr>
          <a:xfrm>
            <a:off x="1586282" y="6296704"/>
            <a:ext cx="597143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Times New Roman"/>
                <a:cs typeface="Times New Roman"/>
              </a:rPr>
              <a:t>Fig. </a:t>
            </a:r>
            <a:r>
              <a:rPr lang="en-IN" dirty="0">
                <a:effectLst/>
                <a:latin typeface="Times New Roman" panose="02020603050405020304" pitchFamily="18" charset="0"/>
                <a:ea typeface="Times New Roman" panose="02020603050405020304" pitchFamily="18" charset="0"/>
              </a:rPr>
              <a:t>Module-Level Workflow of Digital Twin &amp; Model Predictive Control</a:t>
            </a:r>
            <a:endParaRPr lang="en-US" dirty="0"/>
          </a:p>
        </p:txBody>
      </p:sp>
    </p:spTree>
    <p:extLst>
      <p:ext uri="{BB962C8B-B14F-4D97-AF65-F5344CB8AC3E}">
        <p14:creationId xmlns:p14="http://schemas.microsoft.com/office/powerpoint/2010/main" val="13151356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Implementation &amp; System Requirements</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699603"/>
            <a:ext cx="8915400" cy="5831659"/>
          </a:xfrm>
          <a:prstGeom prst="rect">
            <a:avLst/>
          </a:prstGeom>
          <a:noFill/>
          <a:ln>
            <a:noFill/>
          </a:ln>
        </p:spPr>
        <p:txBody>
          <a:bodyPr spcFirstLastPara="1" wrap="square" lIns="91425" tIns="45700" rIns="91425" bIns="45700" anchor="t" anchorCtr="0">
            <a:noAutofit/>
          </a:bodyPr>
          <a:lstStyle/>
          <a:p>
            <a:pPr lvl="0" algn="just" rtl="0">
              <a:lnSpc>
                <a:spcPct val="150000"/>
              </a:lnSpc>
              <a:spcBef>
                <a:spcPts val="0"/>
              </a:spcBef>
              <a:spcAft>
                <a:spcPts val="0"/>
              </a:spcAft>
              <a:buClr>
                <a:schemeClr val="dk1"/>
              </a:buClr>
              <a:buSzPct val="100000"/>
              <a:buFont typeface="Wingdings" panose="05000000000000000000" pitchFamily="2" charset="2"/>
              <a:buChar char="q"/>
            </a:pPr>
            <a:r>
              <a:rPr lang="en-US" sz="1800" dirty="0">
                <a:latin typeface="Time New Roman"/>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Software-based Digital Twin greenhouse simulation.</a:t>
            </a:r>
          </a:p>
          <a:p>
            <a:pPr lvl="0" algn="just" rtl="0">
              <a:lnSpc>
                <a:spcPct val="1500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Open-source time-series datasets used as virtual sensors.</a:t>
            </a:r>
          </a:p>
          <a:p>
            <a:pPr lvl="0" algn="just" rtl="0">
              <a:lnSpc>
                <a:spcPct val="1500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Plant image datasets simulate real-time crop observation.</a:t>
            </a:r>
          </a:p>
          <a:p>
            <a:pPr lvl="0" algn="just" rtl="0">
              <a:lnSpc>
                <a:spcPct val="1500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AI models executed in Python environment.</a:t>
            </a:r>
          </a:p>
          <a:p>
            <a:pPr lvl="0" algn="just" rtl="0">
              <a:lnSpc>
                <a:spcPct val="1500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Digital Twin core performs prediction, risk analysis, and control simulation</a:t>
            </a: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pic>
        <p:nvPicPr>
          <p:cNvPr id="4" name="Picture 3" descr="A black background with a black square">
            <a:extLst>
              <a:ext uri="{FF2B5EF4-FFF2-40B4-BE49-F238E27FC236}">
                <a16:creationId xmlns:a16="http://schemas.microsoft.com/office/drawing/2014/main" id="{75170D15-5504-A706-D865-D141FB3F30FB}"/>
              </a:ext>
            </a:extLst>
          </p:cNvPr>
          <p:cNvPicPr>
            <a:picLocks noChangeAspect="1"/>
          </p:cNvPicPr>
          <p:nvPr/>
        </p:nvPicPr>
        <p:blipFill>
          <a:blip r:embed="rId3"/>
          <a:srcRect l="13485" t="35325" r="11364" b="12381"/>
          <a:stretch/>
        </p:blipFill>
        <p:spPr>
          <a:xfrm>
            <a:off x="0" y="3144983"/>
            <a:ext cx="9144000" cy="3339954"/>
          </a:xfrm>
          <a:prstGeom prst="rect">
            <a:avLst/>
          </a:prstGeom>
        </p:spPr>
      </p:pic>
      <p:sp>
        <p:nvSpPr>
          <p:cNvPr id="3" name="TextBox 2">
            <a:extLst>
              <a:ext uri="{FF2B5EF4-FFF2-40B4-BE49-F238E27FC236}">
                <a16:creationId xmlns:a16="http://schemas.microsoft.com/office/drawing/2014/main" id="{C48B8546-5F8B-728B-A7C8-6D0C1977A97B}"/>
              </a:ext>
            </a:extLst>
          </p:cNvPr>
          <p:cNvSpPr txBox="1"/>
          <p:nvPr/>
        </p:nvSpPr>
        <p:spPr>
          <a:xfrm>
            <a:off x="1586282" y="6296704"/>
            <a:ext cx="597143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Times New Roman"/>
                <a:cs typeface="Times New Roman"/>
              </a:rPr>
              <a:t>Fig. </a:t>
            </a:r>
            <a:r>
              <a:rPr lang="en-IN" dirty="0">
                <a:effectLst/>
                <a:latin typeface="Times New Roman" panose="02020603050405020304" pitchFamily="18" charset="0"/>
                <a:ea typeface="Times New Roman" panose="02020603050405020304" pitchFamily="18" charset="0"/>
              </a:rPr>
              <a:t>Hardware &amp; Software Requirements</a:t>
            </a:r>
            <a:endParaRPr lang="en-US" dirty="0"/>
          </a:p>
        </p:txBody>
      </p:sp>
    </p:spTree>
    <p:extLst>
      <p:ext uri="{BB962C8B-B14F-4D97-AF65-F5344CB8AC3E}">
        <p14:creationId xmlns:p14="http://schemas.microsoft.com/office/powerpoint/2010/main" val="38018663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Project Development Timeline</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pic>
        <p:nvPicPr>
          <p:cNvPr id="7" name="Content Placeholder 6" descr="A graph with blue rectangular shapes">
            <a:extLst>
              <a:ext uri="{FF2B5EF4-FFF2-40B4-BE49-F238E27FC236}">
                <a16:creationId xmlns:a16="http://schemas.microsoft.com/office/drawing/2014/main" id="{A3360679-5FFE-7D30-BE84-1D0D2110B5ED}"/>
              </a:ext>
            </a:extLst>
          </p:cNvPr>
          <p:cNvPicPr>
            <a:picLocks noGrp="1" noChangeAspect="1"/>
          </p:cNvPicPr>
          <p:nvPr>
            <p:ph idx="1"/>
          </p:nvPr>
        </p:nvPicPr>
        <p:blipFill>
          <a:blip r:embed="rId3"/>
          <a:stretch>
            <a:fillRect/>
          </a:stretch>
        </p:blipFill>
        <p:spPr>
          <a:xfrm>
            <a:off x="114300" y="1004793"/>
            <a:ext cx="8915400" cy="5287148"/>
          </a:xfrm>
          <a:prstGeom prst="rect">
            <a:avLst/>
          </a:prstGeom>
          <a:noFill/>
          <a:ln>
            <a:noFill/>
          </a:ln>
        </p:spPr>
      </p:pic>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TextBox 2">
            <a:extLst>
              <a:ext uri="{FF2B5EF4-FFF2-40B4-BE49-F238E27FC236}">
                <a16:creationId xmlns:a16="http://schemas.microsoft.com/office/drawing/2014/main" id="{C48B8546-5F8B-728B-A7C8-6D0C1977A97B}"/>
              </a:ext>
            </a:extLst>
          </p:cNvPr>
          <p:cNvSpPr txBox="1"/>
          <p:nvPr/>
        </p:nvSpPr>
        <p:spPr>
          <a:xfrm>
            <a:off x="1586282" y="6296704"/>
            <a:ext cx="597143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Times New Roman"/>
                <a:cs typeface="Times New Roman"/>
              </a:rPr>
              <a:t>Fig. </a:t>
            </a:r>
            <a:r>
              <a:rPr lang="en-IN" dirty="0">
                <a:effectLst/>
                <a:latin typeface="Times New Roman" panose="02020603050405020304" pitchFamily="18" charset="0"/>
                <a:ea typeface="Times New Roman" panose="02020603050405020304" pitchFamily="18" charset="0"/>
              </a:rPr>
              <a:t>Phase-wise Project Gantt Chart</a:t>
            </a:r>
            <a:endParaRPr lang="en-US" dirty="0"/>
          </a:p>
        </p:txBody>
      </p:sp>
    </p:spTree>
    <p:extLst>
      <p:ext uri="{BB962C8B-B14F-4D97-AF65-F5344CB8AC3E}">
        <p14:creationId xmlns:p14="http://schemas.microsoft.com/office/powerpoint/2010/main" val="7669448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Conclusion</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843778"/>
            <a:ext cx="8915400" cy="5831659"/>
          </a:xfrm>
          <a:prstGeom prst="rect">
            <a:avLst/>
          </a:prstGeom>
          <a:noFill/>
          <a:ln>
            <a:noFill/>
          </a:ln>
        </p:spPr>
        <p:txBody>
          <a:bodyPr spcFirstLastPara="1" wrap="square" lIns="91425" tIns="45700" rIns="91425" bIns="45700" anchor="t" anchorCtr="0">
            <a:noAutofit/>
          </a:bodyPr>
          <a:lstStyle/>
          <a:p>
            <a:pPr lvl="0" algn="just" rtl="0">
              <a:lnSpc>
                <a:spcPts val="36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AgriTwin</a:t>
            </a:r>
            <a:r>
              <a:rPr lang="en-US" sz="1800" dirty="0">
                <a:latin typeface="Times New Roman" panose="02020603050405020304" pitchFamily="18" charset="0"/>
                <a:cs typeface="Times New Roman" panose="02020603050405020304" pitchFamily="18" charset="0"/>
              </a:rPr>
              <a:t>-GH demonstrates the effectiveness of a software-based AI digital twin for intelligent greenhouse management of tomato and strawberry crops. By combining data-driven analytics, disease prediction, forecasting, and virtual system modeling, the digital twin enables predictive, disease-aware, and safety-validated control decisions before real-world execution.</a:t>
            </a:r>
          </a:p>
          <a:p>
            <a:pPr lvl="0" algn="just" rtl="0">
              <a:lnSpc>
                <a:spcPts val="36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1800" dirty="0">
                <a:latin typeface="Times New Roman" panose="02020603050405020304" pitchFamily="18" charset="0"/>
                <a:cs typeface="Times New Roman" panose="02020603050405020304" pitchFamily="18" charset="0"/>
              </a:rPr>
              <a:t>The system shifts greenhouse operations from reactive manual control to proactive management, allowing early identification of environmental and disease risks. This leads to improved crop yield and quality while significantly reducing water, energy, and fertilizer wastage through optimized control actions.</a:t>
            </a:r>
          </a:p>
          <a:p>
            <a:pPr algn="just">
              <a:lnSpc>
                <a:spcPts val="3600"/>
              </a:lnSpc>
              <a:spcBef>
                <a:spcPts val="0"/>
              </a:spcBef>
              <a:buClr>
                <a:schemeClr val="dk1"/>
              </a:buClr>
              <a:buSzPct val="100000"/>
              <a:buFont typeface="Wingdings" panose="05000000000000000000" pitchFamily="2" charset="2"/>
              <a:buChar char="q"/>
            </a:pPr>
            <a:r>
              <a:rPr 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1800" dirty="0">
                <a:latin typeface="Times New Roman" panose="02020603050405020304" pitchFamily="18" charset="0"/>
                <a:cs typeface="Times New Roman" panose="02020603050405020304" pitchFamily="18" charset="0"/>
              </a:rPr>
              <a:t>Overall, </a:t>
            </a:r>
            <a:r>
              <a:rPr lang="en-US" sz="1800" dirty="0" err="1">
                <a:latin typeface="Times New Roman" panose="02020603050405020304" pitchFamily="18" charset="0"/>
                <a:cs typeface="Times New Roman" panose="02020603050405020304" pitchFamily="18" charset="0"/>
              </a:rPr>
              <a:t>AgriTwin</a:t>
            </a:r>
            <a:r>
              <a:rPr lang="en-US" sz="1800" dirty="0">
                <a:latin typeface="Times New Roman" panose="02020603050405020304" pitchFamily="18" charset="0"/>
                <a:cs typeface="Times New Roman" panose="02020603050405020304" pitchFamily="18" charset="0"/>
              </a:rPr>
              <a:t>-GH delivers a scalable, cost-effective, and sustainable decision-support framework for modern horticulture, highlighting the real-world impact of AI-driven digital twins in greenhouse farming.</a:t>
            </a:r>
          </a:p>
          <a:p>
            <a:pPr lvl="0" algn="just" rtl="0">
              <a:lnSpc>
                <a:spcPts val="3600"/>
              </a:lnSpc>
              <a:spcBef>
                <a:spcPts val="0"/>
              </a:spcBef>
              <a:spcAft>
                <a:spcPts val="0"/>
              </a:spcAft>
              <a:buClr>
                <a:schemeClr val="dk1"/>
              </a:buClr>
              <a:buSzPct val="100000"/>
              <a:buFont typeface="Wingdings" panose="05000000000000000000" pitchFamily="2" charset="2"/>
              <a:buChar char="q"/>
            </a:pPr>
            <a:endParaRPr 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5587526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sz="2800" b="1" dirty="0">
                <a:solidFill>
                  <a:srgbClr val="006600"/>
                </a:solidFill>
                <a:latin typeface="Bookman Old Style" panose="02050604050505020204" pitchFamily="18" charset="0"/>
                <a:cs typeface="Calibri" panose="020F0502020204030204"/>
                <a:sym typeface="Arial" panose="020B0604020202020204"/>
              </a:rPr>
              <a:t>Datasets</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707253"/>
            <a:ext cx="8915400" cy="5831659"/>
          </a:xfrm>
          <a:prstGeom prst="rect">
            <a:avLst/>
          </a:prstGeom>
          <a:noFill/>
          <a:ln>
            <a:noFill/>
          </a:ln>
        </p:spPr>
        <p:txBody>
          <a:bodyPr spcFirstLastPara="1" wrap="square" lIns="91425" tIns="45700" rIns="91425" bIns="45700" anchor="t" anchorCtr="0">
            <a:noAutofit/>
          </a:bodyPr>
          <a:lstStyle/>
          <a:p>
            <a:pPr lvl="0" algn="just" rtl="0">
              <a:lnSpc>
                <a:spcPts val="2600"/>
              </a:lnSpc>
              <a:spcBef>
                <a:spcPts val="0"/>
              </a:spcBef>
              <a:spcAft>
                <a:spcPts val="0"/>
              </a:spcAft>
              <a:buClr>
                <a:schemeClr val="dk1"/>
              </a:buClr>
              <a:buSzPct val="100000"/>
              <a:buFont typeface="Wingdings" panose="05000000000000000000" pitchFamily="2" charset="2"/>
              <a:buChar char="q"/>
            </a:pPr>
            <a:r>
              <a:rPr lang="en-US" altLang="en-US" sz="18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Greenhouse Plant Growth Metrics Dataset </a:t>
            </a:r>
          </a:p>
          <a:p>
            <a:pPr lvl="1" algn="just">
              <a:lnSpc>
                <a:spcPts val="2600"/>
              </a:lnSpc>
              <a:spcBef>
                <a:spcPts val="0"/>
              </a:spcBef>
              <a:buClr>
                <a:schemeClr val="dk1"/>
              </a:buClr>
              <a:buSzPct val="100000"/>
              <a:buFont typeface="Courier New" panose="02070309020205020404" pitchFamily="49" charset="0"/>
              <a:buChar char="o"/>
            </a:pPr>
            <a:r>
              <a:rPr lang="en-US" alt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Tabular time-series dataset containing greenhouse environmental and plant growth parameters. Used as virtual sensor data for climate modeling, forecasting, and digital twin simulation.</a:t>
            </a:r>
          </a:p>
          <a:p>
            <a:pPr lvl="1" algn="just">
              <a:lnSpc>
                <a:spcPts val="2600"/>
              </a:lnSpc>
              <a:spcBef>
                <a:spcPts val="0"/>
              </a:spcBef>
              <a:buClr>
                <a:schemeClr val="dk1"/>
              </a:buClr>
              <a:buSzPct val="100000"/>
              <a:buFont typeface="Courier New" panose="02070309020205020404" pitchFamily="49" charset="0"/>
              <a:buChar char="o"/>
            </a:pPr>
            <a:r>
              <a:rPr lang="en-US" alt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URL: </a:t>
            </a:r>
            <a:r>
              <a:rPr lang="en-IN" dirty="0">
                <a:latin typeface="Times New Roman" panose="02020603050405020304" pitchFamily="18" charset="0"/>
                <a:cs typeface="Times New Roman" panose="02020603050405020304" pitchFamily="18" charset="0"/>
                <a:hlinkClick r:id="rId3"/>
              </a:rPr>
              <a:t>https://www.kaggle.com/datasets/adilshamim8/greenhouse-plant-growth-metrics</a:t>
            </a:r>
            <a:endParaRPr lang="en-US" altLang="en-US"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rtl="0">
              <a:lnSpc>
                <a:spcPts val="2600"/>
              </a:lnSpc>
              <a:spcBef>
                <a:spcPts val="0"/>
              </a:spcBef>
              <a:spcAft>
                <a:spcPts val="0"/>
              </a:spcAft>
              <a:buClr>
                <a:schemeClr val="dk1"/>
              </a:buClr>
              <a:buSzPct val="100000"/>
              <a:buFont typeface="Wingdings" panose="05000000000000000000" pitchFamily="2" charset="2"/>
              <a:buChar char="q"/>
            </a:pPr>
            <a:r>
              <a:rPr lang="en-US" altLang="en-US" sz="18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Smart Agriculture Dataset</a:t>
            </a:r>
          </a:p>
          <a:p>
            <a:pPr lvl="1" algn="just">
              <a:lnSpc>
                <a:spcPts val="2600"/>
              </a:lnSpc>
              <a:spcBef>
                <a:spcPts val="0"/>
              </a:spcBef>
              <a:buClr>
                <a:schemeClr val="dk1"/>
              </a:buClr>
              <a:buSzPct val="100000"/>
              <a:buFont typeface="Courier New" panose="02070309020205020404" pitchFamily="49" charset="0"/>
              <a:buChar char="o"/>
            </a:pPr>
            <a:r>
              <a:rPr lang="en-IN" alt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Sensor-based agricultural dataset with parameters such as temperature, humidity, and soil moisture.</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Supports environmental feature extraction, predictive analytics, and resource optimization.</a:t>
            </a:r>
            <a:endParaRPr lang="en-IN" dirty="0">
              <a:latin typeface="Times New Roman" panose="02020603050405020304" pitchFamily="18" charset="0"/>
              <a:cs typeface="Times New Roman" panose="02020603050405020304" pitchFamily="18" charset="0"/>
            </a:endParaRPr>
          </a:p>
          <a:p>
            <a:pPr lvl="1" algn="just">
              <a:lnSpc>
                <a:spcPts val="2600"/>
              </a:lnSpc>
              <a:spcBef>
                <a:spcPts val="0"/>
              </a:spcBef>
              <a:buClr>
                <a:schemeClr val="dk1"/>
              </a:buClr>
              <a:buSzPct val="100000"/>
              <a:buFont typeface="Courier New" panose="02070309020205020404" pitchFamily="49" charset="0"/>
              <a:buChar char="o"/>
            </a:pPr>
            <a:r>
              <a:rPr lang="en-IN" alt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URL: </a:t>
            </a:r>
            <a:r>
              <a:rPr lang="en-IN" dirty="0">
                <a:latin typeface="Times New Roman" panose="02020603050405020304" pitchFamily="18" charset="0"/>
                <a:cs typeface="Times New Roman" panose="02020603050405020304" pitchFamily="18" charset="0"/>
                <a:hlinkClick r:id="rId4"/>
              </a:rPr>
              <a:t>https://www.kaggle.com/datasets/chaitanyagopidesi/smart-agriculture-dataset/data</a:t>
            </a:r>
            <a:endParaRPr lang="en-US" altLang="en-US"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rtl="0">
              <a:lnSpc>
                <a:spcPts val="2600"/>
              </a:lnSpc>
              <a:spcBef>
                <a:spcPts val="0"/>
              </a:spcBef>
              <a:spcAft>
                <a:spcPts val="0"/>
              </a:spcAft>
              <a:buClr>
                <a:schemeClr val="dk1"/>
              </a:buClr>
              <a:buSzPct val="100000"/>
              <a:buFont typeface="Wingdings" panose="05000000000000000000" pitchFamily="2" charset="2"/>
              <a:buChar char="q"/>
            </a:pPr>
            <a:r>
              <a:rPr 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IN" sz="1800" dirty="0">
                <a:latin typeface="Times New Roman" panose="02020603050405020304" pitchFamily="18" charset="0"/>
                <a:cs typeface="Times New Roman" panose="02020603050405020304" pitchFamily="18" charset="0"/>
              </a:rPr>
              <a:t>Tomato Plant Stages Dataset</a:t>
            </a:r>
          </a:p>
          <a:p>
            <a:pPr lvl="1" algn="just">
              <a:lnSpc>
                <a:spcPts val="2600"/>
              </a:lnSpc>
              <a:spcBef>
                <a:spcPts val="0"/>
              </a:spcBef>
              <a:buClr>
                <a:schemeClr val="dk1"/>
              </a:buClr>
              <a:buSzPct val="10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Labeled tomato plant images representing different growth stages.</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Used for growth stage classification and temporal growth analysis.</a:t>
            </a:r>
            <a:endParaRPr lang="en-IN" dirty="0">
              <a:latin typeface="Times New Roman" panose="02020603050405020304" pitchFamily="18" charset="0"/>
              <a:cs typeface="Times New Roman" panose="02020603050405020304" pitchFamily="18" charset="0"/>
            </a:endParaRPr>
          </a:p>
          <a:p>
            <a:pPr lvl="1" algn="just">
              <a:lnSpc>
                <a:spcPts val="2600"/>
              </a:lnSpc>
              <a:spcBef>
                <a:spcPts val="0"/>
              </a:spcBef>
              <a:buClr>
                <a:schemeClr val="dk1"/>
              </a:buClr>
              <a:buSzPct val="100000"/>
              <a:buFont typeface="Courier New" panose="02070309020205020404" pitchFamily="49" charset="0"/>
              <a:buChar char="o"/>
            </a:pPr>
            <a:r>
              <a:rPr lang="en-IN"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IN" dirty="0">
                <a:latin typeface="Times New Roman" panose="02020603050405020304" pitchFamily="18" charset="0"/>
                <a:cs typeface="Times New Roman" panose="02020603050405020304" pitchFamily="18" charset="0"/>
              </a:rPr>
              <a:t>URL: </a:t>
            </a:r>
            <a:r>
              <a:rPr lang="en-IN" dirty="0">
                <a:latin typeface="Times New Roman" panose="02020603050405020304" pitchFamily="18" charset="0"/>
                <a:cs typeface="Times New Roman" panose="02020603050405020304" pitchFamily="18" charset="0"/>
                <a:hlinkClick r:id="rId5"/>
              </a:rPr>
              <a:t>https://www.kaggle.com/datasets/arjunsudheer326/tomato-plant-stages-dataset</a:t>
            </a:r>
            <a:endParaRPr lang="en-US"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rtl="0">
              <a:lnSpc>
                <a:spcPts val="2600"/>
              </a:lnSpc>
              <a:spcBef>
                <a:spcPts val="0"/>
              </a:spcBef>
              <a:spcAft>
                <a:spcPts val="0"/>
              </a:spcAft>
              <a:buClr>
                <a:schemeClr val="dk1"/>
              </a:buClr>
              <a:buSzPts val="1700"/>
              <a:buFont typeface="Wingdings" panose="05000000000000000000" pitchFamily="2" charset="2"/>
              <a:buChar char="q"/>
            </a:pPr>
            <a:r>
              <a:rPr 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IN" sz="1800" dirty="0">
                <a:latin typeface="Times New Roman" panose="02020603050405020304" pitchFamily="18" charset="0"/>
                <a:cs typeface="Times New Roman" panose="02020603050405020304" pitchFamily="18" charset="0"/>
              </a:rPr>
              <a:t>Ripe Strawberries Detection Dataset</a:t>
            </a:r>
          </a:p>
          <a:p>
            <a:pPr lvl="1" algn="just">
              <a:lnSpc>
                <a:spcPts val="2600"/>
              </a:lnSpc>
              <a:spcBef>
                <a:spcPts val="0"/>
              </a:spcBef>
              <a:buClr>
                <a:schemeClr val="dk1"/>
              </a:buClr>
              <a:buSzPts val="1700"/>
              <a:buFont typeface="Courier New" panose="02070309020205020404" pitchFamily="49" charset="0"/>
              <a:buChar char="o"/>
            </a:pPr>
            <a:r>
              <a:rPr lang="en-IN"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dirty="0">
                <a:latin typeface="Times New Roman" panose="02020603050405020304" pitchFamily="18" charset="0"/>
                <a:cs typeface="Times New Roman" panose="02020603050405020304" pitchFamily="18" charset="0"/>
              </a:rPr>
              <a:t>Labeled strawberry images for ripeness and maturity detection.</a:t>
            </a:r>
            <a:r>
              <a:rPr lang="en-US" dirty="0">
                <a:latin typeface="Times New Roman" panose="02020603050405020304" pitchFamily="18" charset="0"/>
                <a:cs typeface="Times New Roman" panose="02020603050405020304" pitchFamily="18" charset="0"/>
                <a:sym typeface="Times New Roman" panose="02020603050405020304"/>
              </a:rPr>
              <a:t> </a:t>
            </a:r>
            <a:r>
              <a:rPr lang="en-US" dirty="0">
                <a:latin typeface="Times New Roman" panose="02020603050405020304" pitchFamily="18" charset="0"/>
                <a:cs typeface="Times New Roman" panose="02020603050405020304" pitchFamily="18" charset="0"/>
              </a:rPr>
              <a:t>Used for harvest readiness prediction and fruit maturity assessment.</a:t>
            </a:r>
            <a:endParaRPr lang="en-US" dirty="0">
              <a:latin typeface="Times New Roman" panose="02020603050405020304" pitchFamily="18" charset="0"/>
              <a:cs typeface="Times New Roman" panose="02020603050405020304" pitchFamily="18" charset="0"/>
              <a:sym typeface="Times New Roman" panose="02020603050405020304"/>
            </a:endParaRPr>
          </a:p>
          <a:p>
            <a:pPr lvl="1" algn="just">
              <a:lnSpc>
                <a:spcPts val="2600"/>
              </a:lnSpc>
              <a:spcBef>
                <a:spcPts val="0"/>
              </a:spcBef>
              <a:buClr>
                <a:schemeClr val="dk1"/>
              </a:buClr>
              <a:buSzPts val="17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sym typeface="Times New Roman" panose="02020603050405020304"/>
              </a:rPr>
              <a:t> </a:t>
            </a:r>
            <a:r>
              <a:rPr lang="en-IN" dirty="0">
                <a:latin typeface="Times New Roman" panose="02020603050405020304" pitchFamily="18" charset="0"/>
                <a:cs typeface="Times New Roman" panose="02020603050405020304" pitchFamily="18" charset="0"/>
              </a:rPr>
              <a:t>URL: </a:t>
            </a:r>
            <a:r>
              <a:rPr lang="en-IN" dirty="0">
                <a:latin typeface="Times New Roman" panose="02020603050405020304" pitchFamily="18" charset="0"/>
                <a:cs typeface="Times New Roman" panose="02020603050405020304" pitchFamily="18" charset="0"/>
                <a:hlinkClick r:id="rId6"/>
              </a:rPr>
              <a:t>https://www.kaggle.com/datasets/trainingdatapro/ripe-strawberries-detection</a:t>
            </a:r>
            <a:endParaRPr lang="en-IN" dirty="0">
              <a:latin typeface="Times New Roman" panose="02020603050405020304" pitchFamily="18" charset="0"/>
              <a:cs typeface="Times New Roman" panose="02020603050405020304" pitchFamily="18" charset="0"/>
            </a:endParaRPr>
          </a:p>
          <a:p>
            <a:pPr lvl="1" algn="just">
              <a:lnSpc>
                <a:spcPts val="2600"/>
              </a:lnSpc>
              <a:spcBef>
                <a:spcPts val="0"/>
              </a:spcBef>
              <a:buClr>
                <a:schemeClr val="dk1"/>
              </a:buClr>
              <a:buSzPts val="1700"/>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40185965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103"/>
          <p:cNvSpPr txBox="1">
            <a:spLocks noGrp="1"/>
          </p:cNvSpPr>
          <p:nvPr>
            <p:ph type="title"/>
          </p:nvPr>
        </p:nvSpPr>
        <p:spPr>
          <a:xfrm>
            <a:off x="0" y="0"/>
            <a:ext cx="9144000" cy="53309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References</a:t>
            </a:r>
            <a:endParaRPr sz="2800" dirty="0">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 name="Google Shape;1249;p100"/>
          <p:cNvCxnSpPr/>
          <p:nvPr/>
        </p:nvCxnSpPr>
        <p:spPr>
          <a:xfrm>
            <a:off x="0" y="537855"/>
            <a:ext cx="9144000" cy="1588"/>
          </a:xfrm>
          <a:prstGeom prst="straightConnector1">
            <a:avLst/>
          </a:prstGeom>
          <a:noFill/>
          <a:ln w="25400" cap="flat" cmpd="sng">
            <a:solidFill>
              <a:srgbClr val="800000"/>
            </a:solidFill>
            <a:prstDash val="solid"/>
            <a:round/>
            <a:headEnd type="none" w="sm" len="sm"/>
            <a:tailEnd type="none" w="sm" len="sm"/>
          </a:ln>
        </p:spPr>
      </p:cxnSp>
      <p:sp>
        <p:nvSpPr>
          <p:cNvPr id="24" name="TextBox 23"/>
          <p:cNvSpPr txBox="1"/>
          <p:nvPr/>
        </p:nvSpPr>
        <p:spPr>
          <a:xfrm>
            <a:off x="208185" y="539443"/>
            <a:ext cx="8680981" cy="6398162"/>
          </a:xfrm>
          <a:prstGeom prst="rect">
            <a:avLst/>
          </a:prstGeom>
          <a:noFill/>
        </p:spPr>
        <p:txBody>
          <a:bodyPr wrap="square" lIns="91440" tIns="45720" rIns="91440" bIns="45720" anchor="t">
            <a:spAutoFit/>
          </a:bodyPr>
          <a:lstStyle/>
          <a:p>
            <a:pPr algn="just">
              <a:lnSpc>
                <a:spcPts val="2600"/>
              </a:lnSpc>
              <a:defRPr/>
            </a:pP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[1] </a:t>
            </a:r>
            <a:r>
              <a:rPr lang="en-US" sz="1800" dirty="0">
                <a:latin typeface="Times New Roman"/>
              </a:rPr>
              <a:t>M. </a:t>
            </a:r>
            <a:r>
              <a:rPr lang="en-US" sz="1800" dirty="0" err="1">
                <a:latin typeface="Times New Roman"/>
              </a:rPr>
              <a:t>Ghiasi</a:t>
            </a:r>
            <a:r>
              <a:rPr lang="en-US" sz="1800" dirty="0">
                <a:latin typeface="Times New Roman"/>
              </a:rPr>
              <a:t>, Z. Wang, M. </a:t>
            </a:r>
            <a:r>
              <a:rPr lang="en-US" sz="1800" dirty="0" err="1">
                <a:latin typeface="Times New Roman"/>
              </a:rPr>
              <a:t>Mehrandezh</a:t>
            </a:r>
            <a:r>
              <a:rPr lang="en-US" sz="1800" dirty="0">
                <a:latin typeface="Times New Roman"/>
              </a:rPr>
              <a:t>, and A. Mohammadi, “Optimal strategy for energy-efficient management of greenhouse climate control</a:t>
            </a:r>
            <a:r>
              <a:rPr kumimoji="0" lang="en-US" sz="1800" b="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 </a:t>
            </a:r>
            <a:r>
              <a:rPr lang="en-US" sz="1800" i="1" dirty="0">
                <a:latin typeface="Times New Roman"/>
              </a:rPr>
              <a:t>IEEE Open Access Journal of Power and Energy</a:t>
            </a:r>
            <a:r>
              <a:rPr lang="en-US" sz="1800" dirty="0">
                <a:latin typeface="Times New Roman"/>
              </a:rPr>
              <a:t>, vol. 12, pp. 1–14, December 5, 2025.</a:t>
            </a:r>
          </a:p>
          <a:p>
            <a:pPr algn="just">
              <a:lnSpc>
                <a:spcPts val="2600"/>
              </a:lnSpc>
              <a:defRPr/>
            </a:pP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a:t>
            </a:r>
            <a:r>
              <a:rPr lang="en-US" sz="1800" dirty="0">
                <a:latin typeface="Times New Roman"/>
              </a:rPr>
              <a:t>2</a:t>
            </a: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 </a:t>
            </a:r>
            <a:r>
              <a:rPr lang="en-US" sz="1800" dirty="0">
                <a:latin typeface="Times New Roman"/>
              </a:rPr>
              <a:t>D. A. Howard, Z. Ma, C. Veje, A. Clausen, J. M. Aaslyng, and B. N. Jørgensen, “Greenhouse industry 4.0 – digital twin technology for commercial greenhouses</a:t>
            </a:r>
            <a:r>
              <a:rPr kumimoji="0" lang="en-US" sz="1800" b="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 </a:t>
            </a:r>
            <a:r>
              <a:rPr lang="en-US" sz="1800" i="1" dirty="0">
                <a:latin typeface="Times New Roman"/>
              </a:rPr>
              <a:t>Energy Informatics</a:t>
            </a:r>
            <a:r>
              <a:rPr lang="en-US" sz="1800" dirty="0">
                <a:latin typeface="Times New Roman"/>
              </a:rPr>
              <a:t>, vol. 4, no. 1, pp. 1–20, May 2021.</a:t>
            </a:r>
          </a:p>
          <a:p>
            <a:pPr algn="just">
              <a:lnSpc>
                <a:spcPts val="2600"/>
              </a:lnSpc>
              <a:defRPr/>
            </a:pP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a:t>
            </a:r>
            <a:r>
              <a:rPr lang="en-US" sz="1800" dirty="0">
                <a:latin typeface="Times New Roman"/>
              </a:rPr>
              <a:t>3</a:t>
            </a: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 </a:t>
            </a:r>
            <a:r>
              <a:rPr lang="en-US" sz="1800" dirty="0">
                <a:latin typeface="Times New Roman"/>
              </a:rPr>
              <a:t>D. S. Joseph, P. M. Pawar, and K. </a:t>
            </a:r>
            <a:r>
              <a:rPr lang="en-US" sz="1800" dirty="0" err="1">
                <a:latin typeface="Times New Roman"/>
              </a:rPr>
              <a:t>Chakradeo</a:t>
            </a:r>
            <a:r>
              <a:rPr lang="en-US" sz="1800" dirty="0">
                <a:latin typeface="Times New Roman"/>
              </a:rPr>
              <a:t>, “Real-time plant disease dataset development and detection of plant disease using deep learning,” </a:t>
            </a:r>
            <a:r>
              <a:rPr lang="en-US" sz="1800" i="1" dirty="0">
                <a:latin typeface="Times New Roman"/>
              </a:rPr>
              <a:t>IEEE Access</a:t>
            </a:r>
            <a:r>
              <a:rPr lang="en-US" sz="1800" dirty="0">
                <a:latin typeface="Times New Roman"/>
              </a:rPr>
              <a:t>, vol. 11, pp. 1–15, 2023.</a:t>
            </a:r>
          </a:p>
          <a:p>
            <a:pPr algn="just">
              <a:lnSpc>
                <a:spcPts val="2600"/>
              </a:lnSpc>
              <a:defRPr/>
            </a:pP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a:t>
            </a:r>
            <a:r>
              <a:rPr lang="en-US" sz="1800" dirty="0">
                <a:latin typeface="Times New Roman"/>
              </a:rPr>
              <a:t>4</a:t>
            </a: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 </a:t>
            </a:r>
            <a:r>
              <a:rPr lang="en-US" sz="1800" dirty="0">
                <a:latin typeface="Times New Roman"/>
              </a:rPr>
              <a:t>A. Kaur and R. Kaur, “AI-enabled energy management for sustainable smart greenhouses: An integrated review,” </a:t>
            </a:r>
            <a:r>
              <a:rPr lang="en-US" sz="1800" i="1" dirty="0">
                <a:latin typeface="Times New Roman"/>
              </a:rPr>
              <a:t>Journal of Cleaner Production</a:t>
            </a:r>
            <a:r>
              <a:rPr lang="en-US" sz="1800" dirty="0">
                <a:latin typeface="Times New Roman"/>
              </a:rPr>
              <a:t>, vol. 382, pp. 1–15, 2024.</a:t>
            </a:r>
          </a:p>
          <a:p>
            <a:pPr algn="just">
              <a:lnSpc>
                <a:spcPts val="2600"/>
              </a:lnSpc>
              <a:defRPr/>
            </a:pP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a:t>
            </a:r>
            <a:r>
              <a:rPr lang="en-US" sz="1800" dirty="0">
                <a:latin typeface="Times New Roman"/>
              </a:rPr>
              <a:t>5</a:t>
            </a: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 </a:t>
            </a:r>
            <a:r>
              <a:rPr lang="en-US" sz="1800" dirty="0">
                <a:latin typeface="Times New Roman"/>
              </a:rPr>
              <a:t>D. K. Lee, B. K. Kang, Y. J. Kim, T. G. An, and Y. T. Chae, “A digital twin-based framework for precision tomato cultivation: Integrating </a:t>
            </a:r>
            <a:r>
              <a:rPr lang="en-US" sz="1800" dirty="0" err="1">
                <a:latin typeface="Times New Roman"/>
              </a:rPr>
              <a:t>XGBoost</a:t>
            </a:r>
            <a:r>
              <a:rPr lang="en-US" sz="1800" dirty="0">
                <a:latin typeface="Times New Roman"/>
              </a:rPr>
              <a:t>-based prediction with model predictive control,” </a:t>
            </a:r>
            <a:r>
              <a:rPr lang="en-US" sz="1800" i="1" dirty="0">
                <a:latin typeface="Times New Roman"/>
              </a:rPr>
              <a:t>SSRN Electronic Journal</a:t>
            </a:r>
            <a:r>
              <a:rPr lang="en-US" sz="1800" dirty="0">
                <a:latin typeface="Times New Roman"/>
              </a:rPr>
              <a:t>, 2024.</a:t>
            </a:r>
            <a:endParaRPr lang="en-IN" sz="1800" dirty="0">
              <a:latin typeface="Times New Roman"/>
            </a:endParaRPr>
          </a:p>
          <a:p>
            <a:pPr algn="just">
              <a:lnSpc>
                <a:spcPts val="2600"/>
              </a:lnSpc>
              <a:defRPr/>
            </a:pP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a:t>
            </a:r>
            <a:r>
              <a:rPr lang="en-US" sz="1800" dirty="0">
                <a:latin typeface="Times New Roman"/>
              </a:rPr>
              <a:t>6</a:t>
            </a:r>
            <a:r>
              <a:rPr kumimoji="0" lang="en-US" sz="1800" b="0" i="0" u="none" strike="noStrike" kern="0" cap="none" spc="0" normalizeH="0" baseline="0" noProof="0" dirty="0">
                <a:ln>
                  <a:noFill/>
                </a:ln>
                <a:solidFill>
                  <a:srgbClr val="000000"/>
                </a:solidFill>
                <a:effectLst/>
                <a:uLnTx/>
                <a:uFillTx/>
                <a:latin typeface="Times New Roman"/>
                <a:cs typeface="Arial" panose="020B0604020202020204"/>
                <a:sym typeface="Arial" panose="020B0604020202020204"/>
              </a:rPr>
              <a:t>] </a:t>
            </a:r>
            <a:r>
              <a:rPr lang="en-US" sz="1800" dirty="0">
                <a:latin typeface="Times New Roman"/>
              </a:rPr>
              <a:t>S. R. Luna, M. P. García, and J. R. Torres, “Digital twin technology in greenhouse-based precision agriculture,” </a:t>
            </a:r>
            <a:r>
              <a:rPr lang="en-US" sz="1800" i="1" dirty="0">
                <a:latin typeface="Times New Roman"/>
              </a:rPr>
              <a:t>Computers and Electronics in Agriculture</a:t>
            </a:r>
            <a:r>
              <a:rPr lang="en-US" sz="1800" dirty="0">
                <a:latin typeface="Times New Roman"/>
              </a:rPr>
              <a:t>, vol. 209, pp. 107–119, 2023.</a:t>
            </a:r>
          </a:p>
          <a:p>
            <a:pPr algn="just">
              <a:lnSpc>
                <a:spcPts val="2600"/>
              </a:lnSpc>
              <a:defRPr/>
            </a:pPr>
            <a:endParaRPr lang="en-US" sz="1800" dirty="0">
              <a:latin typeface="Times New Roman"/>
            </a:endParaRPr>
          </a:p>
        </p:txBody>
      </p:sp>
      <p:sp>
        <p:nvSpPr>
          <p:cNvPr id="2" name="Google Shape;167;p1">
            <a:extLst>
              <a:ext uri="{FF2B5EF4-FFF2-40B4-BE49-F238E27FC236}">
                <a16:creationId xmlns:a16="http://schemas.microsoft.com/office/drawing/2014/main" id="{2FE6BDF5-AE30-5D13-75B2-606E7CC3515F}"/>
              </a:ext>
            </a:extLst>
          </p:cNvPr>
          <p:cNvSpPr txBox="1">
            <a:spLocks noGrp="1"/>
          </p:cNvSpPr>
          <p:nvPr>
            <p:ph type="dt" sz="half" idx="10"/>
          </p:nvPr>
        </p:nvSpPr>
        <p:spPr>
          <a:xfrm>
            <a:off x="0" y="6501342"/>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02/02/2026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72">
          <a:extLst>
            <a:ext uri="{FF2B5EF4-FFF2-40B4-BE49-F238E27FC236}">
              <a16:creationId xmlns:a16="http://schemas.microsoft.com/office/drawing/2014/main" id="{C5B57A2A-D858-B1E7-479B-AFE0B275F46F}"/>
            </a:ext>
          </a:extLst>
        </p:cNvPr>
        <p:cNvGrpSpPr/>
        <p:nvPr/>
      </p:nvGrpSpPr>
      <p:grpSpPr>
        <a:xfrm>
          <a:off x="0" y="0"/>
          <a:ext cx="0" cy="0"/>
          <a:chOff x="0" y="0"/>
          <a:chExt cx="0" cy="0"/>
        </a:xfrm>
      </p:grpSpPr>
      <p:sp>
        <p:nvSpPr>
          <p:cNvPr id="1273" name="Google Shape;1273;p103">
            <a:extLst>
              <a:ext uri="{FF2B5EF4-FFF2-40B4-BE49-F238E27FC236}">
                <a16:creationId xmlns:a16="http://schemas.microsoft.com/office/drawing/2014/main" id="{2A71885D-04D1-6F46-BED7-2FE52EBD46D1}"/>
              </a:ext>
            </a:extLst>
          </p:cNvPr>
          <p:cNvSpPr txBox="1">
            <a:spLocks noGrp="1"/>
          </p:cNvSpPr>
          <p:nvPr>
            <p:ph type="title"/>
          </p:nvPr>
        </p:nvSpPr>
        <p:spPr>
          <a:xfrm>
            <a:off x="0" y="0"/>
            <a:ext cx="9144000" cy="53309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References </a:t>
            </a:r>
            <a:r>
              <a:rPr lang="en-US" sz="2800" b="1" dirty="0">
                <a:solidFill>
                  <a:srgbClr val="006600"/>
                </a:solidFill>
                <a:latin typeface="Bookman Old Style" panose="02050604050505020204" pitchFamily="18" charset="0"/>
                <a:cs typeface="Arial" panose="020B0604020202020204"/>
                <a:sym typeface="Times New Roman" panose="02020603050405020304"/>
              </a:rPr>
              <a:t>(Contd..)</a:t>
            </a:r>
            <a:endParaRPr sz="2800" dirty="0">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 name="Google Shape;1249;p100">
            <a:extLst>
              <a:ext uri="{FF2B5EF4-FFF2-40B4-BE49-F238E27FC236}">
                <a16:creationId xmlns:a16="http://schemas.microsoft.com/office/drawing/2014/main" id="{069275B8-3617-164E-9108-56E778CBF583}"/>
              </a:ext>
            </a:extLst>
          </p:cNvPr>
          <p:cNvCxnSpPr/>
          <p:nvPr/>
        </p:nvCxnSpPr>
        <p:spPr>
          <a:xfrm>
            <a:off x="0" y="537855"/>
            <a:ext cx="9144000" cy="1588"/>
          </a:xfrm>
          <a:prstGeom prst="straightConnector1">
            <a:avLst/>
          </a:prstGeom>
          <a:noFill/>
          <a:ln w="25400" cap="flat" cmpd="sng">
            <a:solidFill>
              <a:srgbClr val="800000"/>
            </a:solidFill>
            <a:prstDash val="solid"/>
            <a:round/>
            <a:headEnd type="none" w="sm" len="sm"/>
            <a:tailEnd type="none" w="sm" len="sm"/>
          </a:ln>
        </p:spPr>
      </p:cxnSp>
      <p:sp>
        <p:nvSpPr>
          <p:cNvPr id="24" name="TextBox 23">
            <a:extLst>
              <a:ext uri="{FF2B5EF4-FFF2-40B4-BE49-F238E27FC236}">
                <a16:creationId xmlns:a16="http://schemas.microsoft.com/office/drawing/2014/main" id="{19D6A4D7-0405-D0C6-8004-8472ED7F33FB}"/>
              </a:ext>
            </a:extLst>
          </p:cNvPr>
          <p:cNvSpPr txBox="1"/>
          <p:nvPr/>
        </p:nvSpPr>
        <p:spPr>
          <a:xfrm>
            <a:off x="265656" y="699497"/>
            <a:ext cx="8612687" cy="5801845"/>
          </a:xfrm>
          <a:prstGeom prst="rect">
            <a:avLst/>
          </a:prstGeom>
          <a:noFill/>
        </p:spPr>
        <p:txBody>
          <a:bodyPr wrap="square" lIns="91440" tIns="45720" rIns="91440" bIns="45720" anchor="t">
            <a:spAutoFit/>
          </a:bodyPr>
          <a:lstStyle/>
          <a:p>
            <a:pPr algn="just">
              <a:lnSpc>
                <a:spcPts val="2800"/>
              </a:lnSpc>
              <a:defRPr/>
            </a:pPr>
            <a:r>
              <a:rPr lang="en-US" sz="1800" dirty="0">
                <a:latin typeface="Times New Roman"/>
              </a:rPr>
              <a:t>[7] B. V. Nikitha, N. K. S. Keerthan, P. Praneeth, and T. Amrita, “Leaf disease detection and classification,” </a:t>
            </a:r>
            <a:r>
              <a:rPr lang="en-US" sz="1800" i="1" dirty="0">
                <a:latin typeface="Times New Roman"/>
              </a:rPr>
              <a:t>Procedia Computer Science</a:t>
            </a:r>
            <a:r>
              <a:rPr lang="en-US" sz="1800" dirty="0">
                <a:latin typeface="Times New Roman"/>
              </a:rPr>
              <a:t>, vol. 218, pp. 291–300, January 2023.</a:t>
            </a:r>
          </a:p>
          <a:p>
            <a:pPr algn="just">
              <a:lnSpc>
                <a:spcPts val="2800"/>
              </a:lnSpc>
              <a:defRPr/>
            </a:pPr>
            <a:r>
              <a:rPr lang="en-US" sz="1800" dirty="0">
                <a:latin typeface="Times New Roman"/>
              </a:rPr>
              <a:t>[8] A. Oad, S. S. Abbas, A. Zafar, and others, “Plant leaf disease detection using ensemble learning and explainable AI,” </a:t>
            </a:r>
            <a:r>
              <a:rPr lang="en-US" sz="1800" i="1" dirty="0">
                <a:latin typeface="Times New Roman"/>
              </a:rPr>
              <a:t>IEEE Access</a:t>
            </a:r>
            <a:r>
              <a:rPr lang="en-US" sz="1800" dirty="0">
                <a:latin typeface="Times New Roman"/>
              </a:rPr>
              <a:t>, vol. 12, pp. 156038–156052, 2024.</a:t>
            </a:r>
          </a:p>
          <a:p>
            <a:pPr algn="just">
              <a:lnSpc>
                <a:spcPts val="2800"/>
              </a:lnSpc>
              <a:defRPr/>
            </a:pPr>
            <a:r>
              <a:rPr lang="en-US" sz="1800" dirty="0">
                <a:latin typeface="Times New Roman"/>
              </a:rPr>
              <a:t>[9] A. Soussi, E. Zero, C. D. C. Herrera, and others, “Integrating digital twins and model predictive control for sustainable greenhouse management in smart agriculture,” </a:t>
            </a:r>
            <a:r>
              <a:rPr lang="en-US" sz="1800" i="1" dirty="0">
                <a:latin typeface="Times New Roman"/>
              </a:rPr>
              <a:t>IEEE Transactions on </a:t>
            </a:r>
            <a:r>
              <a:rPr lang="en-US" sz="1800" i="1" dirty="0" err="1">
                <a:latin typeface="Times New Roman"/>
              </a:rPr>
              <a:t>AgriFood</a:t>
            </a:r>
            <a:r>
              <a:rPr lang="en-US" sz="1800" i="1" dirty="0">
                <a:latin typeface="Times New Roman"/>
              </a:rPr>
              <a:t> Electronics</a:t>
            </a:r>
            <a:r>
              <a:rPr lang="en-US" sz="1800" dirty="0">
                <a:latin typeface="Times New Roman"/>
              </a:rPr>
              <a:t>, vol. 1, no. 1, pp. 1–17, 2025.</a:t>
            </a:r>
          </a:p>
          <a:p>
            <a:pPr algn="just">
              <a:lnSpc>
                <a:spcPts val="2800"/>
              </a:lnSpc>
              <a:defRPr/>
            </a:pPr>
            <a:r>
              <a:rPr lang="en-US" sz="1800" dirty="0">
                <a:latin typeface="Times New Roman"/>
              </a:rPr>
              <a:t>[10] A. F. Subahi and K. E. Bouazza, “An intelligent IoT-based system design for controlling and monitoring greenhouse temperature,” </a:t>
            </a:r>
            <a:r>
              <a:rPr lang="en-US" sz="1800" i="1" dirty="0">
                <a:latin typeface="Times New Roman"/>
              </a:rPr>
              <a:t>IEEE Access</a:t>
            </a:r>
            <a:r>
              <a:rPr lang="en-US" sz="1800" dirty="0">
                <a:latin typeface="Times New Roman"/>
              </a:rPr>
              <a:t>, vol. 10, pp. 1–12, 2022.</a:t>
            </a:r>
          </a:p>
          <a:p>
            <a:pPr algn="just">
              <a:lnSpc>
                <a:spcPts val="2800"/>
              </a:lnSpc>
              <a:defRPr/>
            </a:pPr>
            <a:r>
              <a:rPr lang="en-US" sz="1800" dirty="0">
                <a:latin typeface="Times New Roman"/>
              </a:rPr>
              <a:t>[11] R. A. </a:t>
            </a:r>
            <a:r>
              <a:rPr lang="en-US" sz="1800" dirty="0" err="1">
                <a:latin typeface="Times New Roman"/>
              </a:rPr>
              <a:t>Tathed</a:t>
            </a:r>
            <a:r>
              <a:rPr lang="en-US" sz="1800" dirty="0">
                <a:latin typeface="Times New Roman"/>
              </a:rPr>
              <a:t>, “Designing AI-driven platforms to transform agricultural ecosystems,” </a:t>
            </a:r>
            <a:r>
              <a:rPr lang="en-US" sz="1800" i="1" dirty="0">
                <a:latin typeface="Times New Roman"/>
              </a:rPr>
              <a:t>International Journal for Research Publication and Seminar</a:t>
            </a:r>
            <a:r>
              <a:rPr lang="en-US" sz="1800" dirty="0">
                <a:latin typeface="Times New Roman"/>
              </a:rPr>
              <a:t>, vol. 16, no. 2, pp. 249–268, April–June 2025.</a:t>
            </a:r>
          </a:p>
          <a:p>
            <a:pPr algn="just">
              <a:lnSpc>
                <a:spcPts val="2800"/>
              </a:lnSpc>
              <a:defRPr/>
            </a:pPr>
            <a:r>
              <a:rPr lang="en-US" sz="1800" dirty="0">
                <a:latin typeface="Times New Roman"/>
              </a:rPr>
              <a:t>[12] M. Umar, S. Altaf, S. Ahmad, H. Mahmoud, A. S. N. Mohamed, and R. Ayub, “Precision agriculture through deep learning: Tomato plant multiple diseases recognition with CNN and improved YOLOv7,” </a:t>
            </a:r>
            <a:r>
              <a:rPr lang="en-US" sz="1800" i="1" dirty="0">
                <a:latin typeface="Times New Roman"/>
              </a:rPr>
              <a:t>IEEE Access</a:t>
            </a:r>
            <a:r>
              <a:rPr lang="en-US" sz="1800" dirty="0">
                <a:latin typeface="Times New Roman"/>
              </a:rPr>
              <a:t>, vol. 12, pp. 49167–49180, April 1, 2024.</a:t>
            </a:r>
          </a:p>
        </p:txBody>
      </p:sp>
      <p:sp>
        <p:nvSpPr>
          <p:cNvPr id="2" name="Google Shape;167;p1">
            <a:extLst>
              <a:ext uri="{FF2B5EF4-FFF2-40B4-BE49-F238E27FC236}">
                <a16:creationId xmlns:a16="http://schemas.microsoft.com/office/drawing/2014/main" id="{45BFAD51-FFF9-0BD1-F841-030B914E32EE}"/>
              </a:ext>
            </a:extLst>
          </p:cNvPr>
          <p:cNvSpPr txBox="1">
            <a:spLocks noGrp="1"/>
          </p:cNvSpPr>
          <p:nvPr>
            <p:ph type="dt" sz="half" idx="10"/>
          </p:nvPr>
        </p:nvSpPr>
        <p:spPr>
          <a:xfrm>
            <a:off x="0" y="6501342"/>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1766041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7" name="Google Shape;1307;p107"/>
          <p:cNvSpPr/>
          <p:nvPr/>
        </p:nvSpPr>
        <p:spPr>
          <a:xfrm>
            <a:off x="0" y="2598174"/>
            <a:ext cx="9144000" cy="1323399"/>
          </a:xfrm>
          <a:prstGeom prst="rect">
            <a:avLst/>
          </a:prstGeom>
          <a:noFill/>
          <a:ln>
            <a:noFill/>
          </a:ln>
        </p:spPr>
        <p:txBody>
          <a:bodyPr spcFirstLastPara="1" wrap="square" lIns="91425" tIns="45700" rIns="91425" bIns="45700" anchor="t" anchorCtr="0">
            <a:spAutoFit/>
          </a:bodyPr>
          <a:lstStyle/>
          <a:p>
            <a:pPr lvl="0" algn="ctr">
              <a:buClr>
                <a:srgbClr val="00B050"/>
              </a:buClr>
              <a:buSzPts val="5400"/>
            </a:pPr>
            <a:r>
              <a:rPr lang="en-US" sz="8000" b="1" i="0" u="none" strike="noStrike" cap="none" dirty="0">
                <a:solidFill>
                  <a:srgbClr val="00642D"/>
                </a:solidFill>
                <a:latin typeface="Algerian" panose="04020705040A02060702" pitchFamily="82" charset="0"/>
                <a:sym typeface="Arial" panose="020B0604020202020204"/>
              </a:rPr>
              <a:t>Thank you </a:t>
            </a:r>
            <a:endParaRPr sz="2400" dirty="0">
              <a:solidFill>
                <a:srgbClr val="00642D"/>
              </a:solidFill>
              <a:latin typeface="Algerian" panose="04020705040A02060702" pitchFamily="82" charset="0"/>
            </a:endParaRPr>
          </a:p>
        </p:txBody>
      </p:sp>
      <p:sp>
        <p:nvSpPr>
          <p:cNvPr id="2" name="Google Shape;167;p1">
            <a:extLst>
              <a:ext uri="{FF2B5EF4-FFF2-40B4-BE49-F238E27FC236}">
                <a16:creationId xmlns:a16="http://schemas.microsoft.com/office/drawing/2014/main" id="{4D8C5087-2000-D903-2CB6-EAE464394F04}"/>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b="0" i="0" u="none" strike="noStrike" cap="none" dirty="0">
                <a:solidFill>
                  <a:srgbClr val="888888"/>
                </a:solidFill>
                <a:latin typeface="Arial" panose="020B0604020202020204"/>
                <a:cs typeface="Arial" panose="020B0604020202020204"/>
                <a:sym typeface="Arial" panose="020B0604020202020204"/>
              </a:rPr>
              <a:t>05/02/2026</a:t>
            </a:r>
            <a:endParaRPr sz="1200" b="0" i="0" u="none" strike="noStrike" cap="none" dirty="0">
              <a:solidFill>
                <a:srgbClr val="888888"/>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95*361"/>
  <p:tag name="TABLE_ENDDRAG_RECT" val="13*100*695*361"/>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95*361"/>
  <p:tag name="TABLE_ENDDRAG_RECT" val="13*100*695*3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468B0BB-C1D5-4F92-A32C-21ED7D6D2A09}">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1277</TotalTime>
  <Words>2633</Words>
  <Application>Microsoft Office PowerPoint</Application>
  <PresentationFormat>On-screen Show (4:3)</PresentationFormat>
  <Paragraphs>200</Paragraphs>
  <Slides>21</Slides>
  <Notes>21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Courier New</vt:lpstr>
      <vt:lpstr>Arial</vt:lpstr>
      <vt:lpstr>Bookman Old Style</vt:lpstr>
      <vt:lpstr>Calibri</vt:lpstr>
      <vt:lpstr>Noto Sans Symbols</vt:lpstr>
      <vt:lpstr>Algerian</vt:lpstr>
      <vt:lpstr>Roboto</vt:lpstr>
      <vt:lpstr>Wingdings</vt:lpstr>
      <vt:lpstr>Times New Roman</vt:lpstr>
      <vt:lpstr>Time New Roman</vt:lpstr>
      <vt:lpstr>Calibri Light</vt:lpstr>
      <vt:lpstr>Office Theme</vt:lpstr>
      <vt:lpstr>PowerPoint Presentation</vt:lpstr>
      <vt:lpstr>Agenda</vt:lpstr>
      <vt:lpstr>Abstract</vt:lpstr>
      <vt:lpstr>Introduction to AgriTwin-GH</vt:lpstr>
      <vt:lpstr>Project Objectives</vt:lpstr>
      <vt:lpstr>PowerPoint Presentation</vt:lpstr>
      <vt:lpstr>PowerPoint Presentation</vt:lpstr>
      <vt:lpstr>Inference from Literature Survey</vt:lpstr>
      <vt:lpstr>Proposed Project - AgriTwin-GH</vt:lpstr>
      <vt:lpstr>High-Level Architecture Diagram</vt:lpstr>
      <vt:lpstr>Input Data and Expected Output</vt:lpstr>
      <vt:lpstr>Project Modules</vt:lpstr>
      <vt:lpstr>Project Modules (Contd..)</vt:lpstr>
      <vt:lpstr>Project Modules (Contd..)</vt:lpstr>
      <vt:lpstr>Implementation &amp; System Requirements</vt:lpstr>
      <vt:lpstr>Project Development Timeline</vt:lpstr>
      <vt:lpstr>Conclusion</vt:lpstr>
      <vt:lpstr>Datasets</vt:lpstr>
      <vt:lpstr>References</vt:lpstr>
      <vt:lpstr>References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T23U5572</dc:creator>
  <cp:lastModifiedBy>ARJUN CHRISTOPHER</cp:lastModifiedBy>
  <cp:revision>855</cp:revision>
  <dcterms:created xsi:type="dcterms:W3CDTF">2020-08-20T10:53:00Z</dcterms:created>
  <dcterms:modified xsi:type="dcterms:W3CDTF">2026-02-05T03:17:15Z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9F66D692DBFA4359B0825EFDAB6C8F37_13</vt:lpwstr>
  </property>
  <property fmtid="{D5CDD505-2E9C-101B-9397-08002B2CF9AE}" pid="3" name="KSOProductBuildVer">
    <vt:lpwstr>1033-12.2.0.23196</vt:lpwstr>
  </property>
</Properties>
</file>