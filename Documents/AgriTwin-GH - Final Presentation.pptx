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3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6.xml" ContentType="application/vnd.openxmlformats-officedocument.presentationml.notesSlide+xml"/>
  <Override PartName="/ppt/theme/themeOverride5.xml" ContentType="application/vnd.openxmlformats-officedocument.themeOverride+xml"/>
  <Override PartName="/ppt/notesSlides/notesSlide7.xml" ContentType="application/vnd.openxmlformats-officedocument.presentationml.notesSlide+xml"/>
  <Override PartName="/ppt/theme/themeOverride6.xml" ContentType="application/vnd.openxmlformats-officedocument.themeOverride+xml"/>
  <Override PartName="/ppt/notesSlides/notesSlide8.xml" ContentType="application/vnd.openxmlformats-officedocument.presentationml.notesSlide+xml"/>
  <Override PartName="/ppt/theme/themeOverride7.xml" ContentType="application/vnd.openxmlformats-officedocument.themeOverride+xml"/>
  <Override PartName="/ppt/notesSlides/notesSlide9.xml" ContentType="application/vnd.openxmlformats-officedocument.presentationml.notesSlide+xml"/>
  <Override PartName="/ppt/theme/themeOverride8.xml" ContentType="application/vnd.openxmlformats-officedocument.themeOverride+xml"/>
  <Override PartName="/ppt/notesSlides/notesSlide10.xml" ContentType="application/vnd.openxmlformats-officedocument.presentationml.notesSlide+xml"/>
  <Override PartName="/ppt/tags/tag1.xml" ContentType="application/vnd.openxmlformats-officedocument.presentationml.tags+xml"/>
  <Override PartName="/ppt/notesSlides/notesSlide11.xml" ContentType="application/vnd.openxmlformats-officedocument.presentationml.notesSlide+xml"/>
  <Override PartName="/ppt/tags/tag2.xml" ContentType="application/vnd.openxmlformats-officedocument.presentationml.tags+xml"/>
  <Override PartName="/ppt/notesSlides/notesSlide12.xml" ContentType="application/vnd.openxmlformats-officedocument.presentationml.notesSlide+xml"/>
  <Override PartName="/ppt/tags/tag3.xml" ContentType="application/vnd.openxmlformats-officedocument.presentationml.tags+xml"/>
  <Override PartName="/ppt/notesSlides/notesSlide13.xml" ContentType="application/vnd.openxmlformats-officedocument.presentationml.notesSlide+xml"/>
  <Override PartName="/ppt/theme/themeOverride9.xml" ContentType="application/vnd.openxmlformats-officedocument.themeOverride+xml"/>
  <Override PartName="/ppt/notesSlides/notesSlide14.xml" ContentType="application/vnd.openxmlformats-officedocument.presentationml.notesSlide+xml"/>
  <Override PartName="/ppt/theme/themeOverride10.xml" ContentType="application/vnd.openxmlformats-officedocument.themeOverride+xml"/>
  <Override PartName="/ppt/notesSlides/notesSlide15.xml" ContentType="application/vnd.openxmlformats-officedocument.presentationml.notesSlide+xml"/>
  <Override PartName="/ppt/theme/themeOverride11.xml" ContentType="application/vnd.openxmlformats-officedocument.themeOverride+xml"/>
  <Override PartName="/ppt/notesSlides/notesSlide16.xml" ContentType="application/vnd.openxmlformats-officedocument.presentationml.notesSlide+xml"/>
  <Override PartName="/ppt/theme/themeOverride12.xml" ContentType="application/vnd.openxmlformats-officedocument.themeOverr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6" Type="http://schemas.openxmlformats.org/officeDocument/2006/relationships/custom-properties" Target="docProps/custom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60"/>
  </p:notesMasterIdLst>
  <p:sldIdLst>
    <p:sldId id="256" r:id="rId2"/>
    <p:sldId id="258" r:id="rId3"/>
    <p:sldId id="260" r:id="rId4"/>
    <p:sldId id="459" r:id="rId5"/>
    <p:sldId id="443" r:id="rId6"/>
    <p:sldId id="445" r:id="rId7"/>
    <p:sldId id="460" r:id="rId8"/>
    <p:sldId id="461" r:id="rId9"/>
    <p:sldId id="462" r:id="rId10"/>
    <p:sldId id="463" r:id="rId11"/>
    <p:sldId id="267" r:id="rId12"/>
    <p:sldId id="511" r:id="rId13"/>
    <p:sldId id="512" r:id="rId14"/>
    <p:sldId id="467" r:id="rId15"/>
    <p:sldId id="498" r:id="rId16"/>
    <p:sldId id="468" r:id="rId17"/>
    <p:sldId id="448" r:id="rId18"/>
    <p:sldId id="437" r:id="rId19"/>
    <p:sldId id="469" r:id="rId20"/>
    <p:sldId id="470" r:id="rId21"/>
    <p:sldId id="471" r:id="rId22"/>
    <p:sldId id="473" r:id="rId23"/>
    <p:sldId id="438" r:id="rId24"/>
    <p:sldId id="480" r:id="rId25"/>
    <p:sldId id="476" r:id="rId26"/>
    <p:sldId id="475" r:id="rId27"/>
    <p:sldId id="478" r:id="rId28"/>
    <p:sldId id="477" r:id="rId29"/>
    <p:sldId id="479" r:id="rId30"/>
    <p:sldId id="474" r:id="rId31"/>
    <p:sldId id="483" r:id="rId32"/>
    <p:sldId id="481" r:id="rId33"/>
    <p:sldId id="500" r:id="rId34"/>
    <p:sldId id="501" r:id="rId35"/>
    <p:sldId id="484" r:id="rId36"/>
    <p:sldId id="502" r:id="rId37"/>
    <p:sldId id="503" r:id="rId38"/>
    <p:sldId id="504" r:id="rId39"/>
    <p:sldId id="505" r:id="rId40"/>
    <p:sldId id="506" r:id="rId41"/>
    <p:sldId id="507" r:id="rId42"/>
    <p:sldId id="508" r:id="rId43"/>
    <p:sldId id="509" r:id="rId44"/>
    <p:sldId id="490" r:id="rId45"/>
    <p:sldId id="491" r:id="rId46"/>
    <p:sldId id="492" r:id="rId47"/>
    <p:sldId id="493" r:id="rId48"/>
    <p:sldId id="494" r:id="rId49"/>
    <p:sldId id="495" r:id="rId50"/>
    <p:sldId id="436" r:id="rId51"/>
    <p:sldId id="497" r:id="rId52"/>
    <p:sldId id="510" r:id="rId53"/>
    <p:sldId id="496" r:id="rId54"/>
    <p:sldId id="435" r:id="rId55"/>
    <p:sldId id="419" r:id="rId56"/>
    <p:sldId id="441" r:id="rId57"/>
    <p:sldId id="499" r:id="rId58"/>
    <p:sldId id="364" r:id="rId59"/>
  </p:sldIdLst>
  <p:sldSz cx="9144000" cy="6858000" type="screen4x3"/>
  <p:notesSz cx="6858000" cy="9144000"/>
  <p:embeddedFontLst>
    <p:embeddedFont>
      <p:font typeface="Algerian" panose="04020705040A02060702" pitchFamily="82" charset="0"/>
      <p:regular r:id="rId61"/>
    </p:embeddedFont>
    <p:embeddedFont>
      <p:font typeface="Bookman Old Style" panose="02050604050505020204" pitchFamily="18" charset="0"/>
      <p:regular r:id="rId62"/>
      <p:bold r:id="rId63"/>
      <p:italic r:id="rId64"/>
      <p:boldItalic r:id="rId65"/>
    </p:embeddedFont>
    <p:embeddedFont>
      <p:font typeface="Roboto" panose="02000000000000000000" pitchFamily="2" charset="0"/>
      <p:regular r:id="rId66"/>
      <p:bold r:id="rId67"/>
      <p:italic r:id="rId68"/>
      <p:boldItalic r:id="rId6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2209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600"/>
    <a:srgbClr val="00642D"/>
    <a:srgbClr val="00602B"/>
    <a:srgbClr val="0811C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C1D6F77-2E99-FD1E-2CEF-CC80DBAC7455}" v="2088" dt="2026-04-17T20:11:05.890"/>
    <p1510:client id="{C345170C-9498-4C49-A4B4-07A07961E2C6}" v="500" dt="2026-04-16T18:59:09.011"/>
  </p1510:revLst>
</p1510:revInfo>
</file>

<file path=ppt/tableStyles.xml><?xml version="1.0" encoding="utf-8"?>
<a:tblStyleLst xmlns:a="http://schemas.openxmlformats.org/drawingml/2006/main" def="{56D51072-94E4-4FC1-8697-D52FD32A7993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6D51072-94E4-4FC1-8697-D52FD32A7993}" styleName="Table_0">
    <a:wholeTbl>
      <a:tcTxStyle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Style>
        <a:tcBdr/>
        <a:fill>
          <a:solidFill>
            <a:srgbClr val="CFD7E7"/>
          </a:solidFill>
        </a:fill>
      </a:tcStyle>
    </a:band1H>
    <a:band2H>
      <a:tcStyle>
        <a:tcBdr/>
      </a:tcStyle>
    </a:band2H>
    <a:band1V>
      <a:tcStyle>
        <a:tcBdr/>
        <a:fill>
          <a:solidFill>
            <a:srgbClr val="CFD7E7"/>
          </a:solidFill>
        </a:fill>
      </a:tcStyle>
    </a:band1V>
    <a:band2V>
      <a:tcStyle>
        <a:tcBdr/>
      </a:tcStyle>
    </a:band2V>
    <a:la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Style>
        <a:tcBdr/>
      </a:tcStyle>
    </a:seCell>
    <a:swCell>
      <a:tcStyle>
        <a:tcBdr/>
      </a:tcStyle>
    </a:swCell>
    <a:firstRow>
      <a:tcTxStyle b="on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Style>
        <a:tcBdr/>
      </a:tcStyle>
    </a:neCell>
    <a:nwCell>
      <a:tcStyle>
        <a:tcBdr/>
      </a:tcStyle>
    </a:nwCell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3969" autoAdjust="0"/>
  </p:normalViewPr>
  <p:slideViewPr>
    <p:cSldViewPr snapToGrid="0">
      <p:cViewPr varScale="1">
        <p:scale>
          <a:sx n="69" d="100"/>
          <a:sy n="69" d="100"/>
        </p:scale>
        <p:origin x="1416" y="60"/>
      </p:cViewPr>
      <p:guideLst>
        <p:guide orient="horz" pos="2209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font" Target="fonts/font3.fntdata"/><Relationship Id="rId68" Type="http://schemas.openxmlformats.org/officeDocument/2006/relationships/font" Target="fonts/font8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font" Target="fonts/font6.fntdata"/><Relationship Id="rId74" Type="http://schemas.microsoft.com/office/2015/10/relationships/revisionInfo" Target="revisionInfo.xml"/><Relationship Id="rId5" Type="http://schemas.openxmlformats.org/officeDocument/2006/relationships/slide" Target="slides/slide4.xml"/><Relationship Id="rId61" Type="http://schemas.openxmlformats.org/officeDocument/2006/relationships/font" Target="fonts/font1.fntdata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font" Target="fonts/font4.fntdata"/><Relationship Id="rId69" Type="http://schemas.openxmlformats.org/officeDocument/2006/relationships/font" Target="fonts/font9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7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font" Target="fonts/font2.fntdata"/><Relationship Id="rId7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65" Type="http://schemas.openxmlformats.org/officeDocument/2006/relationships/font" Target="fonts/font5.fntdata"/><Relationship Id="rId73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  <a:defRPr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None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61" name="Google Shape;16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80" name="Google Shape;18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4eb6b47ed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6" name="Google Shape;196;ge4eb6b47ed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3825" lvl="0" indent="0" algn="just">
              <a:lnSpc>
                <a:spcPct val="150000"/>
              </a:lnSpc>
              <a:spcBef>
                <a:spcPts val="0"/>
              </a:spcBef>
              <a:buClr>
                <a:srgbClr val="282829"/>
              </a:buClr>
              <a:buSzPts val="1650"/>
              <a:buFont typeface="Roboto" panose="02000000000000000000"/>
              <a:buNone/>
            </a:pPr>
            <a:endParaRPr lang="en-US" sz="1200">
              <a:solidFill>
                <a:srgbClr val="282829"/>
              </a:solidFill>
              <a:latin typeface="Bookman Old Style" panose="02050604050505020204" pitchFamily="18" charset="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7" name="Google Shape;197;ge4eb6b47ed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">
          <a:extLst>
            <a:ext uri="{FF2B5EF4-FFF2-40B4-BE49-F238E27FC236}">
              <a16:creationId xmlns:a16="http://schemas.microsoft.com/office/drawing/2014/main" id="{6B57A078-D5B7-4D1B-8ED7-4AD932963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e4eb6b47ed_0_0:notes">
            <a:extLst>
              <a:ext uri="{FF2B5EF4-FFF2-40B4-BE49-F238E27FC236}">
                <a16:creationId xmlns:a16="http://schemas.microsoft.com/office/drawing/2014/main" id="{30B1CB2D-C185-7433-8479-FE05A8343DB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  <p:sp>
        <p:nvSpPr>
          <p:cNvPr id="196" name="Google Shape;196;ge4eb6b47ed_0_0:notes">
            <a:extLst>
              <a:ext uri="{FF2B5EF4-FFF2-40B4-BE49-F238E27FC236}">
                <a16:creationId xmlns:a16="http://schemas.microsoft.com/office/drawing/2014/main" id="{3E7D7E9A-4ACD-FDCD-0CFC-7E8A04D439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123825" lvl="0" indent="0" algn="just">
              <a:lnSpc>
                <a:spcPct val="150000"/>
              </a:lnSpc>
              <a:spcBef>
                <a:spcPts val="0"/>
              </a:spcBef>
              <a:buClr>
                <a:srgbClr val="282829"/>
              </a:buClr>
              <a:buSzPts val="1650"/>
              <a:buFont typeface="Roboto" panose="02000000000000000000"/>
              <a:buNone/>
            </a:pPr>
            <a:endParaRPr lang="en-US" sz="1200">
              <a:solidFill>
                <a:srgbClr val="282829"/>
              </a:solidFill>
              <a:latin typeface="Bookman Old Style" panose="02050604050505020204" pitchFamily="18" charset="0"/>
              <a:ea typeface="Roboto" panose="02000000000000000000"/>
              <a:cs typeface="Roboto" panose="02000000000000000000"/>
              <a:sym typeface="Roboto" panose="02000000000000000000"/>
            </a:endParaRPr>
          </a:p>
        </p:txBody>
      </p:sp>
      <p:sp>
        <p:nvSpPr>
          <p:cNvPr id="197" name="Google Shape;197;ge4eb6b47ed_0_0:notes">
            <a:extLst>
              <a:ext uri="{FF2B5EF4-FFF2-40B4-BE49-F238E27FC236}">
                <a16:creationId xmlns:a16="http://schemas.microsoft.com/office/drawing/2014/main" id="{CD55492D-DE67-73B5-90EF-16DA5B2FF929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789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F73AFDEE-2977-0FF1-5323-18CF6DDA0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34CC0E26-E736-B20B-676C-A5441EFF49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46858609-3A5D-6E95-F18A-77681CB5CA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44795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1645473A-7CE0-542D-B50E-1E6F42F98A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1E342D37-79F8-11B7-8E33-12540755D4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5742C87C-2A99-64C9-F183-DB8C94EF31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32722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85B4A440-04D7-C12C-503A-FC6087C6DF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B3917E5A-0C52-3948-BE66-C17B3C249E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6EFD956D-A5C7-6474-32AF-A63786A4CE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97026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9C643ACF-5105-68CA-9806-C211EBFB65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97FCE1D2-358B-E464-06CE-AAEABB217E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18651B87-6312-1EAD-A7D1-43DB4AB08C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13687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3A5B70E0-9A5A-A208-50C7-1C7D254A7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1EA2215F-167A-408F-2EC7-F018EF370B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EAEE2D8F-975B-7B9E-DE5B-32C6DF6D72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496620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>
          <a:extLst>
            <a:ext uri="{FF2B5EF4-FFF2-40B4-BE49-F238E27FC236}">
              <a16:creationId xmlns:a16="http://schemas.microsoft.com/office/drawing/2014/main" id="{BE0D6DAC-A014-66D9-5901-D08273BAA8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4:notes">
            <a:extLst>
              <a:ext uri="{FF2B5EF4-FFF2-40B4-BE49-F238E27FC236}">
                <a16:creationId xmlns:a16="http://schemas.microsoft.com/office/drawing/2014/main" id="{4D1149C2-E26A-26D1-BBC7-27AD2FF8E0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4:notes">
            <a:extLst>
              <a:ext uri="{FF2B5EF4-FFF2-40B4-BE49-F238E27FC236}">
                <a16:creationId xmlns:a16="http://schemas.microsoft.com/office/drawing/2014/main" id="{390D51E5-567E-9305-D943-92DB341C3FB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551729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4316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262" name="Google Shape;26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 panose="020B0604020202020204"/>
              <a:buNone/>
            </a:pPr>
            <a:fld id="{00000000-1234-1234-1234-123412341234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846741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C5BF3A69-ABD3-8049-1206-8D6C1CBD0D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4A3C5E50-4FB1-BD02-3AFC-65DBB975952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26EDB4EC-C14A-871F-C82E-94F0DA6AA5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15834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845D557B-ADB5-9B89-AA24-DBF5F81F5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6E69573B-AFD9-E712-1035-13705962C6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D55A8F71-1923-5A11-E28B-C579F44F11C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922909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95DD07F4-EE45-9CD4-D1EB-956566E625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E45732DB-76E7-53BE-FA18-50FA7F402B1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2ACABF28-4470-3F89-DE0F-C94C41A2E2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2873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>
          <a:extLst>
            <a:ext uri="{FF2B5EF4-FFF2-40B4-BE49-F238E27FC236}">
              <a16:creationId xmlns:a16="http://schemas.microsoft.com/office/drawing/2014/main" id="{02815763-39BD-303E-41E8-978693E900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6:notes">
            <a:extLst>
              <a:ext uri="{FF2B5EF4-FFF2-40B4-BE49-F238E27FC236}">
                <a16:creationId xmlns:a16="http://schemas.microsoft.com/office/drawing/2014/main" id="{58AFB343-5921-BE22-EF53-A0F35B56D3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p16:notes">
            <a:extLst>
              <a:ext uri="{FF2B5EF4-FFF2-40B4-BE49-F238E27FC236}">
                <a16:creationId xmlns:a16="http://schemas.microsoft.com/office/drawing/2014/main" id="{CA3A4183-392E-0539-0FB5-CBE54F71421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321598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3106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D3EFF474-16E9-3503-B735-85C4E4EAB7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718DB4CB-0699-D85D-DE5B-229EE83DA7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7DB6CC5C-4ED0-72E6-864F-10397ABF6D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49614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55BA602E-2DA7-385C-093E-6530DED181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7EA14F48-6940-DB9D-DF5D-673E1B8BDF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9BF67125-3CDD-F7DB-B214-01E2DF786D3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868907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56B681B1-26DE-9CA9-C9DE-ACE176012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FEEDAA7-257E-E2C9-F265-1D72B15D42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A6761353-5CA3-0891-14EE-E41EE63DBAC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39308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21726D72-41A2-F989-7BB7-FCCBA55F6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4607599D-8708-B6D7-0805-8C9E140227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8E9B9AE1-8623-A819-1B69-3EDADC24DE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144392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05618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BFC23AFA-F207-0AC8-64D4-2CB1633DDF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F7F203C2-A1FE-E9AC-E19C-1F608521EE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9A66E96-681B-FCB7-231E-2C2CB61AC6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7740539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CD03C91E-D019-9F9C-7B07-D96C354166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35B72364-5761-605B-DB62-6C84D442A5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9C017210-A2DE-9E59-DD53-AB4C85995F5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586728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97EB8949-ADD2-B624-D7F9-4F281C987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88AC6E15-E9FF-EEB3-588C-48196D93978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26106019-3B03-18B6-0F77-CE580D1447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636367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2B4D28A9-2733-2610-8CFE-5E08759313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AF38CF82-C924-F5D4-3F97-53368E4BD2F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3B2EDB8C-D31D-6F0F-F36A-AFE20E234C4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924155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51FD2E01-BB32-0CE6-2F73-0AF6A282B0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DDFA1339-D40D-06F5-1199-4957F2197D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4D6E72-853F-A5BF-ED42-FE46E15ECD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058616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3EBEF0CE-ED64-5163-FDA6-219ED64079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B2438F0-54D8-0332-AE25-C56DAE9E12E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B112B32-47C3-8191-BEA6-62A6714F255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80631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C044A64C-6011-605F-1271-1880D2823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B46F16CF-24C8-5C90-9095-606A26E696C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676F7C01-1ED7-C9E0-3F63-A509921110E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6695127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0D015C0C-4BF6-BCB1-666C-CBE09E2A9C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4436676F-7C19-16CF-19EE-C64D2DFED8D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EDD7910E-9AF8-93DE-B200-BE78E89A4E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3733408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746ACA3B-C9E6-A8B8-58F1-2F5F1D35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53B9D2F-E111-7CF6-9D83-D6D9B25B3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24C442-7103-6328-4369-95F065795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1048239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746ACA3B-C9E6-A8B8-58F1-2F5F1D35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53B9D2F-E111-7CF6-9D83-D6D9B25B3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24C442-7103-6328-4369-95F065795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923774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746ACA3B-C9E6-A8B8-58F1-2F5F1D35C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53B9D2F-E111-7CF6-9D83-D6D9B25B344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424C442-7103-6328-4369-95F065795F2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8746123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1199629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794170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380281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7692984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1506100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2491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165097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2871129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A851EE2D-EFBF-A32C-7855-2CC6237A3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14A6F10-3CD2-24C7-7CFE-E1A2BC864E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9239FB6-5C97-B770-58C6-CD65C483FC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2492016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E2584054-C801-8605-ECB3-0C8944F39D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D0798131-D78D-6B85-585E-F8A7F312910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5372A3A2-224A-D5A7-DA39-34E328B9EB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072915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480064F7-F877-7EF4-F7E5-3BF633A1B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5A440D2B-1A2D-D193-4843-01CA549DD4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DBEF1D72-62F0-39BB-3AF8-BBAD168E33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521289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6C5477AD-4BBB-DDBD-DB43-D7071D218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0D2A257-3D11-1321-B849-6A9018A1E2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BDC04CDC-0DBE-7E9F-BEEB-D37503371A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7130480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BD81F02F-D031-100E-7AF2-AA698D91F9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1B94B8CC-6348-DD45-7553-3DF8E2AE9EE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9BED199B-51D1-BB82-177B-603D754EE8F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009659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B3C2718B-BA11-DE7A-EA5B-209383557E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A82AD11-DEFB-7FA0-9723-222A0CE64AB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038B14BB-859E-8ED5-46FC-FE9D5AC399E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7459574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C5E5B140-EBB1-DEDD-28FC-FA09B40A63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E4FBB25B-2C85-548E-4CBA-FAB3AF89E81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43CEBA48-8941-F8C1-4A9B-9E3567BDEC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6641482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2321754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EDBEC433-DABE-B929-FCE9-7DFC8A86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31F0E661-68E2-E832-7AD4-9242CF39C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3AA9F669-43F1-37B1-951B-A3DFB3832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478027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EDBEC433-DABE-B929-FCE9-7DFC8A861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31F0E661-68E2-E832-7AD4-9242CF39CA1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3AA9F669-43F1-37B1-951B-A3DFB3832E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2889915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>
          <a:extLst>
            <a:ext uri="{FF2B5EF4-FFF2-40B4-BE49-F238E27FC236}">
              <a16:creationId xmlns:a16="http://schemas.microsoft.com/office/drawing/2014/main" id="{4D903DC0-B241-C4F3-219B-781F9FB54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>
            <a:extLst>
              <a:ext uri="{FF2B5EF4-FFF2-40B4-BE49-F238E27FC236}">
                <a16:creationId xmlns:a16="http://schemas.microsoft.com/office/drawing/2014/main" id="{BC578A51-AA93-CA50-1016-C6AB6794A0B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>
            <a:extLst>
              <a:ext uri="{FF2B5EF4-FFF2-40B4-BE49-F238E27FC236}">
                <a16:creationId xmlns:a16="http://schemas.microsoft.com/office/drawing/2014/main" id="{A7A43CF6-DF40-6C9F-FBAD-FD2EA1BF9A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6027076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4" name="Google Shape;1254;p1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55" name="Google Shape;1255;p1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6216769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08DCC375-6620-C469-891E-47295AAC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3:notes">
            <a:extLst>
              <a:ext uri="{FF2B5EF4-FFF2-40B4-BE49-F238E27FC236}">
                <a16:creationId xmlns:a16="http://schemas.microsoft.com/office/drawing/2014/main" id="{F10B216C-16FF-B234-B6F4-140932660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103:notes">
            <a:extLst>
              <a:ext uri="{FF2B5EF4-FFF2-40B4-BE49-F238E27FC236}">
                <a16:creationId xmlns:a16="http://schemas.microsoft.com/office/drawing/2014/main" id="{EF3B8943-91D3-976A-DE08-B11C5C6B3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786446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9">
          <a:extLst>
            <a:ext uri="{FF2B5EF4-FFF2-40B4-BE49-F238E27FC236}">
              <a16:creationId xmlns:a16="http://schemas.microsoft.com/office/drawing/2014/main" id="{08DCC375-6620-C469-891E-47295AACF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0" name="Google Shape;1270;p103:notes">
            <a:extLst>
              <a:ext uri="{FF2B5EF4-FFF2-40B4-BE49-F238E27FC236}">
                <a16:creationId xmlns:a16="http://schemas.microsoft.com/office/drawing/2014/main" id="{F10B216C-16FF-B234-B6F4-1409326604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1" name="Google Shape;1271;p103:notes">
            <a:extLst>
              <a:ext uri="{FF2B5EF4-FFF2-40B4-BE49-F238E27FC236}">
                <a16:creationId xmlns:a16="http://schemas.microsoft.com/office/drawing/2014/main" id="{EF3B8943-91D3-976A-DE08-B11C5C6B3C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644350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2" name="Google Shape;1302;p1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3" name="Google Shape;1303;p1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180F06-E0DC-4EE3-87CC-13EFD3DCF758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F056A-0A36-494E-84D6-50EC59491478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6D6E94-A030-4F2D-8286-532CD28C210A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6D2D96-FE9E-4CBC-A309-E2C2C2450135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9FBEAD-D86A-4836-BDB4-62AE0F8E0709}" type="datetime1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95D39-D238-46EF-B717-94094E26B03F}" type="datetime1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C0506-8C72-4281-B7DE-64218323E3AD}" type="datetime1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90B300-98E9-4547-8EAF-4F6636ED984E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416B01-9D9E-4E38-A7AB-774CFF697F4B}" type="datetime1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E01AD6-9AAC-452E-AB6B-E37F410EF9E4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24E06F-904B-463E-90EC-981B753D1E01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416B01-9D9E-4E38-A7AB-774CFF697F4B}" type="datetime1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  <p:hf hdr="0" ftr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4" Type="http://schemas.openxmlformats.org/officeDocument/2006/relationships/image" Target="../media/image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microsoft.com/office/2007/relationships/hdphoto" Target="../media/hdphoto2.wdp"/><Relationship Id="rId5" Type="http://schemas.openxmlformats.org/officeDocument/2006/relationships/image" Target="../media/image13.png"/><Relationship Id="rId4" Type="http://schemas.microsoft.com/office/2007/relationships/hdphoto" Target="../media/hdphoto1.wdp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microsoft.com/office/2007/relationships/hdphoto" Target="../media/hdphoto4.wdp"/><Relationship Id="rId5" Type="http://schemas.openxmlformats.org/officeDocument/2006/relationships/image" Target="../media/image15.png"/><Relationship Id="rId4" Type="http://schemas.microsoft.com/office/2007/relationships/hdphoto" Target="../media/hdphoto3.wdp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Relationship Id="rId4" Type="http://schemas.microsoft.com/office/2007/relationships/hdphoto" Target="../media/hdphoto5.wdp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4" Type="http://schemas.microsoft.com/office/2007/relationships/hdphoto" Target="../media/hdphoto6.wdp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microsoft.com/office/2007/relationships/hdphoto" Target="../media/hdphoto8.wdp"/><Relationship Id="rId5" Type="http://schemas.openxmlformats.org/officeDocument/2006/relationships/image" Target="../media/image19.png"/><Relationship Id="rId4" Type="http://schemas.microsoft.com/office/2007/relationships/hdphoto" Target="../media/hdphoto7.wdp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microsoft.com/office/2007/relationships/hdphoto" Target="../media/hdphoto9.wdp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Relationship Id="rId4" Type="http://schemas.microsoft.com/office/2007/relationships/hdphoto" Target="../media/hdphoto10.wdp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kaggle.com/datasets/arjunsudheer326/tomato-plant-stages-dataset" TargetMode="External"/><Relationship Id="rId3" Type="http://schemas.openxmlformats.org/officeDocument/2006/relationships/hyperlink" Target="https://www.kaggle.com/datasets/arjuntejaswi/plant-village" TargetMode="External"/><Relationship Id="rId7" Type="http://schemas.openxmlformats.org/officeDocument/2006/relationships/hyperlink" Target="https://data.mendeley.com/datasets/8h3s6jkyff/1" TargetMode="External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kaggle.com/datasets/jawadulkarim117/tomato-flower-3-class" TargetMode="External"/><Relationship Id="rId5" Type="http://schemas.openxmlformats.org/officeDocument/2006/relationships/hyperlink" Target="https://data.mendeley.com/datasets/c2x8rynybg/1" TargetMode="External"/><Relationship Id="rId4" Type="http://schemas.openxmlformats.org/officeDocument/2006/relationships/hyperlink" Target="https://www.kaggle.com/datasets/adilshamim8/greenhouse-plant-growth-metrics" TargetMode="Externa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"/>
          <p:cNvSpPr/>
          <p:nvPr/>
        </p:nvSpPr>
        <p:spPr>
          <a:xfrm>
            <a:off x="544512" y="1543905"/>
            <a:ext cx="7970838" cy="1179513"/>
          </a:xfrm>
          <a:prstGeom prst="roundRect">
            <a:avLst>
              <a:gd name="adj" fmla="val 50000"/>
            </a:avLst>
          </a:prstGeom>
          <a:noFill/>
          <a:ln w="25400" cap="flat" cmpd="sng">
            <a:solidFill>
              <a:srgbClr val="31859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/>
            <a:r>
              <a:rPr lang="en-US" sz="2400" b="1" dirty="0">
                <a:solidFill>
                  <a:srgbClr val="006600"/>
                </a:solidFill>
                <a:latin typeface="Algerian" panose="04020705040A02060702" pitchFamily="82" charset="0"/>
                <a:cs typeface="Times New Roman"/>
                <a:sym typeface="Times New Roman" panose="02020603050405020304"/>
              </a:rPr>
              <a:t>AGRITWIN-GH: AGRICULTURAL DIGITAL TWIN FOR SMART GREENHOUSE HORTICULTURE OF TOMATO CULTIVATION</a:t>
            </a:r>
            <a:endParaRPr lang="en-US" sz="2400" dirty="0">
              <a:solidFill>
                <a:srgbClr val="006600"/>
              </a:solidFill>
              <a:latin typeface="Algerian" panose="04020705040A02060702" pitchFamily="82" charset="0"/>
              <a:sym typeface="Times New Roman" panose="02020603050405020304"/>
            </a:endParaRPr>
          </a:p>
        </p:txBody>
      </p:sp>
      <p:sp>
        <p:nvSpPr>
          <p:cNvPr id="164" name="Google Shape;164;p1"/>
          <p:cNvSpPr txBox="1">
            <a:spLocks noGrp="1"/>
          </p:cNvSpPr>
          <p:nvPr>
            <p:ph type="subTitle" idx="1"/>
          </p:nvPr>
        </p:nvSpPr>
        <p:spPr>
          <a:xfrm>
            <a:off x="0" y="3036656"/>
            <a:ext cx="9144000" cy="21703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Under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the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Supervision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200" b="1" i="1" dirty="0">
                <a:solidFill>
                  <a:srgbClr val="006600"/>
                </a:solidFill>
                <a:latin typeface="Time New Roman"/>
                <a:cs typeface="Arial" panose="020B0604020202020204"/>
                <a:sym typeface="Times New Roman" panose="02020603050405020304"/>
              </a:rPr>
              <a:t>of</a:t>
            </a:r>
            <a:endParaRPr lang="en-US" sz="2200" b="1" i="1" dirty="0">
              <a:solidFill>
                <a:srgbClr val="006600"/>
              </a:solidFill>
              <a:latin typeface="Time New Roman"/>
              <a:cs typeface="Arial" panose="020B0604020202020204"/>
              <a:sym typeface="Arial" panose="020B0604020202020204"/>
            </a:endParaRPr>
          </a:p>
          <a:p>
            <a:pPr marL="0" lvl="0" indent="0" rtl="0">
              <a:lnSpc>
                <a:spcPct val="6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endParaRPr lang="en-US" sz="2100" b="1" i="1" dirty="0">
              <a:solidFill>
                <a:srgbClr val="006600"/>
              </a:solidFill>
              <a:latin typeface="Time New Roman"/>
              <a:ea typeface="Times New Roman" panose="02020603050405020304"/>
              <a:cs typeface="Arial" panose="020B0604020202020204"/>
              <a:sym typeface="Arial" panose="020B0604020202020204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Dr. V.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Govindasamy</a:t>
            </a:r>
            <a:endParaRPr lang="en-US" sz="2000" dirty="0">
              <a:sym typeface="Times New Roman" panose="02020603050405020304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Professor</a:t>
            </a: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IN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Department of Information Technology</a:t>
            </a:r>
            <a:endParaRPr lang="en-IN" sz="2000" dirty="0">
              <a:ea typeface="Times New Roman" panose="02020603050405020304"/>
              <a:sym typeface="Times New Roman" panose="02020603050405020304"/>
            </a:endParaRPr>
          </a:p>
          <a:p>
            <a:pPr marL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830DB"/>
              </a:buClr>
              <a:buSzPts val="2100"/>
              <a:buNone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Puducherry Technological University</a:t>
            </a:r>
            <a:endParaRPr sz="20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654" y="63171"/>
            <a:ext cx="1170533" cy="1377815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1489187" y="63171"/>
            <a:ext cx="7571303" cy="11387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36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Puducherry Technological University</a:t>
            </a:r>
          </a:p>
          <a:p>
            <a:r>
              <a:rPr lang="en-IN" sz="32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solidFill>
                  <a:srgbClr val="FF0000"/>
                </a:solid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Times New Roman" panose="02020603050405020304"/>
                <a:cs typeface="Times New Roman" panose="02020603050405020304"/>
              </a:rPr>
              <a:t>   Department of Information Technology</a:t>
            </a:r>
            <a:endParaRPr lang="en-US" sz="32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solidFill>
                <a:srgbClr val="FF0000"/>
              </a:solid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698231" y="5405026"/>
            <a:ext cx="6357256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Project By,</a:t>
            </a:r>
          </a:p>
          <a:p>
            <a:pPr lvl="0" algn="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Mr. Arjun Christopher S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(Reg No : 2201112007)</a:t>
            </a:r>
          </a:p>
          <a:p>
            <a:pPr algn="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Miss.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Bhuvanalakshmi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J P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(Reg No : 2201112009)</a:t>
            </a:r>
            <a:endParaRPr lang="en-US" sz="2000" b="1" dirty="0"/>
          </a:p>
          <a:p>
            <a:pPr algn="r">
              <a:buClr>
                <a:schemeClr val="dk1"/>
              </a:buClr>
              <a:buSzPts val="2000"/>
            </a:pP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Miss. </a:t>
            </a:r>
            <a:r>
              <a:rPr lang="en-US" sz="2000" b="1" dirty="0" err="1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Vantapati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Raja Rajeswari </a:t>
            </a:r>
            <a:r>
              <a:rPr lang="en-US" sz="2000" b="1" dirty="0">
                <a:solidFill>
                  <a:schemeClr val="dk1"/>
                </a:solidFill>
                <a:latin typeface="Times New Roman" panose="02020603050405020304"/>
                <a:cs typeface="Times New Roman" panose="02020603050405020304"/>
                <a:sym typeface="Times New Roman" panose="02020603050405020304"/>
              </a:rPr>
              <a:t>(Reg No : 2201112052)</a:t>
            </a:r>
            <a:endParaRPr lang="en-US" sz="2000" b="1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17532E-E912-A84C-4B5A-7F99DA77D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"/>
          <p:cNvSpPr txBox="1">
            <a:spLocks noGrp="1"/>
          </p:cNvSpPr>
          <p:nvPr>
            <p:ph type="title"/>
          </p:nvPr>
        </p:nvSpPr>
        <p:spPr>
          <a:xfrm>
            <a:off x="0" y="-72309"/>
            <a:ext cx="9143998" cy="645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Agenda</a:t>
            </a:r>
            <a:endParaRPr sz="2800" b="1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5" name="Google Shape;185;p3"/>
          <p:cNvSpPr txBox="1">
            <a:spLocks noGrp="1"/>
          </p:cNvSpPr>
          <p:nvPr>
            <p:ph idx="1"/>
          </p:nvPr>
        </p:nvSpPr>
        <p:spPr>
          <a:xfrm>
            <a:off x="-1" y="527298"/>
            <a:ext cx="9143999" cy="5180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Abstract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Introduction to </a:t>
            </a:r>
            <a:r>
              <a:rPr lang="en-IN" sz="1600" kern="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Digital Twin–based Greenhouse Management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Overview of Techniques,  Algorithms and Simulation Used 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Literature Survey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Inference from Literature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Proposed </a:t>
            </a:r>
            <a:r>
              <a:rPr lang="en-IN" sz="16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-GH System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System Architecture of </a:t>
            </a:r>
            <a:r>
              <a:rPr lang="en-IN" sz="16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-GH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Project Modules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811530" lvl="1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Module</a:t>
            </a: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 1: Data Processing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 and AI-Based Crop Intelligence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811530" lvl="1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Module</a:t>
            </a: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 2: Predictive Analytics and Crop Health Forecasting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811530" lvl="1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q"/>
            </a:pP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Module 3: Digital Twin Simulation and Intelligent Greenhouse Control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Results</a:t>
            </a:r>
            <a:r>
              <a:rPr lang="en-IN" sz="1600" dirty="0">
                <a:latin typeface="Times New Roman"/>
                <a:ea typeface="+mn-lt"/>
                <a:cs typeface="Times New Roman"/>
              </a:rPr>
              <a:t> and Performance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Comparison with Existing Systems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Conclusion with Future Work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Datasets Used</a:t>
            </a:r>
          </a:p>
          <a:p>
            <a:pPr marL="468630" indent="-285750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ts val="2100"/>
              <a:buFont typeface="Wingdings" panose="05000000000000000000" pitchFamily="2" charset="2"/>
              <a:buChar char="v"/>
            </a:pPr>
            <a:r>
              <a:rPr lang="en-IN" sz="1600" dirty="0">
                <a:latin typeface="Times New Roman"/>
                <a:ea typeface="+mn-lt"/>
                <a:cs typeface="Times New Roman"/>
              </a:rPr>
              <a:t>References</a:t>
            </a:r>
            <a:endParaRPr lang="en-US" sz="1600" dirty="0">
              <a:latin typeface="Times New Roman"/>
              <a:ea typeface="+mn-lt"/>
              <a:cs typeface="Times New Roman"/>
            </a:endParaRPr>
          </a:p>
        </p:txBody>
      </p:sp>
      <p:cxnSp>
        <p:nvCxnSpPr>
          <p:cNvPr id="6" name="Google Shape;436;p31"/>
          <p:cNvCxnSpPr/>
          <p:nvPr/>
        </p:nvCxnSpPr>
        <p:spPr>
          <a:xfrm>
            <a:off x="0" y="52729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0CE9F4D-64F9-12C4-FB4C-CC5E7AD2529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A7E98E-7E01-5AC5-83C3-BA0AAE4CC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e4eb6b47ed_0_0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856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  <a:buClr>
                <a:srgbClr val="000000"/>
              </a:buClr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Abstract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Arial" panose="020B0604020202020204"/>
            </a:endParaRPr>
          </a:p>
        </p:txBody>
      </p:sp>
      <p:sp>
        <p:nvSpPr>
          <p:cNvPr id="200" name="Google Shape;200;ge4eb6b47ed_0_0"/>
          <p:cNvSpPr txBox="1">
            <a:spLocks noGrp="1"/>
          </p:cNvSpPr>
          <p:nvPr>
            <p:ph idx="1"/>
          </p:nvPr>
        </p:nvSpPr>
        <p:spPr>
          <a:xfrm>
            <a:off x="124754" y="708561"/>
            <a:ext cx="8894492" cy="5846232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Greenhouse cultivation of high-value crops such as tomatoes faces challenges including environmental variability, delayed disease detection, inefficient resource usage, and reliance on reactive decision-making.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AgriTwin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-GH is proposed as a software-based, AI-driven digital twin framework that integrates environmental modeling with plant health analysis for continuous monitoring and predictive decision support.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open-source datasets and plant image data, enabling a sensor-independent and scalable solution suitable for resource-constrained environments.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Deep learning models based on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EfficientNet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used for crop growth stage classification and disease detection, achieving accuracies of 98.61% and 98.23%, respectively. 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prediction, a hybrid weather forecasting approach integrates transformer-based Chronos-T5,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LSTM models to capture both long-term patterns and short-term variations, improving accuracy. 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also includes a digital twin simulation layer combined with Model Predictive Control (MPC), which uses data-driven greenhouse models to simulate future conditions and optimize control actions while considering resource usage and disease risk. A web-based interface and 3D visualization provide real-time insights.</a:t>
            </a:r>
          </a:p>
        </p:txBody>
      </p:sp>
      <p:cxnSp>
        <p:nvCxnSpPr>
          <p:cNvPr id="9" name="Google Shape;436;p31"/>
          <p:cNvCxnSpPr/>
          <p:nvPr/>
        </p:nvCxnSpPr>
        <p:spPr>
          <a:xfrm>
            <a:off x="0" y="69638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F261BDF7-A2F4-1E1D-A188-938BF621285B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471EC0A-EF7F-820D-AB80-5FD585EB10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</a:t>
            </a:fld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>
          <a:extLst>
            <a:ext uri="{FF2B5EF4-FFF2-40B4-BE49-F238E27FC236}">
              <a16:creationId xmlns:a16="http://schemas.microsoft.com/office/drawing/2014/main" id="{4368D4C8-9A31-05E2-DDA1-5179FAB7A4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e4eb6b47ed_0_0">
            <a:extLst>
              <a:ext uri="{FF2B5EF4-FFF2-40B4-BE49-F238E27FC236}">
                <a16:creationId xmlns:a16="http://schemas.microsoft.com/office/drawing/2014/main" id="{D4DC1B67-BAD9-C69B-957C-0F06F5BE0F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08561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+mj-lt"/>
                <a:cs typeface="+mj-lt"/>
              </a:rPr>
              <a:t>Introduction to </a:t>
            </a:r>
            <a:r>
              <a:rPr lang="en-IN" sz="2800" b="1" kern="0" dirty="0">
                <a:solidFill>
                  <a:srgbClr val="006600"/>
                </a:solidFill>
                <a:effectLst/>
                <a:latin typeface="Bookman Old Style" panose="02050604050505020204" pitchFamily="18" charset="0"/>
                <a:ea typeface="Times New Roman" panose="02020603050405020304" pitchFamily="18" charset="0"/>
              </a:rPr>
              <a:t>Digital Twin–based Greenhouse Management</a:t>
            </a:r>
            <a:endParaRPr lang="en-US" sz="2800" b="1" dirty="0">
              <a:solidFill>
                <a:srgbClr val="006600"/>
              </a:solidFill>
              <a:latin typeface="Bookman Old Style" panose="02050604050505020204" pitchFamily="18" charset="0"/>
            </a:endParaRPr>
          </a:p>
        </p:txBody>
      </p:sp>
      <p:sp>
        <p:nvSpPr>
          <p:cNvPr id="200" name="Google Shape;200;ge4eb6b47ed_0_0">
            <a:extLst>
              <a:ext uri="{FF2B5EF4-FFF2-40B4-BE49-F238E27FC236}">
                <a16:creationId xmlns:a16="http://schemas.microsoft.com/office/drawing/2014/main" id="{11420F64-1395-945B-3430-6814D22C8E0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4754" y="1206498"/>
            <a:ext cx="8894492" cy="5332415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Digital Twin technology enables the creation of a virtual representation of a physical greenhouse system that mirrors real-world behavior using continuous data updates.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integrates data acquisition, system modeling, and intelligent analytics to monitor current conditions, predict future states, and support decision-making.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In greenhouse environments, the digital twin models critical parameters such as temperature, humidity, light intensity, CO₂ levels, irrigation, and nutrient conditions.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Traditional greenhouse systems rely on reactive control and manual observation, leading to delayed responses, inefficient resource usage, and reduced productivity.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Digital Twin–based systems overcome these limitations by enabling predictive analysis and proactive management of environmental conditions and crop health.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forms a closed-loop system where real-time data is continuously processed, analyzed, and used to generate optimized control actions.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The integration of digital twin technology in greenhouse management improves decision accuracy, resource efficiency, and overall sustainability.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9" name="Google Shape;436;p31">
            <a:extLst>
              <a:ext uri="{FF2B5EF4-FFF2-40B4-BE49-F238E27FC236}">
                <a16:creationId xmlns:a16="http://schemas.microsoft.com/office/drawing/2014/main" id="{37C9CAF0-F56A-EB81-2042-FD41F6BB9C5B}"/>
              </a:ext>
            </a:extLst>
          </p:cNvPr>
          <p:cNvCxnSpPr/>
          <p:nvPr/>
        </p:nvCxnSpPr>
        <p:spPr>
          <a:xfrm>
            <a:off x="0" y="80131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BBFC3008-297A-EDA3-0480-759B298B04D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BCB2066-FE04-38F4-6F0F-CE60A867D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12339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9BBE7B25-1F8F-E905-5988-3F4A5E74B1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02F68282-8FB9-9A6B-DAEE-2D6E6B6E07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E02174C-B627-E4E1-B397-F6DC979160BA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5D91B034-EF6B-17E4-4C36-E189A3BF532D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2CA452EB-167F-45F2-28F6-3668EA477C7C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04AC0468-2400-FAAE-F19D-44054968FEC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Arial" panose="020B0604020202020204"/>
              <a:buNone/>
            </a:pPr>
            <a:r>
              <a:rPr lang="en-US" sz="1200">
                <a:solidFill>
                  <a:srgbClr val="888888"/>
                </a:solidFill>
              </a:rPr>
              <a:t>17</a:t>
            </a:r>
            <a:r>
              <a:rPr lang="en-US" sz="1200" b="0" i="0" u="none" strike="noStrike" cap="none">
                <a:solidFill>
                  <a:srgbClr val="888888"/>
                </a:solidFill>
                <a:latin typeface="Arial" panose="020B0604020202020204"/>
                <a:cs typeface="Arial" panose="020B0604020202020204"/>
                <a:sym typeface="Arial" panose="020B0604020202020204"/>
              </a:rPr>
              <a:t>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6E2566-ACD1-C3C9-3056-22E3E8DB9B27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5163FFB-9A8C-EB43-9547-69290C740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</a:t>
            </a:fld>
            <a:endParaRPr lang="en-US"/>
          </a:p>
        </p:txBody>
      </p:sp>
      <p:sp>
        <p:nvSpPr>
          <p:cNvPr id="9" name="Google Shape;200;ge4eb6b47ed_0_0">
            <a:extLst>
              <a:ext uri="{FF2B5EF4-FFF2-40B4-BE49-F238E27FC236}">
                <a16:creationId xmlns:a16="http://schemas.microsoft.com/office/drawing/2014/main" id="{572D2AFC-F192-8FA9-7DA0-9DD8C93FF10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24754" y="750637"/>
            <a:ext cx="8894492" cy="248982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Data Preprocessing &amp; Feature Engineering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Data preprocessing ensures that raw greenhouse datasets are cleaned, structured, and reliable by handling missing values using interpolation techniques and removing noise or outliers through statistical filtering methods.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Feature engineering derives important agronomic indicators such as Vapor Pressure Deficit (VPD) and dew point, which are critical for understanding plant stress, growth conditions, and disease development.</a:t>
            </a:r>
          </a:p>
        </p:txBody>
      </p:sp>
      <p:sp>
        <p:nvSpPr>
          <p:cNvPr id="11" name="Google Shape;200;ge4eb6b47ed_0_0">
            <a:extLst>
              <a:ext uri="{FF2B5EF4-FFF2-40B4-BE49-F238E27FC236}">
                <a16:creationId xmlns:a16="http://schemas.microsoft.com/office/drawing/2014/main" id="{A878DCC8-1477-1A77-2914-56223C7898A9}"/>
              </a:ext>
            </a:extLst>
          </p:cNvPr>
          <p:cNvSpPr txBox="1">
            <a:spLocks/>
          </p:cNvSpPr>
          <p:nvPr/>
        </p:nvSpPr>
        <p:spPr>
          <a:xfrm>
            <a:off x="120070" y="3696657"/>
            <a:ext cx="8899176" cy="2489827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Convolutional Neural Networks (CNN)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 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Convolutional Neural Networks are deep learning architectures designed for image analysis, capable of automatically extracting spatial features such as edges, textures, and patterns from plant images without manual feature engineering.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In this system, CNNs are used for identifying plant diseases and classifying crop growth stages based on visual characteristics, improving accuracy and reducing dependency on manual inspection.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12766802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A5A64CF0-EACE-D283-4A57-9FC96CA607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406C88BD-E08E-7CB9-AB54-0ED772CDE0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53CEDE-6993-24C6-61C4-18DCF46CBFBE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9F85C9AB-6441-FF0A-EA0E-510C6D8F25B2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1FBF6F79-03EB-D604-FC44-F0CADB4C49E2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15774469-EDC7-F136-7E64-9E1468BB566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BF08A1B-0E8E-F9BF-4AD5-A24248B54AB6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F2D1F2-C100-03D8-319D-79A9FE83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sp>
        <p:nvSpPr>
          <p:cNvPr id="9" name="Google Shape;200;ge4eb6b47ed_0_0">
            <a:extLst>
              <a:ext uri="{FF2B5EF4-FFF2-40B4-BE49-F238E27FC236}">
                <a16:creationId xmlns:a16="http://schemas.microsoft.com/office/drawing/2014/main" id="{C1966C2E-B7E8-FA81-48D1-01A9480F7E7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727136"/>
            <a:ext cx="8854354" cy="245063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Transfer Learning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Transfer learning allows the reuse of pre-trained deep learning models trained on large datasets, enabling faster training and improved performance when applied to specific agricultural tasks.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 Instead of building models from scratch, the system fine-tunes learned features from existing models to adapt them to plant image datasets, significantly reducing computational cost and data requirements.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7B22596-D5D3-C1FC-90CC-DBE0745C34B3}"/>
              </a:ext>
            </a:extLst>
          </p:cNvPr>
          <p:cNvSpPr txBox="1"/>
          <p:nvPr/>
        </p:nvSpPr>
        <p:spPr>
          <a:xfrm>
            <a:off x="144823" y="3252592"/>
            <a:ext cx="8854354" cy="282799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 err="1">
                <a:latin typeface="Times New Roman"/>
                <a:cs typeface="Times New Roman"/>
              </a:rPr>
              <a:t>EfficientNet</a:t>
            </a:r>
            <a:r>
              <a:rPr lang="en-US" sz="2000" b="1" dirty="0">
                <a:latin typeface="Times New Roman"/>
                <a:cs typeface="Times New Roman"/>
              </a:rPr>
              <a:t> Architecture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 err="1">
                <a:latin typeface="Times New Roman"/>
                <a:cs typeface="Times New Roman"/>
              </a:rPr>
              <a:t>EfficientNet</a:t>
            </a:r>
            <a:r>
              <a:rPr lang="en-US" sz="2000" dirty="0">
                <a:latin typeface="Times New Roman"/>
                <a:cs typeface="Times New Roman"/>
              </a:rPr>
              <a:t> is an advanced convolutional neural network architecture that achieves high accuracy by balancing network depth, width, and input resolution using a compound scaling method.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provides superior performance compared to traditional CNNs while requiring fewer parameters and computational resources, making it efficient for real-world applications.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In this system, </a:t>
            </a:r>
            <a:r>
              <a:rPr lang="en-US" sz="2000" dirty="0" err="1">
                <a:latin typeface="Times New Roman"/>
                <a:cs typeface="Times New Roman"/>
              </a:rPr>
              <a:t>EfficientNet</a:t>
            </a:r>
            <a:r>
              <a:rPr lang="en-US" sz="2000" dirty="0">
                <a:latin typeface="Times New Roman"/>
                <a:cs typeface="Times New Roman"/>
              </a:rPr>
              <a:t> is used as the backbone model for both growth stage classification and disease detection, enabling precise and reliable image-based predictions.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30292792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20F37BB4-435C-8D07-0BC6-F38B15F284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9CC7A889-2FB8-5321-4A09-B4D1F629FB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069A4E-492D-A13A-CADF-961064D8881D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6FF21019-3171-E407-59E5-D3EDDF62DCE4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6C8F5DBD-2827-BB61-DF1C-F1A83D9577A1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C0CF202C-B894-C66A-EECC-72E6DF930F5D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A41FA49-A981-83BB-5077-6A86C606E006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76F0675-E6E2-7682-B59E-C0F061B24C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7</a:t>
            </a:fld>
            <a:endParaRPr lang="en-US"/>
          </a:p>
        </p:txBody>
      </p:sp>
      <p:sp>
        <p:nvSpPr>
          <p:cNvPr id="9" name="Google Shape;200;ge4eb6b47ed_0_0">
            <a:extLst>
              <a:ext uri="{FF2B5EF4-FFF2-40B4-BE49-F238E27FC236}">
                <a16:creationId xmlns:a16="http://schemas.microsoft.com/office/drawing/2014/main" id="{C9B454FA-5E64-C04C-AA9A-1C9DD88016AE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796290"/>
            <a:ext cx="8854354" cy="2168891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Image Data Augmentation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Image data augmentation artificially increases dataset diversity by applying transformations such as rotation, flipping, scaling, cropping, and brightness adjustments to existing images.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These transformations simulate real-world variations in lighting, orientation, and environmental conditions, helping the model generalize better to unseen data.</a:t>
            </a:r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F1B15372-F6BF-0683-C771-1868B582F141}"/>
              </a:ext>
            </a:extLst>
          </p:cNvPr>
          <p:cNvSpPr txBox="1"/>
          <p:nvPr/>
        </p:nvSpPr>
        <p:spPr>
          <a:xfrm>
            <a:off x="144823" y="2812596"/>
            <a:ext cx="8854354" cy="2168891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Long Short-Term Memory (LSTM)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LSTM is a type of recurrent neural network designed to capture long-term dependencies in sequential data using gated memory mechanisms, making it highly suitable for time-series analysis.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is used to analyze environmental parameters such as temperature, humidity, and VPD over time to predict future greenhouse conditions accurately.</a:t>
            </a:r>
          </a:p>
          <a:p>
            <a:pPr algn="just"/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0" name="Text Box 4">
            <a:extLst>
              <a:ext uri="{FF2B5EF4-FFF2-40B4-BE49-F238E27FC236}">
                <a16:creationId xmlns:a16="http://schemas.microsoft.com/office/drawing/2014/main" id="{42F8F985-8E9F-A1E7-159A-B0ECEF651D69}"/>
              </a:ext>
            </a:extLst>
          </p:cNvPr>
          <p:cNvSpPr txBox="1"/>
          <p:nvPr/>
        </p:nvSpPr>
        <p:spPr>
          <a:xfrm>
            <a:off x="144823" y="4704948"/>
            <a:ext cx="8854354" cy="17601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Ensemble Learning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Ensemble learning combines multiple machine learning models to improve overall predictive performance by reducing variance, bias, and overfitting.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This approach is particularly useful in greenhouse environments where data is dynamic and complex, requiring robust and adaptive modeling.</a:t>
            </a:r>
          </a:p>
          <a:p>
            <a:pPr marL="342900" indent="-342900" algn="just">
              <a:buFont typeface="Wingdings" panose="020B0604020202020204"/>
              <a:buChar char="q"/>
            </a:pPr>
            <a:endParaRPr lang="en-US" sz="2000" dirty="0">
              <a:latin typeface="Times New Roman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2520688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60B63403-0685-7BC2-50FF-ECFE19EA51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A13AC9EA-38B9-204F-9018-B8952470A5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046AB9-4D61-884E-6D2B-BF4693BCC413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A81624B0-0334-B314-5D9F-033643CAB2BE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9EDB389E-D47D-7EFB-BB02-393625B9AE0F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78A9BF05-C7C8-13A0-B4D6-FC3E50F6D18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1E31EAC-8129-FBA3-6668-A419FB953E54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00031A-6C76-ED13-82C6-FCA563CD4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8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99BEF089-6EC0-586F-701B-B48882296FDE}"/>
              </a:ext>
            </a:extLst>
          </p:cNvPr>
          <p:cNvSpPr txBox="1"/>
          <p:nvPr/>
        </p:nvSpPr>
        <p:spPr>
          <a:xfrm>
            <a:off x="144823" y="2698691"/>
            <a:ext cx="8854354" cy="200793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Extreme Gradient Boosting (</a:t>
            </a:r>
            <a:r>
              <a:rPr lang="en-US" sz="2000" b="1" dirty="0" err="1">
                <a:latin typeface="Times New Roman"/>
                <a:cs typeface="Times New Roman"/>
              </a:rPr>
              <a:t>XGBoost</a:t>
            </a:r>
            <a:r>
              <a:rPr lang="en-US" sz="2000" b="1" dirty="0">
                <a:latin typeface="Times New Roman"/>
                <a:cs typeface="Times New Roman"/>
              </a:rPr>
              <a:t>)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 err="1">
                <a:latin typeface="Times New Roman"/>
                <a:cs typeface="Times New Roman"/>
              </a:rPr>
              <a:t>XGBoost</a:t>
            </a:r>
            <a:r>
              <a:rPr lang="en-US" sz="2000" dirty="0">
                <a:latin typeface="Times New Roman"/>
                <a:cs typeface="Times New Roman"/>
              </a:rPr>
              <a:t> is a powerful ensemble learning algorithm that uses gradient boosting over decision trees to model complex non-linear relationships in structured environmental data.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processes engineered features such as temperature, humidity, and VPD to generate accurate predictions for environmental conditions and disease risks.</a:t>
            </a:r>
          </a:p>
        </p:txBody>
      </p:sp>
      <p:sp>
        <p:nvSpPr>
          <p:cNvPr id="10" name="Google Shape;200;ge4eb6b47ed_0_0">
            <a:extLst>
              <a:ext uri="{FF2B5EF4-FFF2-40B4-BE49-F238E27FC236}">
                <a16:creationId xmlns:a16="http://schemas.microsoft.com/office/drawing/2014/main" id="{80D1C847-D82C-7220-346A-E7D8FE68F998}"/>
              </a:ext>
            </a:extLst>
          </p:cNvPr>
          <p:cNvSpPr txBox="1">
            <a:spLocks/>
          </p:cNvSpPr>
          <p:nvPr/>
        </p:nvSpPr>
        <p:spPr>
          <a:xfrm>
            <a:off x="144823" y="4634095"/>
            <a:ext cx="8854354" cy="2124590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ClrTx/>
              <a:buFont typeface="Arial" panose="020B0604020202020204" pitchFamily="34" charset="0"/>
              <a:buNone/>
            </a:pPr>
            <a:r>
              <a:rPr lang="en-US" sz="2000" b="1">
                <a:latin typeface="Times New Roman"/>
                <a:ea typeface="+mn-lt"/>
                <a:cs typeface="Times New Roman"/>
              </a:rPr>
              <a:t>Random Forest</a:t>
            </a:r>
            <a:endParaRPr lang="en-US" sz="2000" b="1">
              <a:latin typeface="Times New Roman"/>
              <a:cs typeface="Times New Roman"/>
            </a:endParaRP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>
                <a:latin typeface="Times New Roman"/>
                <a:ea typeface="+mn-lt"/>
                <a:cs typeface="Times New Roman"/>
              </a:rPr>
              <a:t> Random Forest is an ensemble learning technique that builds multiple decision trees and combines their outputs to improve prediction accuracy and reduce overfitting.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>
                <a:latin typeface="Times New Roman"/>
                <a:ea typeface="+mn-lt"/>
                <a:cs typeface="Times New Roman"/>
              </a:rPr>
              <a:t> In this system, it is used for regression and classification tasks within predictive analytics to ensure stable and reliable outputs.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endParaRPr lang="en-US" sz="2000">
              <a:latin typeface="Times New Roman"/>
              <a:ea typeface="Calibri"/>
              <a:cs typeface="Times New Roman"/>
            </a:endParaRPr>
          </a:p>
          <a:p>
            <a:pPr marL="0" indent="0" algn="just">
              <a:buClrTx/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Google Shape;200;ge4eb6b47ed_0_0">
            <a:extLst>
              <a:ext uri="{FF2B5EF4-FFF2-40B4-BE49-F238E27FC236}">
                <a16:creationId xmlns:a16="http://schemas.microsoft.com/office/drawing/2014/main" id="{5FC8BCB5-3D00-BCAF-EB47-E988ADC9CAF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724424"/>
            <a:ext cx="8854354" cy="2195946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Chronos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Chronos is a transformer-based time-series model that captures complex temporal dependencies across multiple environmental variables using pre-trained representations.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It can model non-linear relationships and long-term patterns effectively, making it suitable for forecasting dynamic greenhouse conditions.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1083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E5D0F6D9-C092-AFB2-8BD8-79B373F1F6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63C02CEC-E1E9-991A-8842-FC0D20E686B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A56979-9A4B-428D-CB5A-1E9FD4104577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D05C7525-19B3-C2BB-9BD7-B1D18CA6E388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537711A2-A29A-3898-7F5A-0769D49EA2A1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F67D3B8E-882A-4894-3504-5CBC7C85A3B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BC15489-4C20-C8A0-ECCD-A4A57D9D3D41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93EABD-2B97-63F2-26A6-B8E6D9BE78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sp>
        <p:nvSpPr>
          <p:cNvPr id="13" name="Google Shape;200;ge4eb6b47ed_0_0">
            <a:extLst>
              <a:ext uri="{FF2B5EF4-FFF2-40B4-BE49-F238E27FC236}">
                <a16:creationId xmlns:a16="http://schemas.microsoft.com/office/drawing/2014/main" id="{05CFA04E-62E9-5F47-AE2C-55A1FE1F76A5}"/>
              </a:ext>
            </a:extLst>
          </p:cNvPr>
          <p:cNvSpPr txBox="1">
            <a:spLocks/>
          </p:cNvSpPr>
          <p:nvPr/>
        </p:nvSpPr>
        <p:spPr>
          <a:xfrm>
            <a:off x="144823" y="1068366"/>
            <a:ext cx="8854354" cy="2050078"/>
          </a:xfrm>
          <a:prstGeom prst="rect">
            <a:avLst/>
          </a:prstGeom>
        </p:spPr>
        <p:txBody>
          <a:bodyPr spcFirstLastPara="1" vert="horz" wrap="square" lIns="91425" tIns="45700" rIns="91425" bIns="45700" rtlCol="0" anchor="t" anchorCtr="0">
            <a:noAutofit/>
          </a:bodyPr>
          <a:lstStyle>
            <a:lvl1pPr marL="171450" indent="-171450" algn="l" defTabSz="685800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143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8572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2001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5430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8859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8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7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650" indent="-171450" algn="l" defTabSz="685800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lvl="1" indent="0" algn="ctr">
              <a:buClrTx/>
              <a:buFont typeface="Arial" panose="020B0604020202020204" pitchFamily="34" charset="0"/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Histogram-Based Gradient Boosting</a:t>
            </a:r>
            <a:endParaRPr lang="en-US" sz="2000" b="1" dirty="0">
              <a:latin typeface="Times New Roman"/>
              <a:cs typeface="Times New Roman"/>
            </a:endParaRP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Histogram-based gradient boosting improves computational efficiency by grouping continuous features into discrete bins, reducing training time while maintaining high accuracy.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It is well-suited for large-scale greenhouse datasets with multiple features and time-series components.</a:t>
            </a:r>
          </a:p>
          <a:p>
            <a:pPr algn="just">
              <a:buClrTx/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ClrTx/>
              <a:buFont typeface="Arial" panose="020B0604020202020204" pitchFamily="34" charset="0"/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Google Shape;200;ge4eb6b47ed_0_0">
            <a:extLst>
              <a:ext uri="{FF2B5EF4-FFF2-40B4-BE49-F238E27FC236}">
                <a16:creationId xmlns:a16="http://schemas.microsoft.com/office/drawing/2014/main" id="{89638A46-E542-01D8-5FE2-ACECD2151BA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44823" y="3490187"/>
            <a:ext cx="8854354" cy="2718844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lvl="1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Model Predictive Control (MPC)</a:t>
            </a:r>
            <a:endParaRPr lang="en-US" sz="2000" b="1" dirty="0">
              <a:latin typeface="Times New Roman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Model Predictive Control is an optimization-based control strategy that predicts future greenhouse states using system models and determines optimal control actions.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It minimizes an objective function that considers environmental deviation, resource consumption, and disease risk.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By evaluating multiple control scenarios at each step, MPC enables proactive, adaptive, and optimized greenhouse management.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Font typeface="Wingdings" panose="020B0604020202020204" pitchFamily="34" charset="0"/>
              <a:buNone/>
            </a:pP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81836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189">
          <a:extLst>
            <a:ext uri="{FF2B5EF4-FFF2-40B4-BE49-F238E27FC236}">
              <a16:creationId xmlns:a16="http://schemas.microsoft.com/office/drawing/2014/main" id="{C39BA1A7-6FDC-AD56-2BB9-8E2184D4D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99;ge4eb6b47ed_0_0">
            <a:extLst>
              <a:ext uri="{FF2B5EF4-FFF2-40B4-BE49-F238E27FC236}">
                <a16:creationId xmlns:a16="http://schemas.microsoft.com/office/drawing/2014/main" id="{0A937AB0-4766-2278-138E-5CC15AE44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724424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Overview of Techniques, Algorithms and Simulation Used (Contd..)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99666D-D23E-0EBE-7E6A-3D57F77998B6}"/>
              </a:ext>
            </a:extLst>
          </p:cNvPr>
          <p:cNvSpPr/>
          <p:nvPr/>
        </p:nvSpPr>
        <p:spPr>
          <a:xfrm>
            <a:off x="444500" y="1393190"/>
            <a:ext cx="7096125" cy="4668520"/>
          </a:xfrm>
          <a:prstGeom prst="rect">
            <a:avLst/>
          </a:prstGeom>
        </p:spPr>
        <p:txBody>
          <a:bodyPr wrap="none">
            <a:noAutofit/>
          </a:bodyPr>
          <a:lstStyle/>
          <a:p>
            <a:pPr algn="ctr"/>
            <a:endParaRPr lang="en-US" sz="1600" b="1">
              <a:latin typeface="Bookman Old Style" panose="020506040505050202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7" name="Google Shape;436;p31">
            <a:extLst>
              <a:ext uri="{FF2B5EF4-FFF2-40B4-BE49-F238E27FC236}">
                <a16:creationId xmlns:a16="http://schemas.microsoft.com/office/drawing/2014/main" id="{604DE23F-63A3-C8B5-7D7F-C647700911EC}"/>
              </a:ext>
            </a:extLst>
          </p:cNvPr>
          <p:cNvCxnSpPr/>
          <p:nvPr/>
        </p:nvCxnSpPr>
        <p:spPr>
          <a:xfrm>
            <a:off x="0" y="75063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Text Box 1">
            <a:extLst>
              <a:ext uri="{FF2B5EF4-FFF2-40B4-BE49-F238E27FC236}">
                <a16:creationId xmlns:a16="http://schemas.microsoft.com/office/drawing/2014/main" id="{E7A23DCF-CDEB-EF8C-77A5-1BC46422BA5A}"/>
              </a:ext>
            </a:extLst>
          </p:cNvPr>
          <p:cNvSpPr txBox="1"/>
          <p:nvPr/>
        </p:nvSpPr>
        <p:spPr>
          <a:xfrm>
            <a:off x="7289800" y="1609725"/>
            <a:ext cx="3048000" cy="3067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Google Shape;167;p1">
            <a:extLst>
              <a:ext uri="{FF2B5EF4-FFF2-40B4-BE49-F238E27FC236}">
                <a16:creationId xmlns:a16="http://schemas.microsoft.com/office/drawing/2014/main" id="{D5EBEAE1-5A7C-616F-D9AD-6DC29669CB7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4FE1407-4D63-9B68-56C7-1732B49D3EC9}"/>
              </a:ext>
            </a:extLst>
          </p:cNvPr>
          <p:cNvSpPr txBox="1"/>
          <p:nvPr/>
        </p:nvSpPr>
        <p:spPr>
          <a:xfrm>
            <a:off x="2288866" y="6492875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2738AB7-0DD8-D554-C38E-9426CE335A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sp>
        <p:nvSpPr>
          <p:cNvPr id="5" name="Text Box 4">
            <a:extLst>
              <a:ext uri="{FF2B5EF4-FFF2-40B4-BE49-F238E27FC236}">
                <a16:creationId xmlns:a16="http://schemas.microsoft.com/office/drawing/2014/main" id="{410CCFCD-23B3-A14D-1485-CAEA18D677A5}"/>
              </a:ext>
            </a:extLst>
          </p:cNvPr>
          <p:cNvSpPr txBox="1"/>
          <p:nvPr/>
        </p:nvSpPr>
        <p:spPr>
          <a:xfrm>
            <a:off x="144823" y="736776"/>
            <a:ext cx="8854354" cy="29512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/>
                <a:cs typeface="Times New Roman"/>
              </a:rPr>
              <a:t>ARX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The </a:t>
            </a:r>
            <a:r>
              <a:rPr lang="en-US" sz="2000" dirty="0" err="1">
                <a:latin typeface="Times New Roman"/>
                <a:cs typeface="Times New Roman"/>
              </a:rPr>
              <a:t>AutoRegressive</a:t>
            </a:r>
            <a:r>
              <a:rPr lang="en-US" sz="2000" dirty="0">
                <a:latin typeface="Times New Roman"/>
                <a:cs typeface="Times New Roman"/>
              </a:rPr>
              <a:t> with Exogenous Inputs (ARX) model is used to represent greenhouse system dynamics by modeling relationships between current states and external control inputs.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It considers environmental variables such as temperature, humidity, and CO₂ along with control actions like ventilation and irrigation.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/>
                <a:cs typeface="Times New Roman"/>
              </a:rPr>
              <a:t>This model enables the digital twin to simulate future greenhouse conditions and evaluate the impact of different control strategies before real-world implementation.</a:t>
            </a:r>
          </a:p>
          <a:p>
            <a:pPr marL="342900" indent="-342900" algn="just">
              <a:buFont typeface="Wingdings" panose="020B0604020202020204"/>
              <a:buChar char="q"/>
            </a:pPr>
            <a:endParaRPr lang="en-US" sz="2000" dirty="0">
              <a:latin typeface="Times New Roman"/>
              <a:cs typeface="Times New Roman"/>
            </a:endParaRPr>
          </a:p>
        </p:txBody>
      </p:sp>
      <p:sp>
        <p:nvSpPr>
          <p:cNvPr id="15" name="Text Box 4">
            <a:extLst>
              <a:ext uri="{FF2B5EF4-FFF2-40B4-BE49-F238E27FC236}">
                <a16:creationId xmlns:a16="http://schemas.microsoft.com/office/drawing/2014/main" id="{03FED58A-B2D5-A75E-B64D-689F293BD983}"/>
              </a:ext>
            </a:extLst>
          </p:cNvPr>
          <p:cNvSpPr txBox="1"/>
          <p:nvPr/>
        </p:nvSpPr>
        <p:spPr>
          <a:xfrm>
            <a:off x="144823" y="3563638"/>
            <a:ext cx="8854354" cy="235981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noAutofit/>
          </a:bodyPr>
          <a:lstStyle/>
          <a:p>
            <a:pPr lvl="1" algn="ctr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Unity-Based Digital Twin Simulation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3D virtual greenhouse environment is developed using the Unity engine to provide an interactive and immersive visualization of the digital twin system, representing crop stages, environmental conditions, and actuator states. 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includes key components such as fans, vents, irrigation systems, and lighting, visually reflecting real-time system behavior and simplifying interpretation of complex greenhouse data. </a:t>
            </a:r>
          </a:p>
          <a:p>
            <a:pPr marL="342900" indent="-342900" algn="just">
              <a:buFont typeface="Wingdings" panose="020B0604020202020204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backend communicates with the Unity environment via API integration, enabling real-time updates of greenhouse conditions and control actions. </a:t>
            </a:r>
          </a:p>
        </p:txBody>
      </p:sp>
    </p:spTree>
    <p:extLst>
      <p:ext uri="{BB962C8B-B14F-4D97-AF65-F5344CB8AC3E}">
        <p14:creationId xmlns:p14="http://schemas.microsoft.com/office/powerpoint/2010/main" val="27489868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365857154"/>
              </p:ext>
            </p:extLst>
          </p:nvPr>
        </p:nvGraphicFramePr>
        <p:xfrm>
          <a:off x="146485" y="862600"/>
          <a:ext cx="8839174" cy="5588329"/>
        </p:xfrm>
        <a:graphic>
          <a:graphicData uri="http://schemas.openxmlformats.org/drawingml/2006/table">
            <a:tbl>
              <a:tblPr firstRow="1" bandRow="1">
                <a:noFill/>
                <a:tableStyleId>{56D51072-94E4-4FC1-8697-D52FD32A7993}</a:tableStyleId>
              </a:tblPr>
              <a:tblGrid>
                <a:gridCol w="62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87699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S. No.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50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</a:t>
                      </a:r>
                      <a:r>
                        <a:rPr lang="en-US" sz="1350" b="1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of Paper</a:t>
                      </a:r>
                      <a:endParaRPr lang="en-US" sz="135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Journal Title  with Year of Publication &amp; Author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Technical Description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Research Gap</a:t>
                      </a:r>
                    </a:p>
                  </a:txBody>
                  <a:tcPr marL="91450" marR="91450" marT="35175" marB="3517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602056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dirty="0">
                          <a:latin typeface="Times New Roman"/>
                          <a:cs typeface="Times New Roman"/>
                        </a:rPr>
                        <a:t>1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u="none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Optimizing Agricultural Data Analysis Techniques Through AI-Powered Decision-Making Processes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Elbasi</a:t>
                      </a: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E., Mostafa, N., Zaki, C., </a:t>
                      </a:r>
                      <a:r>
                        <a:rPr lang="en-IN" sz="1350" b="0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AlArnaout</a:t>
                      </a: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Z., </a:t>
                      </a:r>
                      <a:r>
                        <a:rPr lang="en-IN" sz="1350" b="0" i="0" u="none" strike="noStrike" noProof="0" dirty="0" err="1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Topcu</a:t>
                      </a: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, A. E., &amp; Saker, L.</a:t>
                      </a:r>
                      <a:br>
                        <a:rPr lang="en-IN" sz="1350" b="0" i="0" u="none" strike="noStrike" noProof="0" dirty="0">
                          <a:solidFill>
                            <a:srgbClr val="000000"/>
                          </a:solidFill>
                          <a:latin typeface="Times New Roman"/>
                          <a:cs typeface="Times New Roman"/>
                        </a:rPr>
                      </a:br>
                      <a:r>
                        <a:rPr lang="en-IN" sz="1350" b="0" i="0" u="none" strike="noStrike" noProof="0" dirty="0">
                          <a:solidFill>
                            <a:schemeClr val="tx1"/>
                          </a:solidFill>
                          <a:latin typeface="Times New Roman"/>
                          <a:cs typeface="Times New Roman"/>
                        </a:rPr>
                        <a:t>Applied Sciences, Vol. 14, 2024.</a:t>
                      </a:r>
                      <a:endParaRPr lang="en-US"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The study focuses on preprocessing techniques for agricultural datasets including noise removal, dataset balancing, feature selection, and dimensionality reduction to improve machine learning model performance.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Focuses only on agricultural data preprocessing and does not address plant disease detection or greenhouse monitoring systems.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23371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/>
                          <a:cs typeface="Times New Roman"/>
                        </a:rPr>
                        <a:t>2</a:t>
                      </a:r>
                      <a:endParaRPr lang="en-US" sz="1350" b="0" dirty="0">
                        <a:latin typeface="Times New Roman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>
                          <a:latin typeface="Times New Roman"/>
                          <a:cs typeface="Times New Roman"/>
                        </a:rPr>
                        <a:t>Plant Leaf Disease Detection Using Ensemble Learning and Explainable Artificial Intelligence</a:t>
                      </a:r>
                      <a:endParaRPr lang="en-US" sz="1350">
                        <a:latin typeface="Times New Roman"/>
                        <a:cs typeface="Times New Roman"/>
                        <a:sym typeface="Times New Roman" panose="02020603050405020304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Oad, A., Abbas, S. S., Zafar, A., et al.</a:t>
                      </a:r>
                      <a:b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</a:b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 IEEE Access, Vol. 12, 2024.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b="0" i="0" u="none" strike="noStrike" noProof="0" dirty="0">
                          <a:latin typeface="Times New Roman"/>
                          <a:cs typeface="Times New Roman"/>
                        </a:rPr>
                        <a:t>Proposes an ensemble deep learning framework using CNN architectures such as VGG16, VGG19, InceptionV3, and ResNet101V2 for plant leaf disease classification using the </a:t>
                      </a:r>
                      <a:r>
                        <a:rPr lang="en-IN" sz="1350" b="0" i="0" u="none" strike="noStrike" noProof="0" dirty="0" err="1">
                          <a:latin typeface="Times New Roman"/>
                          <a:cs typeface="Times New Roman"/>
                        </a:rPr>
                        <a:t>PlantVillage</a:t>
                      </a:r>
                      <a:r>
                        <a:rPr lang="en-IN" sz="1350" b="0" i="0" u="none" strike="noStrike" noProof="0" dirty="0">
                          <a:latin typeface="Times New Roman"/>
                          <a:cs typeface="Times New Roman"/>
                        </a:rPr>
                        <a:t> dataset.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The system performs only disease classification and does not integrate environmental monitoring or crop growth prediction in greenhouse environments.</a:t>
                      </a: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/>
                          <a:cs typeface="Times New Roman"/>
                        </a:rPr>
                        <a:t>3</a:t>
                      </a:r>
                      <a:endParaRPr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dirty="0">
                          <a:latin typeface="Times New Roman"/>
                          <a:cs typeface="Times New Roman"/>
                        </a:rPr>
                        <a:t>Identifying Tomato Growth Stages in Protected Agriculture with StyleGAN3-Synthetic Images and Vision Transformer</a:t>
                      </a: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Huo, Y., Liu, Y., He, P., Hu, L., Gao, W., &amp; Gu, L.</a:t>
                      </a:r>
                      <a:b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</a:b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Agriculture, Vol. 15, Article 120, 2025.</a:t>
                      </a:r>
                      <a:endParaRPr lang="en-US" sz="1350" b="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Introduces a hybrid deep learning framework combining StyleGAN3 for synthetic image generation and Vision Transformer for accurate tomato growth stage recognition.</a:t>
                      </a:r>
                      <a:endParaRPr lang="en-US" sz="1350" dirty="0">
                        <a:latin typeface="Times New Roman"/>
                        <a:cs typeface="Times New Roman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strike="noStrike" noProof="0" dirty="0">
                          <a:latin typeface="Times New Roman"/>
                          <a:cs typeface="Times New Roman"/>
                        </a:rPr>
                        <a:t>The study focuses only on growth stage identification and does not incorporate disease detection or integrated digital twin greenhouse management.</a:t>
                      </a:r>
                      <a:endParaRPr lang="en-US" sz="1350" dirty="0">
                        <a:latin typeface="Times New Roman"/>
                        <a:cs typeface="Times New Roman"/>
                        <a:sym typeface="+mn-e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984641383"/>
                  </a:ext>
                </a:extLst>
              </a:tr>
            </a:tbl>
          </a:graphicData>
        </a:graphic>
      </p:graphicFrame>
      <p:cxnSp>
        <p:nvCxnSpPr>
          <p:cNvPr id="6" name="Google Shape;436;p31"/>
          <p:cNvCxnSpPr/>
          <p:nvPr/>
        </p:nvCxnSpPr>
        <p:spPr>
          <a:xfrm>
            <a:off x="0" y="81217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8DE3DE7-7CCC-7FFC-4B5A-681A97A2AE5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268;p11">
            <a:extLst>
              <a:ext uri="{FF2B5EF4-FFF2-40B4-BE49-F238E27FC236}">
                <a16:creationId xmlns:a16="http://schemas.microsoft.com/office/drawing/2014/main" id="{71CCD4DD-BA44-5FB6-73F9-84524A62433E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809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Tx/>
              <a:buFontTx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Literature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Survey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55EE-610F-1A08-2827-55EFA278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90252860"/>
              </p:ext>
            </p:extLst>
          </p:nvPr>
        </p:nvGraphicFramePr>
        <p:xfrm>
          <a:off x="152413" y="858192"/>
          <a:ext cx="8839174" cy="5933740"/>
        </p:xfrm>
        <a:graphic>
          <a:graphicData uri="http://schemas.openxmlformats.org/drawingml/2006/table">
            <a:tbl>
              <a:tblPr firstRow="1" bandRow="1">
                <a:noFill/>
                <a:tableStyleId>{56D51072-94E4-4FC1-8697-D52FD32A7993}</a:tableStyleId>
              </a:tblPr>
              <a:tblGrid>
                <a:gridCol w="62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16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S. No.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</a:t>
                      </a:r>
                      <a:r>
                        <a:rPr lang="en-US" sz="1350" b="1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of Paper</a:t>
                      </a:r>
                      <a:endParaRPr lang="en-US" sz="135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Journal Title  with Year of Publication &amp; Author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Technical Description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Research Gap</a:t>
                      </a:r>
                    </a:p>
                  </a:txBody>
                  <a:tcPr marL="91450" marR="91450" marT="35175" marB="3517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DL2F: A Deep Learning Model for the Local Forecasting of Renewable Sources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Caroprese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M.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Pierantozzi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C. Lops, and S.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Montelpare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Computers &amp; Industrial Engineering, Vol. 187, 2024.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proposes a deep learning-based forecasting framework for meteorological variables relevant to renewable energy systems. It uses GRU-based recurrent neural.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mainly improves existing numerical forecasts using a single deep learning model and does not provide independent hybrid forecasting or greenhouse-specific prediction.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5</a:t>
                      </a: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Learning-Based Time Series Prediction for Precision Field Crop Protection</a:t>
                      </a:r>
                      <a:endParaRPr lang="en-IN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T. He, M. Li, and D. Jin, Frontiers in Plant Science, Vol. 16, 2025.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uses time-series sensor data, IoT monitoring, and advanced deep learning models such as recurrent networks, attention mechanisms, and transformers to identify crop growth stages in precision agriculture.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approach mainly focuses on current growth stage classification and does not model future stage transitions or temporal progression.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Greenhouse Industry 4.0 – Digital Twin Technology for Commercial Greenhouses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D. A. Howard, Z. Ma, C. </a:t>
                      </a:r>
                      <a:r>
                        <a:rPr lang="en-IN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Veje</a:t>
                      </a: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A. Clausen, J. M. </a:t>
                      </a:r>
                      <a:r>
                        <a:rPr lang="en-IN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Aaslyng</a:t>
                      </a: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B. N. </a:t>
                      </a:r>
                      <a:r>
                        <a:rPr lang="en-IN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Jørgensen</a:t>
                      </a:r>
                      <a:r>
                        <a:rPr lang="en-IN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Energy Informatics, Vol. 4, No. 1, 2021.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paper presents an Industry 4.0-based digital twin framework integrating IoT, AI, cloud computing, and big data for greenhouse simulation. It models climate compartments, energy systems, and production.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system emphasizes large-scale industrial optimization and infrastructure-level integration but gives limited attention to crop-level intelligence or disease prediction.</a:t>
                      </a:r>
                      <a:endParaRPr lang="en-US" sz="1350" b="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984641383"/>
                  </a:ext>
                </a:extLst>
              </a:tr>
            </a:tbl>
          </a:graphicData>
        </a:graphic>
      </p:graphicFrame>
      <p:cxnSp>
        <p:nvCxnSpPr>
          <p:cNvPr id="6" name="Google Shape;436;p31"/>
          <p:cNvCxnSpPr/>
          <p:nvPr/>
        </p:nvCxnSpPr>
        <p:spPr>
          <a:xfrm>
            <a:off x="0" y="81217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8DE3DE7-7CCC-7FFC-4B5A-681A97A2AE5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268;p11">
            <a:extLst>
              <a:ext uri="{FF2B5EF4-FFF2-40B4-BE49-F238E27FC236}">
                <a16:creationId xmlns:a16="http://schemas.microsoft.com/office/drawing/2014/main" id="{71CCD4DD-BA44-5FB6-73F9-84524A62433E}"/>
              </a:ext>
            </a:extLst>
          </p:cNvPr>
          <p:cNvSpPr txBox="1">
            <a:spLocks/>
          </p:cNvSpPr>
          <p:nvPr/>
        </p:nvSpPr>
        <p:spPr>
          <a:xfrm>
            <a:off x="0" y="3178"/>
            <a:ext cx="9144000" cy="809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Tx/>
              <a:buFontTx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Literature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Survey 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 panose="02050604050505020204" pitchFamily="18" charset="0"/>
              <a:cs typeface="Arial" panose="020B0604020202020204"/>
              <a:sym typeface="Times New Roman" panose="020206030504050203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55EE-610F-1A08-2827-55EFA278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424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11"/>
          <p:cNvGraphicFramePr/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034305394"/>
              </p:ext>
            </p:extLst>
          </p:nvPr>
        </p:nvGraphicFramePr>
        <p:xfrm>
          <a:off x="152413" y="867598"/>
          <a:ext cx="8839174" cy="5496571"/>
        </p:xfrm>
        <a:graphic>
          <a:graphicData uri="http://schemas.openxmlformats.org/drawingml/2006/table">
            <a:tbl>
              <a:tblPr firstRow="1" bandRow="1">
                <a:noFill/>
                <a:tableStyleId>{56D51072-94E4-4FC1-8697-D52FD32A7993}</a:tableStyleId>
              </a:tblPr>
              <a:tblGrid>
                <a:gridCol w="6277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48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108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46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104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72163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S. No.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sz="1350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Title </a:t>
                      </a:r>
                      <a:r>
                        <a:rPr lang="en-US" sz="1350" b="1" u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of Paper</a:t>
                      </a:r>
                      <a:endParaRPr lang="en-US" sz="1350" dirty="0">
                        <a:solidFill>
                          <a:schemeClr val="bg1"/>
                        </a:solidFill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350" dirty="0">
                        <a:solidFill>
                          <a:schemeClr val="bg1"/>
                        </a:solidFill>
                      </a:endParaRP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IN" sz="1350" u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Journal Title  with Year of Publication &amp; Author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Technical Description</a:t>
                      </a:r>
                    </a:p>
                  </a:txBody>
                  <a:tcPr marL="91450" marR="91450" marT="35175" marB="35175" anchor="ctr" anchorCtr="1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400"/>
                        <a:buFont typeface="Times New Roman" panose="02020603050405020304"/>
                        <a:buNone/>
                      </a:pPr>
                      <a:r>
                        <a:rPr lang="en-US" sz="1350" b="1" i="0" u="none" strike="noStrike" cap="none" dirty="0">
                          <a:solidFill>
                            <a:schemeClr val="bg1"/>
                          </a:solidFill>
                          <a:latin typeface="Times New Roman" panose="02020603050405020304"/>
                          <a:ea typeface="Times New Roman" panose="02020603050405020304"/>
                          <a:cs typeface="Times New Roman" panose="02020603050405020304"/>
                          <a:sym typeface="Times New Roman" panose="02020603050405020304"/>
                        </a:rPr>
                        <a:t>Research Gap</a:t>
                      </a:r>
                    </a:p>
                  </a:txBody>
                  <a:tcPr marL="91450" marR="91450" marT="35175" marB="35175" anchor="ctr" anchorCtr="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u="none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lang="en-US" sz="1350" b="0" i="0" u="none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Optimal Strategy for Energy-Efficient Management of Greenhouse Climate Control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Ghiasi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Z. Wang, M.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Mehrandezh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and A. Mohammadi, IEEE Open Access Journal of Power and Energy, Vol. 12, 2025.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develops a multi-objective optimization strategy for greenhouse climate control, focusing on minimizing energy consumption while maintaining suitable growth conditions. 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approach is mainly centered on energy optimization and environmental control and does not integrate real-time crop health monitoring, disease progression or growth intelligence.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  <a:sym typeface="Times New Roman" panose="02020603050405020304"/>
                        </a:rPr>
                        <a:t>8</a:t>
                      </a: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Detection and Classification of Diseases in Multi-Crop Leaves Using LSTM and CNN Models</a:t>
                      </a:r>
                      <a:endParaRPr lang="en-IN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Kanakala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and S.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Ningappa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Journal of Innovative Image Processing, Vol. 7, No. 1, 2025.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applies CNN and LSTM models to plant leaf image datasets for automated multi-class disease classification across multiple crop types. 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work is limited to static image-based disease classification and does not include disease progression forecasting or severity prediction.</a:t>
                      </a:r>
                      <a:endParaRPr lang="en-US" sz="1350" b="0" i="0" u="none" strike="noStrike" noProof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91647">
                <a:tc>
                  <a:txBody>
                    <a:bodyPr/>
                    <a:lstStyle/>
                    <a:p>
                      <a:pPr marL="0" marR="0" lvl="0" indent="0" algn="just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350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35175" marB="35175" anchor="ctr"/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 Intelligent IoT-Based System Design for Controlling and Monitoring Greenhouse Temperature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A. F. Subahi and K. E. </a:t>
                      </a:r>
                      <a:r>
                        <a:rPr lang="en-US" b="0" i="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Bouazza</a:t>
                      </a: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IEEE Access, Vol. 10, 2022.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marL="0" marR="0" lvl="0" indent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study proposes an IoT-based greenhouse monitoring and control system using sensors, cloud storage, and automated temperature regulation mechanisms.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1450" marR="91450" marT="45725" marB="45725" anchor="ctr"/>
                </a:tc>
                <a:tc>
                  <a:txBody>
                    <a:bodyPr/>
                    <a:lstStyle/>
                    <a:p>
                      <a:pPr lvl="0" algn="just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b="0" i="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The framework mainly supports environmental monitoring and rule-based control but lacks advanced predictive analytics, crop-specific intelligence, disease detection, and multi-objective optimization.</a:t>
                      </a:r>
                      <a:endParaRPr lang="en-US" sz="1350" b="0" i="0" dirty="0">
                        <a:latin typeface="Times New Roman" panose="02020603050405020304" pitchFamily="18" charset="0"/>
                        <a:cs typeface="Times New Roman" panose="02020603050405020304" pitchFamily="18" charset="0"/>
                        <a:sym typeface="+mn-ea"/>
                      </a:endParaRPr>
                    </a:p>
                  </a:txBody>
                  <a:tcPr marL="91450" marR="91450" marT="45725" marB="45725" anchor="ctr"/>
                </a:tc>
                <a:extLst>
                  <a:ext uri="{0D108BD9-81ED-4DB2-BD59-A6C34878D82A}">
                    <a16:rowId xmlns:a16="http://schemas.microsoft.com/office/drawing/2014/main" val="3984641383"/>
                  </a:ext>
                </a:extLst>
              </a:tr>
            </a:tbl>
          </a:graphicData>
        </a:graphic>
      </p:graphicFrame>
      <p:cxnSp>
        <p:nvCxnSpPr>
          <p:cNvPr id="6" name="Google Shape;436;p31"/>
          <p:cNvCxnSpPr/>
          <p:nvPr/>
        </p:nvCxnSpPr>
        <p:spPr>
          <a:xfrm>
            <a:off x="0" y="812178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8DE3DE7-7CCC-7FFC-4B5A-681A97A2AE5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Google Shape;268;p11">
            <a:extLst>
              <a:ext uri="{FF2B5EF4-FFF2-40B4-BE49-F238E27FC236}">
                <a16:creationId xmlns:a16="http://schemas.microsoft.com/office/drawing/2014/main" id="{71CCD4DD-BA44-5FB6-73F9-84524A62433E}"/>
              </a:ext>
            </a:extLst>
          </p:cNvPr>
          <p:cNvSpPr txBox="1">
            <a:spLocks/>
          </p:cNvSpPr>
          <p:nvPr/>
        </p:nvSpPr>
        <p:spPr>
          <a:xfrm>
            <a:off x="0" y="3178"/>
            <a:ext cx="9144000" cy="809000"/>
          </a:xfrm>
          <a:prstGeom prst="rect">
            <a:avLst/>
          </a:prstGeom>
          <a:noFill/>
          <a:ln>
            <a:noFill/>
          </a:ln>
        </p:spPr>
        <p:txBody>
          <a:bodyPr spcFirstLastPara="1" vert="horz" wrap="square" lIns="91425" tIns="45700" rIns="91425" bIns="45700" rtlCol="0" anchor="ctr" anchorCtr="0">
            <a:no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ts val="0"/>
              </a:spcBef>
              <a:buClrTx/>
              <a:buFontTx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Literature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Survey 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 panose="02050604050505020204" pitchFamily="18" charset="0"/>
              <a:cs typeface="Arial" panose="020B0604020202020204"/>
              <a:sym typeface="Times New Roman" panose="020206030504050203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53655EE-610F-1A08-2827-55EFA278B6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5309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F632CEC3-6850-B08D-162B-06B9F959F9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ECBCC9E5-0543-42D9-BB5B-CEBB6BB98F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Inference from Literature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309" name="Google Shape;309;p16">
            <a:extLst>
              <a:ext uri="{FF2B5EF4-FFF2-40B4-BE49-F238E27FC236}">
                <a16:creationId xmlns:a16="http://schemas.microsoft.com/office/drawing/2014/main" id="{07DAFB41-8774-5817-372F-56F22D40505C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2487" y="711307"/>
            <a:ext cx="8659024" cy="57815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studies emphasize preprocessing (noise removal, balancing, feature engineering) mainly for training readiness, highlighting the lack of a unified environmental data processing pipeline.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CNN-based disease detection methods achieve high accuracy but introduce high computational complexity and limited interpretability for real-time greenhouse deployment.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Single-model forecasting approaches lack robustness, showing the need for hybrid multi-model prediction frameworks.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growth analysis treats plant development as static classification, lacking models that predict transition timelines, and progression behavior.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Disease detection methods are reactive and image-based, with limited integration of environmental and temporal factors for forecasting disease progression. 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Current IoT and digital twin systems focus on infrastructure and environmental optimization, lacking fine-grained crop-level intelligence for precise decision-making.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Many frameworks rely on rule-based or single-model control, reducing adaptability and robustness under dynamic greenhouse conditions.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BD03D2FC-8E5E-0286-C129-090D3B05E27B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C00A296-A8AE-B0FC-915F-89949E0D84DF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6727537-C643-68ED-1420-41F1A5DC8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2197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EFBCACE7-05D6-B0A2-7143-6AAE209530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ED25204E-D1C9-EC57-D803-92B56A6A92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Proposed </a:t>
            </a:r>
            <a:r>
              <a:rPr lang="en-US" sz="2800" b="1" dirty="0" err="1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AgriTwin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-GH System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309" name="Google Shape;309;p16">
            <a:extLst>
              <a:ext uri="{FF2B5EF4-FFF2-40B4-BE49-F238E27FC236}">
                <a16:creationId xmlns:a16="http://schemas.microsoft.com/office/drawing/2014/main" id="{10A27695-A21E-61B2-E4C8-7494516D5E2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2487" y="933588"/>
            <a:ext cx="8659024" cy="542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AgriTwin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-GH is an AI-driven system designed to enable intelligent and efficient greenhouse management through data-driven monitoring and control.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combines environmental data and plant image analysis to provide a comprehensive understanding of crop conditions.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utilizes advanced machine learning and deep learning models to analyze current states and generate predictive insights.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supports early detection of risks such as disease and suboptimal growth conditions, enabling timely interventions.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digital twin component creates a virtual representation of the greenhouse to simulate and validate control strategies.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Intelligent decision-making mechanisms optimize key operations such as irrigation, ventilation, temperature, and lighting.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operates in real time, continuously adapting to changing conditions within the greenhouse environment.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it transforms greenhouse management from a reactive approach to a predictive and proactive system. </a:t>
            </a:r>
          </a:p>
          <a:p>
            <a:pPr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651FC17F-BE5A-9C26-7345-6EEA7B6D033F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0C0636E-CBBB-8461-454B-DC5D031E377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1FB452-11D4-CA39-0083-4F277C81B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90584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6EE69D61-0300-7D4F-18AB-EFE7ABBC8A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4316088F-DA18-D152-744D-A68A8EF577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System Architecture of </a:t>
            </a:r>
            <a:r>
              <a:rPr lang="en-US" sz="2800" b="1" dirty="0" err="1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AgriTwin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-GH</a:t>
            </a:r>
            <a:endParaRPr lang="en-US" b="1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309" name="Google Shape;309;p16">
            <a:extLst>
              <a:ext uri="{FF2B5EF4-FFF2-40B4-BE49-F238E27FC236}">
                <a16:creationId xmlns:a16="http://schemas.microsoft.com/office/drawing/2014/main" id="{38440BDF-C344-0931-4051-800F37EE950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42488" y="911444"/>
            <a:ext cx="8659024" cy="5422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The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-GH system architecture integrates environmental datasets and plant image data into a unified framework to enable intelligent greenhouse monitoring and predictive crop analysis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Input Layer: Environmental parameters such as temperature, humidity, solar radiation, wind speed, CO₂, and VPD, along with plant image datasets, provide both physical and visual information required for accurate crop analysis.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Processing Layer: Data is processed through stages including preprocessing, cleaning, feature engineering, image-based crop intelligence, predictive analytics, and digital twin-based decision support to generate meaningful insights.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Modular Design:</a:t>
            </a:r>
          </a:p>
          <a:p>
            <a:pPr lvl="1" algn="just">
              <a:spcBef>
                <a:spcPts val="750"/>
              </a:spcBef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Module I: Data Processing and AI-Based Crop Intelligence</a:t>
            </a:r>
          </a:p>
          <a:p>
            <a:pPr lvl="1" algn="just">
              <a:spcBef>
                <a:spcPts val="750"/>
              </a:spcBef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Module II: Predictive Analytics and Crop Health Forecasting</a:t>
            </a:r>
          </a:p>
          <a:p>
            <a:pPr lvl="1" algn="just">
              <a:spcBef>
                <a:spcPts val="750"/>
              </a:spcBef>
              <a:buFont typeface="Courier New" panose="020B0604020202020204" pitchFamily="34" charset="0"/>
              <a:buChar char="o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Module III: Digital Twin Simulation and Intelligent Greenhouse Control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 Output Layer: Provides plant health and disease assessment, identifies crop growth stage, supports predictive insights, and generates optimized control decisions for efficient greenhouse management.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0" indent="0" algn="just">
              <a:buNone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100AB114-C2FB-E51D-F406-96AD47EDF6CF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C7BE86E-3B30-FC89-50CF-5D1E0C9288B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E8F2054-A96A-72D7-51E9-76C0B3CD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06123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307">
          <a:extLst>
            <a:ext uri="{FF2B5EF4-FFF2-40B4-BE49-F238E27FC236}">
              <a16:creationId xmlns:a16="http://schemas.microsoft.com/office/drawing/2014/main" id="{49B4A64F-671C-3347-8402-FF235ABF76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303;p15">
            <a:extLst>
              <a:ext uri="{FF2B5EF4-FFF2-40B4-BE49-F238E27FC236}">
                <a16:creationId xmlns:a16="http://schemas.microsoft.com/office/drawing/2014/main" id="{937E7718-B30E-EB93-992B-810B8AB50FD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3999" cy="6673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 System Architecture of </a:t>
            </a:r>
            <a:r>
              <a:rPr lang="en-US" sz="2800" b="1" dirty="0" err="1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AgriTwin</a:t>
            </a: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-GH (Contd..)</a:t>
            </a:r>
            <a:endParaRPr lang="en-US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10" name="Google Shape;436;p31">
            <a:extLst>
              <a:ext uri="{FF2B5EF4-FFF2-40B4-BE49-F238E27FC236}">
                <a16:creationId xmlns:a16="http://schemas.microsoft.com/office/drawing/2014/main" id="{460FE9F3-7897-EBA5-B75A-CB1C37E8278E}"/>
              </a:ext>
            </a:extLst>
          </p:cNvPr>
          <p:cNvCxnSpPr/>
          <p:nvPr/>
        </p:nvCxnSpPr>
        <p:spPr>
          <a:xfrm>
            <a:off x="0" y="682394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21D6026-86B8-9722-8315-CC156FEA49E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8F2BC5-E8B4-6B28-8BBC-71A295F486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F599654-14E5-F29C-13D0-4988A3DE6F52}"/>
              </a:ext>
            </a:extLst>
          </p:cNvPr>
          <p:cNvSpPr txBox="1"/>
          <p:nvPr/>
        </p:nvSpPr>
        <p:spPr>
          <a:xfrm>
            <a:off x="2757007" y="6464653"/>
            <a:ext cx="741216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Fig: High-Level Architecture Diagram of </a:t>
            </a:r>
            <a:r>
              <a:rPr lang="en-US" sz="1200" dirty="0" err="1">
                <a:latin typeface="Times New Roman"/>
                <a:cs typeface="Times New Roman"/>
              </a:rPr>
              <a:t>AgriTwin</a:t>
            </a:r>
            <a:r>
              <a:rPr lang="en-US" sz="1200" dirty="0">
                <a:latin typeface="Times New Roman"/>
                <a:cs typeface="Times New Roman"/>
              </a:rPr>
              <a:t>-GH</a:t>
            </a:r>
            <a:endParaRPr lang="en-US" sz="1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6F98F5C5-11C8-A2C7-4EE9-549A34B65A8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833" y="792284"/>
            <a:ext cx="8245526" cy="561821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4342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/>
          <p:cNvSpPr txBox="1">
            <a:spLocks noGrp="1"/>
          </p:cNvSpPr>
          <p:nvPr>
            <p:ph idx="1"/>
          </p:nvPr>
        </p:nvSpPr>
        <p:spPr>
          <a:xfrm>
            <a:off x="-1044" y="674852"/>
            <a:ext cx="9019785" cy="27541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Module I – Data Processing and AI-Based Crop Intelligence</a:t>
            </a:r>
            <a:endParaRPr lang="en-US" sz="2000" b="1" dirty="0">
              <a:latin typeface="Times New Roman"/>
              <a:ea typeface="+mn-lt"/>
              <a:cs typeface="Times New Roman"/>
            </a:endParaRPr>
          </a:p>
          <a:p>
            <a:pPr marL="285750" indent="-28575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This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module forms the foundation of the </a:t>
            </a:r>
            <a:r>
              <a:rPr lang="en-US" sz="2000" dirty="0" err="1">
                <a:latin typeface="Times New Roman"/>
                <a:ea typeface="+mn-lt"/>
                <a:cs typeface="Times New Roman"/>
              </a:rPr>
              <a:t>AgriTwin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-GH system by converting raw environmental data into structured crop intelligence for further analysis. </a:t>
            </a:r>
          </a:p>
          <a:p>
            <a:pPr marL="285750" indent="-28575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Feature engineering is applied to derive key agronomic indicators such as temperature, humidity, CO₂, VPD, dew point, and leaf wetness for accurate greenhouse condition analysis. </a:t>
            </a:r>
          </a:p>
          <a:p>
            <a:pPr marL="285750" indent="-28575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AI-based models are used for crop growth stage classification and plant disease detection, enabling reliable monitoring of crop development and health.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marL="285750" indent="-285750"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933AC9-D4C1-30CF-9EFE-002F836EFE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18</a:t>
            </a:fld>
            <a:endParaRPr lang="en-US"/>
          </a:p>
        </p:txBody>
      </p:sp>
      <p:sp>
        <p:nvSpPr>
          <p:cNvPr id="9" name="TextBox 3">
            <a:extLst>
              <a:ext uri="{FF2B5EF4-FFF2-40B4-BE49-F238E27FC236}">
                <a16:creationId xmlns:a16="http://schemas.microsoft.com/office/drawing/2014/main" id="{0710DEFF-298F-796F-9F9D-CAECEAA5D915}"/>
              </a:ext>
            </a:extLst>
          </p:cNvPr>
          <p:cNvSpPr txBox="1"/>
          <p:nvPr/>
        </p:nvSpPr>
        <p:spPr>
          <a:xfrm>
            <a:off x="1710812" y="6539975"/>
            <a:ext cx="571675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 panose="020B0604020202020204"/>
              <a:defRPr sz="1400" b="0" i="0" u="none" strike="noStrike" cap="none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algn="ctr"/>
            <a:r>
              <a:rPr lang="en-US" sz="1200" dirty="0">
                <a:latin typeface="Times New Roman"/>
                <a:cs typeface="Times New Roman"/>
              </a:rPr>
              <a:t>Fig. Task-Level Architecture of Data Processing and AI-Based Crop Intelligence Module</a:t>
            </a:r>
            <a:endParaRPr lang="en-US" sz="12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7F5B59D-A1A0-78F6-31C3-1158F3B851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527" y="3429000"/>
            <a:ext cx="6927319" cy="310938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2391286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3134BFD-24C4-A818-6646-8C9FDA6CDA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6BD94DF-FEF4-EF13-2F2C-D51E43EB09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AE7E8EF2-1CD7-98CC-4447-21485AA677D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02367" y="1138870"/>
            <a:ext cx="8739266" cy="4173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1 – Unified Data Processing</a:t>
            </a:r>
            <a:endParaRPr lang="en-US" sz="2000" b="1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focuses on transforming raw environmental data obtained from external weather sources into a structured and standardized greenhouse dataset suitable for AI-based analysis and modeling.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Raw data often contains missing values, noise, inconsistencies, and anomalies, which are handled through systematic data validation, cleaning, and preprocessing techniques to improve data reliability.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temporal synchronization so that all environmental parameters are aligned on a consistent time axis for accurate analysis.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techniques are applied to extract meaningful greenhouse indicators, including temperature variations, humidity trends, and other agronomic parameters.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process includes data ingestion, preprocessing, parameter alignment, and generation of a high-quality dataset that serves as input for downstream machine learning and deep learning models.</a:t>
            </a: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165D4D5B-3F58-7A6C-6D85-8B26D3E4A964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67D28EA1-CF70-B088-E5AB-1058C78F666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2AE2C80-5F77-BB13-2466-3552864B80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1126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2CE8FEB2-A656-2F09-7FF1-24B4102FD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5EBE8A5-7570-CFD0-DB88-B7AD99A45D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6F42976B-861F-3CDC-7C0F-AF5E583D228B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FCF85D8A-D951-F3C2-5C43-022080A9E277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89637F-FF50-7D8A-9A00-680DD69D8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20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A1CDB3D-5BDD-A8FE-EFFB-AFB6603260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5173" y="789887"/>
            <a:ext cx="3213653" cy="5566464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4F657B0-4DCA-120A-E735-B809FAA93217}"/>
              </a:ext>
            </a:extLst>
          </p:cNvPr>
          <p:cNvSpPr txBox="1"/>
          <p:nvPr/>
        </p:nvSpPr>
        <p:spPr>
          <a:xfrm>
            <a:off x="3104735" y="6308080"/>
            <a:ext cx="3213653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 Data Processing Pipeline Architecture</a:t>
            </a:r>
          </a:p>
          <a:p>
            <a:pPr algn="l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474034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EEFB8A43-FBCF-1075-1B1B-5E25BDAB4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10CD3C92-B14A-09B2-3001-0536E4EE51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F319043-B768-8486-5D6B-F113E1C0A81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725382"/>
            <a:ext cx="8915400" cy="560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Task 2 – Crop Growth Stage Classification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task automatically identifies the developmental stage of tomato plants using image-based deep learning.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plant images through a pipeline of preprocessing, feature extraction, classification, and probability estimation.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classified into six biological stages: Seedling, Early Vegetative, Flowering Initiation, Flowering, Unripe Fruit, and Ripe Fruit, based on gradual morphological and color transitions.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architecture combines a pre-trained EfficientNetB3 with a custom classification head including pooling, dense layers, batch normalization, and dropout for stable and robust learning.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two-phase training strategy is applied, involving initial training of the classification head followed by fine-tuning of upper layers.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Controlled data augmentation and class balancing techniques are used to improve generalization while preserving important biological features.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produces probability-based outputs across all growth stages, enabling confidence-driven decision-making in greenhouse management.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19DD69A-146E-C896-77B5-B031F371630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F960ABD9-526E-8F0B-6799-2CCDA2738BF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F30228-5262-7151-8C7D-E70E3B710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3130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6386A213-3302-998F-C1B9-32704F27DC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0602297E-F000-3246-2B10-B37EEC3973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0A4A4A74-BC6A-EED5-91B2-8B263644F13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924025"/>
            <a:ext cx="8915400" cy="56020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3 – Plant Disease Detection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task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identifies and classifies diseases in tomato plants using image-based deep learning.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processes leaf images through preprocessing, feature extraction, classification, and probability estimation to ensure accurate predictions.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Images are classified into six categories: Early Blight, Late Blight, Leaf Mold, Powdery Mildew, Spider Mites, and Healthy Leaf based on visible symptoms.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architecture includes a pre-trained EfficientNetB0 as backbone with a custom classification head using pooling, dense layers, batch normalization, and dropout for robust learning.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two-stage transfer learning strategy is applied, involving initial training of classification layers followed by fine-tuning of upper backbone layers.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augmentation techniques such as rotation, flipping, zooming, and brightness adjustments improve model generalization across varying conditions.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outputs probability distributions over disease classes, enabling accurate classification along with confidence estimation for decision-making.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D84D82D-574D-70CC-5DE1-A47FA315D289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580C1352-BA2A-C5B7-41B8-E42F1BA9211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5D92F9-3598-9A6B-50DA-FB4726FAB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82067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/>
          <p:cNvSpPr txBox="1">
            <a:spLocks noGrp="1"/>
          </p:cNvSpPr>
          <p:nvPr>
            <p:ph idx="1"/>
          </p:nvPr>
        </p:nvSpPr>
        <p:spPr>
          <a:xfrm>
            <a:off x="114300" y="678822"/>
            <a:ext cx="8915400" cy="5831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Module II – Predictive Analytics and Crop Health Forecasting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This module analyzes processed environmental data to generate predictive insights for greenhouse conditions and crop health.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It uses time-series and machine learning models to capture temporal patterns in environmental parameters such as temperature, humidity, and VPD.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The module predicts future environmental conditions, crop growth progression, and disease risk trends to support proactive decision-making.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51FC67D-3B08-8992-F7B5-C888F88C5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23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6FEA73-2173-7C5B-042A-01561FA92CF5}"/>
              </a:ext>
            </a:extLst>
          </p:cNvPr>
          <p:cNvSpPr txBox="1"/>
          <p:nvPr/>
        </p:nvSpPr>
        <p:spPr>
          <a:xfrm>
            <a:off x="1567631" y="6396161"/>
            <a:ext cx="5919019" cy="27699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IN" sz="1200" dirty="0">
                <a:latin typeface="Times New Roman"/>
                <a:cs typeface="Times New Roman"/>
              </a:rPr>
              <a:t>Fig. Task-Level Architecture of Predictive Analytics and Crop Health Forecasting Module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52E2D70-0F81-7988-211F-FF786B000E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0965" y="3160425"/>
            <a:ext cx="7372350" cy="321583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3151356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2CF3617D-D28E-D73B-C474-B43E96A7C2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54A4784-1F25-072A-7B8E-3205A98565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8332A5C8-AD4A-1044-5A3F-3C0A8E12222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668841"/>
            <a:ext cx="8800578" cy="584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200" b="1" dirty="0">
                <a:latin typeface="Times New Roman"/>
                <a:cs typeface="Times New Roman"/>
                <a:sym typeface="Times New Roman" panose="02020603050405020304"/>
              </a:rPr>
              <a:t>Task 1 –</a:t>
            </a:r>
            <a:r>
              <a:rPr lang="en-US" sz="2200" b="1" dirty="0">
                <a:latin typeface="Times New Roman"/>
                <a:ea typeface="+mn-lt"/>
                <a:cs typeface="Times New Roman"/>
                <a:sym typeface="Times New Roman" panose="02020603050405020304"/>
              </a:rPr>
              <a:t> Environmental Forecasting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hybrid multi-model forecasting framework is designed to predict short-term greenhouse climate variables (temperature, humidity, wind speed, solar radiation) at 24h and 48h horizons.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uses Chronos-T5 (transformer),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(tree-based), and LSTM (sequence model) to capture global temporal patterns, structured feature interactions, and sequential dependencies respectively.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Historical time-series data is chronologically split (70:15:15) and preprocessed with cleaning, temporal continuity, and feature engineering.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Chronos-T5 is fine-tuned using a two-stage training strategy (frozen → full fine-tuning).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direct multi-step approach with variable-specific regularization to handle differences in predictability across climate variables. 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models are trained using 30-day sequences.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predictions are generated through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Optuna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-based ensemble blending, optimizing weights per variable and horizon for improved accuracy and robustness.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also includes sky-condition classification using Random Forest.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685800" lvl="1" indent="-342900" algn="just">
              <a:buFont typeface="Courier New" panose="020B0604020202020204" pitchFamily="34" charset="0"/>
              <a:buChar char="o"/>
            </a:pPr>
            <a:endParaRPr lang="en-US" sz="2200" dirty="0">
              <a:latin typeface="Times New Roman"/>
              <a:ea typeface="Calibri"/>
              <a:cs typeface="Times New Roman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6AE158A-328E-DECC-3D54-6C6BBDB55434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AB774459-12CF-6CD7-DCAC-8608D7AE4F6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074430-AFE4-CD90-4D37-943B8767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60625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CFEC380-FF1F-7EF9-1496-D7176650FC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0E5F524-04EC-B09D-818F-6161302848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8916A353-E4FE-E218-915D-1E4D3A6433EF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F8C7F83-7A2D-72D7-F52A-7BB0DC714E7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53D77EF-C1DF-C79C-AE07-E632B47B5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25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540A8A-4EF9-9645-C776-DDEED8269B85}"/>
              </a:ext>
            </a:extLst>
          </p:cNvPr>
          <p:cNvSpPr txBox="1"/>
          <p:nvPr/>
        </p:nvSpPr>
        <p:spPr>
          <a:xfrm>
            <a:off x="2514235" y="6444477"/>
            <a:ext cx="45395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Weather Forecasting Model Architecture</a:t>
            </a:r>
            <a:endParaRPr lang="en-US" sz="1200" dirty="0"/>
          </a:p>
        </p:txBody>
      </p:sp>
      <p:pic>
        <p:nvPicPr>
          <p:cNvPr id="11" name="Picture 10" descr="A diagram of a flowchart">
            <a:extLst>
              <a:ext uri="{FF2B5EF4-FFF2-40B4-BE49-F238E27FC236}">
                <a16:creationId xmlns:a16="http://schemas.microsoft.com/office/drawing/2014/main" id="{51606598-039F-BFDF-A9D9-2B371716D5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40569" y="740625"/>
            <a:ext cx="6062862" cy="575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37934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E9ADF03-C06E-F716-6E56-752E617901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19DC463C-5F36-5CD1-4882-AB8E1E28111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C962DA5E-81F8-764A-3130-C17C960C2A8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1015904"/>
            <a:ext cx="8800578" cy="51456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Task 2 – Disease Risk Prediction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time-series disease forecasting pipeline predicts presence, future severity (24h), and trend (absent, emerging, reducing, stable, worsening) for each disease, enabling proactive greenhouse intervention.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structured from long to wide format, creating disease-specific features (presence, severity, targets, trends) while preserving multi-disease learning in a unified feature space.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pipeline includes encoding and chronological splitting (70:15:15)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 models use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HistGradientBoosting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(multi-output classification + regression) with lagged features, providing stable reference predictions and supporting hybrid blending.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models use LSTM/GRU sequence learning (24-hour windows) with a shared encoder and dual heads for presence classification and future severity regression.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includes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EarlyStopping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ReduceLROnPlateau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checkpointing, and model selection between LSTM/GRU based on validation performance.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71659D7-5665-189C-43F1-338AD1935B96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DEA27B8-73B6-0927-61CC-2782BD554A3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68ABAD-7779-2551-DE6A-C85C1BD565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43222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619461F1-C78A-E419-0480-0984671126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298DFB6-A32D-4581-F5C9-872C640459A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D7291F4C-7441-07EB-D6AA-62E54AD7EE93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C5ECDDC-AA9F-136B-D53A-D68C08491A3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4C6EBB-01FA-5625-7F41-4C7A881F5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27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FF0F387-AA24-2364-ADEF-46D6D77031F7}"/>
              </a:ext>
            </a:extLst>
          </p:cNvPr>
          <p:cNvSpPr txBox="1"/>
          <p:nvPr/>
        </p:nvSpPr>
        <p:spPr>
          <a:xfrm>
            <a:off x="2686051" y="6492875"/>
            <a:ext cx="45395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Disease Progression Prediction Model Architecture</a:t>
            </a:r>
            <a:endParaRPr lang="en-US" sz="1200" dirty="0"/>
          </a:p>
        </p:txBody>
      </p:sp>
      <p:pic>
        <p:nvPicPr>
          <p:cNvPr id="11" name="Picture 10" descr="A diagram of a flowchart">
            <a:extLst>
              <a:ext uri="{FF2B5EF4-FFF2-40B4-BE49-F238E27FC236}">
                <a16:creationId xmlns:a16="http://schemas.microsoft.com/office/drawing/2014/main" id="{AA17337F-2670-9C14-8BDA-4C1B753A50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43094" y="753239"/>
            <a:ext cx="5414469" cy="5749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75903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7FBB6932-868D-D22B-0A4F-CFCC1FD0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0DE4FFDD-C98F-25B6-3999-8BAA44D7031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CE89C879-450F-165E-9FA2-3411D2C4F1C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699603"/>
            <a:ext cx="8800578" cy="58420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Task 3 –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Growth Forecasting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sequence-based multi-task framework predicts current stage, next stage, hours to transition, and transition probabilities (24h, 48h) using greenhouse sensor time-series data.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is structured as hourly time-series across multiple plant growth cycles, ensuring biologically valid progression learning and generalization across unseen cycles.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Feature engineering includes rolling statistics (6h–24h), lag features, and environmental variables (temperature, humidity, CO₂, radiation) to capture growth dynamics.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Sequence modeling uses 24-hour sliding windows, enabling the model to learn temporal patterns across full day–night greenhouse cycles.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Baselines (Random Forest,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provide tabular benchmarks, validating improvements from sequence-based deep learning approaches.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model uses a multi-task LSTM architecture for joint classification and regression of growth progression variables.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Training includes cross-entropy (classification), Huber loss (regression), early stopping, LR scheduling, and logical post-processing for consistent outputs. 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60B0E20F-28E4-761C-9BD2-4635BCBFC1B9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A8695870-8DF9-08D9-DF74-9D4AE4354116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794316-E4F7-5483-670A-72A0BCD5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4422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F8847856-F235-4A97-3710-A9647D68B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BF2CB79E-6699-B5D6-E2B5-77A615CBCB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9BCA728-1CB7-CDC1-4B66-063041A3125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2CDD3E2-6778-798D-E0E1-37F61B345AD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46A15F-9617-5411-9CB7-1A620F61EF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29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C3294E-E50F-A108-8C35-DC8C56D86313}"/>
              </a:ext>
            </a:extLst>
          </p:cNvPr>
          <p:cNvSpPr txBox="1"/>
          <p:nvPr/>
        </p:nvSpPr>
        <p:spPr>
          <a:xfrm>
            <a:off x="2426119" y="6536937"/>
            <a:ext cx="453950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Growth Progression Prediction Model Architecture</a:t>
            </a:r>
            <a:endParaRPr lang="en-US" sz="1200" dirty="0"/>
          </a:p>
        </p:txBody>
      </p:sp>
      <p:pic>
        <p:nvPicPr>
          <p:cNvPr id="11" name="Picture 10" descr="A diagram of a company">
            <a:extLst>
              <a:ext uri="{FF2B5EF4-FFF2-40B4-BE49-F238E27FC236}">
                <a16:creationId xmlns:a16="http://schemas.microsoft.com/office/drawing/2014/main" id="{8CB2E2AF-1A07-86DD-17A3-ED0EA94924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9544" y="752332"/>
            <a:ext cx="8039721" cy="5847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5881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317F8620-6C81-FD2A-6FA7-0A7FA090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6C92C87-9252-FD00-B806-3D7D5888BA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CCB0F56D-638E-1CB7-1CF9-3D4589E15F24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700853"/>
            <a:ext cx="8915400" cy="2611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720725" lvl="2" indent="0" algn="ctr">
              <a:lnSpc>
                <a:spcPts val="2600"/>
              </a:lnSpc>
              <a:spcBef>
                <a:spcPts val="380"/>
              </a:spcBef>
              <a:buClr>
                <a:schemeClr val="dk1"/>
              </a:buClr>
              <a:buSzPts val="1900"/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  <a:sym typeface="Times New Roman" panose="02020603050405020304"/>
              </a:rPr>
              <a:t>Module – III: </a:t>
            </a: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Digital Twin Simulation and Intelligent Greenhouse Control  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This</a:t>
            </a: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module creates a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 closed-loop simulation continuously predicts greenhouse states, while a Model Predictive Control (MPC) framework generates optimal actuator decisions to maintain ideal crop conditions.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includes a backend API, frontend dashboard, and 3D visualization for real-time monitoring and interaction.</a:t>
            </a:r>
            <a:r>
              <a:rPr lang="en-US" sz="20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 </a:t>
            </a: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5078BDF8-DC50-8178-43C8-E29F804CE9F5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71D3D0C8-DFCB-5695-7963-6E62BA392301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F93B907-BB6A-9D9E-82DC-BFB9054831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51ADAE-325E-5069-AAC6-1F62A3B19A45}"/>
              </a:ext>
            </a:extLst>
          </p:cNvPr>
          <p:cNvSpPr txBox="1"/>
          <p:nvPr/>
        </p:nvSpPr>
        <p:spPr>
          <a:xfrm>
            <a:off x="1567631" y="6458791"/>
            <a:ext cx="640713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Task-Level Architecture of Digital Twin Simulation and Intelligent Greenhouse Control Module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905D2BB-6E42-84B1-DB12-6EF9B6CC84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53837" y="3006773"/>
            <a:ext cx="7634723" cy="334957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06737641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40F56C15-AC2B-36A8-0E95-364B9CBE1C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67255CA0-42FD-52CD-D8F7-BB48ED0186E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2CB514BF-DCC3-6CF7-263A-3A6EF6136D21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56053" y="1123462"/>
            <a:ext cx="8831893" cy="53646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1 – Model Predictive Control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acts as the core decision-making layer, integrating environmental forecasts, disease progression, crop growth stage, and greenhouse condition into a fused state for predictive greenhouse control.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Greenhouse dynamics are modeled using an ARX (Auto-Regressive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eXogenous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inputs) model, enabling efficient prediction of future states based on current conditions, control actions, and disturbances.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MPC performs finite-horizon optimization, predicting future system behavior and computing optimal actuator actions to minimize deviation from desired crop-specific setpoints.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optimization incorporates operational constraints, ensuring actuator limits and maintaining environmental variables within agronomically safe ranges.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supports disease-aware and stage-specific control, allowing decisions to adapt based on crop growth phase and predicted disease risks.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MPC combines predictive modeling, constrained optimization, and AI-driven insights to enable adaptive, efficient, and intelligent greenhouse control.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8736B7B4-CEAF-DD07-02B8-2B7111ECD14C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AD6BA1DD-29C6-0DCD-E842-112797AD9D5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 dirty="0">
                <a:solidFill>
                  <a:srgbClr val="888888"/>
                </a:solidFill>
              </a:rPr>
              <a:t>17/03/2026</a:t>
            </a:r>
            <a:endParaRPr sz="1200" b="0" i="0" u="none" strike="noStrike" cap="none" dirty="0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5E9668-975B-B65E-508B-56F894863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05752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5C47FDF-9645-4B56-D7E3-65E27EF9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A08BCB4-EBF1-2340-48C3-EBAC447C1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18B3F44C-0C70-C003-CAA9-0D9133838B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6408" y="883619"/>
            <a:ext cx="8800578" cy="546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2 – Digital Twin Closed Loop Simulation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DT loop acts as the execution backbone, maintaining a virtual greenhouse replica that predicts system evolution, evaluates actuator effects, and feeds results back into the control pipeline.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is structured into input (state, weather, disease, growth, images), simulation core (DT engine + MPC), and output (diagnostics, summaries, real-time updates) ensuring full pipeline integration.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DT reuses the same ARX greenhouse model, ensuring mathematical consistency between simulation and real control decisions.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a multi-rate execution schedule: simulation every 5 min, MPC every 15 min, and image updates every 30 min, balancing responsiveness and computational efficiency.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Includes automatic growth stage progression and event-triggered MPC re-optimization, enabling both scheduled control and reactive safety handling.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fully explainable outputs (energy, water, risk, errors, state deltas) and integrates with API, dashboard, and 3D visualization for real-time monitoring.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F8459FD-1B5D-C380-DED4-339D6065759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8EE34FE-CCCA-A598-6E2A-BC27C4DC88B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46ACF-2BDE-906C-D2AE-5AEDBDBB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297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5C47FDF-9645-4B56-D7E3-65E27EF9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A08BCB4-EBF1-2340-48C3-EBAC447C1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18B3F44C-0C70-C003-CAA9-0D9133838B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854414"/>
            <a:ext cx="8800578" cy="54663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3 – 3D Greenhouse Visualization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real-time Unity-based 3D digital twin models the greenhouse environment with physics-based rendering, dynamic lighting, and scripted actuator interactions to reflect system behavior.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Actuator-driven animations ensure vent opening, fan rotation, irrigation activation, and lighting intensity dynamically respond to control signals from the system.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is deployed via Unity WebGL (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WebAssembly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+ JavaScript), enabling browser-based access with optimized rendering, compression, and performance tuning.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Crop growth visualization uses stage-based modeling with model switching or smooth transitions aligned with prediction outputs.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Environmental realism is enhanced through time-of-day simulation (lighting variation), mist effects, and dynamic visual cues representing climate conditions.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with the backend uses API-based real-time data exchange, where Unity updates object states, animations, and environment using simulation outputs.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  <a:buFont typeface="Wingdings" panose="020B0604020202020204" pitchFamily="34" charset="0"/>
              <a:buChar char="q"/>
            </a:pP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F8459FD-1B5D-C380-DED4-339D6065759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8EE34FE-CCCA-A598-6E2A-BC27C4DC88B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46ACF-2BDE-906C-D2AE-5AEDBDBB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13482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55C47FDF-9645-4B56-D7E3-65E27EF95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A08BCB4-EBF1-2340-48C3-EBAC447C1CF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Project Modules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18B3F44C-0C70-C003-CAA9-0D9133838BEA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71711" y="1209056"/>
            <a:ext cx="8800578" cy="4748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2" algn="ctr">
              <a:buNone/>
            </a:pPr>
            <a:r>
              <a:rPr lang="en-US" sz="2000" b="1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  <a:sym typeface="Times New Roman" panose="02020603050405020304"/>
              </a:rPr>
              <a:t>Task 4 – Frontend Interface &amp; System Integration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frontend serves as the visualization and interaction layer, presenting real-time greenhouse state, crop stage, disease risk, and system health.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provides dashboard, detailed insights, and manual control panels, enabling monitoring of actuator states, resource usage, forecasts, and user-driven configuration for control.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FastAPI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acts as a communication bridge between frontend, digital twin loop, MPC, and 3D visualization, exposing endpoints for state retrieval, control updates, and diagnostics. 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API supports multi-level data exchange, including actuator configuration, system metrics, validation of inputs, and integration with external visualization systems.</a:t>
            </a:r>
          </a:p>
          <a:p>
            <a:pPr marL="342900" indent="-342900"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Overall, this layer enables real-time monitoring, user interaction, system integration, and long-term performance analytics, transforming the digital twin into a complete decision-support platform. </a:t>
            </a:r>
            <a:endParaRPr lang="en-US" sz="2000" dirty="0"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BF8459FD-1B5D-C380-DED4-339D6065759E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18EE34FE-CCCA-A598-6E2A-BC27C4DC88B0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AC46ACF-2BDE-906C-D2AE-5AEDBDBB3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1660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</a:t>
            </a:r>
            <a:endParaRPr lang="en-US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43638" y="839259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indent="0" algn="ctr">
              <a:buNone/>
            </a:pPr>
            <a:r>
              <a:rPr lang="en-US" sz="2000" b="1" dirty="0">
                <a:latin typeface="Times New Roman"/>
                <a:ea typeface="+mn-lt"/>
                <a:cs typeface="Times New Roman"/>
              </a:rPr>
              <a:t>Input Image Samples</a:t>
            </a: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35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pic>
        <p:nvPicPr>
          <p:cNvPr id="10" name="Picture 9" descr="A collage of different types of leaves&#10;&#10;AI-generated content may be incorrect.">
            <a:extLst>
              <a:ext uri="{FF2B5EF4-FFF2-40B4-BE49-F238E27FC236}">
                <a16:creationId xmlns:a16="http://schemas.microsoft.com/office/drawing/2014/main" id="{7FFBC00F-6445-B435-FF72-621F90F9649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788" y="1339371"/>
            <a:ext cx="3848753" cy="4314958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613662" y="5781346"/>
            <a:ext cx="37465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Tomato Crop Growth Stages Dataset Samples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5133469" y="5781345"/>
            <a:ext cx="37465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Fig.  Tomato Leaf Disease Classification Dataset Samples</a:t>
            </a:r>
            <a:endParaRPr lang="en-US" sz="1200" dirty="0"/>
          </a:p>
        </p:txBody>
      </p:sp>
      <p:pic>
        <p:nvPicPr>
          <p:cNvPr id="4" name="Picture 3" descr="A collage of different plants&#10;&#10;AI-generated content may be incorrect.">
            <a:extLst>
              <a:ext uri="{FF2B5EF4-FFF2-40B4-BE49-F238E27FC236}">
                <a16:creationId xmlns:a16="http://schemas.microsoft.com/office/drawing/2014/main" id="{40B00943-5415-670A-8A49-F464DD6AA99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776" y="1346156"/>
            <a:ext cx="4611928" cy="4207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13838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Crop Growth Stage Classification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36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Confusion Matrix of Tomato Growth Stage Classification Model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Accuracy of the Growth Stage Classification Model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DA15123-2462-FD33-C2A0-2A75447C190C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-3" t="12709" r="53536" b="1452"/>
          <a:stretch/>
        </p:blipFill>
        <p:spPr bwMode="auto">
          <a:xfrm>
            <a:off x="0" y="1412527"/>
            <a:ext cx="4753274" cy="434151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81DC89C-EDB6-5AD2-8EB3-80E735E0030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49902" t="7265"/>
          <a:stretch/>
        </p:blipFill>
        <p:spPr bwMode="auto">
          <a:xfrm>
            <a:off x="4899411" y="1494298"/>
            <a:ext cx="3980629" cy="369980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0429134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Plant Disease Detection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37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Confusion Matrix of Tomato Disease Detection Model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Training Accuracy of the Disease Detection Model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10C1D30-C112-6CE0-7CBB-1BC9D4E30733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1" t="4180" r="48807" b="1186"/>
          <a:stretch/>
        </p:blipFill>
        <p:spPr bwMode="auto">
          <a:xfrm>
            <a:off x="-1" y="1371600"/>
            <a:ext cx="4733721" cy="43824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09AD626-83D2-AA93-40DB-BEECC24BDB46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49717" t="7265"/>
          <a:stretch/>
        </p:blipFill>
        <p:spPr bwMode="auto">
          <a:xfrm>
            <a:off x="4733720" y="1341410"/>
            <a:ext cx="4313298" cy="432131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770119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Weather Forecasting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  <a:p>
            <a:pPr marL="0" indent="0" algn="ctr">
              <a:buNone/>
            </a:pPr>
            <a:endParaRPr lang="en-US" sz="2200" b="1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38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Chronos Model Training Curve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Chronos Model Validation Accuracy after Fine-Tuning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8141698-84EB-C8D2-D9EE-7A2A2157817D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r="48299"/>
          <a:stretch/>
        </p:blipFill>
        <p:spPr bwMode="auto">
          <a:xfrm>
            <a:off x="181119" y="1382423"/>
            <a:ext cx="4753274" cy="4497643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66B2D2B-A435-8397-DBEA-600648715A5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20000"/>
                    </a14:imgEffect>
                  </a14:imgLayer>
                </a14:imgProps>
              </a:ext>
            </a:extLst>
          </a:blip>
          <a:srcRect l="51979" b="6068"/>
          <a:stretch/>
        </p:blipFill>
        <p:spPr bwMode="auto">
          <a:xfrm>
            <a:off x="5080529" y="1382424"/>
            <a:ext cx="3882351" cy="4344316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13903181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39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2686050" y="6444477"/>
            <a:ext cx="45158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Ensemble Weather Forecast Prediction versus Actual Values</a:t>
            </a:r>
            <a:endParaRPr lang="en-IN" sz="12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/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993C578-46A3-243F-4D18-0C58F7AC1D3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12739" y="765361"/>
            <a:ext cx="8718521" cy="55293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8626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Disease Progression Model</a:t>
            </a:r>
            <a:endParaRPr lang="en-IN" sz="18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40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LSTM Training Loss Curve for Disease Progression Model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631796" y="5754043"/>
            <a:ext cx="451585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GRU Training Loss Curve for Disease Progression Model</a:t>
            </a:r>
            <a:endParaRPr lang="en-US" sz="1200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90054D9-F1E6-1BC5-22DD-A6B6E24E94F9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49965" b="50078"/>
          <a:stretch/>
        </p:blipFill>
        <p:spPr bwMode="auto">
          <a:xfrm>
            <a:off x="0" y="1509280"/>
            <a:ext cx="4631796" cy="415344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EDEB552-3C86-A540-AF44-2EF17AB307C8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rcRect r="49416" b="51173"/>
          <a:stretch/>
        </p:blipFill>
        <p:spPr bwMode="auto">
          <a:xfrm>
            <a:off x="4753274" y="1509280"/>
            <a:ext cx="4390726" cy="401335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479928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41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47129" y="139861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Disease Presence Classification Model</a:t>
            </a:r>
            <a:endParaRPr lang="en-US" sz="1200" dirty="0"/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7BDB56B7-3168-35AE-12CE-2DA41490E44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45138902"/>
              </p:ext>
            </p:extLst>
          </p:nvPr>
        </p:nvGraphicFramePr>
        <p:xfrm>
          <a:off x="275532" y="1723922"/>
          <a:ext cx="4296468" cy="375941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48234">
                  <a:extLst>
                    <a:ext uri="{9D8B030D-6E8A-4147-A177-3AD203B41FA5}">
                      <a16:colId xmlns:a16="http://schemas.microsoft.com/office/drawing/2014/main" val="983330026"/>
                    </a:ext>
                  </a:extLst>
                </a:gridCol>
                <a:gridCol w="2148234">
                  <a:extLst>
                    <a:ext uri="{9D8B030D-6E8A-4147-A177-3AD203B41FA5}">
                      <a16:colId xmlns:a16="http://schemas.microsoft.com/office/drawing/2014/main" val="1135201883"/>
                    </a:ext>
                  </a:extLst>
                </a:gridCol>
              </a:tblGrid>
              <a:tr h="9556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52581357"/>
                  </a:ext>
                </a:extLst>
              </a:tr>
              <a:tr h="9240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Micro F1 Score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9217317"/>
                  </a:ext>
                </a:extLst>
              </a:tr>
              <a:tr h="95568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Macro F1 Score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46694751"/>
                  </a:ext>
                </a:extLst>
              </a:tr>
              <a:tr h="924028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0.907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73214881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5EF9846-6DCD-BC15-8F32-10A452C39814}"/>
              </a:ext>
            </a:extLst>
          </p:cNvPr>
          <p:cNvSpPr txBox="1"/>
          <p:nvPr/>
        </p:nvSpPr>
        <p:spPr>
          <a:xfrm>
            <a:off x="4513088" y="139150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Disease Severity Prediction</a:t>
            </a:r>
            <a:endParaRPr lang="en-US" sz="1200" dirty="0"/>
          </a:p>
        </p:txBody>
      </p:sp>
      <p:graphicFrame>
        <p:nvGraphicFramePr>
          <p:cNvPr id="13" name="Table 12">
            <a:extLst>
              <a:ext uri="{FF2B5EF4-FFF2-40B4-BE49-F238E27FC236}">
                <a16:creationId xmlns:a16="http://schemas.microsoft.com/office/drawing/2014/main" id="{66A4D4BD-A6E5-9581-F373-3AB2BE9CE3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10331315"/>
              </p:ext>
            </p:extLst>
          </p:nvPr>
        </p:nvGraphicFramePr>
        <p:xfrm>
          <a:off x="4800402" y="1723922"/>
          <a:ext cx="4191198" cy="38443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95599">
                  <a:extLst>
                    <a:ext uri="{9D8B030D-6E8A-4147-A177-3AD203B41FA5}">
                      <a16:colId xmlns:a16="http://schemas.microsoft.com/office/drawing/2014/main" val="2554369048"/>
                    </a:ext>
                  </a:extLst>
                </a:gridCol>
                <a:gridCol w="2095599">
                  <a:extLst>
                    <a:ext uri="{9D8B030D-6E8A-4147-A177-3AD203B41FA5}">
                      <a16:colId xmlns:a16="http://schemas.microsoft.com/office/drawing/2014/main" val="595704143"/>
                    </a:ext>
                  </a:extLst>
                </a:gridCol>
              </a:tblGrid>
              <a:tr h="950450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20670059"/>
                  </a:ext>
                </a:extLst>
              </a:tr>
              <a:tr h="928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Mean Absolute Error (MAE)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3.297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9514418"/>
                  </a:ext>
                </a:extLst>
              </a:tr>
              <a:tr h="1036455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Root Mean Square Error (RMSE)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7.143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5726756"/>
                  </a:ext>
                </a:extLst>
              </a:tr>
              <a:tr h="928719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Score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0.618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638555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642908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E587C84A-3956-E191-728B-1134DB1486F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Results of Crop Growth Progression Model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42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0" y="5781346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Actual versus Predicted Hours to Next Growth Stage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52D4212-D795-8610-E25E-5237F5BC2036}"/>
              </a:ext>
            </a:extLst>
          </p:cNvPr>
          <p:cNvSpPr txBox="1"/>
          <p:nvPr/>
        </p:nvSpPr>
        <p:spPr>
          <a:xfrm>
            <a:off x="4748079" y="5754043"/>
            <a:ext cx="4515858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Confusion Matrix for 24-Hour Growth Stage Transition Prediction</a:t>
            </a:r>
            <a:endParaRPr lang="en-US" sz="1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E9F724-2761-0648-6035-3699614FD1C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contras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15570" y="1533525"/>
            <a:ext cx="4637704" cy="42205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59BA892-8B39-24B6-A8A9-EB4C5164140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62873" y="1645372"/>
            <a:ext cx="3653704" cy="39292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47406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9A8B837A-6056-0929-F528-F90B1F5AA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03BE0D1-6719-685D-4C06-0AC3A368F96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C1D6204D-0B0D-99F7-C7CD-65FA435BFDE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CAA71E3-A0F0-ECC5-25BD-6D988EAA87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43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708D665A-B17B-C44C-5E28-5D78787BDCB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4F994D4-7597-51ED-029D-87EE7BD79C2A}"/>
              </a:ext>
            </a:extLst>
          </p:cNvPr>
          <p:cNvSpPr txBox="1"/>
          <p:nvPr/>
        </p:nvSpPr>
        <p:spPr>
          <a:xfrm>
            <a:off x="47129" y="139861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Growth Stage Classification Model</a:t>
            </a:r>
            <a:endParaRPr lang="en-US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5EF9846-6DCD-BC15-8F32-10A452C39814}"/>
              </a:ext>
            </a:extLst>
          </p:cNvPr>
          <p:cNvSpPr txBox="1"/>
          <p:nvPr/>
        </p:nvSpPr>
        <p:spPr>
          <a:xfrm>
            <a:off x="4513088" y="1391503"/>
            <a:ext cx="4753274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Metrics for Growth Stage Transition Prediction</a:t>
            </a:r>
            <a:endParaRPr lang="en-US" sz="1200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3D12A6-BC46-BB2C-29C5-64D62E090C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438054"/>
              </p:ext>
            </p:extLst>
          </p:nvPr>
        </p:nvGraphicFramePr>
        <p:xfrm>
          <a:off x="211312" y="1754451"/>
          <a:ext cx="4360688" cy="4158185"/>
        </p:xfrm>
        <a:graphic>
          <a:graphicData uri="http://schemas.openxmlformats.org/drawingml/2006/table">
            <a:tbl>
              <a:tblPr firstRow="1" firstCol="1" bandRow="1">
                <a:tableStyleId>{56D51072-94E4-4FC1-8697-D52FD32A7993}</a:tableStyleId>
              </a:tblPr>
              <a:tblGrid>
                <a:gridCol w="2180344">
                  <a:extLst>
                    <a:ext uri="{9D8B030D-6E8A-4147-A177-3AD203B41FA5}">
                      <a16:colId xmlns:a16="http://schemas.microsoft.com/office/drawing/2014/main" val="1916125745"/>
                    </a:ext>
                  </a:extLst>
                </a:gridCol>
                <a:gridCol w="2180344">
                  <a:extLst>
                    <a:ext uri="{9D8B030D-6E8A-4147-A177-3AD203B41FA5}">
                      <a16:colId xmlns:a16="http://schemas.microsoft.com/office/drawing/2014/main" val="2909127214"/>
                    </a:ext>
                  </a:extLst>
                </a:gridCol>
              </a:tblGrid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83422528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634778946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(Macro)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750451933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0.95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262938186"/>
                  </a:ext>
                </a:extLst>
              </a:tr>
              <a:tr h="83163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34353314"/>
                  </a:ext>
                </a:extLst>
              </a:tr>
            </a:tbl>
          </a:graphicData>
        </a:graphic>
      </p:graphicFrame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2E513F4-1D8D-C4DC-46E5-9A5B00E4C6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4582481"/>
              </p:ext>
            </p:extLst>
          </p:nvPr>
        </p:nvGraphicFramePr>
        <p:xfrm>
          <a:off x="4995861" y="1758670"/>
          <a:ext cx="3774066" cy="3962251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87033">
                  <a:extLst>
                    <a:ext uri="{9D8B030D-6E8A-4147-A177-3AD203B41FA5}">
                      <a16:colId xmlns:a16="http://schemas.microsoft.com/office/drawing/2014/main" val="3415158845"/>
                    </a:ext>
                  </a:extLst>
                </a:gridCol>
                <a:gridCol w="1887033">
                  <a:extLst>
                    <a:ext uri="{9D8B030D-6E8A-4147-A177-3AD203B41FA5}">
                      <a16:colId xmlns:a16="http://schemas.microsoft.com/office/drawing/2014/main" val="3277415348"/>
                    </a:ext>
                  </a:extLst>
                </a:gridCol>
              </a:tblGrid>
              <a:tr h="8027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24-Hour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24394026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235945594"/>
                  </a:ext>
                </a:extLst>
              </a:tr>
              <a:tr h="8027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 (Macro)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0.97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92966655"/>
                  </a:ext>
                </a:extLst>
              </a:tr>
              <a:tr h="802703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70715963"/>
                  </a:ext>
                </a:extLst>
              </a:tr>
              <a:tr h="777071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 Score (Macro)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0.96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971875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707222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27FC597-9B5C-3147-394C-08059C98A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0A7671A9-9EB5-C5DE-9416-247C65F55F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A5C074AE-CAEF-54D7-0B7E-3D709BAFF758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628650" y="907050"/>
            <a:ext cx="7886700" cy="52699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457200" lvl="1" indent="0" algn="ctr">
              <a:spcBef>
                <a:spcPts val="600"/>
              </a:spcBef>
              <a:spcAft>
                <a:spcPts val="300"/>
              </a:spcAft>
              <a:buNone/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System Interface and Execution Logs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6A9FD988-748A-C274-FC2E-AA9E86738EB3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66C9966-AD7B-3544-1569-F0B95BDD50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44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C45A9B2-1434-08C9-11E6-F55A429DC3E0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5F77C41-9C7A-56A8-E234-073CBC67BAFB}"/>
              </a:ext>
            </a:extLst>
          </p:cNvPr>
          <p:cNvSpPr txBox="1"/>
          <p:nvPr/>
        </p:nvSpPr>
        <p:spPr>
          <a:xfrm>
            <a:off x="646193" y="5950950"/>
            <a:ext cx="3746571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1200" dirty="0">
                <a:latin typeface="Times New Roman"/>
                <a:cs typeface="Times New Roman"/>
              </a:rPr>
              <a:t>Fig.  Greenhouse Dashboard Interface in Dark Mode</a:t>
            </a:r>
            <a:endParaRPr lang="en-US" sz="12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D963605-D604-B171-BBFC-A0C7D768B0EF}"/>
              </a:ext>
            </a:extLst>
          </p:cNvPr>
          <p:cNvSpPr txBox="1"/>
          <p:nvPr/>
        </p:nvSpPr>
        <p:spPr>
          <a:xfrm>
            <a:off x="4775435" y="5950950"/>
            <a:ext cx="398665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Fig. </a:t>
            </a:r>
            <a:r>
              <a:rPr lang="en-US" sz="1200" dirty="0">
                <a:latin typeface="Times New Roman" panose="02020603050405020304" pitchFamily="18" charset="0"/>
                <a:ea typeface="Calibri"/>
                <a:cs typeface="Times New Roman" panose="02020603050405020304" pitchFamily="18" charset="0"/>
              </a:rPr>
              <a:t>Greenhouse Dashboard Interface in Light Mode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E68ACC-A44B-7F15-C377-C35CE35D4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530" y="1708629"/>
            <a:ext cx="4163078" cy="4113537"/>
          </a:xfrm>
          <a:prstGeom prst="rect">
            <a:avLst/>
          </a:prstGeom>
        </p:spPr>
      </p:pic>
      <p:pic>
        <p:nvPicPr>
          <p:cNvPr id="8" name="Picture 7" descr="A screenshot of a green and white dashboard&#10;&#10;AI-generated content may be incorrect.">
            <a:extLst>
              <a:ext uri="{FF2B5EF4-FFF2-40B4-BE49-F238E27FC236}">
                <a16:creationId xmlns:a16="http://schemas.microsoft.com/office/drawing/2014/main" id="{64D65F46-38FC-1805-3699-A5033E1A23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2078" y="1723439"/>
            <a:ext cx="4090009" cy="3978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5807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2F7E2C7F-CACD-A6AB-922C-A96BE62C53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3822585C-95EA-71F3-87C5-49C53E9D73D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6D923ED-7DA8-5E58-4BF9-D17F85E55EB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4498D39-E4D1-79E9-8BAF-7D2F65EEC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45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58A69BB7-3568-1FB9-F56C-8DCCA42E481C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05ECEA06-B1A0-6127-2687-94580310CD27}"/>
              </a:ext>
            </a:extLst>
          </p:cNvPr>
          <p:cNvSpPr txBox="1"/>
          <p:nvPr/>
        </p:nvSpPr>
        <p:spPr>
          <a:xfrm>
            <a:off x="105788" y="5670951"/>
            <a:ext cx="4391549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Growth Intelligence Section in Detailed Insights Interface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FAE1BC-90BF-3A9F-C7E6-7D6008C4F95B}"/>
              </a:ext>
            </a:extLst>
          </p:cNvPr>
          <p:cNvSpPr txBox="1"/>
          <p:nvPr/>
        </p:nvSpPr>
        <p:spPr>
          <a:xfrm>
            <a:off x="4675208" y="5693086"/>
            <a:ext cx="4225708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Disease 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Intelligence Section in Detailed Insights Interface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4B30BE2-1FC4-F126-0746-832E1D2283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5776" y="1473576"/>
            <a:ext cx="4204831" cy="4035508"/>
          </a:xfrm>
          <a:prstGeom prst="rect">
            <a:avLst/>
          </a:prstGeom>
        </p:spPr>
      </p:pic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A192611-740B-E061-6B4F-22309DEDB1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82516" y="1476316"/>
            <a:ext cx="4225708" cy="40311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30191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F4C87E83-3385-89E6-37BD-5013DE479A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A7EAB8EB-BCD1-4475-F2E1-F8988B70F7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8F5D2D9B-959B-6F3F-6EA7-25417EE9B18A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E19A348-AF04-5243-F343-BED07F018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46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A334E2DA-8D88-1B6B-FB17-0E388EBA746A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7B74F2D1-92E0-D4AB-5DDD-054D3D64634D}"/>
              </a:ext>
            </a:extLst>
          </p:cNvPr>
          <p:cNvSpPr txBox="1"/>
          <p:nvPr/>
        </p:nvSpPr>
        <p:spPr>
          <a:xfrm>
            <a:off x="246215" y="5279841"/>
            <a:ext cx="39762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Environmental Monitoring Section Showing Outdoor and Indoor Conditions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AB7DCEC5-0041-F0FA-7A24-73F7B5F3FAAA}"/>
              </a:ext>
            </a:extLst>
          </p:cNvPr>
          <p:cNvSpPr txBox="1"/>
          <p:nvPr/>
        </p:nvSpPr>
        <p:spPr>
          <a:xfrm>
            <a:off x="4572000" y="5279841"/>
            <a:ext cx="39866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Manual 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Override Interface for Growth Stage and Actuator Control</a:t>
            </a:r>
          </a:p>
        </p:txBody>
      </p:sp>
      <p:pic>
        <p:nvPicPr>
          <p:cNvPr id="7" name="Picture 6" descr="A screenshot of a weather forecast&#10;&#10;AI-generated content may be incorrect.">
            <a:extLst>
              <a:ext uri="{FF2B5EF4-FFF2-40B4-BE49-F238E27FC236}">
                <a16:creationId xmlns:a16="http://schemas.microsoft.com/office/drawing/2014/main" id="{48BB58A9-20A3-570F-B27D-E4BE4B0242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215" y="1516443"/>
            <a:ext cx="4194393" cy="3673057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DE6674-54A8-F667-F093-2CF8E94DC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8132" y="1514422"/>
            <a:ext cx="4330092" cy="36730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939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4DCDD625-BB5E-22F5-7A19-E2DF37DDD5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800C6D85-9BE4-3D8B-5C39-5B5DCCC7FF0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5E862C94-A726-A6A8-A07D-40A95F16E609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2E1B448-C4E1-C8F9-5840-6B6B0A0C6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47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3AEDDB39-AADF-AD9B-8BB9-CCEB58D2DB21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C8E1137E-BEB6-06D3-7F94-A7E2F18A292C}"/>
              </a:ext>
            </a:extLst>
          </p:cNvPr>
          <p:cNvSpPr txBox="1"/>
          <p:nvPr/>
        </p:nvSpPr>
        <p:spPr>
          <a:xfrm>
            <a:off x="2578674" y="6247580"/>
            <a:ext cx="398665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</a:t>
            </a:r>
            <a:r>
              <a:rPr lang="en-US" sz="1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Arial" panose="020B0604020202020204" pitchFamily="34" charset="0"/>
              </a:rPr>
              <a:t>Digital Twin Closed Loop Execution Log</a:t>
            </a:r>
            <a:endParaRPr lang="en-IN" sz="1200" dirty="0">
              <a:effectLst/>
              <a:latin typeface="Calibri" panose="020F0502020204030204" pitchFamily="34" charset="0"/>
              <a:ea typeface="Calibri" panose="020F0502020204030204" pitchFamily="34" charset="0"/>
              <a:cs typeface="Arial" panose="020B0604020202020204" pitchFamily="34" charset="0"/>
            </a:endParaRPr>
          </a:p>
          <a:p>
            <a:pPr algn="ctr"/>
            <a:endParaRPr lang="en-US" sz="1200" dirty="0">
              <a:latin typeface="Times New Roman"/>
              <a:ea typeface="Calibri"/>
              <a:cs typeface="Times New Roman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F218D16-169A-E25D-8731-041CF5C8A3C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  <a14:imgEffect>
                      <a14:brightnessContrast brigh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8649" y="1033073"/>
            <a:ext cx="7740563" cy="514311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1563049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AF0E7D6B-B76E-990B-C03D-2A57501F3F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48BCE826-B082-1498-C366-10BFC24CDD9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0F77DAA-B8DE-4D0B-0613-B322B3639A2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3BB2B60-F9FC-90E7-1D5F-5DBA966118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48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4897B782-A15A-1310-8CBD-C7D05A4B33C6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177D0B1F-2E02-6F6A-0F70-1AE682B30FA8}"/>
              </a:ext>
            </a:extLst>
          </p:cNvPr>
          <p:cNvSpPr txBox="1"/>
          <p:nvPr/>
        </p:nvSpPr>
        <p:spPr>
          <a:xfrm>
            <a:off x="446649" y="6011743"/>
            <a:ext cx="397621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Front View of 3D Greenhouse Environment</a:t>
            </a:r>
            <a:endParaRPr lang="en-US" sz="12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77BF002-90C9-B777-94B1-9BA01BA86037}"/>
              </a:ext>
            </a:extLst>
          </p:cNvPr>
          <p:cNvSpPr txBox="1"/>
          <p:nvPr/>
        </p:nvSpPr>
        <p:spPr>
          <a:xfrm>
            <a:off x="2265123" y="935802"/>
            <a:ext cx="4333572" cy="40011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lvl="1" algn="ctr">
              <a:spcBef>
                <a:spcPts val="600"/>
              </a:spcBef>
              <a:spcAft>
                <a:spcPts val="300"/>
              </a:spcAft>
            </a:pPr>
            <a:r>
              <a:rPr lang="en-US" sz="2000" b="1" dirty="0">
                <a:effectLst/>
                <a:latin typeface="Times New Roman" panose="02020603050405020304" pitchFamily="18" charset="0"/>
                <a:ea typeface="PMingLiU" panose="02020500000000000000" pitchFamily="18" charset="-120"/>
              </a:rPr>
              <a:t>3D Greenhouse Visualization</a:t>
            </a:r>
            <a:endParaRPr lang="en-IN" sz="2000" b="1" dirty="0">
              <a:effectLst/>
              <a:latin typeface="Times New Roman" panose="02020603050405020304" pitchFamily="18" charset="0"/>
              <a:ea typeface="PMingLiU" panose="02020500000000000000" pitchFamily="18" charset="-12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460AE87-15F2-4FA4-D445-59AFFD8EDADC}"/>
              </a:ext>
            </a:extLst>
          </p:cNvPr>
          <p:cNvSpPr txBox="1"/>
          <p:nvPr/>
        </p:nvSpPr>
        <p:spPr>
          <a:xfrm>
            <a:off x="4710699" y="6011743"/>
            <a:ext cx="398665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Internal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 Right-Side View of Greenhouse in Active State</a:t>
            </a:r>
          </a:p>
        </p:txBody>
      </p:sp>
      <p:pic>
        <p:nvPicPr>
          <p:cNvPr id="10" name="Picture 9" descr="A blue building with windows&#10;&#10;AI-generated content may be incorrect.">
            <a:extLst>
              <a:ext uri="{FF2B5EF4-FFF2-40B4-BE49-F238E27FC236}">
                <a16:creationId xmlns:a16="http://schemas.microsoft.com/office/drawing/2014/main" id="{E973888A-4978-5457-E9E9-8419316A95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4548" y="1578251"/>
            <a:ext cx="3975187" cy="4339744"/>
          </a:xfrm>
          <a:prstGeom prst="rect">
            <a:avLst/>
          </a:prstGeom>
        </p:spPr>
      </p:pic>
      <p:pic>
        <p:nvPicPr>
          <p:cNvPr id="13" name="Picture 12" descr="A room with plants in it&#10;&#10;AI-generated content may be incorrect.">
            <a:extLst>
              <a:ext uri="{FF2B5EF4-FFF2-40B4-BE49-F238E27FC236}">
                <a16:creationId xmlns:a16="http://schemas.microsoft.com/office/drawing/2014/main" id="{E95CA5BB-C227-0AB3-2B46-522F584319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34273" y="1583340"/>
            <a:ext cx="4163078" cy="4350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898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B379BDF1-4E39-BFF0-541B-CCB70FC499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6FD8D30D-F15D-D480-ECF2-03F71CEDDFE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82513" y="-29249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Times New Roman"/>
                <a:sym typeface="Times New Roman" panose="02020603050405020304"/>
              </a:rPr>
              <a:t>Results &amp; Performance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  <a:cs typeface="Times New Roman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325F0369-0722-2BEA-A28B-29104FFEF1A2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5079CDD-89D8-ECF3-D6D0-74DCAF611B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49</a:t>
            </a:fld>
            <a:endParaRPr lang="en-US"/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469BB23C-F27B-879C-E40F-A4D3E1962A29}"/>
              </a:ext>
            </a:extLst>
          </p:cNvPr>
          <p:cNvCxnSpPr/>
          <p:nvPr/>
        </p:nvCxnSpPr>
        <p:spPr>
          <a:xfrm>
            <a:off x="0" y="675647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5FB6CE35-BEAA-D924-DA37-D77925EA24E5}"/>
              </a:ext>
            </a:extLst>
          </p:cNvPr>
          <p:cNvSpPr txBox="1"/>
          <p:nvPr/>
        </p:nvSpPr>
        <p:spPr>
          <a:xfrm>
            <a:off x="446649" y="5845488"/>
            <a:ext cx="3976215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 Top-Left Perspective View of Greenhouse in Active State</a:t>
            </a:r>
            <a:endParaRPr lang="en-US" sz="1200" dirty="0">
              <a:latin typeface="Times New Roman"/>
              <a:ea typeface="Calibri"/>
              <a:cs typeface="Times New Roman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F0D6B9D-845F-5BE3-DFEE-1507C2239CF0}"/>
              </a:ext>
            </a:extLst>
          </p:cNvPr>
          <p:cNvSpPr txBox="1"/>
          <p:nvPr/>
        </p:nvSpPr>
        <p:spPr>
          <a:xfrm>
            <a:off x="4671564" y="5845488"/>
            <a:ext cx="3986652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Fig. Ripe </a:t>
            </a:r>
            <a:r>
              <a:rPr lang="en-US" sz="1200" dirty="0">
                <a:latin typeface="Times New Roman"/>
                <a:ea typeface="Calibri"/>
                <a:cs typeface="Times New Roman"/>
              </a:rPr>
              <a:t>Growth Stage Visualization inside 3D Greenhouse</a:t>
            </a:r>
          </a:p>
        </p:txBody>
      </p:sp>
      <p:pic>
        <p:nvPicPr>
          <p:cNvPr id="9" name="Picture 8" descr="A screenshot of a video game&#10;&#10;AI-generated content may be incorrect.">
            <a:extLst>
              <a:ext uri="{FF2B5EF4-FFF2-40B4-BE49-F238E27FC236}">
                <a16:creationId xmlns:a16="http://schemas.microsoft.com/office/drawing/2014/main" id="{178579DA-D311-04CE-D53E-3671BE9616A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7263" y="1435939"/>
            <a:ext cx="3964749" cy="4327741"/>
          </a:xfrm>
          <a:prstGeom prst="rect">
            <a:avLst/>
          </a:prstGeom>
        </p:spPr>
      </p:pic>
      <p:pic>
        <p:nvPicPr>
          <p:cNvPr id="10" name="Picture 9" descr="A computer generated image of a plant growing in a room&#10;&#10;AI-generated content may be incorrect.">
            <a:extLst>
              <a:ext uri="{FF2B5EF4-FFF2-40B4-BE49-F238E27FC236}">
                <a16:creationId xmlns:a16="http://schemas.microsoft.com/office/drawing/2014/main" id="{0B2DCF2C-2B8F-6E68-4924-070E5368373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56550" y="1432284"/>
            <a:ext cx="4173516" cy="4314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86825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Comparison with Existing Systems</a:t>
            </a:r>
            <a:endParaRPr lang="en-US" sz="2800" b="1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39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4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F5C1010-B5FF-4944-B8BA-99AD114E5A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457950" y="6356350"/>
            <a:ext cx="2057400" cy="365125"/>
          </a:xfrm>
        </p:spPr>
        <p:txBody>
          <a:bodyPr/>
          <a:lstStyle/>
          <a:p>
            <a:fld id="{00000000-1234-1234-1234-123412341234}" type="slidenum">
              <a:rPr lang="en-US" smtClean="0"/>
              <a:t>50</a:t>
            </a:fld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45992E0-17E8-0BDC-8340-0B05AD17886E}"/>
              </a:ext>
            </a:extLst>
          </p:cNvPr>
          <p:cNvSpPr txBox="1"/>
          <p:nvPr/>
        </p:nvSpPr>
        <p:spPr>
          <a:xfrm>
            <a:off x="973667" y="744257"/>
            <a:ext cx="77862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Comparative Analysis of Proposed Growth Stage and Disease Classification Models with Existing Approaches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D18DA22C-D079-EC90-D26D-1413A58ADB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8105938"/>
              </p:ext>
            </p:extLst>
          </p:nvPr>
        </p:nvGraphicFramePr>
        <p:xfrm>
          <a:off x="180110" y="999577"/>
          <a:ext cx="8880763" cy="5442138"/>
        </p:xfrm>
        <a:graphic>
          <a:graphicData uri="http://schemas.openxmlformats.org/drawingml/2006/table">
            <a:tbl>
              <a:tblPr firstRow="1" firstCol="1" bandRow="1">
                <a:tableStyleId>{56D51072-94E4-4FC1-8697-D52FD32A7993}</a:tableStyleId>
              </a:tblPr>
              <a:tblGrid>
                <a:gridCol w="1756756">
                  <a:extLst>
                    <a:ext uri="{9D8B030D-6E8A-4147-A177-3AD203B41FA5}">
                      <a16:colId xmlns:a16="http://schemas.microsoft.com/office/drawing/2014/main" val="347032839"/>
                    </a:ext>
                  </a:extLst>
                </a:gridCol>
                <a:gridCol w="1756756">
                  <a:extLst>
                    <a:ext uri="{9D8B030D-6E8A-4147-A177-3AD203B41FA5}">
                      <a16:colId xmlns:a16="http://schemas.microsoft.com/office/drawing/2014/main" val="1955030758"/>
                    </a:ext>
                  </a:extLst>
                </a:gridCol>
                <a:gridCol w="1756756">
                  <a:extLst>
                    <a:ext uri="{9D8B030D-6E8A-4147-A177-3AD203B41FA5}">
                      <a16:colId xmlns:a16="http://schemas.microsoft.com/office/drawing/2014/main" val="1517340054"/>
                    </a:ext>
                  </a:extLst>
                </a:gridCol>
                <a:gridCol w="1756756">
                  <a:extLst>
                    <a:ext uri="{9D8B030D-6E8A-4147-A177-3AD203B41FA5}">
                      <a16:colId xmlns:a16="http://schemas.microsoft.com/office/drawing/2014/main" val="1621392897"/>
                    </a:ext>
                  </a:extLst>
                </a:gridCol>
                <a:gridCol w="1853739">
                  <a:extLst>
                    <a:ext uri="{9D8B030D-6E8A-4147-A177-3AD203B41FA5}">
                      <a16:colId xmlns:a16="http://schemas.microsoft.com/office/drawing/2014/main" val="3624936177"/>
                    </a:ext>
                  </a:extLst>
                </a:gridCol>
              </a:tblGrid>
              <a:tr h="666658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Task Type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Approach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Architecture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Dataset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Accuracy(%)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246484665"/>
                  </a:ext>
                </a:extLst>
              </a:tr>
              <a:tr h="1361184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Stage (Existing)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/ Transfer Learning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/ VGG / Custom CNN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Plant Image Datasets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~95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06923885"/>
                  </a:ext>
                </a:extLst>
              </a:tr>
              <a:tr h="1361184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Growth Stage (Proposed)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EfficientNetB3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 Growth Stage Dataset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98.61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907330822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Detection (Existing)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CNN / Ensemble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ResNet / DenseNet / Ensemble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Leaf Disease Datasets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~97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21449204"/>
                  </a:ext>
                </a:extLst>
              </a:tr>
              <a:tr h="1013921"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Detection (Proposed)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Learning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EfficientNetB0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Tomato Leaf Disease Dataset</a:t>
                      </a:r>
                      <a:endParaRPr lang="en-IN" sz="20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marL="228600" algn="just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IN" sz="20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98.23</a:t>
                      </a:r>
                      <a:endParaRPr lang="en-IN" sz="20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5971339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587526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B4FC6BC-196A-CDF2-54E7-4F7F7FE2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EE7FA81-DBBA-B207-9A2B-B46F9DD96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Comparison with Existing Systems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1DE5CDA-5C92-B1D4-9EA8-CB58DD99A747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59E92DE-2309-84BA-AC5B-1A952EA2A7D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035F01-6CEC-FD14-3474-347BC5FA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51</a:t>
            </a:fld>
            <a:endParaRPr lang="en-US"/>
          </a:p>
        </p:txBody>
      </p:sp>
      <p:graphicFrame>
        <p:nvGraphicFramePr>
          <p:cNvPr id="8" name="Content Placeholder 7">
            <a:extLst>
              <a:ext uri="{FF2B5EF4-FFF2-40B4-BE49-F238E27FC236}">
                <a16:creationId xmlns:a16="http://schemas.microsoft.com/office/drawing/2014/main" id="{72A05459-C16D-6055-7817-7958A26264F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15385071"/>
              </p:ext>
            </p:extLst>
          </p:nvPr>
        </p:nvGraphicFramePr>
        <p:xfrm>
          <a:off x="180109" y="1029352"/>
          <a:ext cx="8783781" cy="54512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858277">
                  <a:extLst>
                    <a:ext uri="{9D8B030D-6E8A-4147-A177-3AD203B41FA5}">
                      <a16:colId xmlns:a16="http://schemas.microsoft.com/office/drawing/2014/main" val="1884370410"/>
                    </a:ext>
                  </a:extLst>
                </a:gridCol>
                <a:gridCol w="2536218">
                  <a:extLst>
                    <a:ext uri="{9D8B030D-6E8A-4147-A177-3AD203B41FA5}">
                      <a16:colId xmlns:a16="http://schemas.microsoft.com/office/drawing/2014/main" val="1010943308"/>
                    </a:ext>
                  </a:extLst>
                </a:gridCol>
                <a:gridCol w="3389286">
                  <a:extLst>
                    <a:ext uri="{9D8B030D-6E8A-4147-A177-3AD203B41FA5}">
                      <a16:colId xmlns:a16="http://schemas.microsoft.com/office/drawing/2014/main" val="714607055"/>
                    </a:ext>
                  </a:extLst>
                </a:gridCol>
              </a:tblGrid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Existing Work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536478892"/>
                  </a:ext>
                </a:extLst>
              </a:tr>
              <a:tr h="114896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Type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Numerical Weather Model (MM5)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Chronos + GRU-based Deep Learning Model</a:t>
                      </a:r>
                      <a:b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&amp; Random Forest Classification Model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107302408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Forecast Horizon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 Days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 Days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565708738"/>
                  </a:ext>
                </a:extLst>
              </a:tr>
              <a:tr h="86172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Variables Predicted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Solar Radiation, Temperature, Wind Speed, Humidity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Temperature, Wind Speed, Humidity, Solar Radiation, Weather Condition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715652093"/>
                  </a:ext>
                </a:extLst>
              </a:tr>
              <a:tr h="57448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(Solar Radiation)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45.365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35.13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40818036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(Solar Radiation)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0.886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3883973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(Temperature)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32.361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576974137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(Temperature)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0.844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0.943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803550765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(Wind Speed)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170.598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4.68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704985438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(Wind Speed)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0.867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0.885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060381659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MAE (Humidity)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10.715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6.078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31660126"/>
                  </a:ext>
                </a:extLst>
              </a:tr>
              <a:tr h="28724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R² (Humidity)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0.581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0.629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311707212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9E5306A4-8567-A799-E854-A7C353466BB5}"/>
              </a:ext>
            </a:extLst>
          </p:cNvPr>
          <p:cNvSpPr txBox="1"/>
          <p:nvPr/>
        </p:nvSpPr>
        <p:spPr>
          <a:xfrm>
            <a:off x="729095" y="740110"/>
            <a:ext cx="7786255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Table. </a:t>
            </a:r>
            <a:r>
              <a:rPr lang="en-US" sz="1200" dirty="0">
                <a:effectLst/>
                <a:latin typeface="Times New Roman" panose="02020603050405020304" pitchFamily="18" charset="0"/>
                <a:ea typeface="Calibri" panose="020F0502020204030204" pitchFamily="34" charset="0"/>
              </a:rPr>
              <a:t>Performance Comparison of Weather Forecasting Models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188460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CB4FC6BC-196A-CDF2-54E7-4F7F7FE234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7EE7FA81-DBBA-B207-9A2B-B46F9DD9671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Comparison with Existing Systems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lang="en-US" sz="2800" b="1" dirty="0">
              <a:solidFill>
                <a:srgbClr val="006600"/>
              </a:solidFill>
              <a:latin typeface="Bookman Old Style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E1DE5CDA-5C92-B1D4-9EA8-CB58DD99A747}"/>
              </a:ext>
            </a:extLst>
          </p:cNvPr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B59E92DE-2309-84BA-AC5B-1A952EA2A7DC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2035F01-6CEC-FD14-3474-347BC5FA8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52</a:t>
            </a:fld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BB2C0B8-9F73-DBD3-D285-FEE431EFB9F6}"/>
              </a:ext>
            </a:extLst>
          </p:cNvPr>
          <p:cNvSpPr txBox="1"/>
          <p:nvPr/>
        </p:nvSpPr>
        <p:spPr>
          <a:xfrm>
            <a:off x="1194641" y="1021961"/>
            <a:ext cx="6397650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200" dirty="0">
                <a:latin typeface="Times New Roman"/>
                <a:cs typeface="Times New Roman"/>
              </a:rPr>
              <a:t>Table. Comparative Analysis of Existing Systems and Proposed </a:t>
            </a:r>
            <a:r>
              <a:rPr lang="en-US" sz="1200" dirty="0" err="1">
                <a:latin typeface="Times New Roman"/>
                <a:cs typeface="Times New Roman"/>
              </a:rPr>
              <a:t>AgriTwin</a:t>
            </a:r>
            <a:r>
              <a:rPr lang="en-US" sz="1200" dirty="0">
                <a:latin typeface="Times New Roman"/>
                <a:cs typeface="Times New Roman"/>
              </a:rPr>
              <a:t>-GH Framework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02F07EBC-A5B3-A2B5-F714-2A4AA259BE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0900640"/>
              </p:ext>
            </p:extLst>
          </p:nvPr>
        </p:nvGraphicFramePr>
        <p:xfrm>
          <a:off x="337838" y="1395556"/>
          <a:ext cx="8111256" cy="4767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027814">
                  <a:extLst>
                    <a:ext uri="{9D8B030D-6E8A-4147-A177-3AD203B41FA5}">
                      <a16:colId xmlns:a16="http://schemas.microsoft.com/office/drawing/2014/main" val="1406541076"/>
                    </a:ext>
                  </a:extLst>
                </a:gridCol>
                <a:gridCol w="2027814">
                  <a:extLst>
                    <a:ext uri="{9D8B030D-6E8A-4147-A177-3AD203B41FA5}">
                      <a16:colId xmlns:a16="http://schemas.microsoft.com/office/drawing/2014/main" val="3911796161"/>
                    </a:ext>
                  </a:extLst>
                </a:gridCol>
                <a:gridCol w="2027814">
                  <a:extLst>
                    <a:ext uri="{9D8B030D-6E8A-4147-A177-3AD203B41FA5}">
                      <a16:colId xmlns:a16="http://schemas.microsoft.com/office/drawing/2014/main" val="25155913"/>
                    </a:ext>
                  </a:extLst>
                </a:gridCol>
                <a:gridCol w="2027814">
                  <a:extLst>
                    <a:ext uri="{9D8B030D-6E8A-4147-A177-3AD203B41FA5}">
                      <a16:colId xmlns:a16="http://schemas.microsoft.com/office/drawing/2014/main" val="4216966919"/>
                    </a:ext>
                  </a:extLst>
                </a:gridCol>
              </a:tblGrid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Criteria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IoT-Based Systems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Digital Twin Systems</a:t>
                      </a:r>
                      <a:endParaRPr lang="en-US" sz="200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b="1" dirty="0" err="1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AgriTwin</a:t>
                      </a:r>
                      <a:r>
                        <a:rPr lang="en-US" sz="2000" b="1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-GH (Proposed)</a:t>
                      </a:r>
                      <a:endParaRPr lang="en-US" sz="2000" dirty="0">
                        <a:solidFill>
                          <a:schemeClr val="bg1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455692523"/>
                  </a:ext>
                </a:extLst>
              </a:tr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Monitoring Capability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sensor-based monitoring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Real-time + virtual monitoring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Multi-source intelligent monitoring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3782946808"/>
                  </a:ext>
                </a:extLst>
              </a:tr>
              <a:tr h="581081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Disease Detection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 supported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Integrated AI-based detection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120229267"/>
                  </a:ext>
                </a:extLst>
              </a:tr>
              <a:tr h="884253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Control Strategy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Semi-automated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(MPC-based)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Predictive + MPC &amp; Simulation-based control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2036502704"/>
                  </a:ext>
                </a:extLst>
              </a:tr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AI/ML Integration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Minimal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Fully integrated AI framework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1984839642"/>
                  </a:ext>
                </a:extLst>
              </a:tr>
              <a:tr h="70740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bg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Decision Support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sz="2000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Intelligent decision-support system</a:t>
                      </a:r>
                    </a:p>
                  </a:txBody>
                  <a:tcPr marL="68580" marR="68580" marT="0" marB="0" anchor="ctr"/>
                </a:tc>
                <a:extLst>
                  <a:ext uri="{0D108BD9-81ED-4DB2-BD59-A6C34878D82A}">
                    <a16:rowId xmlns:a16="http://schemas.microsoft.com/office/drawing/2014/main" val="40904355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03280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>
          <a:extLst>
            <a:ext uri="{FF2B5EF4-FFF2-40B4-BE49-F238E27FC236}">
              <a16:creationId xmlns:a16="http://schemas.microsoft.com/office/drawing/2014/main" id="{E2CFF97D-7B34-24AA-E9A7-98FF0DE6B5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>
            <a:extLst>
              <a:ext uri="{FF2B5EF4-FFF2-40B4-BE49-F238E27FC236}">
                <a16:creationId xmlns:a16="http://schemas.microsoft.com/office/drawing/2014/main" id="{19CC8038-64CA-52C0-5432-B4B373079C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spcBef>
                <a:spcPts val="0"/>
              </a:spcBef>
            </a:pPr>
            <a:r>
              <a:rPr lang="en-US" sz="2800" b="1" dirty="0">
                <a:solidFill>
                  <a:srgbClr val="006600"/>
                </a:solidFill>
                <a:latin typeface="Bookman Old Style"/>
                <a:ea typeface="+mj-lt"/>
                <a:cs typeface="+mj-lt"/>
                <a:sym typeface="Times New Roman" panose="02020603050405020304"/>
              </a:rPr>
              <a:t>Conclusion with Future Work</a:t>
            </a:r>
            <a:endParaRPr lang="en-US" dirty="0">
              <a:solidFill>
                <a:srgbClr val="006600"/>
              </a:solidFill>
              <a:latin typeface="Bookman Old Style"/>
            </a:endParaRPr>
          </a:p>
        </p:txBody>
      </p:sp>
      <p:sp>
        <p:nvSpPr>
          <p:cNvPr id="1258" name="Google Shape;1258;p101">
            <a:extLst>
              <a:ext uri="{FF2B5EF4-FFF2-40B4-BE49-F238E27FC236}">
                <a16:creationId xmlns:a16="http://schemas.microsoft.com/office/drawing/2014/main" id="{DB72DF46-D742-6E5E-9767-4AD1B096F969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114300" y="649039"/>
            <a:ext cx="8915400" cy="58316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work presented </a:t>
            </a:r>
            <a:r>
              <a:rPr lang="en-I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AgriTwin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-GH, an AI-driven digital twin framework that integrates environmental data, plant intelligence, predictive analytics, and MPC for intelligent greenhouse management.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enables predictive and proactive decision-making, continuously analyzing environmental and plant data to detect early stress/disease, forecast crop development, and validate control strategies in a virtual greenhouse.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key contribution is the sensor-independent digital twin, where processed datasets act as virtual sensors, reducing infrastructure requirements while maintaining reliable system behavior.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framework improves crop health, resource efficiency, and operational reliability, providing a scalable and cost-effective solution for climate-resilient and precision agriculture.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ea typeface="+mn-lt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work includes integration of real-time IoT sensors for full synchronization between physical greenhouse and digital twin. The system will be extended to multi-crop and multi-disease support.</a:t>
            </a:r>
          </a:p>
          <a:p>
            <a:pPr algn="just">
              <a:buFont typeface="Wingdings" panose="020B0604020202020204" pitchFamily="34" charset="0"/>
              <a:buChar char="q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Reinforcement learning-based control will be introduced to enable adaptive, self-improving decision strategies based on historical and real-time data. Further enhancements include edge AI deployment, scalability across greenhouse setups, and evaluation of resource efficiency, carbon reduction, and sustainability metrics.</a:t>
            </a:r>
            <a:endParaRPr lang="en-US" sz="2000" dirty="0">
              <a:latin typeface="Times New Roman" panose="02020603050405020304" pitchFamily="18" charset="0"/>
              <a:ea typeface="+mn-lt"/>
              <a:cs typeface="Times New Roman" panose="02020603050405020304" pitchFamily="18" charset="0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4071E811-5C00-8831-F546-850E02BF6162}"/>
              </a:ext>
            </a:extLst>
          </p:cNvPr>
          <p:cNvCxnSpPr/>
          <p:nvPr/>
        </p:nvCxnSpPr>
        <p:spPr>
          <a:xfrm>
            <a:off x="0" y="63942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D595B51-C3DB-9D49-CB57-C65277920B55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3CDE522-16DE-0058-BA63-404D10043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89054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7" name="Google Shape;1257;p101"/>
          <p:cNvSpPr txBox="1">
            <a:spLocks noGrp="1"/>
          </p:cNvSpPr>
          <p:nvPr>
            <p:ph type="title"/>
          </p:nvPr>
        </p:nvSpPr>
        <p:spPr>
          <a:xfrm>
            <a:off x="0" y="1"/>
            <a:ext cx="9144000" cy="691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Arial" panose="020B0604020202020204"/>
              </a:rPr>
              <a:t>Datasets Used</a:t>
            </a:r>
            <a:endParaRPr sz="2800" b="1" dirty="0">
              <a:solidFill>
                <a:srgbClr val="006600"/>
              </a:solidFill>
              <a:latin typeface="Bookman Old Style" panose="02050604050505020204" pitchFamily="18" charset="0"/>
              <a:cs typeface="Calibri" panose="020F0502020204030204"/>
              <a:sym typeface="Arial" panose="020B0604020202020204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694840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0A56B0C5-58E0-9753-7EDD-007A20B9BC88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BB0B50-4177-DCC6-9040-55EB23E1A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54</a:t>
            </a:fld>
            <a:endParaRPr lang="en-US"/>
          </a:p>
        </p:txBody>
      </p:sp>
      <p:sp>
        <p:nvSpPr>
          <p:cNvPr id="8" name="Google Shape;1258;p101">
            <a:extLst>
              <a:ext uri="{FF2B5EF4-FFF2-40B4-BE49-F238E27FC236}">
                <a16:creationId xmlns:a16="http://schemas.microsoft.com/office/drawing/2014/main" id="{AD8A2687-E40E-CDF2-6BB0-2A6655BE68A2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289497" y="1055817"/>
            <a:ext cx="8565005" cy="51073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PlantVillage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Dataset – Kaggle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3"/>
              </a:rPr>
              <a:t>https://www.kaggle.com/datasets/arjuntejaswi/plant-village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Ripe and Unripe Tomatoes Dataset – Kaggle</a:t>
            </a:r>
            <a:endParaRPr lang="en-US" sz="2000" dirty="0">
              <a:latin typeface="Times New Roman"/>
              <a:ea typeface="Calibri"/>
              <a:cs typeface="Times New Roman"/>
            </a:endParaRP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4"/>
              </a:rPr>
              <a:t>https://www.kaggle.com/datasets/adilshamim8/greenhouse-plant-growth-metrics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Tomato Disease Dataset – Mendeley Data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5"/>
              </a:rPr>
              <a:t>https://data.mendeley.com/datasets/c2x8rynybg/1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Tomato-flower-3-class Dataset – Kaggle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6"/>
              </a:rPr>
              <a:t>https://www.kaggle.com/datasets/jawadulkarim117/tomato-flower-3-class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 err="1">
                <a:latin typeface="Times New Roman"/>
                <a:ea typeface="+mn-lt"/>
                <a:cs typeface="Times New Roman"/>
              </a:rPr>
              <a:t>TomatoPlantfactoryDataset</a:t>
            </a:r>
            <a:r>
              <a:rPr lang="en-US" sz="2000" dirty="0">
                <a:latin typeface="Times New Roman"/>
                <a:ea typeface="+mn-lt"/>
                <a:cs typeface="Times New Roman"/>
              </a:rPr>
              <a:t> – Mendeley Data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7"/>
              </a:rPr>
              <a:t>https://data.mendeley.com/datasets/8h3s6jkyff/1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Tomato Plant Stages Dataset – Kaggle</a:t>
            </a: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r>
              <a:rPr lang="en-US" sz="2000" dirty="0">
                <a:latin typeface="Times New Roman"/>
                <a:ea typeface="+mn-lt"/>
                <a:cs typeface="Times New Roman"/>
              </a:rPr>
              <a:t>URL: </a:t>
            </a:r>
            <a:r>
              <a:rPr lang="en-US" sz="2000" dirty="0">
                <a:latin typeface="Times New Roman"/>
                <a:ea typeface="+mn-lt"/>
                <a:cs typeface="Times New Roman"/>
                <a:hlinkClick r:id="rId8"/>
              </a:rPr>
              <a:t>https://www.kaggle.com/datasets/arjunsudheer326/tomato-plant-stages-dataset</a:t>
            </a: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algn="just">
              <a:buClr>
                <a:srgbClr val="000000"/>
              </a:buClr>
              <a:buSzPct val="100000"/>
              <a:buFont typeface="Wingdings" panose="05000000000000000000" pitchFamily="2" charset="2"/>
              <a:buChar char="q"/>
            </a:pPr>
            <a:endParaRPr lang="en-US" sz="2000" dirty="0">
              <a:latin typeface="Times New Roman"/>
              <a:ea typeface="+mn-lt"/>
              <a:cs typeface="Times New Roman"/>
            </a:endParaRPr>
          </a:p>
          <a:p>
            <a:pPr lvl="1" algn="just">
              <a:buClr>
                <a:srgbClr val="000000"/>
              </a:buClr>
              <a:buSzPct val="100000"/>
              <a:buFont typeface="Arial" panose="05000000000000000000" pitchFamily="2" charset="2"/>
              <a:buChar char="•"/>
            </a:pPr>
            <a:endParaRPr lang="en-US" sz="2000" dirty="0">
              <a:latin typeface="Times New Roman"/>
              <a:ea typeface="Calibri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40185965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3"/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References</a:t>
            </a:r>
            <a:endParaRPr sz="2800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6" name="Google Shape;1249;p100"/>
          <p:cNvCxnSpPr/>
          <p:nvPr/>
        </p:nvCxnSpPr>
        <p:spPr>
          <a:xfrm>
            <a:off x="0" y="537855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TextBox 23"/>
          <p:cNvSpPr txBox="1"/>
          <p:nvPr/>
        </p:nvSpPr>
        <p:spPr>
          <a:xfrm>
            <a:off x="208185" y="539443"/>
            <a:ext cx="8680981" cy="6015236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[1] L.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Caroprese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Pierantozzi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C. Lops, and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Montelpare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“DL2F: A deep learning model for the local forecasting of renewable sources,”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Computers &amp; Industrial Engineering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187, 109785, 2024. 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[2] E.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Elbasi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Mostafa, C. Zaki, Z.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AlArnaout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 E.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Topcu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L. Saker, “Optimizing agricultural data analysis techniques through AI-powered decision-making processes,”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 Sciences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14, no. 8018,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[3]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Ghiasi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Z. Wang,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Mehrandezh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A. Mohammadi, “Optimal strategy for energy-efficient management of greenhouse climate control,”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Open Access Journal of Power and Energy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12, pp. 1–14, Dec. 2025.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[4] T. He, M. Li, and D. Jin, “Deep learning-based time series prediction for precision field crop protection,”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Frontiers in Plant Science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16, 1575796, 2025. 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[5] D. A. Howard, Z. Ma, C.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Veje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A. Clausen, J. M.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Aaslyng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B. N.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Jørgensen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“Greenhouse industry 4.0 – digital twin technology for commercial greenhouses,”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Energy Informatics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4, no. 1, pp. 1–20, May 2021.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[6] Y. Huo, Y. Liu, P. He, L. Hu, W. Gao, and L. Gu, “Identifying tomato growth stages in protected agriculture with StyleGAN3–synthetic images and Vision Transformer,”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Agriculture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15, no. 120, 2025.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just"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[7] D. S. Joseph, P. M. Pawar, and K.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Chakradeo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“Real-time plant disease dataset development and detection of plant disease using deep learning,”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11, pp. 1–15, 2023.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2FE6BDF5-AE30-5D13-75B2-606E7CC3515F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501342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7BE5CDC-3CBB-AB90-633A-970154711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55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C5B57A2A-D858-B1E7-479B-AFE0B275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3">
            <a:extLst>
              <a:ext uri="{FF2B5EF4-FFF2-40B4-BE49-F238E27FC236}">
                <a16:creationId xmlns:a16="http://schemas.microsoft.com/office/drawing/2014/main" id="{2A71885D-04D1-6F46-BED7-2FE52EBD4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References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69275B8-3617-164E-9108-56E778CBF583}"/>
              </a:ext>
            </a:extLst>
          </p:cNvPr>
          <p:cNvCxnSpPr/>
          <p:nvPr/>
        </p:nvCxnSpPr>
        <p:spPr>
          <a:xfrm>
            <a:off x="0" y="537855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D6A4D7-0405-D0C6-8004-8472ED7F33FB}"/>
              </a:ext>
            </a:extLst>
          </p:cNvPr>
          <p:cNvSpPr txBox="1"/>
          <p:nvPr/>
        </p:nvSpPr>
        <p:spPr>
          <a:xfrm>
            <a:off x="265656" y="573320"/>
            <a:ext cx="8728442" cy="6110584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[8]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Kanakala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and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Ningappa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“Detection and classification of diseases in multi-crop leaves using LSTM and CNN models,”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Innovative Image Processing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7, no. 1, pp. 161–181, Mar. 2025. 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[9] A. Kaur and R. Kaur, “AI-enabled energy management for sustainable smart greenhouses: An integrated review,”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Journal of Cleaner Production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382, pp. 1–15,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[10] D. K. Lee, B. K. Kang, Y. J. Kim, T. G. An, and Y. T. Chae, “A digital twin-based framework for precision tomato cultivation: Integrating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-based prediction with model predictive control,”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SSRN Electronic Journal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[11] S. R. Luna, M. P. García, and J. R. Torres, “Digital twin technology in greenhouse-based precision agriculture,”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Computers and Electronics in Agriculture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209, pp. 107–119, 2023.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[12] B. V.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Nikitha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N. K. S.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Keerthan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P.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Praneeth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and T. Amrita, “Leaf disease detection and classification,”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Procedia Computer Science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218, pp. 291–300, Jan. 2023.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[13] A. Oad, S. S. Abbas, A. Zafar, et al., “Plant leaf disease detection using ensemble learning and explainable AI,”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12, pp. 156038–156052, 2024.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[14] A.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Soussi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E. Zero, C. D. C. Herrera, et al., “Integrating digital twins and model predictive control for sustainable greenhouse management in smart agriculture,”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Transactions on </a:t>
            </a:r>
            <a:r>
              <a:rPr lang="en-IN" sz="1700" i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AgriFood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Electronics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1, no. 1, pp. 1–17, 2025.</a:t>
            </a: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[15] A. F. Subahi and K. E. </a:t>
            </a:r>
            <a:r>
              <a:rPr lang="en-IN" sz="17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Bouazza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“An intelligent IoT-based system design for controlling and monitoring greenhouse temperature,”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10, pp. 1–12, 2022.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45BFAD51-FFF9-0BD1-F841-030B914E32E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501342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A8BA43-D261-D2EB-1BFC-D424D9C9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6041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2">
          <a:extLst>
            <a:ext uri="{FF2B5EF4-FFF2-40B4-BE49-F238E27FC236}">
              <a16:creationId xmlns:a16="http://schemas.microsoft.com/office/drawing/2014/main" id="{C5B57A2A-D858-B1E7-479B-AFE0B275F4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3" name="Google Shape;1273;p103">
            <a:extLst>
              <a:ext uri="{FF2B5EF4-FFF2-40B4-BE49-F238E27FC236}">
                <a16:creationId xmlns:a16="http://schemas.microsoft.com/office/drawing/2014/main" id="{2A71885D-04D1-6F46-BED7-2FE52EBD46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0" y="0"/>
            <a:ext cx="9144000" cy="533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Calibri" panose="020F0502020204030204"/>
                <a:sym typeface="Times New Roman" panose="02020603050405020304"/>
              </a:rPr>
              <a:t>References </a:t>
            </a:r>
            <a:r>
              <a:rPr lang="en-US" sz="2800" b="1" dirty="0">
                <a:solidFill>
                  <a:srgbClr val="006600"/>
                </a:solidFill>
                <a:latin typeface="Bookman Old Style" panose="02050604050505020204" pitchFamily="18" charset="0"/>
                <a:cs typeface="Arial" panose="020B0604020202020204"/>
                <a:sym typeface="Times New Roman" panose="02020603050405020304"/>
              </a:rPr>
              <a:t>(Contd..)</a:t>
            </a:r>
            <a:endParaRPr sz="2800" dirty="0">
              <a:solidFill>
                <a:srgbClr val="0066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6" name="Google Shape;1249;p100">
            <a:extLst>
              <a:ext uri="{FF2B5EF4-FFF2-40B4-BE49-F238E27FC236}">
                <a16:creationId xmlns:a16="http://schemas.microsoft.com/office/drawing/2014/main" id="{069275B8-3617-164E-9108-56E778CBF583}"/>
              </a:ext>
            </a:extLst>
          </p:cNvPr>
          <p:cNvCxnSpPr/>
          <p:nvPr/>
        </p:nvCxnSpPr>
        <p:spPr>
          <a:xfrm>
            <a:off x="0" y="537855"/>
            <a:ext cx="9144000" cy="1588"/>
          </a:xfrm>
          <a:prstGeom prst="straightConnector1">
            <a:avLst/>
          </a:prstGeom>
          <a:noFill/>
          <a:ln w="25400" cap="flat" cmpd="sng">
            <a:solidFill>
              <a:srgbClr val="800000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19D6A4D7-0405-D0C6-8004-8472ED7F33FB}"/>
              </a:ext>
            </a:extLst>
          </p:cNvPr>
          <p:cNvSpPr txBox="1"/>
          <p:nvPr/>
        </p:nvSpPr>
        <p:spPr>
          <a:xfrm>
            <a:off x="265656" y="573320"/>
            <a:ext cx="8728442" cy="4350871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[16] R. A. Tathed, “Designing AI-driven platforms to transform agricultural ecosystems,”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International Journal for Research Publication and Seminar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16, no. 2, pp. 249–268, Apr.–Jun. 2025.</a:t>
            </a:r>
            <a:endParaRPr lang="en-IN" sz="1700" dirty="0">
              <a:effectLst/>
              <a:latin typeface="Times New Roman" panose="02020603050405020304" pitchFamily="18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[17] M. Umar, S. Altaf, S. Ahmad, H. Mahmoud, A. S. N. Mohamed, and R. Ayub, “Precision agriculture through deep learning: Tomato plant multiple diseases recognition with CNN and improved YOLOv7,”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IEEE Access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vol. 12, pp. 49167–49180, Apr. 2024.</a:t>
            </a:r>
          </a:p>
          <a:p>
            <a:pPr lvl="0" algn="just">
              <a:lnSpc>
                <a:spcPct val="115000"/>
              </a:lnSpc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[18] Y. Zhang, X. Wang, et al., “Data-driven robust model predictive control for greenhouse temperature control and energy utilisation assessment,”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Applied Energy</a:t>
            </a: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, 2023.</a:t>
            </a:r>
            <a:endParaRPr lang="en-IN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[19] Z. Zhang, J. Li, and Y. Wang, “Digital twin-driven smart greenhouse management using deep learning and IoT integration,” Computers and Electronics in Agriculture, 2024.</a:t>
            </a:r>
          </a:p>
          <a:p>
            <a:pPr algn="just">
              <a:lnSpc>
                <a:spcPct val="115000"/>
              </a:lnSpc>
              <a:spcAft>
                <a:spcPts val="1000"/>
              </a:spcAft>
            </a:pPr>
            <a:r>
              <a:rPr lang="en-IN" sz="17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[20] Z. Zhao, Y. Zhou, and X. Zhu, “Deep learning-enabled digital twin framework for precision greenhouse agriculture,” </a:t>
            </a:r>
            <a:r>
              <a:rPr lang="en-IN" sz="1700" i="1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Computers and Electronics in Agriculture</a:t>
            </a:r>
            <a:r>
              <a:rPr lang="en-IN" sz="1700" dirty="0">
                <a:effectLst/>
                <a:latin typeface="Times New Roman" panose="02020603050405020304" pitchFamily="18" charset="0"/>
                <a:ea typeface="Aptos" panose="020B0004020202020204" pitchFamily="34" charset="0"/>
                <a:cs typeface="Times New Roman" panose="02020603050405020304" pitchFamily="18" charset="0"/>
              </a:rPr>
              <a:t>, 2025.</a:t>
            </a:r>
          </a:p>
          <a:p>
            <a:pPr lvl="0" algn="just">
              <a:lnSpc>
                <a:spcPct val="115000"/>
              </a:lnSpc>
              <a:spcAft>
                <a:spcPts val="1000"/>
              </a:spcAft>
            </a:pPr>
            <a:endParaRPr lang="en-IN" sz="1700" dirty="0">
              <a:effectLst/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45BFAD51-FFF9-0BD1-F841-030B914E32EE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501342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A8BA43-D261-D2EB-1BFC-D424D9C9C1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7506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7" name="Google Shape;1307;p107"/>
          <p:cNvSpPr/>
          <p:nvPr/>
        </p:nvSpPr>
        <p:spPr>
          <a:xfrm>
            <a:off x="0" y="2598174"/>
            <a:ext cx="9144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lvl="0" algn="ctr">
              <a:buClr>
                <a:srgbClr val="00B050"/>
              </a:buClr>
              <a:buSzPts val="5400"/>
            </a:pPr>
            <a:r>
              <a:rPr lang="en-US" sz="8000" b="1" i="0" u="none" strike="noStrike" cap="none" dirty="0">
                <a:solidFill>
                  <a:srgbClr val="006600"/>
                </a:solidFill>
                <a:latin typeface="Algerian" panose="04020705040A02060702" pitchFamily="82" charset="0"/>
                <a:sym typeface="Arial" panose="020B0604020202020204"/>
              </a:rPr>
              <a:t>Thank you </a:t>
            </a:r>
            <a:endParaRPr sz="2400" dirty="0">
              <a:solidFill>
                <a:srgbClr val="006600"/>
              </a:solidFill>
              <a:latin typeface="Algerian" panose="04020705040A02060702" pitchFamily="82" charset="0"/>
            </a:endParaRPr>
          </a:p>
        </p:txBody>
      </p:sp>
      <p:sp>
        <p:nvSpPr>
          <p:cNvPr id="2" name="Google Shape;167;p1">
            <a:extLst>
              <a:ext uri="{FF2B5EF4-FFF2-40B4-BE49-F238E27FC236}">
                <a16:creationId xmlns:a16="http://schemas.microsoft.com/office/drawing/2014/main" id="{4D8C5087-2000-D903-2CB6-EAE464394F04}"/>
              </a:ext>
            </a:extLst>
          </p:cNvPr>
          <p:cNvSpPr txBox="1">
            <a:spLocks noGrp="1"/>
          </p:cNvSpPr>
          <p:nvPr>
            <p:ph type="dt" sz="half" idx="10"/>
          </p:nvPr>
        </p:nvSpPr>
        <p:spPr>
          <a:xfrm>
            <a:off x="0" y="6492875"/>
            <a:ext cx="973667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>
              <a:buClr>
                <a:srgbClr val="888888"/>
              </a:buClr>
              <a:buSzPts val="1200"/>
            </a:pPr>
            <a:r>
              <a:rPr lang="en-US" sz="1200">
                <a:solidFill>
                  <a:srgbClr val="888888"/>
                </a:solidFill>
              </a:rPr>
              <a:t>17/03/2026</a:t>
            </a:r>
            <a:endParaRPr sz="1200" b="0" i="0" u="none" strike="noStrike" cap="none">
              <a:solidFill>
                <a:srgbClr val="888888"/>
              </a:solidFill>
              <a:latin typeface="Arial" panose="020B0604020202020204"/>
              <a:ea typeface="Arial" panose="020B0604020202020204"/>
              <a:cs typeface="Arial" panose="020B0604020202020204"/>
              <a:sym typeface="Arial" panose="020B0604020202020204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A8A9542-166A-F9E8-BB61-CA3CE9BDF8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t>58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800">
        <p159:morph option="byObject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5*361"/>
  <p:tag name="TABLE_ENDDRAG_RECT" val="13*100*695*36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5*361"/>
  <p:tag name="TABLE_ENDDRAG_RECT" val="13*100*695*36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ABLE_ENDDRAG_ORIGIN_RECT" val="695*361"/>
  <p:tag name="TABLE_ENDDRAG_RECT" val="13*100*695*361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E468B0BB-C1D5-4F92-A32C-21ED7D6D2A09}">
  <we:reference id="wa200005566" version="1.0.0.0" store="en-US" storeType="omex"/>
  <we:alternateReferences>
    <we:reference id="wa200005566" version="1.0.0.0" store="omex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2053</TotalTime>
  <Words>6888</Words>
  <Application>Microsoft Office PowerPoint</Application>
  <PresentationFormat>On-screen Show (4:3)</PresentationFormat>
  <Paragraphs>640</Paragraphs>
  <Slides>58</Slides>
  <Notes>58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58</vt:i4>
      </vt:variant>
    </vt:vector>
  </HeadingPairs>
  <TitlesOfParts>
    <vt:vector size="69" baseType="lpstr">
      <vt:lpstr>Time New Roman</vt:lpstr>
      <vt:lpstr>Calibri Light</vt:lpstr>
      <vt:lpstr>Courier New</vt:lpstr>
      <vt:lpstr>Bookman Old Style</vt:lpstr>
      <vt:lpstr>Arial</vt:lpstr>
      <vt:lpstr>Calibri</vt:lpstr>
      <vt:lpstr>Roboto</vt:lpstr>
      <vt:lpstr>Algerian</vt:lpstr>
      <vt:lpstr>Wingdings</vt:lpstr>
      <vt:lpstr>Times New Roman</vt:lpstr>
      <vt:lpstr>Office Theme</vt:lpstr>
      <vt:lpstr>PowerPoint Presentation</vt:lpstr>
      <vt:lpstr>Agenda</vt:lpstr>
      <vt:lpstr>Abstract</vt:lpstr>
      <vt:lpstr>Introduction to Digital Twin–based Greenhouse Management</vt:lpstr>
      <vt:lpstr>Overview of Techniques, Algorithms and Simulation Used</vt:lpstr>
      <vt:lpstr>Overview of Techniques, Algorithms and Simulation Used (Contd..)</vt:lpstr>
      <vt:lpstr>Overview of Techniques, Algorithms and Simulation Used (Contd..)</vt:lpstr>
      <vt:lpstr>Overview of Techniques, Algorithms and Simulation Used (Contd..)</vt:lpstr>
      <vt:lpstr>Overview of Techniques, Algorithms and Simulation Used (Contd..)</vt:lpstr>
      <vt:lpstr>Overview of Techniques, Algorithms and Simulation Used (Contd..)</vt:lpstr>
      <vt:lpstr>PowerPoint Presentation</vt:lpstr>
      <vt:lpstr>PowerPoint Presentation</vt:lpstr>
      <vt:lpstr>PowerPoint Presentation</vt:lpstr>
      <vt:lpstr>Inference from Literature</vt:lpstr>
      <vt:lpstr>Proposed AgriTwin-GH System</vt:lpstr>
      <vt:lpstr>System Architecture of AgriTwin-GH</vt:lpstr>
      <vt:lpstr> System Architecture of AgriTwin-GH (Contd..)</vt:lpstr>
      <vt:lpstr>Project Modules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Project Modules (Contd..)</vt:lpstr>
      <vt:lpstr>Results &amp; Performance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Results &amp; Performance (Contd..)</vt:lpstr>
      <vt:lpstr>Comparison with Existing Systems</vt:lpstr>
      <vt:lpstr>Comparison with Existing Systems (Contd..)</vt:lpstr>
      <vt:lpstr>Comparison with Existing Systems (Contd..)</vt:lpstr>
      <vt:lpstr>Conclusion with Future Work</vt:lpstr>
      <vt:lpstr>Datasets Used</vt:lpstr>
      <vt:lpstr>References</vt:lpstr>
      <vt:lpstr>References (Contd..)</vt:lpstr>
      <vt:lpstr>References (Contd..)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T23U5572</dc:creator>
  <cp:lastModifiedBy>Arjun Christopher</cp:lastModifiedBy>
  <cp:revision>1346</cp:revision>
  <dcterms:created xsi:type="dcterms:W3CDTF">2020-08-20T10:53:00Z</dcterms:created>
  <dcterms:modified xsi:type="dcterms:W3CDTF">2026-04-28T04:28:46Z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9F66D692DBFA4359B0825EFDAB6C8F37_13</vt:lpwstr>
  </property>
  <property fmtid="{D5CDD505-2E9C-101B-9397-08002B2CF9AE}" pid="3" name="KSOProductBuildVer">
    <vt:lpwstr>1033-12.2.0.23196</vt:lpwstr>
  </property>
</Properties>
</file>