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notesSlides/notesSlide1.xml" ContentType="application/vnd.openxmlformats-officedocument.presentationml.notesSlide+xml"/>
  <Override PartName="/ppt/theme/themeOverride2.xml" ContentType="application/vnd.openxmlformats-officedocument.themeOverr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theme/themeOverride3.xml" ContentType="application/vnd.openxmlformats-officedocument.themeOverride+xml"/>
  <Override PartName="/ppt/notesSlides/notesSlide6.xml" ContentType="application/vnd.openxmlformats-officedocument.presentationml.notesSlide+xml"/>
  <Override PartName="/ppt/theme/themeOverride4.xml" ContentType="application/vnd.openxmlformats-officedocument.themeOverride+xml"/>
  <Override PartName="/ppt/notesSlides/notesSlide7.xml" ContentType="application/vnd.openxmlformats-officedocument.presentationml.notesSlide+xml"/>
  <Override PartName="/ppt/theme/themeOverride5.xml" ContentType="application/vnd.openxmlformats-officedocument.themeOverride+xml"/>
  <Override PartName="/ppt/notesSlides/notesSlide8.xml" ContentType="application/vnd.openxmlformats-officedocument.presentationml.notesSlide+xml"/>
  <Override PartName="/ppt/theme/themeOverride6.xml" ContentType="application/vnd.openxmlformats-officedocument.themeOverride+xml"/>
  <Override PartName="/ppt/notesSlides/notesSlide9.xml" ContentType="application/vnd.openxmlformats-officedocument.presentationml.notesSlide+xml"/>
  <Override PartName="/ppt/theme/themeOverride7.xml" ContentType="application/vnd.openxmlformats-officedocument.themeOverride+xml"/>
  <Override PartName="/ppt/notesSlides/notesSlide10.xml" ContentType="application/vnd.openxmlformats-officedocument.presentationml.notesSlide+xml"/>
  <Override PartName="/ppt/theme/themeOverride8.xml" ContentType="application/vnd.openxmlformats-officedocument.themeOverride+xml"/>
  <Override PartName="/ppt/notesSlides/notesSlide11.xml" ContentType="application/vnd.openxmlformats-officedocument.presentationml.notesSlide+xml"/>
  <Override PartName="/ppt/tags/tag1.xml" ContentType="application/vnd.openxmlformats-officedocument.presentationml.tags+xml"/>
  <Override PartName="/ppt/notesSlides/notesSlide12.xml" ContentType="application/vnd.openxmlformats-officedocument.presentationml.notesSlide+xml"/>
  <Override PartName="/ppt/tags/tag2.xml" ContentType="application/vnd.openxmlformats-officedocument.presentationml.tags+xml"/>
  <Override PartName="/ppt/notesSlides/notesSlide13.xml" ContentType="application/vnd.openxmlformats-officedocument.presentationml.notesSlide+xml"/>
  <Override PartName="/ppt/tags/tag3.xml" ContentType="application/vnd.openxmlformats-officedocument.presentationml.tags+xml"/>
  <Override PartName="/ppt/notesSlides/notesSlide14.xml" ContentType="application/vnd.openxmlformats-officedocument.presentationml.notesSlide+xml"/>
  <Override PartName="/ppt/theme/themeOverride9.xml" ContentType="application/vnd.openxmlformats-officedocument.themeOverride+xml"/>
  <Override PartName="/ppt/notesSlides/notesSlide15.xml" ContentType="application/vnd.openxmlformats-officedocument.presentationml.notesSlide+xml"/>
  <Override PartName="/ppt/theme/themeOverride10.xml" ContentType="application/vnd.openxmlformats-officedocument.themeOverride+xml"/>
  <Override PartName="/ppt/notesSlides/notesSlide16.xml" ContentType="application/vnd.openxmlformats-officedocument.presentationml.notesSlide+xml"/>
  <Override PartName="/ppt/theme/themeOverride11.xml" ContentType="application/vnd.openxmlformats-officedocument.themeOverride+xml"/>
  <Override PartName="/ppt/notesSlides/notesSlide17.xml" ContentType="application/vnd.openxmlformats-officedocument.presentationml.notesSlide+xml"/>
  <Override PartName="/ppt/theme/themeOverride12.xml" ContentType="application/vnd.openxmlformats-officedocument.themeOverr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61"/>
  </p:notesMasterIdLst>
  <p:sldIdLst>
    <p:sldId id="256" r:id="rId2"/>
    <p:sldId id="258" r:id="rId3"/>
    <p:sldId id="260" r:id="rId4"/>
    <p:sldId id="459" r:id="rId5"/>
    <p:sldId id="513" r:id="rId6"/>
    <p:sldId id="443" r:id="rId7"/>
    <p:sldId id="445" r:id="rId8"/>
    <p:sldId id="460" r:id="rId9"/>
    <p:sldId id="461" r:id="rId10"/>
    <p:sldId id="462" r:id="rId11"/>
    <p:sldId id="463" r:id="rId12"/>
    <p:sldId id="267" r:id="rId13"/>
    <p:sldId id="511" r:id="rId14"/>
    <p:sldId id="512" r:id="rId15"/>
    <p:sldId id="467" r:id="rId16"/>
    <p:sldId id="498" r:id="rId17"/>
    <p:sldId id="468" r:id="rId18"/>
    <p:sldId id="448" r:id="rId19"/>
    <p:sldId id="437" r:id="rId20"/>
    <p:sldId id="469" r:id="rId21"/>
    <p:sldId id="470" r:id="rId22"/>
    <p:sldId id="471" r:id="rId23"/>
    <p:sldId id="473" r:id="rId24"/>
    <p:sldId id="438" r:id="rId25"/>
    <p:sldId id="480" r:id="rId26"/>
    <p:sldId id="476" r:id="rId27"/>
    <p:sldId id="475" r:id="rId28"/>
    <p:sldId id="478" r:id="rId29"/>
    <p:sldId id="477" r:id="rId30"/>
    <p:sldId id="479" r:id="rId31"/>
    <p:sldId id="474" r:id="rId32"/>
    <p:sldId id="483" r:id="rId33"/>
    <p:sldId id="481" r:id="rId34"/>
    <p:sldId id="500" r:id="rId35"/>
    <p:sldId id="501" r:id="rId36"/>
    <p:sldId id="484" r:id="rId37"/>
    <p:sldId id="502" r:id="rId38"/>
    <p:sldId id="503" r:id="rId39"/>
    <p:sldId id="504" r:id="rId40"/>
    <p:sldId id="505" r:id="rId41"/>
    <p:sldId id="506" r:id="rId42"/>
    <p:sldId id="507" r:id="rId43"/>
    <p:sldId id="508" r:id="rId44"/>
    <p:sldId id="509" r:id="rId45"/>
    <p:sldId id="490" r:id="rId46"/>
    <p:sldId id="491" r:id="rId47"/>
    <p:sldId id="492" r:id="rId48"/>
    <p:sldId id="493" r:id="rId49"/>
    <p:sldId id="494" r:id="rId50"/>
    <p:sldId id="495" r:id="rId51"/>
    <p:sldId id="436" r:id="rId52"/>
    <p:sldId id="497" r:id="rId53"/>
    <p:sldId id="510" r:id="rId54"/>
    <p:sldId id="496" r:id="rId55"/>
    <p:sldId id="435" r:id="rId56"/>
    <p:sldId id="419" r:id="rId57"/>
    <p:sldId id="441" r:id="rId58"/>
    <p:sldId id="499" r:id="rId59"/>
    <p:sldId id="364" r:id="rId60"/>
  </p:sldIdLst>
  <p:sldSz cx="9144000" cy="6858000" type="screen4x3"/>
  <p:notesSz cx="6858000" cy="9144000"/>
  <p:embeddedFontLst>
    <p:embeddedFont>
      <p:font typeface="Algerian" panose="04020705040A02060702" pitchFamily="82" charset="0"/>
      <p:regular r:id="rId62"/>
    </p:embeddedFont>
    <p:embeddedFont>
      <p:font typeface="Bookman Old Style" panose="02050604050505020204" pitchFamily="18" charset="0"/>
      <p:regular r:id="rId63"/>
      <p:bold r:id="rId64"/>
      <p:italic r:id="rId65"/>
      <p:boldItalic r:id="rId66"/>
    </p:embeddedFont>
    <p:embeddedFont>
      <p:font typeface="Roboto" panose="02000000000000000000" pitchFamily="2" charset="0"/>
      <p:regular r:id="rId67"/>
      <p:bold r:id="rId68"/>
      <p:italic r:id="rId69"/>
      <p:boldItalic r:id="rId7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2209"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600"/>
    <a:srgbClr val="00642D"/>
    <a:srgbClr val="00602B"/>
    <a:srgbClr val="0811C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C1D6F77-2E99-FD1E-2CEF-CC80DBAC7455}" v="2088" dt="2026-04-17T20:11:05.890"/>
    <p1510:client id="{C345170C-9498-4C49-A4B4-07A07961E2C6}" v="500" dt="2026-04-16T18:59:09.011"/>
  </p1510:revLst>
</p1510:revInfo>
</file>

<file path=ppt/tableStyles.xml><?xml version="1.0" encoding="utf-8"?>
<a:tblStyleLst xmlns:a="http://schemas.openxmlformats.org/drawingml/2006/main" def="{56D51072-94E4-4FC1-8697-D52FD32A7993}">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6D51072-94E4-4FC1-8697-D52FD32A7993}" styleName="Table_0">
    <a:wholeTbl>
      <a:tcTxStyle>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Style>
        <a:tcBdr/>
        <a:fill>
          <a:solidFill>
            <a:srgbClr val="CFD7E7"/>
          </a:solidFill>
        </a:fill>
      </a:tcStyle>
    </a:band1H>
    <a:band2H>
      <a:tcStyle>
        <a:tcBdr/>
      </a:tcStyle>
    </a:band2H>
    <a:band1V>
      <a:tcStyle>
        <a:tcBdr/>
        <a:fill>
          <a:solidFill>
            <a:srgbClr val="CFD7E7"/>
          </a:solidFill>
        </a:fill>
      </a:tcStyle>
    </a:band1V>
    <a:band2V>
      <a:tcStyle>
        <a:tcBdr/>
      </a:tcStyle>
    </a:band2V>
    <a:lastCol>
      <a:tcTxStyle b="on">
        <a:font>
          <a:latin typeface="Calibri"/>
          <a:ea typeface="Calibri"/>
          <a:cs typeface="Calibri"/>
        </a:font>
        <a:schemeClr val="lt1"/>
      </a:tcTxStyle>
      <a:tcStyle>
        <a:tcBdr/>
        <a:fill>
          <a:solidFill>
            <a:schemeClr val="accent1"/>
          </a:solidFill>
        </a:fill>
      </a:tcStyle>
    </a:lastCol>
    <a:firstCol>
      <a:tcTxStyle b="on">
        <a:font>
          <a:latin typeface="Calibri"/>
          <a:ea typeface="Calibri"/>
          <a:cs typeface="Calibri"/>
        </a:font>
        <a:schemeClr val="lt1"/>
      </a:tcTxStyle>
      <a:tcStyle>
        <a:tcBdr/>
        <a:fill>
          <a:solidFill>
            <a:schemeClr val="accent1"/>
          </a:solidFill>
        </a:fill>
      </a:tcStyle>
    </a:firstCol>
    <a:lastRow>
      <a:tcTxStyle b="on">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Style>
        <a:tcBdr/>
      </a:tcStyle>
    </a:seCell>
    <a:swCell>
      <a:tcStyle>
        <a:tcBdr/>
      </a:tcStyle>
    </a:swCell>
    <a:firstRow>
      <a:tcTxStyle b="on">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Style>
        <a:tcBdr/>
      </a:tcStyle>
    </a:neCell>
    <a:nwCell>
      <a:tcStyle>
        <a:tcBdr/>
      </a:tcStyle>
    </a:nwCell>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3969" autoAdjust="0"/>
  </p:normalViewPr>
  <p:slideViewPr>
    <p:cSldViewPr snapToGrid="0">
      <p:cViewPr varScale="1">
        <p:scale>
          <a:sx n="69" d="100"/>
          <a:sy n="69" d="100"/>
        </p:scale>
        <p:origin x="1416" y="60"/>
      </p:cViewPr>
      <p:guideLst>
        <p:guide orient="horz" pos="2209"/>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2.fntdata"/><Relationship Id="rId68"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font" Target="fonts/font5.fntdata"/><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font" Target="fonts/font3.fntdata"/><Relationship Id="rId69" Type="http://schemas.openxmlformats.org/officeDocument/2006/relationships/font" Target="fonts/font8.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6.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font" Target="fonts/font1.fntdata"/><Relationship Id="rId70" Type="http://schemas.openxmlformats.org/officeDocument/2006/relationships/font" Target="fonts/font9.fntdata"/><Relationship Id="rId7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font" Target="fonts/font4.fntdata"/><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chemeClr val="dk1"/>
              </a:buClr>
              <a:buSzPts val="1200"/>
              <a:buFont typeface="Arial" panose="020B0604020202020204"/>
              <a:buNone/>
              <a:defRPr sz="12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chemeClr val="dk1"/>
              </a:buClr>
              <a:buSzPts val="1200"/>
              <a:buFont typeface="Arial" panose="020B0604020202020204"/>
              <a:buNone/>
              <a:defRPr sz="12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lvl1pPr marL="457200" marR="0" lvl="0" indent="-228600" algn="l" rtl="0">
              <a:spcBef>
                <a:spcPts val="36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spcBef>
                <a:spcPts val="36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spcBef>
                <a:spcPts val="36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spcBef>
                <a:spcPts val="36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spcBef>
                <a:spcPts val="36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chemeClr val="dk1"/>
              </a:buClr>
              <a:buSzPts val="1200"/>
              <a:buFont typeface="Arial" panose="020B0604020202020204"/>
              <a:buNone/>
              <a:defRPr sz="12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chemeClr val="dk1"/>
              </a:buClr>
              <a:buSzPts val="1800"/>
              <a:buFont typeface="Arial" panose="020B0604020202020204"/>
              <a:buNone/>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dk1"/>
              </a:buClr>
              <a:buSzPts val="1200"/>
              <a:buFont typeface="Arial" panose="020B0604020202020204"/>
              <a:buNone/>
            </a:pPr>
            <a:fld id="{00000000-1234-1234-1234-123412341234}" type="slidenum">
              <a:rPr lang="en-US" sz="1200" b="0" i="0" u="none" strike="noStrike" cap="none">
                <a:solidFill>
                  <a:schemeClr val="dk1"/>
                </a:solidFill>
                <a:latin typeface="Arial" panose="020B0604020202020204"/>
                <a:ea typeface="Arial" panose="020B0604020202020204"/>
                <a:cs typeface="Arial" panose="020B0604020202020204"/>
                <a:sym typeface="Arial" panose="020B0604020202020204"/>
              </a:rPr>
              <a:t>‹#›</a:t>
            </a:fld>
            <a:endParaRPr sz="12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
        <p:nvSpPr>
          <p:cNvPr id="161" name="Google Shape;161;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
        <p:nvSpPr>
          <p:cNvPr id="180" name="Google Shape;180;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ge4eb6b47ed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196" name="Google Shape;196;ge4eb6b47ed_0_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123825" lvl="0" indent="0" algn="just">
              <a:lnSpc>
                <a:spcPct val="150000"/>
              </a:lnSpc>
              <a:spcBef>
                <a:spcPts val="0"/>
              </a:spcBef>
              <a:buClr>
                <a:srgbClr val="282829"/>
              </a:buClr>
              <a:buSzPts val="1650"/>
              <a:buFont typeface="Roboto" panose="02000000000000000000"/>
              <a:buNone/>
            </a:pPr>
            <a:endParaRPr lang="en-US" sz="1200">
              <a:solidFill>
                <a:srgbClr val="282829"/>
              </a:solidFill>
              <a:latin typeface="Bookman Old Style" panose="02050604050505020204" pitchFamily="18" charset="0"/>
              <a:ea typeface="Roboto" panose="02000000000000000000"/>
              <a:cs typeface="Roboto" panose="02000000000000000000"/>
              <a:sym typeface="Roboto" panose="02000000000000000000"/>
            </a:endParaRPr>
          </a:p>
        </p:txBody>
      </p:sp>
      <p:sp>
        <p:nvSpPr>
          <p:cNvPr id="197" name="Google Shape;197;ge4eb6b47ed_0_0: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chemeClr val="dk1"/>
              </a:buClr>
              <a:buSzPts val="1200"/>
              <a:buFont typeface="Arial" panose="020B0604020202020204"/>
              <a:buNone/>
            </a:pPr>
            <a:fld id="{00000000-1234-1234-1234-123412341234}"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a:extLst>
            <a:ext uri="{FF2B5EF4-FFF2-40B4-BE49-F238E27FC236}">
              <a16:creationId xmlns:a16="http://schemas.microsoft.com/office/drawing/2014/main" id="{6B57A078-D5B7-4D1B-8ED7-4AD9329636B0}"/>
            </a:ext>
          </a:extLst>
        </p:cNvPr>
        <p:cNvGrpSpPr/>
        <p:nvPr/>
      </p:nvGrpSpPr>
      <p:grpSpPr>
        <a:xfrm>
          <a:off x="0" y="0"/>
          <a:ext cx="0" cy="0"/>
          <a:chOff x="0" y="0"/>
          <a:chExt cx="0" cy="0"/>
        </a:xfrm>
      </p:grpSpPr>
      <p:sp>
        <p:nvSpPr>
          <p:cNvPr id="195" name="Google Shape;195;ge4eb6b47ed_0_0:notes">
            <a:extLst>
              <a:ext uri="{FF2B5EF4-FFF2-40B4-BE49-F238E27FC236}">
                <a16:creationId xmlns:a16="http://schemas.microsoft.com/office/drawing/2014/main" id="{30B1CB2D-C185-7433-8479-FE05A8343DB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196" name="Google Shape;196;ge4eb6b47ed_0_0:notes">
            <a:extLst>
              <a:ext uri="{FF2B5EF4-FFF2-40B4-BE49-F238E27FC236}">
                <a16:creationId xmlns:a16="http://schemas.microsoft.com/office/drawing/2014/main" id="{3E7D7E9A-4ACD-FDCD-0CFC-7E8A04D439BF}"/>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123825" lvl="0" indent="0" algn="just">
              <a:lnSpc>
                <a:spcPct val="150000"/>
              </a:lnSpc>
              <a:spcBef>
                <a:spcPts val="0"/>
              </a:spcBef>
              <a:buClr>
                <a:srgbClr val="282829"/>
              </a:buClr>
              <a:buSzPts val="1650"/>
              <a:buFont typeface="Roboto" panose="02000000000000000000"/>
              <a:buNone/>
            </a:pPr>
            <a:endParaRPr lang="en-US" sz="1200">
              <a:solidFill>
                <a:srgbClr val="282829"/>
              </a:solidFill>
              <a:latin typeface="Bookman Old Style" panose="02050604050505020204" pitchFamily="18" charset="0"/>
              <a:ea typeface="Roboto" panose="02000000000000000000"/>
              <a:cs typeface="Roboto" panose="02000000000000000000"/>
              <a:sym typeface="Roboto" panose="02000000000000000000"/>
            </a:endParaRPr>
          </a:p>
        </p:txBody>
      </p:sp>
      <p:sp>
        <p:nvSpPr>
          <p:cNvPr id="197" name="Google Shape;197;ge4eb6b47ed_0_0:notes">
            <a:extLst>
              <a:ext uri="{FF2B5EF4-FFF2-40B4-BE49-F238E27FC236}">
                <a16:creationId xmlns:a16="http://schemas.microsoft.com/office/drawing/2014/main" id="{CD55492D-DE67-73B5-90EF-16DA5B2FF929}"/>
              </a:ext>
            </a:extLst>
          </p:cNvPr>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chemeClr val="dk1"/>
              </a:buClr>
              <a:buSzPts val="1200"/>
              <a:buFont typeface="Arial" panose="020B0604020202020204"/>
              <a:buNone/>
            </a:pPr>
            <a:fld id="{00000000-1234-1234-1234-123412341234}" type="slidenum">
              <a:rPr lang="en-US"/>
              <a:t>4</a:t>
            </a:fld>
            <a:endParaRPr lang="en-US"/>
          </a:p>
        </p:txBody>
      </p:sp>
    </p:spTree>
    <p:extLst>
      <p:ext uri="{BB962C8B-B14F-4D97-AF65-F5344CB8AC3E}">
        <p14:creationId xmlns:p14="http://schemas.microsoft.com/office/powerpoint/2010/main" val="19767896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a:extLst>
            <a:ext uri="{FF2B5EF4-FFF2-40B4-BE49-F238E27FC236}">
              <a16:creationId xmlns:a16="http://schemas.microsoft.com/office/drawing/2014/main" id="{6B57A078-D5B7-4D1B-8ED7-4AD9329636B0}"/>
            </a:ext>
          </a:extLst>
        </p:cNvPr>
        <p:cNvGrpSpPr/>
        <p:nvPr/>
      </p:nvGrpSpPr>
      <p:grpSpPr>
        <a:xfrm>
          <a:off x="0" y="0"/>
          <a:ext cx="0" cy="0"/>
          <a:chOff x="0" y="0"/>
          <a:chExt cx="0" cy="0"/>
        </a:xfrm>
      </p:grpSpPr>
      <p:sp>
        <p:nvSpPr>
          <p:cNvPr id="195" name="Google Shape;195;ge4eb6b47ed_0_0:notes">
            <a:extLst>
              <a:ext uri="{FF2B5EF4-FFF2-40B4-BE49-F238E27FC236}">
                <a16:creationId xmlns:a16="http://schemas.microsoft.com/office/drawing/2014/main" id="{30B1CB2D-C185-7433-8479-FE05A8343DB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196" name="Google Shape;196;ge4eb6b47ed_0_0:notes">
            <a:extLst>
              <a:ext uri="{FF2B5EF4-FFF2-40B4-BE49-F238E27FC236}">
                <a16:creationId xmlns:a16="http://schemas.microsoft.com/office/drawing/2014/main" id="{3E7D7E9A-4ACD-FDCD-0CFC-7E8A04D439BF}"/>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123825" lvl="0" indent="0" algn="just">
              <a:lnSpc>
                <a:spcPct val="150000"/>
              </a:lnSpc>
              <a:spcBef>
                <a:spcPts val="0"/>
              </a:spcBef>
              <a:buClr>
                <a:srgbClr val="282829"/>
              </a:buClr>
              <a:buSzPts val="1650"/>
              <a:buFont typeface="Roboto" panose="02000000000000000000"/>
              <a:buNone/>
            </a:pPr>
            <a:endParaRPr lang="en-US" sz="1200">
              <a:solidFill>
                <a:srgbClr val="282829"/>
              </a:solidFill>
              <a:latin typeface="Bookman Old Style" panose="02050604050505020204" pitchFamily="18" charset="0"/>
              <a:ea typeface="Roboto" panose="02000000000000000000"/>
              <a:cs typeface="Roboto" panose="02000000000000000000"/>
              <a:sym typeface="Roboto" panose="02000000000000000000"/>
            </a:endParaRPr>
          </a:p>
        </p:txBody>
      </p:sp>
      <p:sp>
        <p:nvSpPr>
          <p:cNvPr id="197" name="Google Shape;197;ge4eb6b47ed_0_0:notes">
            <a:extLst>
              <a:ext uri="{FF2B5EF4-FFF2-40B4-BE49-F238E27FC236}">
                <a16:creationId xmlns:a16="http://schemas.microsoft.com/office/drawing/2014/main" id="{CD55492D-DE67-73B5-90EF-16DA5B2FF929}"/>
              </a:ext>
            </a:extLst>
          </p:cNvPr>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chemeClr val="dk1"/>
              </a:buClr>
              <a:buSzPts val="1200"/>
              <a:buFont typeface="Arial" panose="020B0604020202020204"/>
              <a:buNone/>
            </a:pPr>
            <a:fld id="{00000000-1234-1234-1234-123412341234}" type="slidenum">
              <a:rPr lang="en-US"/>
              <a:t>5</a:t>
            </a:fld>
            <a:endParaRPr lang="en-US"/>
          </a:p>
        </p:txBody>
      </p:sp>
    </p:spTree>
    <p:extLst>
      <p:ext uri="{BB962C8B-B14F-4D97-AF65-F5344CB8AC3E}">
        <p14:creationId xmlns:p14="http://schemas.microsoft.com/office/powerpoint/2010/main" val="34940688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a:extLst>
            <a:ext uri="{FF2B5EF4-FFF2-40B4-BE49-F238E27FC236}">
              <a16:creationId xmlns:a16="http://schemas.microsoft.com/office/drawing/2014/main" id="{F73AFDEE-2977-0FF1-5323-18CF6DDA0ABD}"/>
            </a:ext>
          </a:extLst>
        </p:cNvPr>
        <p:cNvGrpSpPr/>
        <p:nvPr/>
      </p:nvGrpSpPr>
      <p:grpSpPr>
        <a:xfrm>
          <a:off x="0" y="0"/>
          <a:ext cx="0" cy="0"/>
          <a:chOff x="0" y="0"/>
          <a:chExt cx="0" cy="0"/>
        </a:xfrm>
      </p:grpSpPr>
      <p:sp>
        <p:nvSpPr>
          <p:cNvPr id="187" name="Google Shape;187;p4:notes">
            <a:extLst>
              <a:ext uri="{FF2B5EF4-FFF2-40B4-BE49-F238E27FC236}">
                <a16:creationId xmlns:a16="http://schemas.microsoft.com/office/drawing/2014/main" id="{34CC0E26-E736-B20B-676C-A5441EFF4921}"/>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88" name="Google Shape;188;p4:notes">
            <a:extLst>
              <a:ext uri="{FF2B5EF4-FFF2-40B4-BE49-F238E27FC236}">
                <a16:creationId xmlns:a16="http://schemas.microsoft.com/office/drawing/2014/main" id="{46858609-3A5D-6E95-F18A-77681CB5CA8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644795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a:extLst>
            <a:ext uri="{FF2B5EF4-FFF2-40B4-BE49-F238E27FC236}">
              <a16:creationId xmlns:a16="http://schemas.microsoft.com/office/drawing/2014/main" id="{1645473A-7CE0-542D-B50E-1E6F42F98AAB}"/>
            </a:ext>
          </a:extLst>
        </p:cNvPr>
        <p:cNvGrpSpPr/>
        <p:nvPr/>
      </p:nvGrpSpPr>
      <p:grpSpPr>
        <a:xfrm>
          <a:off x="0" y="0"/>
          <a:ext cx="0" cy="0"/>
          <a:chOff x="0" y="0"/>
          <a:chExt cx="0" cy="0"/>
        </a:xfrm>
      </p:grpSpPr>
      <p:sp>
        <p:nvSpPr>
          <p:cNvPr id="187" name="Google Shape;187;p4:notes">
            <a:extLst>
              <a:ext uri="{FF2B5EF4-FFF2-40B4-BE49-F238E27FC236}">
                <a16:creationId xmlns:a16="http://schemas.microsoft.com/office/drawing/2014/main" id="{1E342D37-79F8-11B7-8E33-12540755D478}"/>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88" name="Google Shape;188;p4:notes">
            <a:extLst>
              <a:ext uri="{FF2B5EF4-FFF2-40B4-BE49-F238E27FC236}">
                <a16:creationId xmlns:a16="http://schemas.microsoft.com/office/drawing/2014/main" id="{5742C87C-2A99-64C9-F183-DB8C94EF310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1132722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a:extLst>
            <a:ext uri="{FF2B5EF4-FFF2-40B4-BE49-F238E27FC236}">
              <a16:creationId xmlns:a16="http://schemas.microsoft.com/office/drawing/2014/main" id="{85B4A440-04D7-C12C-503A-FC6087C6DF94}"/>
            </a:ext>
          </a:extLst>
        </p:cNvPr>
        <p:cNvGrpSpPr/>
        <p:nvPr/>
      </p:nvGrpSpPr>
      <p:grpSpPr>
        <a:xfrm>
          <a:off x="0" y="0"/>
          <a:ext cx="0" cy="0"/>
          <a:chOff x="0" y="0"/>
          <a:chExt cx="0" cy="0"/>
        </a:xfrm>
      </p:grpSpPr>
      <p:sp>
        <p:nvSpPr>
          <p:cNvPr id="187" name="Google Shape;187;p4:notes">
            <a:extLst>
              <a:ext uri="{FF2B5EF4-FFF2-40B4-BE49-F238E27FC236}">
                <a16:creationId xmlns:a16="http://schemas.microsoft.com/office/drawing/2014/main" id="{B3917E5A-0C52-3948-BE66-C17B3C249EDB}"/>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88" name="Google Shape;188;p4:notes">
            <a:extLst>
              <a:ext uri="{FF2B5EF4-FFF2-40B4-BE49-F238E27FC236}">
                <a16:creationId xmlns:a16="http://schemas.microsoft.com/office/drawing/2014/main" id="{6EFD956D-A5C7-6474-32AF-A63786A4CEB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2949702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a:extLst>
            <a:ext uri="{FF2B5EF4-FFF2-40B4-BE49-F238E27FC236}">
              <a16:creationId xmlns:a16="http://schemas.microsoft.com/office/drawing/2014/main" id="{9C643ACF-5105-68CA-9806-C211EBFB65E8}"/>
            </a:ext>
          </a:extLst>
        </p:cNvPr>
        <p:cNvGrpSpPr/>
        <p:nvPr/>
      </p:nvGrpSpPr>
      <p:grpSpPr>
        <a:xfrm>
          <a:off x="0" y="0"/>
          <a:ext cx="0" cy="0"/>
          <a:chOff x="0" y="0"/>
          <a:chExt cx="0" cy="0"/>
        </a:xfrm>
      </p:grpSpPr>
      <p:sp>
        <p:nvSpPr>
          <p:cNvPr id="187" name="Google Shape;187;p4:notes">
            <a:extLst>
              <a:ext uri="{FF2B5EF4-FFF2-40B4-BE49-F238E27FC236}">
                <a16:creationId xmlns:a16="http://schemas.microsoft.com/office/drawing/2014/main" id="{97FCE1D2-358B-E464-06CE-AAEABB217EB3}"/>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88" name="Google Shape;188;p4:notes">
            <a:extLst>
              <a:ext uri="{FF2B5EF4-FFF2-40B4-BE49-F238E27FC236}">
                <a16:creationId xmlns:a16="http://schemas.microsoft.com/office/drawing/2014/main" id="{18651B87-6312-1EAD-A7D1-43DB4AB08CB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1613687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a:extLst>
            <a:ext uri="{FF2B5EF4-FFF2-40B4-BE49-F238E27FC236}">
              <a16:creationId xmlns:a16="http://schemas.microsoft.com/office/drawing/2014/main" id="{3A5B70E0-9A5A-A208-50C7-1C7D254A7F52}"/>
            </a:ext>
          </a:extLst>
        </p:cNvPr>
        <p:cNvGrpSpPr/>
        <p:nvPr/>
      </p:nvGrpSpPr>
      <p:grpSpPr>
        <a:xfrm>
          <a:off x="0" y="0"/>
          <a:ext cx="0" cy="0"/>
          <a:chOff x="0" y="0"/>
          <a:chExt cx="0" cy="0"/>
        </a:xfrm>
      </p:grpSpPr>
      <p:sp>
        <p:nvSpPr>
          <p:cNvPr id="187" name="Google Shape;187;p4:notes">
            <a:extLst>
              <a:ext uri="{FF2B5EF4-FFF2-40B4-BE49-F238E27FC236}">
                <a16:creationId xmlns:a16="http://schemas.microsoft.com/office/drawing/2014/main" id="{1EA2215F-167A-408F-2EC7-F018EF370BAC}"/>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88" name="Google Shape;188;p4:notes">
            <a:extLst>
              <a:ext uri="{FF2B5EF4-FFF2-40B4-BE49-F238E27FC236}">
                <a16:creationId xmlns:a16="http://schemas.microsoft.com/office/drawing/2014/main" id="{EAEE2D8F-975B-7B9E-DE5B-32C6DF6D72E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42749662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a:extLst>
            <a:ext uri="{FF2B5EF4-FFF2-40B4-BE49-F238E27FC236}">
              <a16:creationId xmlns:a16="http://schemas.microsoft.com/office/drawing/2014/main" id="{BE0D6DAC-A014-66D9-5901-D08273BAA8AA}"/>
            </a:ext>
          </a:extLst>
        </p:cNvPr>
        <p:cNvGrpSpPr/>
        <p:nvPr/>
      </p:nvGrpSpPr>
      <p:grpSpPr>
        <a:xfrm>
          <a:off x="0" y="0"/>
          <a:ext cx="0" cy="0"/>
          <a:chOff x="0" y="0"/>
          <a:chExt cx="0" cy="0"/>
        </a:xfrm>
      </p:grpSpPr>
      <p:sp>
        <p:nvSpPr>
          <p:cNvPr id="187" name="Google Shape;187;p4:notes">
            <a:extLst>
              <a:ext uri="{FF2B5EF4-FFF2-40B4-BE49-F238E27FC236}">
                <a16:creationId xmlns:a16="http://schemas.microsoft.com/office/drawing/2014/main" id="{4D1149C2-E26A-26D1-BBC7-27AD2FF8E046}"/>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88" name="Google Shape;188;p4:notes">
            <a:extLst>
              <a:ext uri="{FF2B5EF4-FFF2-40B4-BE49-F238E27FC236}">
                <a16:creationId xmlns:a16="http://schemas.microsoft.com/office/drawing/2014/main" id="{390D51E5-567E-9305-D943-92DB341C3FB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8455172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
        <p:nvSpPr>
          <p:cNvPr id="262" name="Google Shape;262;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
        <p:nvSpPr>
          <p:cNvPr id="263" name="Google Shape;263;p1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chemeClr val="dk1"/>
              </a:buClr>
              <a:buSzPts val="1200"/>
              <a:buFont typeface="Arial" panose="020B0604020202020204"/>
              <a:buNone/>
            </a:pPr>
            <a:fld id="{00000000-1234-1234-1234-123412341234}"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
        <p:nvSpPr>
          <p:cNvPr id="262" name="Google Shape;262;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
        <p:nvSpPr>
          <p:cNvPr id="263" name="Google Shape;263;p1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chemeClr val="dk1"/>
              </a:buClr>
              <a:buSzPts val="1200"/>
              <a:buFont typeface="Arial" panose="020B0604020202020204"/>
              <a:buNone/>
            </a:pPr>
            <a:fld id="{00000000-1234-1234-1234-123412341234}" type="slidenum">
              <a:rPr lang="en-US"/>
              <a:t>13</a:t>
            </a:fld>
            <a:endParaRPr lang="en-US"/>
          </a:p>
        </p:txBody>
      </p:sp>
    </p:spTree>
    <p:extLst>
      <p:ext uri="{BB962C8B-B14F-4D97-AF65-F5344CB8AC3E}">
        <p14:creationId xmlns:p14="http://schemas.microsoft.com/office/powerpoint/2010/main" val="2854431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
        <p:nvSpPr>
          <p:cNvPr id="262" name="Google Shape;262;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
        <p:nvSpPr>
          <p:cNvPr id="263" name="Google Shape;263;p1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chemeClr val="dk1"/>
              </a:buClr>
              <a:buSzPts val="1200"/>
              <a:buFont typeface="Arial" panose="020B0604020202020204"/>
              <a:buNone/>
            </a:pPr>
            <a:fld id="{00000000-1234-1234-1234-123412341234}" type="slidenum">
              <a:rPr lang="en-US"/>
              <a:t>14</a:t>
            </a:fld>
            <a:endParaRPr lang="en-US"/>
          </a:p>
        </p:txBody>
      </p:sp>
    </p:spTree>
    <p:extLst>
      <p:ext uri="{BB962C8B-B14F-4D97-AF65-F5344CB8AC3E}">
        <p14:creationId xmlns:p14="http://schemas.microsoft.com/office/powerpoint/2010/main" val="20484674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C5BF3A69-ABD3-8049-1206-8D6C1CBD0D59}"/>
            </a:ext>
          </a:extLst>
        </p:cNvPr>
        <p:cNvGrpSpPr/>
        <p:nvPr/>
      </p:nvGrpSpPr>
      <p:grpSpPr>
        <a:xfrm>
          <a:off x="0" y="0"/>
          <a:ext cx="0" cy="0"/>
          <a:chOff x="0" y="0"/>
          <a:chExt cx="0" cy="0"/>
        </a:xfrm>
      </p:grpSpPr>
      <p:sp>
        <p:nvSpPr>
          <p:cNvPr id="305" name="Google Shape;305;p16:notes">
            <a:extLst>
              <a:ext uri="{FF2B5EF4-FFF2-40B4-BE49-F238E27FC236}">
                <a16:creationId xmlns:a16="http://schemas.microsoft.com/office/drawing/2014/main" id="{4A3C5E50-4FB1-BD02-3AFC-65DBB9759529}"/>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306" name="Google Shape;306;p16:notes">
            <a:extLst>
              <a:ext uri="{FF2B5EF4-FFF2-40B4-BE49-F238E27FC236}">
                <a16:creationId xmlns:a16="http://schemas.microsoft.com/office/drawing/2014/main" id="{26EDB4EC-C14A-871F-C82E-94F0DA6AA56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0415834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845D557B-ADB5-9B89-AA24-DBF5F81F5E29}"/>
            </a:ext>
          </a:extLst>
        </p:cNvPr>
        <p:cNvGrpSpPr/>
        <p:nvPr/>
      </p:nvGrpSpPr>
      <p:grpSpPr>
        <a:xfrm>
          <a:off x="0" y="0"/>
          <a:ext cx="0" cy="0"/>
          <a:chOff x="0" y="0"/>
          <a:chExt cx="0" cy="0"/>
        </a:xfrm>
      </p:grpSpPr>
      <p:sp>
        <p:nvSpPr>
          <p:cNvPr id="305" name="Google Shape;305;p16:notes">
            <a:extLst>
              <a:ext uri="{FF2B5EF4-FFF2-40B4-BE49-F238E27FC236}">
                <a16:creationId xmlns:a16="http://schemas.microsoft.com/office/drawing/2014/main" id="{6E69573B-AFD9-E712-1035-13705962C62B}"/>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306" name="Google Shape;306;p16:notes">
            <a:extLst>
              <a:ext uri="{FF2B5EF4-FFF2-40B4-BE49-F238E27FC236}">
                <a16:creationId xmlns:a16="http://schemas.microsoft.com/office/drawing/2014/main" id="{D55A8F71-1923-5A11-E28B-C579F44F11C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849229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95DD07F4-EE45-9CD4-D1EB-956566E62576}"/>
            </a:ext>
          </a:extLst>
        </p:cNvPr>
        <p:cNvGrpSpPr/>
        <p:nvPr/>
      </p:nvGrpSpPr>
      <p:grpSpPr>
        <a:xfrm>
          <a:off x="0" y="0"/>
          <a:ext cx="0" cy="0"/>
          <a:chOff x="0" y="0"/>
          <a:chExt cx="0" cy="0"/>
        </a:xfrm>
      </p:grpSpPr>
      <p:sp>
        <p:nvSpPr>
          <p:cNvPr id="305" name="Google Shape;305;p16:notes">
            <a:extLst>
              <a:ext uri="{FF2B5EF4-FFF2-40B4-BE49-F238E27FC236}">
                <a16:creationId xmlns:a16="http://schemas.microsoft.com/office/drawing/2014/main" id="{E45732DB-76E7-53BE-FA18-50FA7F402B1E}"/>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306" name="Google Shape;306;p16:notes">
            <a:extLst>
              <a:ext uri="{FF2B5EF4-FFF2-40B4-BE49-F238E27FC236}">
                <a16:creationId xmlns:a16="http://schemas.microsoft.com/office/drawing/2014/main" id="{2ACABF28-4470-3F89-DE0F-C94C41A2E28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9127287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02815763-39BD-303E-41E8-978693E9002C}"/>
            </a:ext>
          </a:extLst>
        </p:cNvPr>
        <p:cNvGrpSpPr/>
        <p:nvPr/>
      </p:nvGrpSpPr>
      <p:grpSpPr>
        <a:xfrm>
          <a:off x="0" y="0"/>
          <a:ext cx="0" cy="0"/>
          <a:chOff x="0" y="0"/>
          <a:chExt cx="0" cy="0"/>
        </a:xfrm>
      </p:grpSpPr>
      <p:sp>
        <p:nvSpPr>
          <p:cNvPr id="305" name="Google Shape;305;p16:notes">
            <a:extLst>
              <a:ext uri="{FF2B5EF4-FFF2-40B4-BE49-F238E27FC236}">
                <a16:creationId xmlns:a16="http://schemas.microsoft.com/office/drawing/2014/main" id="{58AFB343-5921-BE22-EF53-A0F35B56D324}"/>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306" name="Google Shape;306;p16:notes">
            <a:extLst>
              <a:ext uri="{FF2B5EF4-FFF2-40B4-BE49-F238E27FC236}">
                <a16:creationId xmlns:a16="http://schemas.microsoft.com/office/drawing/2014/main" id="{CA3A4183-392E-0539-0FB5-CBE54F71421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632159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p:cNvGrpSpPr/>
        <p:nvPr/>
      </p:nvGrpSpPr>
      <p:grpSpPr>
        <a:xfrm>
          <a:off x="0" y="0"/>
          <a:ext cx="0" cy="0"/>
          <a:chOff x="0" y="0"/>
          <a:chExt cx="0" cy="0"/>
        </a:xfrm>
      </p:grpSpPr>
      <p:sp>
        <p:nvSpPr>
          <p:cNvPr id="1254" name="Google Shape;1254;p10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8853106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D3EFF474-16E9-3503-B735-85C4E4EAB792}"/>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718DB4CB-0699-D85D-DE5B-229EE83DA73A}"/>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7DB6CC5C-4ED0-72E6-864F-10397ABF6D1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09496149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55BA602E-2DA7-385C-093E-6530DED1816C}"/>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7EA14F48-6940-DB9D-DF5D-673E1B8BDF18}"/>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9BF67125-3CDD-F7DB-B214-01E2DF786D3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48689077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56B681B1-26DE-9CA9-C9DE-ACE176012122}"/>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1FEEDAA7-257E-E2C9-F265-1D72B15D4218}"/>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A6761353-5CA3-0891-14EE-E41EE63DBAC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0039308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21726D72-41A2-F989-7BB7-FCCBA55F6165}"/>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4607599D-8708-B6D7-0805-8C9E14022727}"/>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8E9B9AE1-8623-A819-1B69-3EDADC24DE6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0714439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p:cNvGrpSpPr/>
        <p:nvPr/>
      </p:nvGrpSpPr>
      <p:grpSpPr>
        <a:xfrm>
          <a:off x="0" y="0"/>
          <a:ext cx="0" cy="0"/>
          <a:chOff x="0" y="0"/>
          <a:chExt cx="0" cy="0"/>
        </a:xfrm>
      </p:grpSpPr>
      <p:sp>
        <p:nvSpPr>
          <p:cNvPr id="1254" name="Google Shape;1254;p10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dirty="0"/>
          </a:p>
        </p:txBody>
      </p:sp>
      <p:sp>
        <p:nvSpPr>
          <p:cNvPr id="1255" name="Google Shape;1255;p1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3056180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BFC23AFA-F207-0AC8-64D4-2CB1633DDF2A}"/>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F7F203C2-A1FE-E9AC-E19C-1F608521EE78}"/>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D9A66E96-681B-FCB7-231E-2C2CB61AC6F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1677405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CD03C91E-D019-9F9C-7B07-D96C35416686}"/>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35B72364-5761-605B-DB62-6C84D442A5E9}"/>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9C017210-A2DE-9E59-DD53-AB4C85995F5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50586728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97EB8949-ADD2-B624-D7F9-4F281C987CDE}"/>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88AC6E15-E9FF-EEB3-588C-48196D93978B}"/>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26106019-3B03-18B6-0F77-CE580D14471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94636367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2B4D28A9-2733-2610-8CFE-5E0875931389}"/>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AF38CF82-C924-F5D4-3F97-53368E4BD2FD}"/>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3B2EDB8C-D31D-6F0F-F36A-AFE20E234C4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559241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51FD2E01-BB32-0CE6-2F73-0AF6A282B021}"/>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DDFA1339-D40D-06F5-1199-4957F2197DEB}"/>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D44D6E72-853F-A5BF-ED42-FE46E15ECDC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9058616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3EBEF0CE-ED64-5163-FDA6-219ED64079E0}"/>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1B2438F0-54D8-0332-AE25-C56DAE9E12E4}"/>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DB112B32-47C3-8191-BEA6-62A6714F255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39680631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C044A64C-6011-605F-1271-1880D2823FB3}"/>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B46F16CF-24C8-5C90-9095-606A26E696CA}"/>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676F7C01-1ED7-C9E0-3F63-A509921110E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41066951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0D015C0C-4BF6-BCB1-666C-CBE09E2A9C51}"/>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4436676F-7C19-16CF-19EE-C64D2DFED8DE}"/>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EDD7910E-9AF8-93DE-B200-BE78E89A4E6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42037334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746ACA3B-C9E6-A8B8-58F1-2F5F1D35C4F0}"/>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153B9D2F-E111-7CF6-9D83-D6D9B25B344D}"/>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D424C442-7103-6328-4369-95F065795F2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7310482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746ACA3B-C9E6-A8B8-58F1-2F5F1D35C4F0}"/>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153B9D2F-E111-7CF6-9D83-D6D9B25B344D}"/>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D424C442-7103-6328-4369-95F065795F2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2392377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746ACA3B-C9E6-A8B8-58F1-2F5F1D35C4F0}"/>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153B9D2F-E111-7CF6-9D83-D6D9B25B344D}"/>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D424C442-7103-6328-4369-95F065795F2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55874612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A851EE2D-EFBF-A32C-7855-2CC6237A3BA7}"/>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E14A6F10-3CD2-24C7-7CFE-E1A2BC864ED5}"/>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B9239FB6-5C97-B770-58C6-CD65C483FC2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33119962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A851EE2D-EFBF-A32C-7855-2CC6237A3BA7}"/>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E14A6F10-3CD2-24C7-7CFE-E1A2BC864ED5}"/>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B9239FB6-5C97-B770-58C6-CD65C483FC2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9579417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A851EE2D-EFBF-A32C-7855-2CC6237A3BA7}"/>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E14A6F10-3CD2-24C7-7CFE-E1A2BC864ED5}"/>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B9239FB6-5C97-B770-58C6-CD65C483FC2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36380281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A851EE2D-EFBF-A32C-7855-2CC6237A3BA7}"/>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E14A6F10-3CD2-24C7-7CFE-E1A2BC864ED5}"/>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B9239FB6-5C97-B770-58C6-CD65C483FC2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06769298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A851EE2D-EFBF-A32C-7855-2CC6237A3BA7}"/>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E14A6F10-3CD2-24C7-7CFE-E1A2BC864ED5}"/>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B9239FB6-5C97-B770-58C6-CD65C483FC2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24150610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A851EE2D-EFBF-A32C-7855-2CC6237A3BA7}"/>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E14A6F10-3CD2-24C7-7CFE-E1A2BC864ED5}"/>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B9239FB6-5C97-B770-58C6-CD65C483FC2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71624914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A851EE2D-EFBF-A32C-7855-2CC6237A3BA7}"/>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E14A6F10-3CD2-24C7-7CFE-E1A2BC864ED5}"/>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B9239FB6-5C97-B770-58C6-CD65C483FC2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82165097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A851EE2D-EFBF-A32C-7855-2CC6237A3BA7}"/>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E14A6F10-3CD2-24C7-7CFE-E1A2BC864ED5}"/>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B9239FB6-5C97-B770-58C6-CD65C483FC2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50287112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A851EE2D-EFBF-A32C-7855-2CC6237A3BA7}"/>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E14A6F10-3CD2-24C7-7CFE-E1A2BC864ED5}"/>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B9239FB6-5C97-B770-58C6-CD65C483FC2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41249201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E2584054-C801-8605-ECB3-0C8944F39D47}"/>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D0798131-D78D-6B85-585E-F8A7F312910C}"/>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5372A3A2-224A-D5A7-DA39-34E328B9EB4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9407291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480064F7-F877-7EF4-F7E5-3BF633A1B2DB}"/>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5A440D2B-1A2D-D193-4843-01CA549DD439}"/>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DBEF1D72-62F0-39BB-3AF8-BBAD168E338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8052128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6C5477AD-4BBB-DDBD-DB43-D7071D218176}"/>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E0D2A257-3D11-1321-B849-6A9018A1E27B}"/>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BDC04CDC-0DBE-7E9F-BEEB-D37503371AE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92713048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BD81F02F-D031-100E-7AF2-AA698D91F922}"/>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1B94B8CC-6348-DD45-7553-3DF8E2AE9EEB}"/>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9BED199B-51D1-BB82-177B-603D754EE8F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16900965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B3C2718B-BA11-DE7A-EA5B-209383557E89}"/>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EA82AD11-DEFB-7FA0-9723-222A0CE64AB3}"/>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038B14BB-859E-8ED5-46FC-FE9D5AC399E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07745957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C5E5B140-EBB1-DEDD-28FC-FA09B40A631E}"/>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E4FBB25B-2C85-548E-4CBA-FAB3AF89E817}"/>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43CEBA48-8941-F8C1-4A9B-9E3567BDEC9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19664148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p:cNvGrpSpPr/>
        <p:nvPr/>
      </p:nvGrpSpPr>
      <p:grpSpPr>
        <a:xfrm>
          <a:off x="0" y="0"/>
          <a:ext cx="0" cy="0"/>
          <a:chOff x="0" y="0"/>
          <a:chExt cx="0" cy="0"/>
        </a:xfrm>
      </p:grpSpPr>
      <p:sp>
        <p:nvSpPr>
          <p:cNvPr id="1254" name="Google Shape;1254;p10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16232175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EDBEC433-DABE-B929-FCE9-7DFC8A861F76}"/>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31F0E661-68E2-E832-7AD4-9242CF39CA18}"/>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3AA9F669-43F1-37B1-951B-A3DFB3832EA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4447802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EDBEC433-DABE-B929-FCE9-7DFC8A861F76}"/>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31F0E661-68E2-E832-7AD4-9242CF39CA18}"/>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3AA9F669-43F1-37B1-951B-A3DFB3832EA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3288991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a:extLst>
            <a:ext uri="{FF2B5EF4-FFF2-40B4-BE49-F238E27FC236}">
              <a16:creationId xmlns:a16="http://schemas.microsoft.com/office/drawing/2014/main" id="{4D903DC0-B241-C4F3-219B-781F9FB542F1}"/>
            </a:ext>
          </a:extLst>
        </p:cNvPr>
        <p:cNvGrpSpPr/>
        <p:nvPr/>
      </p:nvGrpSpPr>
      <p:grpSpPr>
        <a:xfrm>
          <a:off x="0" y="0"/>
          <a:ext cx="0" cy="0"/>
          <a:chOff x="0" y="0"/>
          <a:chExt cx="0" cy="0"/>
        </a:xfrm>
      </p:grpSpPr>
      <p:sp>
        <p:nvSpPr>
          <p:cNvPr id="1254" name="Google Shape;1254;p101:notes">
            <a:extLst>
              <a:ext uri="{FF2B5EF4-FFF2-40B4-BE49-F238E27FC236}">
                <a16:creationId xmlns:a16="http://schemas.microsoft.com/office/drawing/2014/main" id="{BC578A51-AA93-CA50-1016-C6AB6794A0B1}"/>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a:extLst>
              <a:ext uri="{FF2B5EF4-FFF2-40B4-BE49-F238E27FC236}">
                <a16:creationId xmlns:a16="http://schemas.microsoft.com/office/drawing/2014/main" id="{A7A43CF6-DF40-6C9F-FBAD-FD2EA1BF9A4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65602707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3"/>
        <p:cNvGrpSpPr/>
        <p:nvPr/>
      </p:nvGrpSpPr>
      <p:grpSpPr>
        <a:xfrm>
          <a:off x="0" y="0"/>
          <a:ext cx="0" cy="0"/>
          <a:chOff x="0" y="0"/>
          <a:chExt cx="0" cy="0"/>
        </a:xfrm>
      </p:grpSpPr>
      <p:sp>
        <p:nvSpPr>
          <p:cNvPr id="1254" name="Google Shape;1254;p10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55" name="Google Shape;1255;p1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53621676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9"/>
        <p:cNvGrpSpPr/>
        <p:nvPr/>
      </p:nvGrpSpPr>
      <p:grpSpPr>
        <a:xfrm>
          <a:off x="0" y="0"/>
          <a:ext cx="0" cy="0"/>
          <a:chOff x="0" y="0"/>
          <a:chExt cx="0" cy="0"/>
        </a:xfrm>
      </p:grpSpPr>
      <p:sp>
        <p:nvSpPr>
          <p:cNvPr id="1270" name="Google Shape;1270;p103: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71" name="Google Shape;1271;p1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9">
          <a:extLst>
            <a:ext uri="{FF2B5EF4-FFF2-40B4-BE49-F238E27FC236}">
              <a16:creationId xmlns:a16="http://schemas.microsoft.com/office/drawing/2014/main" id="{08DCC375-6620-C469-891E-47295AACF4C9}"/>
            </a:ext>
          </a:extLst>
        </p:cNvPr>
        <p:cNvGrpSpPr/>
        <p:nvPr/>
      </p:nvGrpSpPr>
      <p:grpSpPr>
        <a:xfrm>
          <a:off x="0" y="0"/>
          <a:ext cx="0" cy="0"/>
          <a:chOff x="0" y="0"/>
          <a:chExt cx="0" cy="0"/>
        </a:xfrm>
      </p:grpSpPr>
      <p:sp>
        <p:nvSpPr>
          <p:cNvPr id="1270" name="Google Shape;1270;p103:notes">
            <a:extLst>
              <a:ext uri="{FF2B5EF4-FFF2-40B4-BE49-F238E27FC236}">
                <a16:creationId xmlns:a16="http://schemas.microsoft.com/office/drawing/2014/main" id="{F10B216C-16FF-B234-B6F4-14093266044B}"/>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71" name="Google Shape;1271;p103:notes">
            <a:extLst>
              <a:ext uri="{FF2B5EF4-FFF2-40B4-BE49-F238E27FC236}">
                <a16:creationId xmlns:a16="http://schemas.microsoft.com/office/drawing/2014/main" id="{EF3B8943-91D3-976A-DE08-B11C5C6B3CA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96978644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9">
          <a:extLst>
            <a:ext uri="{FF2B5EF4-FFF2-40B4-BE49-F238E27FC236}">
              <a16:creationId xmlns:a16="http://schemas.microsoft.com/office/drawing/2014/main" id="{08DCC375-6620-C469-891E-47295AACF4C9}"/>
            </a:ext>
          </a:extLst>
        </p:cNvPr>
        <p:cNvGrpSpPr/>
        <p:nvPr/>
      </p:nvGrpSpPr>
      <p:grpSpPr>
        <a:xfrm>
          <a:off x="0" y="0"/>
          <a:ext cx="0" cy="0"/>
          <a:chOff x="0" y="0"/>
          <a:chExt cx="0" cy="0"/>
        </a:xfrm>
      </p:grpSpPr>
      <p:sp>
        <p:nvSpPr>
          <p:cNvPr id="1270" name="Google Shape;1270;p103:notes">
            <a:extLst>
              <a:ext uri="{FF2B5EF4-FFF2-40B4-BE49-F238E27FC236}">
                <a16:creationId xmlns:a16="http://schemas.microsoft.com/office/drawing/2014/main" id="{F10B216C-16FF-B234-B6F4-14093266044B}"/>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271" name="Google Shape;1271;p103:notes">
            <a:extLst>
              <a:ext uri="{FF2B5EF4-FFF2-40B4-BE49-F238E27FC236}">
                <a16:creationId xmlns:a16="http://schemas.microsoft.com/office/drawing/2014/main" id="{EF3B8943-91D3-976A-DE08-B11C5C6B3CA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401064435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1"/>
        <p:cNvGrpSpPr/>
        <p:nvPr/>
      </p:nvGrpSpPr>
      <p:grpSpPr>
        <a:xfrm>
          <a:off x="0" y="0"/>
          <a:ext cx="0" cy="0"/>
          <a:chOff x="0" y="0"/>
          <a:chExt cx="0" cy="0"/>
        </a:xfrm>
      </p:grpSpPr>
      <p:sp>
        <p:nvSpPr>
          <p:cNvPr id="1302" name="Google Shape;1302;p107: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360"/>
              </a:spcBef>
              <a:spcAft>
                <a:spcPts val="0"/>
              </a:spcAft>
              <a:buNone/>
            </a:pPr>
            <a:endParaRPr/>
          </a:p>
        </p:txBody>
      </p:sp>
      <p:sp>
        <p:nvSpPr>
          <p:cNvPr id="1303" name="Google Shape;1303;p10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endParaRPr lang="en-IN"/>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34180F06-E0DC-4EE3-87CC-13EFD3DCF758}" type="datetime1">
              <a:rPr lang="en-US" smtClean="0"/>
              <a:t>4/28/2026</a:t>
            </a:fld>
            <a:endParaRPr lang="en-US"/>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hf hdr="0" ftr="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7D5F056A-0A36-494E-84D6-50EC59491478}" type="datetime1">
              <a:rPr lang="en-US" smtClean="0"/>
              <a:t>4/28/2026</a:t>
            </a:fld>
            <a:endParaRPr lang="en-US"/>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4500"/>
            </a:lvl1pPr>
          </a:lstStyle>
          <a:p>
            <a:r>
              <a:rPr lang="en-US"/>
              <a:t>Click to edit Master title style</a:t>
            </a:r>
            <a:endParaRPr lang="en-IN"/>
          </a:p>
        </p:txBody>
      </p:sp>
      <p:sp>
        <p:nvSpPr>
          <p:cNvPr id="3" name="Text Placeholder 2"/>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46D6E94-A030-4F2D-8286-532CD28C210A}" type="datetime1">
              <a:rPr lang="en-US" smtClean="0"/>
              <a:t>4/28/2026</a:t>
            </a:fld>
            <a:endParaRPr lang="en-US"/>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hf hdr="0" ftr="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B36D2D96-FE9E-4CBC-A309-E2C2C2450135}" type="datetime1">
              <a:rPr lang="en-US" smtClean="0"/>
              <a:t>4/28/2026</a:t>
            </a:fld>
            <a:endParaRPr lang="en-US"/>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hf hdr="0" ftr="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0B9FBEAD-D86A-4836-BDB4-62AE0F8E0709}" type="datetime1">
              <a:rPr lang="en-US" smtClean="0"/>
              <a:t>4/28/2026</a:t>
            </a:fld>
            <a:endParaRPr lang="en-US"/>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hf hdr="0" ftr="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52895D39-D238-46EF-B717-94094E26B03F}" type="datetime1">
              <a:rPr lang="en-US" smtClean="0"/>
              <a:t>4/28/2026</a:t>
            </a:fld>
            <a:endParaRPr lang="en-US"/>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hf hdr="0" ftr="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F4C0506-8C72-4281-B7DE-64218323E3AD}" type="datetime1">
              <a:rPr lang="en-US" smtClean="0"/>
              <a:t>4/28/2026</a:t>
            </a:fld>
            <a:endParaRPr lang="en-US"/>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hf hdr="0" ftr="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endParaRPr lang="en-IN"/>
          </a:p>
        </p:txBody>
      </p:sp>
      <p:sp>
        <p:nvSpPr>
          <p:cNvPr id="3" name="Content Placeholder 2"/>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A690B300-98E9-4547-8EAF-4F6636ED984E}" type="datetime1">
              <a:rPr lang="en-US" smtClean="0"/>
              <a:t>4/28/2026</a:t>
            </a:fld>
            <a:endParaRPr lang="en-US"/>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hf hdr="0" ftr="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endParaRPr lang="en-IN"/>
          </a:p>
        </p:txBody>
      </p:sp>
      <p:sp>
        <p:nvSpPr>
          <p:cNvPr id="3" name="Picture Placeholder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IN"/>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81416B01-9D9E-4E38-A7AB-774CFF697F4B}" type="datetime1">
              <a:rPr lang="en-US" smtClean="0"/>
              <a:t>4/28/2026</a:t>
            </a:fld>
            <a:endParaRPr lang="en-US"/>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hf hdr="0" ftr="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F7E01AD6-9AAC-452E-AB6B-E37F410EF9E4}" type="datetime1">
              <a:rPr lang="en-US" smtClean="0"/>
              <a:t>4/28/2026</a:t>
            </a:fld>
            <a:endParaRPr lang="en-US"/>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hf hdr="0" ftr="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D924E06F-904B-463E-90EC-981B753D1E01}" type="datetime1">
              <a:rPr lang="en-US" smtClean="0"/>
              <a:t>4/28/2026</a:t>
            </a:fld>
            <a:endParaRPr lang="en-US"/>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hf hdr="0" ftr="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81416B01-9D9E-4E38-A7AB-774CFF697F4B}" type="datetime1">
              <a:rPr lang="en-US" smtClean="0"/>
              <a:t>4/28/2026</a:t>
            </a:fld>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marL="0" lvl="0" indent="0" algn="r" rtl="0">
              <a:spcBef>
                <a:spcPts val="0"/>
              </a:spcBef>
              <a:spcAft>
                <a:spcPts val="0"/>
              </a:spcAft>
              <a:buNone/>
            </a:pPr>
            <a:fld id="{00000000-1234-1234-1234-123412341234}"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hf hdr="0" ft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hemeOverride" Target="../theme/themeOverride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themeOverride" Target="../theme/themeOverride7.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themeOverride" Target="../theme/themeOverride8.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ags" Target="../tags/tag3.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hemeOverride" Target="../theme/themeOverride9.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2.xml"/><Relationship Id="rId1" Type="http://schemas.openxmlformats.org/officeDocument/2006/relationships/themeOverride" Target="../theme/themeOverride10.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themeOverride" Target="../theme/themeOverride11.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themeOverride" Target="../theme/themeOverride12.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3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microsoft.com/office/2007/relationships/hdphoto" Target="../media/hdphoto2.wdp"/><Relationship Id="rId5" Type="http://schemas.openxmlformats.org/officeDocument/2006/relationships/image" Target="../media/image13.png"/><Relationship Id="rId4" Type="http://schemas.microsoft.com/office/2007/relationships/hdphoto" Target="../media/hdphoto1.wdp"/></Relationships>
</file>

<file path=ppt/slides/_rels/slide3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microsoft.com/office/2007/relationships/hdphoto" Target="../media/hdphoto4.wdp"/><Relationship Id="rId5" Type="http://schemas.openxmlformats.org/officeDocument/2006/relationships/image" Target="../media/image15.png"/><Relationship Id="rId4" Type="http://schemas.microsoft.com/office/2007/relationships/hdphoto" Target="../media/hdphoto3.wdp"/></Relationships>
</file>

<file path=ppt/slides/_rels/slide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microsoft.com/office/2007/relationships/hdphoto" Target="../media/hdphoto5.wdp"/></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microsoft.com/office/2007/relationships/hdphoto" Target="../media/hdphoto6.wdp"/></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microsoft.com/office/2007/relationships/hdphoto" Target="../media/hdphoto8.wdp"/><Relationship Id="rId5" Type="http://schemas.openxmlformats.org/officeDocument/2006/relationships/image" Target="../media/image19.png"/><Relationship Id="rId4" Type="http://schemas.microsoft.com/office/2007/relationships/hdphoto" Target="../media/hdphoto7.wdp"/></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21.png"/><Relationship Id="rId4" Type="http://schemas.microsoft.com/office/2007/relationships/hdphoto" Target="../media/hdphoto9.wdp"/></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4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microsoft.com/office/2007/relationships/hdphoto" Target="../media/hdphoto10.wdp"/></Relationships>
</file>

<file path=ppt/slides/_rels/slide4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5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hyperlink" Target="https://www.kaggle.com/datasets/arjunsudheer326/tomato-plant-stages-dataset" TargetMode="External"/><Relationship Id="rId3" Type="http://schemas.openxmlformats.org/officeDocument/2006/relationships/hyperlink" Target="https://www.kaggle.com/datasets/arjuntejaswi/plant-village" TargetMode="External"/><Relationship Id="rId7" Type="http://schemas.openxmlformats.org/officeDocument/2006/relationships/hyperlink" Target="https://data.mendeley.com/datasets/8h3s6jkyff/1" TargetMode="Externa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hyperlink" Target="https://www.kaggle.com/datasets/jawadulkarim117/tomato-flower-3-class" TargetMode="External"/><Relationship Id="rId5" Type="http://schemas.openxmlformats.org/officeDocument/2006/relationships/hyperlink" Target="https://data.mendeley.com/datasets/c2x8rynybg/1" TargetMode="External"/><Relationship Id="rId4" Type="http://schemas.openxmlformats.org/officeDocument/2006/relationships/hyperlink" Target="https://www.kaggle.com/datasets/adilshamim8/greenhouse-plant-growth-metrics" TargetMode="Externa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Shape 162"/>
        <p:cNvGrpSpPr/>
        <p:nvPr/>
      </p:nvGrpSpPr>
      <p:grpSpPr>
        <a:xfrm>
          <a:off x="0" y="0"/>
          <a:ext cx="0" cy="0"/>
          <a:chOff x="0" y="0"/>
          <a:chExt cx="0" cy="0"/>
        </a:xfrm>
      </p:grpSpPr>
      <p:sp>
        <p:nvSpPr>
          <p:cNvPr id="163" name="Google Shape;163;p1"/>
          <p:cNvSpPr/>
          <p:nvPr/>
        </p:nvSpPr>
        <p:spPr>
          <a:xfrm>
            <a:off x="544512" y="1543905"/>
            <a:ext cx="7970838" cy="1179513"/>
          </a:xfrm>
          <a:prstGeom prst="roundRect">
            <a:avLst>
              <a:gd name="adj" fmla="val 50000"/>
            </a:avLst>
          </a:prstGeom>
          <a:noFill/>
          <a:ln w="25400" cap="flat" cmpd="sng">
            <a:solidFill>
              <a:srgbClr val="31859B"/>
            </a:solidFill>
            <a:prstDash val="solid"/>
            <a:round/>
            <a:headEnd type="none" w="sm" len="sm"/>
            <a:tailEnd type="none" w="sm" len="sm"/>
          </a:ln>
        </p:spPr>
        <p:txBody>
          <a:bodyPr spcFirstLastPara="1" wrap="square" lIns="91425" tIns="45700" rIns="91425" bIns="45700" anchor="ctr" anchorCtr="0">
            <a:noAutofit/>
          </a:bodyPr>
          <a:lstStyle/>
          <a:p>
            <a:pPr algn="ctr"/>
            <a:r>
              <a:rPr lang="en-US" sz="2400" b="1" dirty="0">
                <a:solidFill>
                  <a:srgbClr val="006600"/>
                </a:solidFill>
                <a:latin typeface="Algerian" panose="04020705040A02060702" pitchFamily="82" charset="0"/>
                <a:cs typeface="Times New Roman"/>
                <a:sym typeface="Times New Roman" panose="02020603050405020304"/>
              </a:rPr>
              <a:t>AGRITWIN-GH: AGRICULTURAL DIGITAL TWIN FOR SMART GREENHOUSE HORTICULTURE OF TOMATO CULTIVATION</a:t>
            </a:r>
            <a:endParaRPr lang="en-US" sz="2400" dirty="0">
              <a:solidFill>
                <a:srgbClr val="006600"/>
              </a:solidFill>
              <a:latin typeface="Algerian" panose="04020705040A02060702" pitchFamily="82" charset="0"/>
              <a:sym typeface="Times New Roman" panose="02020603050405020304"/>
            </a:endParaRPr>
          </a:p>
        </p:txBody>
      </p:sp>
      <p:sp>
        <p:nvSpPr>
          <p:cNvPr id="164" name="Google Shape;164;p1"/>
          <p:cNvSpPr txBox="1">
            <a:spLocks noGrp="1"/>
          </p:cNvSpPr>
          <p:nvPr>
            <p:ph type="subTitle" idx="1"/>
          </p:nvPr>
        </p:nvSpPr>
        <p:spPr>
          <a:xfrm>
            <a:off x="0" y="3036656"/>
            <a:ext cx="9144000" cy="2170344"/>
          </a:xfrm>
          <a:prstGeom prst="rect">
            <a:avLst/>
          </a:prstGeom>
          <a:noFill/>
          <a:ln>
            <a:noFill/>
          </a:ln>
        </p:spPr>
        <p:txBody>
          <a:bodyPr spcFirstLastPara="1" wrap="square" lIns="91425" tIns="45700" rIns="91425" bIns="45700" anchor="t" anchorCtr="0">
            <a:noAutofit/>
          </a:bodyPr>
          <a:lstStyle/>
          <a:p>
            <a:pPr marL="0" lvl="0" indent="0" rtl="0">
              <a:lnSpc>
                <a:spcPct val="60000"/>
              </a:lnSpc>
              <a:spcBef>
                <a:spcPts val="0"/>
              </a:spcBef>
              <a:spcAft>
                <a:spcPts val="0"/>
              </a:spcAft>
              <a:buClr>
                <a:srgbClr val="E830DB"/>
              </a:buClr>
              <a:buSzPts val="2100"/>
              <a:buNone/>
            </a:pPr>
            <a:r>
              <a:rPr lang="en-US" sz="2200" b="1" i="1" dirty="0">
                <a:solidFill>
                  <a:srgbClr val="006600"/>
                </a:solidFill>
                <a:latin typeface="Time New Roman"/>
                <a:cs typeface="Arial" panose="020B0604020202020204"/>
                <a:sym typeface="Times New Roman" panose="02020603050405020304"/>
              </a:rPr>
              <a:t>Under</a:t>
            </a:r>
            <a:r>
              <a:rPr lang="en-US" sz="2200" b="1" i="1" dirty="0">
                <a:solidFill>
                  <a:srgbClr val="006600"/>
                </a:solidFill>
                <a:latin typeface="Time New Roman"/>
                <a:ea typeface="Times New Roman" panose="02020603050405020304"/>
                <a:cs typeface="Times New Roman" panose="02020603050405020304"/>
                <a:sym typeface="Times New Roman" panose="02020603050405020304"/>
              </a:rPr>
              <a:t> </a:t>
            </a:r>
            <a:r>
              <a:rPr lang="en-US" sz="2200" b="1" i="1" dirty="0">
                <a:solidFill>
                  <a:srgbClr val="006600"/>
                </a:solidFill>
                <a:latin typeface="Time New Roman"/>
                <a:cs typeface="Arial" panose="020B0604020202020204"/>
                <a:sym typeface="Times New Roman" panose="02020603050405020304"/>
              </a:rPr>
              <a:t>the</a:t>
            </a:r>
            <a:r>
              <a:rPr lang="en-US" sz="2200" b="1" i="1" dirty="0">
                <a:solidFill>
                  <a:srgbClr val="006600"/>
                </a:solidFill>
                <a:latin typeface="Time New Roman"/>
                <a:ea typeface="Times New Roman" panose="02020603050405020304"/>
                <a:cs typeface="Times New Roman" panose="02020603050405020304"/>
                <a:sym typeface="Times New Roman" panose="02020603050405020304"/>
              </a:rPr>
              <a:t> </a:t>
            </a:r>
            <a:r>
              <a:rPr lang="en-US" sz="2200" b="1" i="1" dirty="0">
                <a:solidFill>
                  <a:srgbClr val="006600"/>
                </a:solidFill>
                <a:latin typeface="Time New Roman"/>
                <a:cs typeface="Arial" panose="020B0604020202020204"/>
                <a:sym typeface="Times New Roman" panose="02020603050405020304"/>
              </a:rPr>
              <a:t>Supervision</a:t>
            </a:r>
            <a:r>
              <a:rPr lang="en-US" sz="2200" b="1" i="1" dirty="0">
                <a:solidFill>
                  <a:srgbClr val="006600"/>
                </a:solidFill>
                <a:latin typeface="Time New Roman"/>
                <a:ea typeface="Times New Roman" panose="02020603050405020304"/>
                <a:cs typeface="Times New Roman" panose="02020603050405020304"/>
                <a:sym typeface="Times New Roman" panose="02020603050405020304"/>
              </a:rPr>
              <a:t> </a:t>
            </a:r>
            <a:r>
              <a:rPr lang="en-US" sz="2200" b="1" i="1" dirty="0">
                <a:solidFill>
                  <a:srgbClr val="006600"/>
                </a:solidFill>
                <a:latin typeface="Time New Roman"/>
                <a:cs typeface="Arial" panose="020B0604020202020204"/>
                <a:sym typeface="Times New Roman" panose="02020603050405020304"/>
              </a:rPr>
              <a:t>of</a:t>
            </a:r>
            <a:endParaRPr lang="en-US" sz="2200" b="1" i="1" dirty="0">
              <a:solidFill>
                <a:srgbClr val="006600"/>
              </a:solidFill>
              <a:latin typeface="Time New Roman"/>
              <a:cs typeface="Arial" panose="020B0604020202020204"/>
              <a:sym typeface="Arial" panose="020B0604020202020204"/>
            </a:endParaRPr>
          </a:p>
          <a:p>
            <a:pPr marL="0" lvl="0" indent="0" rtl="0">
              <a:lnSpc>
                <a:spcPct val="60000"/>
              </a:lnSpc>
              <a:spcBef>
                <a:spcPts val="0"/>
              </a:spcBef>
              <a:spcAft>
                <a:spcPts val="0"/>
              </a:spcAft>
              <a:buClr>
                <a:srgbClr val="E830DB"/>
              </a:buClr>
              <a:buSzPts val="2100"/>
              <a:buNone/>
            </a:pPr>
            <a:endParaRPr lang="en-US" sz="2100" b="1" i="1" dirty="0">
              <a:solidFill>
                <a:srgbClr val="006600"/>
              </a:solidFill>
              <a:latin typeface="Time New Roman"/>
              <a:ea typeface="Times New Roman" panose="02020603050405020304"/>
              <a:cs typeface="Arial" panose="020B0604020202020204"/>
              <a:sym typeface="Arial" panose="020B0604020202020204"/>
            </a:endParaRPr>
          </a:p>
          <a:p>
            <a:pPr marL="0" lvl="0" indent="0" rtl="0">
              <a:lnSpc>
                <a:spcPct val="100000"/>
              </a:lnSpc>
              <a:spcBef>
                <a:spcPts val="0"/>
              </a:spcBef>
              <a:spcAft>
                <a:spcPts val="0"/>
              </a:spcAft>
              <a:buClr>
                <a:srgbClr val="E830DB"/>
              </a:buClr>
              <a:buSzPts val="2100"/>
              <a:buNone/>
            </a:pPr>
            <a:r>
              <a:rPr lang="en-US" sz="2000" b="1" dirty="0">
                <a:solidFill>
                  <a:schemeClr val="dk1"/>
                </a:solidFill>
                <a:latin typeface="Times New Roman" panose="02020603050405020304"/>
                <a:ea typeface="Times New Roman" panose="02020603050405020304"/>
                <a:cs typeface="Times New Roman" panose="02020603050405020304"/>
                <a:sym typeface="Times New Roman" panose="02020603050405020304"/>
              </a:rPr>
              <a:t>Dr. V. </a:t>
            </a:r>
            <a:r>
              <a:rPr lang="en-US" sz="2000" b="1" dirty="0" err="1">
                <a:solidFill>
                  <a:schemeClr val="dk1"/>
                </a:solidFill>
                <a:latin typeface="Times New Roman" panose="02020603050405020304"/>
                <a:ea typeface="Times New Roman" panose="02020603050405020304"/>
                <a:cs typeface="Times New Roman" panose="02020603050405020304"/>
                <a:sym typeface="Times New Roman" panose="02020603050405020304"/>
              </a:rPr>
              <a:t>Govindasamy</a:t>
            </a:r>
            <a:endParaRPr lang="en-US" sz="2000" dirty="0">
              <a:sym typeface="Times New Roman" panose="02020603050405020304"/>
            </a:endParaRPr>
          </a:p>
          <a:p>
            <a:pPr marL="0" lvl="0" indent="0" rtl="0">
              <a:lnSpc>
                <a:spcPct val="100000"/>
              </a:lnSpc>
              <a:spcBef>
                <a:spcPts val="0"/>
              </a:spcBef>
              <a:spcAft>
                <a:spcPts val="0"/>
              </a:spcAft>
              <a:buClr>
                <a:srgbClr val="E830DB"/>
              </a:buClr>
              <a:buSzPts val="2100"/>
              <a:buNone/>
            </a:pPr>
            <a:r>
              <a:rPr lang="en-US" sz="2000" b="1" dirty="0">
                <a:solidFill>
                  <a:schemeClr val="dk1"/>
                </a:solidFill>
                <a:latin typeface="Times New Roman" panose="02020603050405020304"/>
                <a:ea typeface="Times New Roman" panose="02020603050405020304"/>
                <a:cs typeface="Times New Roman" panose="02020603050405020304"/>
                <a:sym typeface="Times New Roman" panose="02020603050405020304"/>
              </a:rPr>
              <a:t>Professor</a:t>
            </a:r>
          </a:p>
          <a:p>
            <a:pPr marL="0" lvl="0" indent="0" rtl="0">
              <a:lnSpc>
                <a:spcPct val="100000"/>
              </a:lnSpc>
              <a:spcBef>
                <a:spcPts val="0"/>
              </a:spcBef>
              <a:spcAft>
                <a:spcPts val="0"/>
              </a:spcAft>
              <a:buClr>
                <a:srgbClr val="E830DB"/>
              </a:buClr>
              <a:buSzPts val="2100"/>
              <a:buNone/>
            </a:pPr>
            <a:r>
              <a:rPr lang="en-IN" sz="2000" b="1" dirty="0">
                <a:solidFill>
                  <a:schemeClr val="dk1"/>
                </a:solidFill>
                <a:latin typeface="Times New Roman" panose="02020603050405020304"/>
                <a:ea typeface="Times New Roman" panose="02020603050405020304"/>
                <a:cs typeface="Times New Roman" panose="02020603050405020304"/>
                <a:sym typeface="Times New Roman" panose="02020603050405020304"/>
              </a:rPr>
              <a:t>Department of Information Technology</a:t>
            </a:r>
            <a:endParaRPr lang="en-IN" sz="2000" dirty="0">
              <a:ea typeface="Times New Roman" panose="02020603050405020304"/>
              <a:sym typeface="Times New Roman" panose="02020603050405020304"/>
            </a:endParaRPr>
          </a:p>
          <a:p>
            <a:pPr marL="0" lvl="0" indent="0" rtl="0">
              <a:lnSpc>
                <a:spcPct val="100000"/>
              </a:lnSpc>
              <a:spcBef>
                <a:spcPts val="0"/>
              </a:spcBef>
              <a:spcAft>
                <a:spcPts val="0"/>
              </a:spcAft>
              <a:buClr>
                <a:srgbClr val="E830DB"/>
              </a:buClr>
              <a:buSzPts val="2100"/>
              <a:buNone/>
            </a:pPr>
            <a:r>
              <a:rPr lang="en-US" sz="2000" b="1" dirty="0">
                <a:solidFill>
                  <a:schemeClr val="dk1"/>
                </a:solidFill>
                <a:latin typeface="Times New Roman" panose="02020603050405020304"/>
                <a:cs typeface="Times New Roman" panose="02020603050405020304"/>
                <a:sym typeface="Times New Roman" panose="02020603050405020304"/>
              </a:rPr>
              <a:t>Puducherry Technological University</a:t>
            </a:r>
            <a:endParaRPr sz="2000" dirty="0"/>
          </a:p>
        </p:txBody>
      </p:sp>
      <p:pic>
        <p:nvPicPr>
          <p:cNvPr id="2" name="Picture 1"/>
          <p:cNvPicPr>
            <a:picLocks noChangeAspect="1"/>
          </p:cNvPicPr>
          <p:nvPr/>
        </p:nvPicPr>
        <p:blipFill>
          <a:blip r:embed="rId4"/>
          <a:stretch>
            <a:fillRect/>
          </a:stretch>
        </p:blipFill>
        <p:spPr>
          <a:xfrm>
            <a:off x="318654" y="63171"/>
            <a:ext cx="1170533" cy="1377815"/>
          </a:xfrm>
          <a:prstGeom prst="rect">
            <a:avLst/>
          </a:prstGeom>
        </p:spPr>
      </p:pic>
      <p:sp>
        <p:nvSpPr>
          <p:cNvPr id="3" name="Rectangle 2"/>
          <p:cNvSpPr/>
          <p:nvPr/>
        </p:nvSpPr>
        <p:spPr>
          <a:xfrm>
            <a:off x="1489187" y="63171"/>
            <a:ext cx="7571303" cy="1138773"/>
          </a:xfrm>
          <a:prstGeom prst="rect">
            <a:avLst/>
          </a:prstGeom>
        </p:spPr>
        <p:txBody>
          <a:bodyPr wrap="none">
            <a:spAutoFit/>
          </a:bodyPr>
          <a:lstStyle/>
          <a:p>
            <a:r>
              <a:rPr lang="en-US" sz="3600" b="1">
                <a:ln w="12700">
                  <a:solidFill>
                    <a:schemeClr val="tx2">
                      <a:lumMod val="75000"/>
                    </a:schemeClr>
                  </a:solidFill>
                  <a:prstDash val="solid"/>
                </a:ln>
                <a:pattFill prst="dkUpDiag">
                  <a:fgClr>
                    <a:schemeClr val="tx2"/>
                  </a:fgClr>
                  <a:bgClr>
                    <a:schemeClr val="tx2">
                      <a:lumMod val="20000"/>
                      <a:lumOff val="80000"/>
                    </a:schemeClr>
                  </a:bgClr>
                </a:pattFill>
                <a:effectLst>
                  <a:outerShdw dist="38100" dir="2640000" algn="bl" rotWithShape="0">
                    <a:schemeClr val="tx2">
                      <a:lumMod val="75000"/>
                    </a:schemeClr>
                  </a:outerShdw>
                </a:effectLst>
                <a:latin typeface="Times New Roman" panose="02020603050405020304"/>
                <a:cs typeface="Times New Roman" panose="02020603050405020304"/>
                <a:sym typeface="Times New Roman" panose="02020603050405020304"/>
              </a:rPr>
              <a:t>Puducherry Technological University</a:t>
            </a:r>
          </a:p>
          <a:p>
            <a:r>
              <a:rPr lang="en-IN" sz="3200" b="1">
                <a:ln w="12700">
                  <a:solidFill>
                    <a:schemeClr val="tx2">
                      <a:lumMod val="75000"/>
                    </a:schemeClr>
                  </a:solidFill>
                  <a:prstDash val="solid"/>
                </a:ln>
                <a:solidFill>
                  <a:srgbClr val="FF0000"/>
                </a:solidFill>
                <a:effectLst>
                  <a:outerShdw dist="38100" dir="2640000" algn="bl" rotWithShape="0">
                    <a:schemeClr val="tx2">
                      <a:lumMod val="75000"/>
                    </a:schemeClr>
                  </a:outerShdw>
                </a:effectLst>
                <a:latin typeface="Times New Roman" panose="02020603050405020304"/>
                <a:cs typeface="Times New Roman" panose="02020603050405020304"/>
              </a:rPr>
              <a:t>   Department of Information Technology</a:t>
            </a:r>
            <a:endParaRPr lang="en-US" sz="3200" b="1">
              <a:ln w="12700">
                <a:solidFill>
                  <a:schemeClr val="tx2">
                    <a:lumMod val="75000"/>
                  </a:schemeClr>
                </a:solidFill>
                <a:prstDash val="solid"/>
              </a:ln>
              <a:solidFill>
                <a:srgbClr val="FF0000"/>
              </a:solidFill>
              <a:effectLst>
                <a:outerShdw dist="38100" dir="2640000" algn="bl" rotWithShape="0">
                  <a:schemeClr val="tx2">
                    <a:lumMod val="75000"/>
                  </a:schemeClr>
                </a:outerShdw>
              </a:effectLst>
              <a:latin typeface="Times New Roman" panose="02020603050405020304"/>
              <a:cs typeface="Times New Roman" panose="02020603050405020304"/>
              <a:sym typeface="Times New Roman" panose="02020603050405020304"/>
            </a:endParaRPr>
          </a:p>
        </p:txBody>
      </p:sp>
      <p:sp>
        <p:nvSpPr>
          <p:cNvPr id="4" name="Rectangle 3"/>
          <p:cNvSpPr/>
          <p:nvPr/>
        </p:nvSpPr>
        <p:spPr>
          <a:xfrm>
            <a:off x="2698231" y="5405026"/>
            <a:ext cx="6357256" cy="1323439"/>
          </a:xfrm>
          <a:prstGeom prst="rect">
            <a:avLst/>
          </a:prstGeom>
        </p:spPr>
        <p:txBody>
          <a:bodyPr wrap="square">
            <a:spAutoFit/>
          </a:bodyPr>
          <a:lstStyle/>
          <a:p>
            <a:pPr lvl="0" algn="ctr">
              <a:buClr>
                <a:schemeClr val="dk1"/>
              </a:buClr>
              <a:buSzPts val="2000"/>
            </a:pPr>
            <a:r>
              <a:rPr lang="en-US" sz="2000" b="1" dirty="0">
                <a:solidFill>
                  <a:schemeClr val="dk1"/>
                </a:solidFill>
                <a:latin typeface="Times New Roman" panose="02020603050405020304"/>
                <a:ea typeface="Times New Roman" panose="02020603050405020304"/>
                <a:cs typeface="Times New Roman" panose="02020603050405020304"/>
                <a:sym typeface="Times New Roman" panose="02020603050405020304"/>
              </a:rPr>
              <a:t>Project By,</a:t>
            </a:r>
          </a:p>
          <a:p>
            <a:pPr lvl="0" algn="r">
              <a:buClr>
                <a:schemeClr val="dk1"/>
              </a:buClr>
              <a:buSzPts val="2000"/>
            </a:pPr>
            <a:r>
              <a:rPr lang="en-US" sz="2000" b="1" dirty="0">
                <a:solidFill>
                  <a:schemeClr val="dk1"/>
                </a:solidFill>
                <a:latin typeface="Times New Roman" panose="02020603050405020304"/>
                <a:ea typeface="Times New Roman" panose="02020603050405020304"/>
                <a:cs typeface="Times New Roman" panose="02020603050405020304"/>
                <a:sym typeface="Times New Roman" panose="02020603050405020304"/>
              </a:rPr>
              <a:t>Mr. Arjun Christopher S </a:t>
            </a:r>
            <a:r>
              <a:rPr lang="en-US" sz="2000" b="1" dirty="0">
                <a:solidFill>
                  <a:schemeClr val="dk1"/>
                </a:solidFill>
                <a:latin typeface="Times New Roman" panose="02020603050405020304"/>
                <a:cs typeface="Times New Roman" panose="02020603050405020304"/>
                <a:sym typeface="Times New Roman" panose="02020603050405020304"/>
              </a:rPr>
              <a:t>(Reg No : 2201112007)</a:t>
            </a:r>
          </a:p>
          <a:p>
            <a:pPr algn="r">
              <a:buClr>
                <a:schemeClr val="dk1"/>
              </a:buClr>
              <a:buSzPts val="2000"/>
            </a:pPr>
            <a:r>
              <a:rPr lang="en-US" sz="2000" b="1" dirty="0">
                <a:solidFill>
                  <a:schemeClr val="dk1"/>
                </a:solidFill>
                <a:latin typeface="Times New Roman" panose="02020603050405020304"/>
                <a:ea typeface="Times New Roman" panose="02020603050405020304"/>
                <a:cs typeface="Times New Roman" panose="02020603050405020304"/>
                <a:sym typeface="Times New Roman" panose="02020603050405020304"/>
              </a:rPr>
              <a:t>Miss. </a:t>
            </a:r>
            <a:r>
              <a:rPr lang="en-US" sz="2000" b="1" dirty="0" err="1">
                <a:solidFill>
                  <a:schemeClr val="dk1"/>
                </a:solidFill>
                <a:latin typeface="Times New Roman" panose="02020603050405020304"/>
                <a:ea typeface="Times New Roman" panose="02020603050405020304"/>
                <a:cs typeface="Times New Roman" panose="02020603050405020304"/>
                <a:sym typeface="Times New Roman" panose="02020603050405020304"/>
              </a:rPr>
              <a:t>Bhuvanalakshmi</a:t>
            </a:r>
            <a:r>
              <a:rPr lang="en-US" sz="2000" b="1" dirty="0">
                <a:solidFill>
                  <a:schemeClr val="dk1"/>
                </a:solidFill>
                <a:latin typeface="Times New Roman" panose="02020603050405020304"/>
                <a:ea typeface="Times New Roman" panose="02020603050405020304"/>
                <a:cs typeface="Times New Roman" panose="02020603050405020304"/>
                <a:sym typeface="Times New Roman" panose="02020603050405020304"/>
              </a:rPr>
              <a:t> J P </a:t>
            </a:r>
            <a:r>
              <a:rPr lang="en-US" sz="2000" b="1" dirty="0">
                <a:solidFill>
                  <a:schemeClr val="dk1"/>
                </a:solidFill>
                <a:latin typeface="Times New Roman" panose="02020603050405020304"/>
                <a:cs typeface="Times New Roman" panose="02020603050405020304"/>
                <a:sym typeface="Times New Roman" panose="02020603050405020304"/>
              </a:rPr>
              <a:t>(Reg No : 2201112009)</a:t>
            </a:r>
            <a:endParaRPr lang="en-US" sz="2000" b="1" dirty="0"/>
          </a:p>
          <a:p>
            <a:pPr algn="r">
              <a:buClr>
                <a:schemeClr val="dk1"/>
              </a:buClr>
              <a:buSzPts val="2000"/>
            </a:pPr>
            <a:r>
              <a:rPr lang="en-US" sz="2000" b="1" dirty="0">
                <a:solidFill>
                  <a:schemeClr val="dk1"/>
                </a:solidFill>
                <a:latin typeface="Times New Roman" panose="02020603050405020304"/>
                <a:ea typeface="Times New Roman" panose="02020603050405020304"/>
                <a:cs typeface="Times New Roman" panose="02020603050405020304"/>
                <a:sym typeface="Times New Roman" panose="02020603050405020304"/>
              </a:rPr>
              <a:t>Miss. </a:t>
            </a:r>
            <a:r>
              <a:rPr lang="en-US" sz="2000" b="1" dirty="0" err="1">
                <a:solidFill>
                  <a:schemeClr val="dk1"/>
                </a:solidFill>
                <a:latin typeface="Times New Roman" panose="02020603050405020304"/>
                <a:ea typeface="Times New Roman" panose="02020603050405020304"/>
                <a:cs typeface="Times New Roman" panose="02020603050405020304"/>
                <a:sym typeface="Times New Roman" panose="02020603050405020304"/>
              </a:rPr>
              <a:t>Vantapati</a:t>
            </a:r>
            <a:r>
              <a:rPr lang="en-US" sz="2000" b="1" dirty="0">
                <a:solidFill>
                  <a:schemeClr val="dk1"/>
                </a:solidFill>
                <a:latin typeface="Times New Roman" panose="02020603050405020304"/>
                <a:ea typeface="Times New Roman" panose="02020603050405020304"/>
                <a:cs typeface="Times New Roman" panose="02020603050405020304"/>
                <a:sym typeface="Times New Roman" panose="02020603050405020304"/>
              </a:rPr>
              <a:t> Raja Rajeswari </a:t>
            </a:r>
            <a:r>
              <a:rPr lang="en-US" sz="2000" b="1" dirty="0">
                <a:solidFill>
                  <a:schemeClr val="dk1"/>
                </a:solidFill>
                <a:latin typeface="Times New Roman" panose="02020603050405020304"/>
                <a:cs typeface="Times New Roman" panose="02020603050405020304"/>
                <a:sym typeface="Times New Roman" panose="02020603050405020304"/>
              </a:rPr>
              <a:t>(Reg No : 2201112052)</a:t>
            </a:r>
            <a:endParaRPr lang="en-US" sz="2000" b="1" dirty="0"/>
          </a:p>
        </p:txBody>
      </p:sp>
      <p:sp>
        <p:nvSpPr>
          <p:cNvPr id="7" name="Slide Number Placeholder 6">
            <a:extLst>
              <a:ext uri="{FF2B5EF4-FFF2-40B4-BE49-F238E27FC236}">
                <a16:creationId xmlns:a16="http://schemas.microsoft.com/office/drawing/2014/main" id="{9117532E-E912-A84C-4B5A-7F99DA77D2BF}"/>
              </a:ext>
            </a:extLst>
          </p:cNvPr>
          <p:cNvSpPr>
            <a:spLocks noGrp="1"/>
          </p:cNvSpPr>
          <p:nvPr>
            <p:ph type="sldNum" sz="quarter" idx="12"/>
          </p:nvPr>
        </p:nvSpPr>
        <p:spPr/>
        <p:txBody>
          <a:bodyPr/>
          <a:lstStyle/>
          <a:p>
            <a:fld id="{00000000-1234-1234-1234-123412341234}" type="slidenum">
              <a:rPr lang="en-US" smtClean="0"/>
              <a:t>1</a:t>
            </a:fld>
            <a:endParaRPr lang="en-US"/>
          </a:p>
        </p:txBody>
      </p:sp>
    </p:spTree>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Shape 181"/>
        <p:cNvGrpSpPr/>
        <p:nvPr/>
      </p:nvGrpSpPr>
      <p:grpSpPr>
        <a:xfrm>
          <a:off x="0" y="0"/>
          <a:ext cx="0" cy="0"/>
          <a:chOff x="0" y="0"/>
          <a:chExt cx="0" cy="0"/>
        </a:xfrm>
      </p:grpSpPr>
      <p:sp>
        <p:nvSpPr>
          <p:cNvPr id="182" name="Google Shape;182;p3"/>
          <p:cNvSpPr txBox="1">
            <a:spLocks noGrp="1"/>
          </p:cNvSpPr>
          <p:nvPr>
            <p:ph type="title"/>
          </p:nvPr>
        </p:nvSpPr>
        <p:spPr>
          <a:xfrm>
            <a:off x="0" y="-72309"/>
            <a:ext cx="9143998" cy="645577"/>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2800" b="1" dirty="0">
                <a:solidFill>
                  <a:srgbClr val="006600"/>
                </a:solidFill>
                <a:latin typeface="Bookman Old Style" panose="02050604050505020204" pitchFamily="18" charset="0"/>
                <a:cs typeface="Arial" panose="020B0604020202020204"/>
                <a:sym typeface="Times New Roman" panose="02020603050405020304"/>
              </a:rPr>
              <a:t>Agenda</a:t>
            </a:r>
            <a:endParaRPr sz="2800" b="1" dirty="0">
              <a:solidFill>
                <a:srgbClr val="0066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85" name="Google Shape;185;p3"/>
          <p:cNvSpPr txBox="1">
            <a:spLocks noGrp="1"/>
          </p:cNvSpPr>
          <p:nvPr>
            <p:ph idx="1"/>
          </p:nvPr>
        </p:nvSpPr>
        <p:spPr>
          <a:xfrm>
            <a:off x="-1" y="527298"/>
            <a:ext cx="9143999" cy="5180775"/>
          </a:xfrm>
          <a:prstGeom prst="rect">
            <a:avLst/>
          </a:prstGeom>
          <a:noFill/>
          <a:ln>
            <a:noFill/>
          </a:ln>
        </p:spPr>
        <p:txBody>
          <a:bodyPr spcFirstLastPara="1" wrap="square" lIns="91425" tIns="45700" rIns="91425" bIns="45700" anchor="t" anchorCtr="0">
            <a:noAutofit/>
          </a:bodyPr>
          <a:lstStyle/>
          <a:p>
            <a:pPr marL="468630" indent="-285750">
              <a:lnSpc>
                <a:spcPct val="150000"/>
              </a:lnSpc>
              <a:spcBef>
                <a:spcPts val="0"/>
              </a:spcBef>
              <a:buClr>
                <a:srgbClr val="000000"/>
              </a:buClr>
              <a:buSzPts val="2100"/>
              <a:buFont typeface="Wingdings" panose="05000000000000000000" pitchFamily="2" charset="2"/>
              <a:buChar char="v"/>
            </a:pPr>
            <a:r>
              <a:rPr lang="en-IN" sz="1550" dirty="0">
                <a:latin typeface="Times New Roman" panose="02020603050405020304" pitchFamily="18" charset="0"/>
                <a:ea typeface="+mn-lt"/>
                <a:cs typeface="Times New Roman" panose="02020603050405020304" pitchFamily="18" charset="0"/>
              </a:rPr>
              <a:t>Abstract</a:t>
            </a:r>
            <a:endParaRPr lang="en-US" sz="1550" dirty="0">
              <a:latin typeface="Times New Roman" panose="02020603050405020304" pitchFamily="18" charset="0"/>
              <a:ea typeface="+mn-lt"/>
              <a:cs typeface="Times New Roman" panose="02020603050405020304" pitchFamily="18" charset="0"/>
            </a:endParaRPr>
          </a:p>
          <a:p>
            <a:pPr marL="468630" indent="-285750">
              <a:lnSpc>
                <a:spcPct val="150000"/>
              </a:lnSpc>
              <a:spcBef>
                <a:spcPts val="0"/>
              </a:spcBef>
              <a:buClr>
                <a:srgbClr val="000000"/>
              </a:buClr>
              <a:buSzPts val="2100"/>
              <a:buFont typeface="Wingdings" panose="05000000000000000000" pitchFamily="2" charset="2"/>
              <a:buChar char="v"/>
            </a:pPr>
            <a:r>
              <a:rPr lang="en-IN" sz="1550" dirty="0">
                <a:latin typeface="Times New Roman" panose="02020603050405020304" pitchFamily="18" charset="0"/>
                <a:ea typeface="+mn-lt"/>
                <a:cs typeface="Times New Roman" panose="02020603050405020304" pitchFamily="18" charset="0"/>
              </a:rPr>
              <a:t>Introduction to </a:t>
            </a:r>
            <a:r>
              <a:rPr lang="en-IN" sz="1550" kern="0" dirty="0">
                <a:effectLst/>
                <a:latin typeface="Times New Roman" panose="02020603050405020304" pitchFamily="18" charset="0"/>
                <a:ea typeface="Times New Roman" panose="02020603050405020304" pitchFamily="18" charset="0"/>
                <a:cs typeface="Times New Roman" panose="02020603050405020304" pitchFamily="18" charset="0"/>
              </a:rPr>
              <a:t>Digital Twin–based Greenhouse Management</a:t>
            </a:r>
          </a:p>
          <a:p>
            <a:pPr marL="468630" indent="-285750">
              <a:lnSpc>
                <a:spcPct val="150000"/>
              </a:lnSpc>
              <a:spcBef>
                <a:spcPts val="0"/>
              </a:spcBef>
              <a:buClr>
                <a:srgbClr val="000000"/>
              </a:buClr>
              <a:buSzPts val="2100"/>
              <a:buFont typeface="Wingdings" panose="05000000000000000000" pitchFamily="2" charset="2"/>
              <a:buChar char="v"/>
            </a:pPr>
            <a:r>
              <a:rPr lang="en-IN" sz="1550" kern="0" dirty="0">
                <a:effectLst/>
                <a:latin typeface="Times New Roman" panose="02020603050405020304" pitchFamily="18" charset="0"/>
                <a:ea typeface="Aptos" panose="020B0004020202020204" pitchFamily="34" charset="0"/>
                <a:cs typeface="Times New Roman" panose="02020603050405020304" pitchFamily="18" charset="0"/>
              </a:rPr>
              <a:t>Aligned Sustainable Development Goals</a:t>
            </a:r>
            <a:endParaRPr lang="en-US" sz="1550" dirty="0">
              <a:latin typeface="Times New Roman" panose="02020603050405020304" pitchFamily="18" charset="0"/>
              <a:ea typeface="+mn-lt"/>
              <a:cs typeface="Times New Roman" panose="02020603050405020304" pitchFamily="18" charset="0"/>
            </a:endParaRPr>
          </a:p>
          <a:p>
            <a:pPr marL="468630" indent="-285750">
              <a:lnSpc>
                <a:spcPct val="150000"/>
              </a:lnSpc>
              <a:spcBef>
                <a:spcPts val="0"/>
              </a:spcBef>
              <a:buClr>
                <a:srgbClr val="000000"/>
              </a:buClr>
              <a:buSzPts val="2100"/>
              <a:buFont typeface="Wingdings" panose="05000000000000000000" pitchFamily="2" charset="2"/>
              <a:buChar char="v"/>
            </a:pPr>
            <a:r>
              <a:rPr lang="en-IN" sz="1550" dirty="0">
                <a:latin typeface="Times New Roman" panose="02020603050405020304" pitchFamily="18" charset="0"/>
                <a:ea typeface="+mn-lt"/>
                <a:cs typeface="Times New Roman" panose="02020603050405020304" pitchFamily="18" charset="0"/>
              </a:rPr>
              <a:t>Overview of Techniques,  Algorithms and Simulation Used </a:t>
            </a:r>
            <a:endParaRPr lang="en-US" sz="1550" dirty="0">
              <a:latin typeface="Times New Roman" panose="02020603050405020304" pitchFamily="18" charset="0"/>
              <a:ea typeface="+mn-lt"/>
              <a:cs typeface="Times New Roman" panose="02020603050405020304" pitchFamily="18" charset="0"/>
            </a:endParaRPr>
          </a:p>
          <a:p>
            <a:pPr marL="468630" indent="-285750">
              <a:lnSpc>
                <a:spcPct val="150000"/>
              </a:lnSpc>
              <a:spcBef>
                <a:spcPts val="0"/>
              </a:spcBef>
              <a:buClr>
                <a:srgbClr val="000000"/>
              </a:buClr>
              <a:buSzPts val="2100"/>
              <a:buFont typeface="Wingdings" panose="05000000000000000000" pitchFamily="2" charset="2"/>
              <a:buChar char="v"/>
            </a:pPr>
            <a:r>
              <a:rPr lang="en-IN" sz="1550" dirty="0">
                <a:latin typeface="Times New Roman" panose="02020603050405020304" pitchFamily="18" charset="0"/>
                <a:ea typeface="+mn-lt"/>
                <a:cs typeface="Times New Roman" panose="02020603050405020304" pitchFamily="18" charset="0"/>
              </a:rPr>
              <a:t>Literature Survey</a:t>
            </a:r>
            <a:endParaRPr lang="en-US" sz="1550" dirty="0">
              <a:latin typeface="Times New Roman" panose="02020603050405020304" pitchFamily="18" charset="0"/>
              <a:ea typeface="+mn-lt"/>
              <a:cs typeface="Times New Roman" panose="02020603050405020304" pitchFamily="18" charset="0"/>
            </a:endParaRPr>
          </a:p>
          <a:p>
            <a:pPr marL="468630" indent="-285750">
              <a:lnSpc>
                <a:spcPct val="150000"/>
              </a:lnSpc>
              <a:spcBef>
                <a:spcPts val="0"/>
              </a:spcBef>
              <a:buClr>
                <a:srgbClr val="000000"/>
              </a:buClr>
              <a:buSzPts val="2100"/>
              <a:buFont typeface="Wingdings" panose="05000000000000000000" pitchFamily="2" charset="2"/>
              <a:buChar char="v"/>
            </a:pPr>
            <a:r>
              <a:rPr lang="en-IN" sz="1550" dirty="0">
                <a:latin typeface="Times New Roman" panose="02020603050405020304" pitchFamily="18" charset="0"/>
                <a:ea typeface="+mn-lt"/>
                <a:cs typeface="Times New Roman" panose="02020603050405020304" pitchFamily="18" charset="0"/>
              </a:rPr>
              <a:t>Inference from Literature</a:t>
            </a:r>
            <a:endParaRPr lang="en-US" sz="1550" dirty="0">
              <a:latin typeface="Times New Roman" panose="02020603050405020304" pitchFamily="18" charset="0"/>
              <a:ea typeface="+mn-lt"/>
              <a:cs typeface="Times New Roman" panose="02020603050405020304" pitchFamily="18" charset="0"/>
            </a:endParaRPr>
          </a:p>
          <a:p>
            <a:pPr marL="468630" indent="-285750">
              <a:lnSpc>
                <a:spcPct val="150000"/>
              </a:lnSpc>
              <a:spcBef>
                <a:spcPts val="0"/>
              </a:spcBef>
              <a:buClr>
                <a:srgbClr val="000000"/>
              </a:buClr>
              <a:buSzPts val="2100"/>
              <a:buFont typeface="Wingdings" panose="05000000000000000000" pitchFamily="2" charset="2"/>
              <a:buChar char="v"/>
            </a:pPr>
            <a:r>
              <a:rPr lang="en-IN" sz="1550" dirty="0">
                <a:latin typeface="Times New Roman" panose="02020603050405020304" pitchFamily="18" charset="0"/>
                <a:ea typeface="+mn-lt"/>
                <a:cs typeface="Times New Roman" panose="02020603050405020304" pitchFamily="18" charset="0"/>
              </a:rPr>
              <a:t>Proposed </a:t>
            </a:r>
            <a:r>
              <a:rPr lang="en-IN" sz="1550" dirty="0" err="1">
                <a:latin typeface="Times New Roman" panose="02020603050405020304" pitchFamily="18" charset="0"/>
                <a:ea typeface="+mn-lt"/>
                <a:cs typeface="Times New Roman" panose="02020603050405020304" pitchFamily="18" charset="0"/>
              </a:rPr>
              <a:t>AgriTwin</a:t>
            </a:r>
            <a:r>
              <a:rPr lang="en-IN" sz="1550" dirty="0">
                <a:latin typeface="Times New Roman" panose="02020603050405020304" pitchFamily="18" charset="0"/>
                <a:ea typeface="+mn-lt"/>
                <a:cs typeface="Times New Roman" panose="02020603050405020304" pitchFamily="18" charset="0"/>
              </a:rPr>
              <a:t>-GH System</a:t>
            </a:r>
            <a:endParaRPr lang="en-US" sz="1550" dirty="0">
              <a:latin typeface="Times New Roman" panose="02020603050405020304" pitchFamily="18" charset="0"/>
              <a:ea typeface="+mn-lt"/>
              <a:cs typeface="Times New Roman" panose="02020603050405020304" pitchFamily="18" charset="0"/>
            </a:endParaRPr>
          </a:p>
          <a:p>
            <a:pPr marL="468630" indent="-285750">
              <a:lnSpc>
                <a:spcPct val="150000"/>
              </a:lnSpc>
              <a:spcBef>
                <a:spcPts val="0"/>
              </a:spcBef>
              <a:buClr>
                <a:srgbClr val="000000"/>
              </a:buClr>
              <a:buSzPts val="2100"/>
              <a:buFont typeface="Wingdings" panose="05000000000000000000" pitchFamily="2" charset="2"/>
              <a:buChar char="v"/>
            </a:pPr>
            <a:r>
              <a:rPr lang="en-IN" sz="1550" dirty="0">
                <a:latin typeface="Times New Roman" panose="02020603050405020304" pitchFamily="18" charset="0"/>
                <a:ea typeface="+mn-lt"/>
                <a:cs typeface="Times New Roman" panose="02020603050405020304" pitchFamily="18" charset="0"/>
              </a:rPr>
              <a:t>System Architecture of </a:t>
            </a:r>
            <a:r>
              <a:rPr lang="en-IN" sz="1550" dirty="0" err="1">
                <a:latin typeface="Times New Roman" panose="02020603050405020304" pitchFamily="18" charset="0"/>
                <a:ea typeface="+mn-lt"/>
                <a:cs typeface="Times New Roman" panose="02020603050405020304" pitchFamily="18" charset="0"/>
              </a:rPr>
              <a:t>AgriTwin</a:t>
            </a:r>
            <a:r>
              <a:rPr lang="en-IN" sz="1550" dirty="0">
                <a:latin typeface="Times New Roman" panose="02020603050405020304" pitchFamily="18" charset="0"/>
                <a:ea typeface="+mn-lt"/>
                <a:cs typeface="Times New Roman" panose="02020603050405020304" pitchFamily="18" charset="0"/>
              </a:rPr>
              <a:t>-GH</a:t>
            </a:r>
            <a:endParaRPr lang="en-US" sz="1550" dirty="0">
              <a:latin typeface="Times New Roman" panose="02020603050405020304" pitchFamily="18" charset="0"/>
              <a:ea typeface="+mn-lt"/>
              <a:cs typeface="Times New Roman" panose="02020603050405020304" pitchFamily="18" charset="0"/>
            </a:endParaRPr>
          </a:p>
          <a:p>
            <a:pPr marL="468630" indent="-285750">
              <a:lnSpc>
                <a:spcPct val="150000"/>
              </a:lnSpc>
              <a:spcBef>
                <a:spcPts val="0"/>
              </a:spcBef>
              <a:buClr>
                <a:srgbClr val="000000"/>
              </a:buClr>
              <a:buSzPts val="2100"/>
              <a:buFont typeface="Wingdings" panose="05000000000000000000" pitchFamily="2" charset="2"/>
              <a:buChar char="v"/>
            </a:pPr>
            <a:r>
              <a:rPr lang="en-IN" sz="1550" dirty="0">
                <a:latin typeface="Times New Roman" panose="02020603050405020304" pitchFamily="18" charset="0"/>
                <a:ea typeface="+mn-lt"/>
                <a:cs typeface="Times New Roman" panose="02020603050405020304" pitchFamily="18" charset="0"/>
              </a:rPr>
              <a:t>Project Modules</a:t>
            </a:r>
            <a:endParaRPr lang="en-US" sz="1550" dirty="0">
              <a:latin typeface="Times New Roman" panose="02020603050405020304" pitchFamily="18" charset="0"/>
              <a:ea typeface="+mn-lt"/>
              <a:cs typeface="Times New Roman" panose="02020603050405020304" pitchFamily="18" charset="0"/>
            </a:endParaRPr>
          </a:p>
          <a:p>
            <a:pPr marL="811530" lvl="1" indent="-285750">
              <a:lnSpc>
                <a:spcPct val="150000"/>
              </a:lnSpc>
              <a:spcBef>
                <a:spcPts val="0"/>
              </a:spcBef>
              <a:buClr>
                <a:srgbClr val="000000"/>
              </a:buClr>
              <a:buSzPts val="2100"/>
              <a:buFont typeface="Wingdings" panose="05000000000000000000" pitchFamily="2" charset="2"/>
              <a:buChar char="q"/>
            </a:pPr>
            <a:r>
              <a:rPr lang="en-IN" sz="1550" dirty="0">
                <a:latin typeface="Times New Roman" panose="02020603050405020304" pitchFamily="18" charset="0"/>
                <a:ea typeface="+mn-lt"/>
                <a:cs typeface="Times New Roman" panose="02020603050405020304" pitchFamily="18" charset="0"/>
              </a:rPr>
              <a:t>Module</a:t>
            </a:r>
            <a:r>
              <a:rPr lang="en-IN" sz="1550" dirty="0">
                <a:latin typeface="Times New Roman" panose="02020603050405020304" pitchFamily="18" charset="0"/>
                <a:ea typeface="+mn-lt"/>
                <a:cs typeface="Times New Roman" panose="02020603050405020304" pitchFamily="18" charset="0"/>
                <a:sym typeface="Times New Roman" panose="02020603050405020304"/>
              </a:rPr>
              <a:t> 1: Data Processing</a:t>
            </a:r>
            <a:r>
              <a:rPr lang="en-IN" sz="1550" dirty="0">
                <a:latin typeface="Times New Roman" panose="02020603050405020304" pitchFamily="18" charset="0"/>
                <a:ea typeface="+mn-lt"/>
                <a:cs typeface="Times New Roman" panose="02020603050405020304" pitchFamily="18" charset="0"/>
              </a:rPr>
              <a:t> and AI-Based Crop Intelligence</a:t>
            </a:r>
            <a:endParaRPr lang="en-US" sz="1550" dirty="0">
              <a:latin typeface="Times New Roman" panose="02020603050405020304" pitchFamily="18" charset="0"/>
              <a:ea typeface="+mn-lt"/>
              <a:cs typeface="Times New Roman" panose="02020603050405020304" pitchFamily="18" charset="0"/>
            </a:endParaRPr>
          </a:p>
          <a:p>
            <a:pPr marL="811530" lvl="1" indent="-285750">
              <a:lnSpc>
                <a:spcPct val="150000"/>
              </a:lnSpc>
              <a:spcBef>
                <a:spcPts val="0"/>
              </a:spcBef>
              <a:buClr>
                <a:srgbClr val="000000"/>
              </a:buClr>
              <a:buSzPts val="2100"/>
              <a:buFont typeface="Wingdings" panose="05000000000000000000" pitchFamily="2" charset="2"/>
              <a:buChar char="q"/>
            </a:pPr>
            <a:r>
              <a:rPr lang="en-IN" sz="1550" dirty="0">
                <a:latin typeface="Times New Roman" panose="02020603050405020304" pitchFamily="18" charset="0"/>
                <a:ea typeface="+mn-lt"/>
                <a:cs typeface="Times New Roman" panose="02020603050405020304" pitchFamily="18" charset="0"/>
              </a:rPr>
              <a:t>Module</a:t>
            </a:r>
            <a:r>
              <a:rPr lang="en-IN" sz="1550" dirty="0">
                <a:latin typeface="Times New Roman" panose="02020603050405020304" pitchFamily="18" charset="0"/>
                <a:ea typeface="+mn-lt"/>
                <a:cs typeface="Times New Roman" panose="02020603050405020304" pitchFamily="18" charset="0"/>
                <a:sym typeface="Times New Roman" panose="02020603050405020304"/>
              </a:rPr>
              <a:t> 2: Predictive Analytics and Crop Health Forecasting</a:t>
            </a:r>
            <a:endParaRPr lang="en-US" sz="1550" dirty="0">
              <a:latin typeface="Times New Roman" panose="02020603050405020304" pitchFamily="18" charset="0"/>
              <a:ea typeface="+mn-lt"/>
              <a:cs typeface="Times New Roman" panose="02020603050405020304" pitchFamily="18" charset="0"/>
            </a:endParaRPr>
          </a:p>
          <a:p>
            <a:pPr marL="811530" lvl="1" indent="-285750">
              <a:lnSpc>
                <a:spcPct val="150000"/>
              </a:lnSpc>
              <a:spcBef>
                <a:spcPts val="0"/>
              </a:spcBef>
              <a:buClr>
                <a:srgbClr val="000000"/>
              </a:buClr>
              <a:buSzPts val="2100"/>
              <a:buFont typeface="Wingdings" panose="05000000000000000000" pitchFamily="2" charset="2"/>
              <a:buChar char="q"/>
            </a:pPr>
            <a:r>
              <a:rPr lang="en-IN" sz="1550" dirty="0">
                <a:latin typeface="Times New Roman" panose="02020603050405020304" pitchFamily="18" charset="0"/>
                <a:ea typeface="+mn-lt"/>
                <a:cs typeface="Times New Roman" panose="02020603050405020304" pitchFamily="18" charset="0"/>
                <a:sym typeface="Times New Roman" panose="02020603050405020304"/>
              </a:rPr>
              <a:t>Module 3: Digital Twin Simulation and Intelligent Greenhouse Control</a:t>
            </a:r>
            <a:endParaRPr lang="en-US" sz="1550" dirty="0">
              <a:latin typeface="Times New Roman" panose="02020603050405020304" pitchFamily="18" charset="0"/>
              <a:ea typeface="+mn-lt"/>
              <a:cs typeface="Times New Roman" panose="02020603050405020304" pitchFamily="18" charset="0"/>
            </a:endParaRPr>
          </a:p>
          <a:p>
            <a:pPr marL="468630" indent="-285750">
              <a:lnSpc>
                <a:spcPct val="150000"/>
              </a:lnSpc>
              <a:spcBef>
                <a:spcPts val="0"/>
              </a:spcBef>
              <a:buClr>
                <a:srgbClr val="000000"/>
              </a:buClr>
              <a:buSzPts val="2100"/>
              <a:buFont typeface="Wingdings" panose="05000000000000000000" pitchFamily="2" charset="2"/>
              <a:buChar char="v"/>
            </a:pPr>
            <a:r>
              <a:rPr lang="en-IN" sz="1550" dirty="0">
                <a:latin typeface="Times New Roman" panose="02020603050405020304" pitchFamily="18" charset="0"/>
                <a:ea typeface="+mn-lt"/>
                <a:cs typeface="Times New Roman" panose="02020603050405020304" pitchFamily="18" charset="0"/>
                <a:sym typeface="Times New Roman" panose="02020603050405020304"/>
              </a:rPr>
              <a:t>Results</a:t>
            </a:r>
            <a:r>
              <a:rPr lang="en-IN" sz="1550" dirty="0">
                <a:latin typeface="Times New Roman" panose="02020603050405020304" pitchFamily="18" charset="0"/>
                <a:ea typeface="+mn-lt"/>
                <a:cs typeface="Times New Roman" panose="02020603050405020304" pitchFamily="18" charset="0"/>
              </a:rPr>
              <a:t> and Performance</a:t>
            </a:r>
            <a:endParaRPr lang="en-US" sz="1550" dirty="0">
              <a:latin typeface="Times New Roman" panose="02020603050405020304" pitchFamily="18" charset="0"/>
              <a:ea typeface="+mn-lt"/>
              <a:cs typeface="Times New Roman" panose="02020603050405020304" pitchFamily="18" charset="0"/>
            </a:endParaRPr>
          </a:p>
          <a:p>
            <a:pPr marL="468630" indent="-285750">
              <a:lnSpc>
                <a:spcPct val="150000"/>
              </a:lnSpc>
              <a:spcBef>
                <a:spcPts val="0"/>
              </a:spcBef>
              <a:buClr>
                <a:srgbClr val="000000"/>
              </a:buClr>
              <a:buSzPts val="2100"/>
              <a:buFont typeface="Wingdings" panose="05000000000000000000" pitchFamily="2" charset="2"/>
              <a:buChar char="v"/>
            </a:pPr>
            <a:r>
              <a:rPr lang="en-IN" sz="1550" dirty="0">
                <a:latin typeface="Times New Roman" panose="02020603050405020304" pitchFamily="18" charset="0"/>
                <a:ea typeface="+mn-lt"/>
                <a:cs typeface="Times New Roman" panose="02020603050405020304" pitchFamily="18" charset="0"/>
              </a:rPr>
              <a:t>Comparison with Existing Systems</a:t>
            </a:r>
            <a:endParaRPr lang="en-US" sz="1550" dirty="0">
              <a:latin typeface="Times New Roman" panose="02020603050405020304" pitchFamily="18" charset="0"/>
              <a:ea typeface="+mn-lt"/>
              <a:cs typeface="Times New Roman" panose="02020603050405020304" pitchFamily="18" charset="0"/>
            </a:endParaRPr>
          </a:p>
          <a:p>
            <a:pPr marL="468630" indent="-285750">
              <a:lnSpc>
                <a:spcPct val="150000"/>
              </a:lnSpc>
              <a:spcBef>
                <a:spcPts val="0"/>
              </a:spcBef>
              <a:buClr>
                <a:srgbClr val="000000"/>
              </a:buClr>
              <a:buSzPts val="2100"/>
              <a:buFont typeface="Wingdings" panose="05000000000000000000" pitchFamily="2" charset="2"/>
              <a:buChar char="v"/>
            </a:pPr>
            <a:r>
              <a:rPr lang="en-IN" sz="1550" dirty="0">
                <a:latin typeface="Times New Roman" panose="02020603050405020304" pitchFamily="18" charset="0"/>
                <a:ea typeface="+mn-lt"/>
                <a:cs typeface="Times New Roman" panose="02020603050405020304" pitchFamily="18" charset="0"/>
              </a:rPr>
              <a:t>Conclusion with Future Work</a:t>
            </a:r>
            <a:endParaRPr lang="en-US" sz="1550" dirty="0">
              <a:latin typeface="Times New Roman" panose="02020603050405020304" pitchFamily="18" charset="0"/>
              <a:ea typeface="+mn-lt"/>
              <a:cs typeface="Times New Roman" panose="02020603050405020304" pitchFamily="18" charset="0"/>
            </a:endParaRPr>
          </a:p>
          <a:p>
            <a:pPr marL="468630" indent="-285750">
              <a:lnSpc>
                <a:spcPct val="150000"/>
              </a:lnSpc>
              <a:spcBef>
                <a:spcPts val="0"/>
              </a:spcBef>
              <a:buClr>
                <a:srgbClr val="000000"/>
              </a:buClr>
              <a:buSzPts val="2100"/>
              <a:buFont typeface="Wingdings" panose="05000000000000000000" pitchFamily="2" charset="2"/>
              <a:buChar char="v"/>
            </a:pPr>
            <a:r>
              <a:rPr lang="en-IN" sz="1550" dirty="0">
                <a:latin typeface="Times New Roman" panose="02020603050405020304" pitchFamily="18" charset="0"/>
                <a:ea typeface="+mn-lt"/>
                <a:cs typeface="Times New Roman" panose="02020603050405020304" pitchFamily="18" charset="0"/>
              </a:rPr>
              <a:t>Datasets Used</a:t>
            </a:r>
          </a:p>
          <a:p>
            <a:pPr marL="468630" indent="-285750">
              <a:lnSpc>
                <a:spcPct val="150000"/>
              </a:lnSpc>
              <a:spcBef>
                <a:spcPts val="0"/>
              </a:spcBef>
              <a:buClr>
                <a:srgbClr val="000000"/>
              </a:buClr>
              <a:buSzPts val="2100"/>
              <a:buFont typeface="Wingdings" panose="05000000000000000000" pitchFamily="2" charset="2"/>
              <a:buChar char="v"/>
            </a:pPr>
            <a:r>
              <a:rPr lang="en-IN" sz="1550" dirty="0">
                <a:latin typeface="Times New Roman" panose="02020603050405020304" pitchFamily="18" charset="0"/>
                <a:ea typeface="+mn-lt"/>
                <a:cs typeface="Times New Roman" panose="02020603050405020304" pitchFamily="18" charset="0"/>
              </a:rPr>
              <a:t>References</a:t>
            </a:r>
            <a:endParaRPr lang="en-US" sz="1550" dirty="0">
              <a:latin typeface="Times New Roman" panose="02020603050405020304" pitchFamily="18" charset="0"/>
              <a:ea typeface="+mn-lt"/>
              <a:cs typeface="Times New Roman" panose="02020603050405020304" pitchFamily="18" charset="0"/>
            </a:endParaRPr>
          </a:p>
        </p:txBody>
      </p:sp>
      <p:cxnSp>
        <p:nvCxnSpPr>
          <p:cNvPr id="6" name="Google Shape;436;p31"/>
          <p:cNvCxnSpPr/>
          <p:nvPr/>
        </p:nvCxnSpPr>
        <p:spPr>
          <a:xfrm>
            <a:off x="0" y="527298"/>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20CE9F4D-64F9-12C4-FB4C-CC5E7AD2529E}"/>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888888"/>
              </a:buClr>
              <a:buSzPts val="1200"/>
              <a:buFont typeface="Arial" panose="020B0604020202020204"/>
              <a:buNone/>
            </a:pPr>
            <a:r>
              <a:rPr lang="en-US" sz="1200">
                <a:solidFill>
                  <a:srgbClr val="888888"/>
                </a:solidFill>
              </a:rPr>
              <a:t>17</a:t>
            </a:r>
            <a:r>
              <a:rPr lang="en-US" sz="1200" b="0" i="0" u="none" strike="noStrike" cap="none">
                <a:solidFill>
                  <a:srgbClr val="888888"/>
                </a:solidFill>
                <a:latin typeface="Arial" panose="020B0604020202020204"/>
                <a:cs typeface="Arial" panose="020B0604020202020204"/>
                <a:sym typeface="Arial" panose="020B0604020202020204"/>
              </a:rPr>
              <a:t>/03/2026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12A7E98E-7E01-5AC5-83C3-BA0AAE4CCA0D}"/>
              </a:ext>
            </a:extLst>
          </p:cNvPr>
          <p:cNvSpPr>
            <a:spLocks noGrp="1"/>
          </p:cNvSpPr>
          <p:nvPr>
            <p:ph type="sldNum" sz="quarter" idx="12"/>
          </p:nvPr>
        </p:nvSpPr>
        <p:spPr/>
        <p:txBody>
          <a:bodyPr/>
          <a:lstStyle/>
          <a:p>
            <a:fld id="{00000000-1234-1234-1234-123412341234}" type="slidenum">
              <a:rPr lang="en-US" smtClean="0"/>
              <a:t>2</a:t>
            </a:fld>
            <a:endParaRPr lang="en-US"/>
          </a:p>
        </p:txBody>
      </p:sp>
    </p:spTree>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ge4eb6b47ed_0_0"/>
          <p:cNvSpPr txBox="1">
            <a:spLocks noGrp="1"/>
          </p:cNvSpPr>
          <p:nvPr>
            <p:ph type="title"/>
          </p:nvPr>
        </p:nvSpPr>
        <p:spPr>
          <a:xfrm>
            <a:off x="0" y="0"/>
            <a:ext cx="9144000" cy="708561"/>
          </a:xfrm>
          <a:prstGeom prst="rect">
            <a:avLst/>
          </a:prstGeom>
        </p:spPr>
        <p:txBody>
          <a:bodyPr spcFirstLastPara="1" wrap="square" lIns="91425" tIns="45700" rIns="91425" bIns="45700" anchor="ctr" anchorCtr="0">
            <a:noAutofit/>
          </a:bodyPr>
          <a:lstStyle/>
          <a:p>
            <a:pPr algn="ctr">
              <a:spcBef>
                <a:spcPts val="0"/>
              </a:spcBef>
              <a:buClr>
                <a:srgbClr val="000000"/>
              </a:buClr>
            </a:pPr>
            <a:r>
              <a:rPr lang="en-US" sz="2800" b="1" dirty="0">
                <a:solidFill>
                  <a:srgbClr val="006600"/>
                </a:solidFill>
                <a:latin typeface="Bookman Old Style" panose="02050604050505020204" pitchFamily="18" charset="0"/>
                <a:cs typeface="Arial" panose="020B0604020202020204"/>
                <a:sym typeface="Times New Roman" panose="02020603050405020304"/>
              </a:rPr>
              <a:t>Abstract</a:t>
            </a:r>
            <a:endParaRPr sz="2800" b="1" dirty="0">
              <a:solidFill>
                <a:srgbClr val="006600"/>
              </a:solidFill>
              <a:latin typeface="Bookman Old Style" panose="02050604050505020204" pitchFamily="18" charset="0"/>
              <a:cs typeface="Arial" panose="020B0604020202020204"/>
            </a:endParaRPr>
          </a:p>
        </p:txBody>
      </p:sp>
      <p:sp>
        <p:nvSpPr>
          <p:cNvPr id="200" name="Google Shape;200;ge4eb6b47ed_0_0"/>
          <p:cNvSpPr txBox="1">
            <a:spLocks noGrp="1"/>
          </p:cNvSpPr>
          <p:nvPr>
            <p:ph idx="1"/>
          </p:nvPr>
        </p:nvSpPr>
        <p:spPr>
          <a:xfrm>
            <a:off x="124754" y="708561"/>
            <a:ext cx="8894492" cy="5846232"/>
          </a:xfrm>
          <a:prstGeom prst="rect">
            <a:avLst/>
          </a:prstGeom>
        </p:spPr>
        <p:txBody>
          <a:bodyPr spcFirstLastPara="1" wrap="square" lIns="91425" tIns="45700" rIns="91425" bIns="45700" anchor="t" anchorCtr="0">
            <a:noAutofit/>
          </a:bodyPr>
          <a:lstStyle/>
          <a:p>
            <a:pPr algn="just">
              <a:buFont typeface="Wingdings" panose="020B0604020202020204" pitchFamily="34" charset="0"/>
              <a:buChar char="q"/>
            </a:pPr>
            <a:r>
              <a:rPr lang="en-US" sz="2000" dirty="0">
                <a:latin typeface="Times New Roman" panose="02020603050405020304" pitchFamily="18" charset="0"/>
                <a:ea typeface="Calibri"/>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Greenhouse cultivation of high-value crops such as tomatoes faces challenges including environmental variability, delayed disease detection, inefficient resource usage, and reliance on reactive decision-making.</a:t>
            </a:r>
          </a:p>
          <a:p>
            <a:pPr algn="just">
              <a:buFont typeface="Wingdings" panose="020B0604020202020204" pitchFamily="34" charset="0"/>
              <a:buChar char="q"/>
            </a:pPr>
            <a:r>
              <a:rPr lang="en-US" sz="2000" dirty="0">
                <a:latin typeface="Times New Roman" panose="02020603050405020304" pitchFamily="18" charset="0"/>
                <a:ea typeface="Calibri"/>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AgriTwin</a:t>
            </a:r>
            <a:r>
              <a:rPr lang="en-US" sz="2000" dirty="0">
                <a:latin typeface="Times New Roman" panose="02020603050405020304" pitchFamily="18" charset="0"/>
                <a:cs typeface="Times New Roman" panose="02020603050405020304" pitchFamily="18" charset="0"/>
              </a:rPr>
              <a:t>-GH is proposed as a software-based, AI-driven digital twin framework that integrates environmental modeling with plant health analysis for continuous monitoring and predictive decision support.</a:t>
            </a:r>
          </a:p>
          <a:p>
            <a:pPr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The system uses open-source datasets and plant image data, enabling a sensor-independent and scalable solution suitable for resource-constrained environments.</a:t>
            </a:r>
          </a:p>
          <a:p>
            <a:pPr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 Deep learning models based on </a:t>
            </a:r>
            <a:r>
              <a:rPr lang="en-US" sz="2000" dirty="0" err="1">
                <a:latin typeface="Times New Roman" panose="02020603050405020304" pitchFamily="18" charset="0"/>
                <a:cs typeface="Times New Roman" panose="02020603050405020304" pitchFamily="18" charset="0"/>
              </a:rPr>
              <a:t>EfficientNet</a:t>
            </a:r>
            <a:r>
              <a:rPr lang="en-US" sz="2000" dirty="0">
                <a:latin typeface="Times New Roman" panose="02020603050405020304" pitchFamily="18" charset="0"/>
                <a:cs typeface="Times New Roman" panose="02020603050405020304" pitchFamily="18" charset="0"/>
              </a:rPr>
              <a:t> are used for crop growth stage classification and disease detection, achieving accuracies of 98.61% and 98.23%, respectively. </a:t>
            </a:r>
          </a:p>
          <a:p>
            <a:pPr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 For prediction, a hybrid weather forecasting approach integrates transformer-based Chronos-T5, </a:t>
            </a:r>
            <a:r>
              <a:rPr lang="en-US" sz="2000" dirty="0" err="1">
                <a:latin typeface="Times New Roman" panose="02020603050405020304" pitchFamily="18" charset="0"/>
                <a:cs typeface="Times New Roman" panose="02020603050405020304" pitchFamily="18" charset="0"/>
              </a:rPr>
              <a:t>XGBoost</a:t>
            </a:r>
            <a:r>
              <a:rPr lang="en-US" sz="2000" dirty="0">
                <a:latin typeface="Times New Roman" panose="02020603050405020304" pitchFamily="18" charset="0"/>
                <a:cs typeface="Times New Roman" panose="02020603050405020304" pitchFamily="18" charset="0"/>
              </a:rPr>
              <a:t>, and LSTM models to capture both long-term patterns and short-term variations, improving accuracy. </a:t>
            </a:r>
          </a:p>
          <a:p>
            <a:pPr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 The system also includes a digital twin simulation layer combined with Model Predictive Control (MPC), which uses data-driven greenhouse models to simulate future conditions and optimize control actions while considering resource usage and disease risk. A web-based interface and 3D visualization provide real-time insights.</a:t>
            </a:r>
          </a:p>
        </p:txBody>
      </p:sp>
      <p:cxnSp>
        <p:nvCxnSpPr>
          <p:cNvPr id="9" name="Google Shape;436;p31"/>
          <p:cNvCxnSpPr/>
          <p:nvPr/>
        </p:nvCxnSpPr>
        <p:spPr>
          <a:xfrm>
            <a:off x="0" y="696380"/>
            <a:ext cx="9144000" cy="1588"/>
          </a:xfrm>
          <a:prstGeom prst="straightConnector1">
            <a:avLst/>
          </a:prstGeom>
          <a:noFill/>
          <a:ln w="25400" cap="flat" cmpd="sng">
            <a:solidFill>
              <a:srgbClr val="800000"/>
            </a:solidFill>
            <a:prstDash val="solid"/>
            <a:round/>
            <a:headEnd type="none" w="sm" len="sm"/>
            <a:tailEnd type="none" w="sm" len="sm"/>
          </a:ln>
        </p:spPr>
      </p:cxnSp>
      <p:sp>
        <p:nvSpPr>
          <p:cNvPr id="4" name="Google Shape;167;p1">
            <a:extLst>
              <a:ext uri="{FF2B5EF4-FFF2-40B4-BE49-F238E27FC236}">
                <a16:creationId xmlns:a16="http://schemas.microsoft.com/office/drawing/2014/main" id="{F261BDF7-A2F4-1E1D-A188-938BF621285B}"/>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888888"/>
              </a:buClr>
              <a:buSzPts val="1200"/>
              <a:buFont typeface="Arial" panose="020B0604020202020204"/>
              <a:buNone/>
            </a:pPr>
            <a:r>
              <a:rPr lang="en-US" sz="1200">
                <a:solidFill>
                  <a:srgbClr val="888888"/>
                </a:solidFill>
              </a:rPr>
              <a:t>17</a:t>
            </a:r>
            <a:r>
              <a:rPr lang="en-US" sz="1200" b="0" i="0" u="none" strike="noStrike" cap="none">
                <a:solidFill>
                  <a:srgbClr val="888888"/>
                </a:solidFill>
                <a:latin typeface="Arial" panose="020B0604020202020204"/>
                <a:cs typeface="Arial" panose="020B0604020202020204"/>
                <a:sym typeface="Arial" panose="020B0604020202020204"/>
              </a:rPr>
              <a:t>/03/2026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2" name="Slide Number Placeholder 1">
            <a:extLst>
              <a:ext uri="{FF2B5EF4-FFF2-40B4-BE49-F238E27FC236}">
                <a16:creationId xmlns:a16="http://schemas.microsoft.com/office/drawing/2014/main" id="{C471EC0A-EF7F-820D-AB80-5FD585EB10D6}"/>
              </a:ext>
            </a:extLst>
          </p:cNvPr>
          <p:cNvSpPr>
            <a:spLocks noGrp="1"/>
          </p:cNvSpPr>
          <p:nvPr>
            <p:ph type="sldNum" sz="quarter" idx="12"/>
          </p:nvPr>
        </p:nvSpPr>
        <p:spPr/>
        <p:txBody>
          <a:bodyPr/>
          <a:lstStyle/>
          <a:p>
            <a:fld id="{00000000-1234-1234-1234-123412341234}" type="slidenum">
              <a:rPr lang="en-US" smtClean="0"/>
              <a:t>3</a:t>
            </a:fld>
            <a:endParaRPr lang="en-US"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98">
          <a:extLst>
            <a:ext uri="{FF2B5EF4-FFF2-40B4-BE49-F238E27FC236}">
              <a16:creationId xmlns:a16="http://schemas.microsoft.com/office/drawing/2014/main" id="{4368D4C8-9A31-05E2-DDA1-5179FAB7A4A3}"/>
            </a:ext>
          </a:extLst>
        </p:cNvPr>
        <p:cNvGrpSpPr/>
        <p:nvPr/>
      </p:nvGrpSpPr>
      <p:grpSpPr>
        <a:xfrm>
          <a:off x="0" y="0"/>
          <a:ext cx="0" cy="0"/>
          <a:chOff x="0" y="0"/>
          <a:chExt cx="0" cy="0"/>
        </a:xfrm>
      </p:grpSpPr>
      <p:sp>
        <p:nvSpPr>
          <p:cNvPr id="199" name="Google Shape;199;ge4eb6b47ed_0_0">
            <a:extLst>
              <a:ext uri="{FF2B5EF4-FFF2-40B4-BE49-F238E27FC236}">
                <a16:creationId xmlns:a16="http://schemas.microsoft.com/office/drawing/2014/main" id="{D4DC1B67-BAD9-C69B-957C-0F06F5BE0F1F}"/>
              </a:ext>
            </a:extLst>
          </p:cNvPr>
          <p:cNvSpPr txBox="1">
            <a:spLocks noGrp="1"/>
          </p:cNvSpPr>
          <p:nvPr>
            <p:ph type="title"/>
          </p:nvPr>
        </p:nvSpPr>
        <p:spPr>
          <a:xfrm>
            <a:off x="0" y="0"/>
            <a:ext cx="9144000" cy="708561"/>
          </a:xfrm>
          <a:prstGeom prst="rect">
            <a:avLst/>
          </a:prstGeom>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panose="02050604050505020204" pitchFamily="18" charset="0"/>
                <a:ea typeface="+mj-lt"/>
                <a:cs typeface="+mj-lt"/>
              </a:rPr>
              <a:t>Introduction to </a:t>
            </a:r>
            <a:r>
              <a:rPr lang="en-IN" sz="2800" b="1" kern="0" dirty="0">
                <a:solidFill>
                  <a:srgbClr val="006600"/>
                </a:solidFill>
                <a:effectLst/>
                <a:latin typeface="Bookman Old Style" panose="02050604050505020204" pitchFamily="18" charset="0"/>
                <a:ea typeface="Times New Roman" panose="02020603050405020304" pitchFamily="18" charset="0"/>
              </a:rPr>
              <a:t>Digital Twin–based Greenhouse Management</a:t>
            </a:r>
            <a:endParaRPr lang="en-US" sz="2800" b="1" dirty="0">
              <a:solidFill>
                <a:srgbClr val="006600"/>
              </a:solidFill>
              <a:latin typeface="Bookman Old Style" panose="02050604050505020204" pitchFamily="18" charset="0"/>
            </a:endParaRPr>
          </a:p>
        </p:txBody>
      </p:sp>
      <p:sp>
        <p:nvSpPr>
          <p:cNvPr id="200" name="Google Shape;200;ge4eb6b47ed_0_0">
            <a:extLst>
              <a:ext uri="{FF2B5EF4-FFF2-40B4-BE49-F238E27FC236}">
                <a16:creationId xmlns:a16="http://schemas.microsoft.com/office/drawing/2014/main" id="{11420F64-1395-945B-3430-6814D22C8E0C}"/>
              </a:ext>
            </a:extLst>
          </p:cNvPr>
          <p:cNvSpPr txBox="1">
            <a:spLocks noGrp="1"/>
          </p:cNvSpPr>
          <p:nvPr>
            <p:ph idx="1"/>
          </p:nvPr>
        </p:nvSpPr>
        <p:spPr>
          <a:xfrm>
            <a:off x="124754" y="1206498"/>
            <a:ext cx="8894492" cy="5332415"/>
          </a:xfrm>
          <a:prstGeom prst="rect">
            <a:avLst/>
          </a:prstGeom>
        </p:spPr>
        <p:txBody>
          <a:bodyPr spcFirstLastPara="1" wrap="square" lIns="91425" tIns="45700" rIns="91425" bIns="45700" anchor="t" anchorCtr="0">
            <a:noAutofit/>
          </a:bodyPr>
          <a:lstStyle/>
          <a:p>
            <a:pPr marL="342900" indent="-342900" algn="just">
              <a:buFont typeface="Wingdings" panose="020B0604020202020204" pitchFamily="34" charset="0"/>
              <a:buChar char="q"/>
            </a:pPr>
            <a:r>
              <a:rPr lang="en-US" sz="2000" dirty="0">
                <a:latin typeface="Times New Roman"/>
                <a:cs typeface="Times New Roman"/>
              </a:rPr>
              <a:t>Digital Twin technology enables the creation of a virtual representation of a physical greenhouse system that mirrors real-world behavior using continuous data updates.</a:t>
            </a:r>
            <a:endParaRPr lang="en-US" sz="2000" dirty="0">
              <a:latin typeface="Times New Roman"/>
              <a:ea typeface="Calibri"/>
              <a:cs typeface="Times New Roman"/>
            </a:endParaRPr>
          </a:p>
          <a:p>
            <a:pPr marL="342900" indent="-342900" algn="just">
              <a:buFont typeface="Wingdings" panose="020B0604020202020204" pitchFamily="34" charset="0"/>
              <a:buChar char="q"/>
            </a:pPr>
            <a:r>
              <a:rPr lang="en-US" sz="2000" dirty="0">
                <a:latin typeface="Times New Roman"/>
                <a:cs typeface="Times New Roman"/>
              </a:rPr>
              <a:t>It integrates data acquisition, system modeling, and intelligent analytics to monitor current conditions, predict future states, and support decision-making.</a:t>
            </a:r>
            <a:endParaRPr lang="en-US" sz="2000" dirty="0">
              <a:latin typeface="Times New Roman"/>
              <a:ea typeface="Calibri"/>
              <a:cs typeface="Times New Roman"/>
            </a:endParaRPr>
          </a:p>
          <a:p>
            <a:pPr marL="342900" indent="-342900" algn="just">
              <a:buFont typeface="Wingdings" panose="020B0604020202020204" pitchFamily="34" charset="0"/>
              <a:buChar char="q"/>
            </a:pPr>
            <a:r>
              <a:rPr lang="en-US" sz="2000" dirty="0">
                <a:latin typeface="Times New Roman"/>
                <a:cs typeface="Times New Roman"/>
              </a:rPr>
              <a:t>In greenhouse environments, the digital twin models critical parameters such as temperature, humidity, light intensity, CO₂ levels, irrigation, and nutrient conditions.</a:t>
            </a:r>
            <a:endParaRPr lang="en-US" sz="2000" dirty="0">
              <a:latin typeface="Times New Roman"/>
              <a:ea typeface="Calibri"/>
              <a:cs typeface="Times New Roman"/>
            </a:endParaRPr>
          </a:p>
          <a:p>
            <a:pPr marL="342900" indent="-342900" algn="just">
              <a:buFont typeface="Wingdings" panose="020B0604020202020204" pitchFamily="34" charset="0"/>
              <a:buChar char="q"/>
            </a:pPr>
            <a:r>
              <a:rPr lang="en-US" sz="2000" dirty="0">
                <a:latin typeface="Times New Roman"/>
                <a:cs typeface="Times New Roman"/>
              </a:rPr>
              <a:t>Traditional greenhouse systems rely on reactive control and manual observation, leading to delayed responses, inefficient resource usage, and reduced productivity.</a:t>
            </a:r>
            <a:endParaRPr lang="en-US" sz="2000" dirty="0">
              <a:latin typeface="Times New Roman"/>
              <a:ea typeface="Calibri"/>
              <a:cs typeface="Times New Roman"/>
            </a:endParaRPr>
          </a:p>
          <a:p>
            <a:pPr marL="342900" indent="-342900" algn="just">
              <a:buFont typeface="Wingdings" panose="020B0604020202020204" pitchFamily="34" charset="0"/>
              <a:buChar char="q"/>
            </a:pPr>
            <a:r>
              <a:rPr lang="en-US" sz="2000" dirty="0">
                <a:latin typeface="Times New Roman"/>
                <a:cs typeface="Times New Roman"/>
              </a:rPr>
              <a:t>Digital Twin–based systems overcome these limitations by enabling predictive analysis and proactive management of environmental conditions and crop health.</a:t>
            </a:r>
            <a:endParaRPr lang="en-US" sz="2000" dirty="0">
              <a:latin typeface="Times New Roman"/>
              <a:ea typeface="Calibri"/>
              <a:cs typeface="Times New Roman"/>
            </a:endParaRPr>
          </a:p>
          <a:p>
            <a:pPr marL="342900" indent="-342900" algn="just">
              <a:buFont typeface="Wingdings" panose="020B0604020202020204" pitchFamily="34" charset="0"/>
              <a:buChar char="q"/>
            </a:pPr>
            <a:r>
              <a:rPr lang="en-US" sz="2000" dirty="0">
                <a:latin typeface="Times New Roman"/>
                <a:cs typeface="Times New Roman"/>
              </a:rPr>
              <a:t>It forms a closed-loop system where real-time data is continuously processed, analyzed, and used to generate optimized control actions.</a:t>
            </a:r>
            <a:endParaRPr lang="en-US" sz="2000" dirty="0">
              <a:latin typeface="Times New Roman"/>
              <a:ea typeface="Calibri"/>
              <a:cs typeface="Times New Roman"/>
            </a:endParaRPr>
          </a:p>
          <a:p>
            <a:pPr marL="342900" indent="-342900" algn="just">
              <a:buFont typeface="Wingdings" panose="020B0604020202020204" pitchFamily="34" charset="0"/>
              <a:buChar char="q"/>
            </a:pPr>
            <a:r>
              <a:rPr lang="en-US" sz="2000" dirty="0">
                <a:latin typeface="Times New Roman"/>
                <a:cs typeface="Times New Roman"/>
              </a:rPr>
              <a:t>The integration of digital twin technology in greenhouse management improves decision accuracy, resource efficiency, and overall sustainability.</a:t>
            </a:r>
            <a:endParaRPr lang="en-US" sz="2000" dirty="0">
              <a:latin typeface="Times New Roman"/>
              <a:ea typeface="Calibri"/>
              <a:cs typeface="Times New Roman"/>
            </a:endParaRPr>
          </a:p>
        </p:txBody>
      </p:sp>
      <p:cxnSp>
        <p:nvCxnSpPr>
          <p:cNvPr id="9" name="Google Shape;436;p31">
            <a:extLst>
              <a:ext uri="{FF2B5EF4-FFF2-40B4-BE49-F238E27FC236}">
                <a16:creationId xmlns:a16="http://schemas.microsoft.com/office/drawing/2014/main" id="{37C9CAF0-F56A-EB81-2042-FD41F6BB9C5B}"/>
              </a:ext>
            </a:extLst>
          </p:cNvPr>
          <p:cNvCxnSpPr/>
          <p:nvPr/>
        </p:nvCxnSpPr>
        <p:spPr>
          <a:xfrm>
            <a:off x="0" y="801310"/>
            <a:ext cx="9144000" cy="1588"/>
          </a:xfrm>
          <a:prstGeom prst="straightConnector1">
            <a:avLst/>
          </a:prstGeom>
          <a:noFill/>
          <a:ln w="25400" cap="flat" cmpd="sng">
            <a:solidFill>
              <a:srgbClr val="800000"/>
            </a:solidFill>
            <a:prstDash val="solid"/>
            <a:round/>
            <a:headEnd type="none" w="sm" len="sm"/>
            <a:tailEnd type="none" w="sm" len="sm"/>
          </a:ln>
        </p:spPr>
      </p:cxnSp>
      <p:sp>
        <p:nvSpPr>
          <p:cNvPr id="4" name="Google Shape;167;p1">
            <a:extLst>
              <a:ext uri="{FF2B5EF4-FFF2-40B4-BE49-F238E27FC236}">
                <a16:creationId xmlns:a16="http://schemas.microsoft.com/office/drawing/2014/main" id="{BBFC3008-297A-EDA3-0480-759B298B04D9}"/>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888888"/>
              </a:buClr>
              <a:buSzPts val="1200"/>
              <a:buFont typeface="Arial" panose="020B0604020202020204"/>
              <a:buNone/>
            </a:pPr>
            <a:r>
              <a:rPr lang="en-US" sz="1200">
                <a:solidFill>
                  <a:srgbClr val="888888"/>
                </a:solidFill>
              </a:rPr>
              <a:t>17</a:t>
            </a:r>
            <a:r>
              <a:rPr lang="en-US" sz="1200" b="0" i="0" u="none" strike="noStrike" cap="none">
                <a:solidFill>
                  <a:srgbClr val="888888"/>
                </a:solidFill>
                <a:latin typeface="Arial" panose="020B0604020202020204"/>
                <a:cs typeface="Arial" panose="020B0604020202020204"/>
                <a:sym typeface="Arial" panose="020B0604020202020204"/>
              </a:rPr>
              <a:t>/03/2026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2" name="Slide Number Placeholder 1">
            <a:extLst>
              <a:ext uri="{FF2B5EF4-FFF2-40B4-BE49-F238E27FC236}">
                <a16:creationId xmlns:a16="http://schemas.microsoft.com/office/drawing/2014/main" id="{EBCB2066-FE04-38F4-6F0F-CE60A867D148}"/>
              </a:ext>
            </a:extLst>
          </p:cNvPr>
          <p:cNvSpPr>
            <a:spLocks noGrp="1"/>
          </p:cNvSpPr>
          <p:nvPr>
            <p:ph type="sldNum" sz="quarter" idx="12"/>
          </p:nvPr>
        </p:nvSpPr>
        <p:spPr/>
        <p:txBody>
          <a:bodyPr/>
          <a:lstStyle/>
          <a:p>
            <a:fld id="{00000000-1234-1234-1234-123412341234}" type="slidenum">
              <a:rPr lang="en-US" smtClean="0"/>
              <a:t>4</a:t>
            </a:fld>
            <a:endParaRPr lang="en-US"/>
          </a:p>
        </p:txBody>
      </p:sp>
    </p:spTree>
    <p:extLst>
      <p:ext uri="{BB962C8B-B14F-4D97-AF65-F5344CB8AC3E}">
        <p14:creationId xmlns:p14="http://schemas.microsoft.com/office/powerpoint/2010/main" val="11091233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98">
          <a:extLst>
            <a:ext uri="{FF2B5EF4-FFF2-40B4-BE49-F238E27FC236}">
              <a16:creationId xmlns:a16="http://schemas.microsoft.com/office/drawing/2014/main" id="{4368D4C8-9A31-05E2-DDA1-5179FAB7A4A3}"/>
            </a:ext>
          </a:extLst>
        </p:cNvPr>
        <p:cNvGrpSpPr/>
        <p:nvPr/>
      </p:nvGrpSpPr>
      <p:grpSpPr>
        <a:xfrm>
          <a:off x="0" y="0"/>
          <a:ext cx="0" cy="0"/>
          <a:chOff x="0" y="0"/>
          <a:chExt cx="0" cy="0"/>
        </a:xfrm>
      </p:grpSpPr>
      <p:sp>
        <p:nvSpPr>
          <p:cNvPr id="199" name="Google Shape;199;ge4eb6b47ed_0_0">
            <a:extLst>
              <a:ext uri="{FF2B5EF4-FFF2-40B4-BE49-F238E27FC236}">
                <a16:creationId xmlns:a16="http://schemas.microsoft.com/office/drawing/2014/main" id="{D4DC1B67-BAD9-C69B-957C-0F06F5BE0F1F}"/>
              </a:ext>
            </a:extLst>
          </p:cNvPr>
          <p:cNvSpPr txBox="1">
            <a:spLocks noGrp="1"/>
          </p:cNvSpPr>
          <p:nvPr>
            <p:ph type="title"/>
          </p:nvPr>
        </p:nvSpPr>
        <p:spPr>
          <a:xfrm>
            <a:off x="0" y="0"/>
            <a:ext cx="9144000" cy="708561"/>
          </a:xfrm>
          <a:prstGeom prst="rect">
            <a:avLst/>
          </a:prstGeom>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panose="02050604050505020204" pitchFamily="18" charset="0"/>
                <a:ea typeface="+mj-lt"/>
                <a:cs typeface="+mj-lt"/>
              </a:rPr>
              <a:t>Aligned Sustainable Development Goals</a:t>
            </a:r>
            <a:endParaRPr lang="en-US" sz="2800" b="1" dirty="0">
              <a:solidFill>
                <a:srgbClr val="006600"/>
              </a:solidFill>
              <a:latin typeface="Bookman Old Style" panose="02050604050505020204" pitchFamily="18" charset="0"/>
            </a:endParaRPr>
          </a:p>
        </p:txBody>
      </p:sp>
      <p:sp>
        <p:nvSpPr>
          <p:cNvPr id="200" name="Google Shape;200;ge4eb6b47ed_0_0">
            <a:extLst>
              <a:ext uri="{FF2B5EF4-FFF2-40B4-BE49-F238E27FC236}">
                <a16:creationId xmlns:a16="http://schemas.microsoft.com/office/drawing/2014/main" id="{11420F64-1395-945B-3430-6814D22C8E0C}"/>
              </a:ext>
            </a:extLst>
          </p:cNvPr>
          <p:cNvSpPr txBox="1">
            <a:spLocks noGrp="1"/>
          </p:cNvSpPr>
          <p:nvPr>
            <p:ph idx="1"/>
          </p:nvPr>
        </p:nvSpPr>
        <p:spPr>
          <a:xfrm>
            <a:off x="124754" y="1602073"/>
            <a:ext cx="8894492" cy="4290581"/>
          </a:xfrm>
          <a:prstGeom prst="rect">
            <a:avLst/>
          </a:prstGeom>
        </p:spPr>
        <p:txBody>
          <a:bodyPr spcFirstLastPara="1" wrap="square" lIns="91425" tIns="45700" rIns="91425" bIns="45700" anchor="t" anchorCtr="0">
            <a:noAutofit/>
          </a:bodyPr>
          <a:lstStyle/>
          <a:p>
            <a:pPr marL="342900" indent="-342900" algn="just">
              <a:lnSpc>
                <a:spcPct val="100000"/>
              </a:lnSpc>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SDG 2: Zero Hunger – The project enhances crop productivity, quality, and reliability by enabling early detection of plant diseases and accurate growth stage prediction, allowing timely interventions and maintaining optimal environmental conditions for stable and efficient food production</a:t>
            </a:r>
          </a:p>
          <a:p>
            <a:pPr marL="342900" indent="-342900" algn="just">
              <a:lnSpc>
                <a:spcPct val="100000"/>
              </a:lnSpc>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SDG 9: Industry, Innovation, and Infrastructure – The project leverages digital twin technology, artificial intelligence, and real-time virtual greenhouse systems to introduce advanced, scalable, and sensor-independent smart agriculture solutions, promoting innovation and modern infrastructure development</a:t>
            </a:r>
          </a:p>
          <a:p>
            <a:pPr marL="342900" indent="-342900" algn="just">
              <a:lnSpc>
                <a:spcPct val="100000"/>
              </a:lnSpc>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SDG 12: Responsible Consumption and Production – The project ensures efficient utilization </a:t>
            </a:r>
            <a:r>
              <a:rPr lang="en-US" sz="2000">
                <a:latin typeface="Times New Roman" panose="02020603050405020304" pitchFamily="18" charset="0"/>
                <a:cs typeface="Times New Roman" panose="02020603050405020304" pitchFamily="18" charset="0"/>
              </a:rPr>
              <a:t>of water and </a:t>
            </a:r>
            <a:r>
              <a:rPr lang="en-US" sz="2000" dirty="0">
                <a:latin typeface="Times New Roman" panose="02020603050405020304" pitchFamily="18" charset="0"/>
                <a:cs typeface="Times New Roman" panose="02020603050405020304" pitchFamily="18" charset="0"/>
              </a:rPr>
              <a:t>energy</a:t>
            </a:r>
            <a:r>
              <a:rPr lang="en-US" sz="2000">
                <a:latin typeface="Times New Roman" panose="02020603050405020304" pitchFamily="18" charset="0"/>
                <a:cs typeface="Times New Roman" panose="02020603050405020304" pitchFamily="18" charset="0"/>
              </a:rPr>
              <a:t>, through </a:t>
            </a:r>
            <a:r>
              <a:rPr lang="en-US" sz="2000" dirty="0">
                <a:latin typeface="Times New Roman" panose="02020603050405020304" pitchFamily="18" charset="0"/>
                <a:cs typeface="Times New Roman" panose="02020603050405020304" pitchFamily="18" charset="0"/>
              </a:rPr>
              <a:t>predictive analytics and simulation-based optimization, reducing resource wastage and minimizing environmental impact while supporting sustainable agricultural practices</a:t>
            </a:r>
          </a:p>
        </p:txBody>
      </p:sp>
      <p:cxnSp>
        <p:nvCxnSpPr>
          <p:cNvPr id="9" name="Google Shape;436;p31">
            <a:extLst>
              <a:ext uri="{FF2B5EF4-FFF2-40B4-BE49-F238E27FC236}">
                <a16:creationId xmlns:a16="http://schemas.microsoft.com/office/drawing/2014/main" id="{37C9CAF0-F56A-EB81-2042-FD41F6BB9C5B}"/>
              </a:ext>
            </a:extLst>
          </p:cNvPr>
          <p:cNvCxnSpPr/>
          <p:nvPr/>
        </p:nvCxnSpPr>
        <p:spPr>
          <a:xfrm>
            <a:off x="0" y="801310"/>
            <a:ext cx="9144000" cy="1588"/>
          </a:xfrm>
          <a:prstGeom prst="straightConnector1">
            <a:avLst/>
          </a:prstGeom>
          <a:noFill/>
          <a:ln w="25400" cap="flat" cmpd="sng">
            <a:solidFill>
              <a:srgbClr val="800000"/>
            </a:solidFill>
            <a:prstDash val="solid"/>
            <a:round/>
            <a:headEnd type="none" w="sm" len="sm"/>
            <a:tailEnd type="none" w="sm" len="sm"/>
          </a:ln>
        </p:spPr>
      </p:cxnSp>
      <p:sp>
        <p:nvSpPr>
          <p:cNvPr id="4" name="Google Shape;167;p1">
            <a:extLst>
              <a:ext uri="{FF2B5EF4-FFF2-40B4-BE49-F238E27FC236}">
                <a16:creationId xmlns:a16="http://schemas.microsoft.com/office/drawing/2014/main" id="{BBFC3008-297A-EDA3-0480-759B298B04D9}"/>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888888"/>
              </a:buClr>
              <a:buSzPts val="1200"/>
              <a:buFont typeface="Arial" panose="020B0604020202020204"/>
              <a:buNone/>
            </a:pPr>
            <a:r>
              <a:rPr lang="en-US" sz="1200">
                <a:solidFill>
                  <a:srgbClr val="888888"/>
                </a:solidFill>
              </a:rPr>
              <a:t>17</a:t>
            </a:r>
            <a:r>
              <a:rPr lang="en-US" sz="1200" b="0" i="0" u="none" strike="noStrike" cap="none">
                <a:solidFill>
                  <a:srgbClr val="888888"/>
                </a:solidFill>
                <a:latin typeface="Arial" panose="020B0604020202020204"/>
                <a:cs typeface="Arial" panose="020B0604020202020204"/>
                <a:sym typeface="Arial" panose="020B0604020202020204"/>
              </a:rPr>
              <a:t>/03/2026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2" name="Slide Number Placeholder 1">
            <a:extLst>
              <a:ext uri="{FF2B5EF4-FFF2-40B4-BE49-F238E27FC236}">
                <a16:creationId xmlns:a16="http://schemas.microsoft.com/office/drawing/2014/main" id="{EBCB2066-FE04-38F4-6F0F-CE60A867D148}"/>
              </a:ext>
            </a:extLst>
          </p:cNvPr>
          <p:cNvSpPr>
            <a:spLocks noGrp="1"/>
          </p:cNvSpPr>
          <p:nvPr>
            <p:ph type="sldNum" sz="quarter" idx="12"/>
          </p:nvPr>
        </p:nvSpPr>
        <p:spPr/>
        <p:txBody>
          <a:bodyPr/>
          <a:lstStyle/>
          <a:p>
            <a:fld id="{00000000-1234-1234-1234-123412341234}" type="slidenum">
              <a:rPr lang="en-US" smtClean="0"/>
              <a:t>5</a:t>
            </a:fld>
            <a:endParaRPr lang="en-US"/>
          </a:p>
        </p:txBody>
      </p:sp>
    </p:spTree>
    <p:extLst>
      <p:ext uri="{BB962C8B-B14F-4D97-AF65-F5344CB8AC3E}">
        <p14:creationId xmlns:p14="http://schemas.microsoft.com/office/powerpoint/2010/main" val="384546162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Shape 189">
          <a:extLst>
            <a:ext uri="{FF2B5EF4-FFF2-40B4-BE49-F238E27FC236}">
              <a16:creationId xmlns:a16="http://schemas.microsoft.com/office/drawing/2014/main" id="{9BBE7B25-1F8F-E905-5988-3F4A5E74B10E}"/>
            </a:ext>
          </a:extLst>
        </p:cNvPr>
        <p:cNvGrpSpPr/>
        <p:nvPr/>
      </p:nvGrpSpPr>
      <p:grpSpPr>
        <a:xfrm>
          <a:off x="0" y="0"/>
          <a:ext cx="0" cy="0"/>
          <a:chOff x="0" y="0"/>
          <a:chExt cx="0" cy="0"/>
        </a:xfrm>
      </p:grpSpPr>
      <p:sp>
        <p:nvSpPr>
          <p:cNvPr id="16" name="Google Shape;199;ge4eb6b47ed_0_0">
            <a:extLst>
              <a:ext uri="{FF2B5EF4-FFF2-40B4-BE49-F238E27FC236}">
                <a16:creationId xmlns:a16="http://schemas.microsoft.com/office/drawing/2014/main" id="{02F68282-8FB9-9A6B-DAEE-2D6E6B6E0797}"/>
              </a:ext>
            </a:extLst>
          </p:cNvPr>
          <p:cNvSpPr txBox="1">
            <a:spLocks noGrp="1"/>
          </p:cNvSpPr>
          <p:nvPr>
            <p:ph type="title"/>
          </p:nvPr>
        </p:nvSpPr>
        <p:spPr>
          <a:xfrm>
            <a:off x="0" y="0"/>
            <a:ext cx="9144000" cy="724424"/>
          </a:xfrm>
          <a:prstGeom prst="rect">
            <a:avLst/>
          </a:prstGeom>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mj-lt"/>
                <a:sym typeface="Times New Roman" panose="02020603050405020304"/>
              </a:rPr>
              <a:t>Overview of Techniques, Algorithms and Simulation Used</a:t>
            </a:r>
            <a:endParaRPr lang="en-US" b="1" dirty="0">
              <a:solidFill>
                <a:srgbClr val="006600"/>
              </a:solidFill>
              <a:latin typeface="Bookman Old Style"/>
            </a:endParaRPr>
          </a:p>
        </p:txBody>
      </p:sp>
      <p:sp>
        <p:nvSpPr>
          <p:cNvPr id="6" name="Rectangle 5">
            <a:extLst>
              <a:ext uri="{FF2B5EF4-FFF2-40B4-BE49-F238E27FC236}">
                <a16:creationId xmlns:a16="http://schemas.microsoft.com/office/drawing/2014/main" id="{3E02174C-B627-E4E1-B397-F6DC979160BA}"/>
              </a:ext>
            </a:extLst>
          </p:cNvPr>
          <p:cNvSpPr/>
          <p:nvPr/>
        </p:nvSpPr>
        <p:spPr>
          <a:xfrm>
            <a:off x="444500" y="1393190"/>
            <a:ext cx="7096125" cy="4668520"/>
          </a:xfrm>
          <a:prstGeom prst="rect">
            <a:avLst/>
          </a:prstGeom>
        </p:spPr>
        <p:txBody>
          <a:bodyPr wrap="none">
            <a:noAutofit/>
          </a:bodyPr>
          <a:lstStyle/>
          <a:p>
            <a:pPr algn="ctr"/>
            <a:endParaRPr lang="en-US" sz="1600" b="1">
              <a:latin typeface="Bookman Old Style" panose="02050604050505020204" pitchFamily="18" charset="0"/>
              <a:cs typeface="Times New Roman" panose="02020603050405020304" pitchFamily="18" charset="0"/>
            </a:endParaRPr>
          </a:p>
        </p:txBody>
      </p:sp>
      <p:cxnSp>
        <p:nvCxnSpPr>
          <p:cNvPr id="7" name="Google Shape;436;p31">
            <a:extLst>
              <a:ext uri="{FF2B5EF4-FFF2-40B4-BE49-F238E27FC236}">
                <a16:creationId xmlns:a16="http://schemas.microsoft.com/office/drawing/2014/main" id="{5D91B034-EF6B-17E4-4C36-E189A3BF532D}"/>
              </a:ext>
            </a:extLst>
          </p:cNvPr>
          <p:cNvCxnSpPr/>
          <p:nvPr/>
        </p:nvCxnSpPr>
        <p:spPr>
          <a:xfrm>
            <a:off x="0" y="750637"/>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Text Box 1">
            <a:extLst>
              <a:ext uri="{FF2B5EF4-FFF2-40B4-BE49-F238E27FC236}">
                <a16:creationId xmlns:a16="http://schemas.microsoft.com/office/drawing/2014/main" id="{2CA452EB-167F-45F2-28F6-3668EA477C7C}"/>
              </a:ext>
            </a:extLst>
          </p:cNvPr>
          <p:cNvSpPr txBox="1"/>
          <p:nvPr/>
        </p:nvSpPr>
        <p:spPr>
          <a:xfrm>
            <a:off x="7289800" y="1609725"/>
            <a:ext cx="3048000" cy="306705"/>
          </a:xfrm>
          <a:prstGeom prst="rect">
            <a:avLst/>
          </a:prstGeom>
          <a:noFill/>
        </p:spPr>
        <p:txBody>
          <a:bodyPr wrap="square" rtlCol="0">
            <a:spAutoFit/>
          </a:bodyPr>
          <a:lstStyle/>
          <a:p>
            <a:endParaRPr lang="en-US"/>
          </a:p>
        </p:txBody>
      </p:sp>
      <p:sp>
        <p:nvSpPr>
          <p:cNvPr id="4" name="Google Shape;167;p1">
            <a:extLst>
              <a:ext uri="{FF2B5EF4-FFF2-40B4-BE49-F238E27FC236}">
                <a16:creationId xmlns:a16="http://schemas.microsoft.com/office/drawing/2014/main" id="{04AC0468-2400-FAAE-F19D-44054968FEC1}"/>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888888"/>
              </a:buClr>
              <a:buSzPts val="1200"/>
              <a:buFont typeface="Arial" panose="020B0604020202020204"/>
              <a:buNone/>
            </a:pPr>
            <a:r>
              <a:rPr lang="en-US" sz="1200">
                <a:solidFill>
                  <a:srgbClr val="888888"/>
                </a:solidFill>
              </a:rPr>
              <a:t>17</a:t>
            </a:r>
            <a:r>
              <a:rPr lang="en-US" sz="1200" b="0" i="0" u="none" strike="noStrike" cap="none">
                <a:solidFill>
                  <a:srgbClr val="888888"/>
                </a:solidFill>
                <a:latin typeface="Arial" panose="020B0604020202020204"/>
                <a:cs typeface="Arial" panose="020B0604020202020204"/>
                <a:sym typeface="Arial" panose="020B0604020202020204"/>
              </a:rPr>
              <a:t>/03/2026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8" name="TextBox 7">
            <a:extLst>
              <a:ext uri="{FF2B5EF4-FFF2-40B4-BE49-F238E27FC236}">
                <a16:creationId xmlns:a16="http://schemas.microsoft.com/office/drawing/2014/main" id="{996E2566-ACD1-C3C9-3056-22E3E8DB9B27}"/>
              </a:ext>
            </a:extLst>
          </p:cNvPr>
          <p:cNvSpPr txBox="1"/>
          <p:nvPr/>
        </p:nvSpPr>
        <p:spPr>
          <a:xfrm>
            <a:off x="2288866" y="6492875"/>
            <a:ext cx="184731" cy="307777"/>
          </a:xfrm>
          <a:prstGeom prst="rect">
            <a:avLst/>
          </a:prstGeom>
          <a:noFill/>
        </p:spPr>
        <p:txBody>
          <a:bodyPr wrap="none" rtlCol="0">
            <a:spAutoFit/>
          </a:bodyPr>
          <a:lstStyle/>
          <a:p>
            <a:endParaRPr lang="en-IN">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A5163FFB-9A8C-EB43-9547-69290C740FC6}"/>
              </a:ext>
            </a:extLst>
          </p:cNvPr>
          <p:cNvSpPr>
            <a:spLocks noGrp="1"/>
          </p:cNvSpPr>
          <p:nvPr>
            <p:ph type="sldNum" sz="quarter" idx="12"/>
          </p:nvPr>
        </p:nvSpPr>
        <p:spPr/>
        <p:txBody>
          <a:bodyPr/>
          <a:lstStyle/>
          <a:p>
            <a:fld id="{00000000-1234-1234-1234-123412341234}" type="slidenum">
              <a:rPr lang="en-US" smtClean="0"/>
              <a:t>6</a:t>
            </a:fld>
            <a:endParaRPr lang="en-US"/>
          </a:p>
        </p:txBody>
      </p:sp>
      <p:sp>
        <p:nvSpPr>
          <p:cNvPr id="9" name="Google Shape;200;ge4eb6b47ed_0_0">
            <a:extLst>
              <a:ext uri="{FF2B5EF4-FFF2-40B4-BE49-F238E27FC236}">
                <a16:creationId xmlns:a16="http://schemas.microsoft.com/office/drawing/2014/main" id="{572D2AFC-F192-8FA9-7DA0-9DD8C93FF109}"/>
              </a:ext>
            </a:extLst>
          </p:cNvPr>
          <p:cNvSpPr txBox="1">
            <a:spLocks noGrp="1"/>
          </p:cNvSpPr>
          <p:nvPr>
            <p:ph idx="1"/>
          </p:nvPr>
        </p:nvSpPr>
        <p:spPr>
          <a:xfrm>
            <a:off x="124754" y="750637"/>
            <a:ext cx="8894492" cy="2489826"/>
          </a:xfrm>
          <a:prstGeom prst="rect">
            <a:avLst/>
          </a:prstGeom>
        </p:spPr>
        <p:txBody>
          <a:bodyPr spcFirstLastPara="1" wrap="square" lIns="91425" tIns="45700" rIns="91425" bIns="45700" anchor="t" anchorCtr="0">
            <a:noAutofit/>
          </a:bodyPr>
          <a:lstStyle/>
          <a:p>
            <a:pPr marL="0" indent="0" algn="ctr">
              <a:buNone/>
            </a:pPr>
            <a:r>
              <a:rPr lang="en-US" sz="2000" b="1" dirty="0">
                <a:latin typeface="Times New Roman"/>
                <a:ea typeface="+mn-lt"/>
                <a:cs typeface="Times New Roman"/>
              </a:rPr>
              <a:t>Data Preprocessing &amp; Feature Engineering</a:t>
            </a:r>
            <a:endParaRPr lang="en-US" sz="2000" b="1" dirty="0">
              <a:latin typeface="Times New Roman"/>
              <a:cs typeface="Times New Roman"/>
            </a:endParaRPr>
          </a:p>
          <a:p>
            <a:pPr algn="just">
              <a:buFont typeface="Wingdings" panose="020B0604020202020204" pitchFamily="34" charset="0"/>
              <a:buChar char="q"/>
            </a:pPr>
            <a:r>
              <a:rPr lang="en-US" sz="2000" dirty="0">
                <a:latin typeface="Times New Roman"/>
                <a:ea typeface="+mn-lt"/>
                <a:cs typeface="Times New Roman"/>
              </a:rPr>
              <a:t> Data preprocessing ensures that raw greenhouse datasets are cleaned, structured, and reliable by handling missing values using interpolation techniques and removing noise or outliers through statistical filtering methods.</a:t>
            </a:r>
          </a:p>
          <a:p>
            <a:pPr algn="just">
              <a:buFont typeface="Wingdings" panose="020B0604020202020204" pitchFamily="34" charset="0"/>
              <a:buChar char="q"/>
            </a:pPr>
            <a:r>
              <a:rPr lang="en-US" sz="2000" dirty="0">
                <a:latin typeface="Times New Roman"/>
                <a:ea typeface="+mn-lt"/>
                <a:cs typeface="Times New Roman"/>
              </a:rPr>
              <a:t> Feature engineering derives important agronomic indicators such as Vapor Pressure Deficit (VPD) and dew point, which are critical for understanding plant stress, growth conditions, and disease development.</a:t>
            </a:r>
          </a:p>
        </p:txBody>
      </p:sp>
      <p:sp>
        <p:nvSpPr>
          <p:cNvPr id="11" name="Google Shape;200;ge4eb6b47ed_0_0">
            <a:extLst>
              <a:ext uri="{FF2B5EF4-FFF2-40B4-BE49-F238E27FC236}">
                <a16:creationId xmlns:a16="http://schemas.microsoft.com/office/drawing/2014/main" id="{A878DCC8-1477-1A77-2914-56223C7898A9}"/>
              </a:ext>
            </a:extLst>
          </p:cNvPr>
          <p:cNvSpPr txBox="1">
            <a:spLocks/>
          </p:cNvSpPr>
          <p:nvPr/>
        </p:nvSpPr>
        <p:spPr>
          <a:xfrm>
            <a:off x="120070" y="3696657"/>
            <a:ext cx="8899176" cy="2489827"/>
          </a:xfrm>
          <a:prstGeom prst="rect">
            <a:avLst/>
          </a:prstGeom>
        </p:spPr>
        <p:txBody>
          <a:bodyPr spcFirstLastPara="1" vert="horz" wrap="square" lIns="91425" tIns="45700" rIns="91425" bIns="45700" rtlCol="0" anchor="t" anchorCtr="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42900" lvl="1" indent="0" algn="ctr">
              <a:buNone/>
            </a:pPr>
            <a:r>
              <a:rPr lang="en-US" sz="2000" b="1" dirty="0">
                <a:latin typeface="Times New Roman"/>
                <a:ea typeface="+mn-lt"/>
                <a:cs typeface="Times New Roman"/>
              </a:rPr>
              <a:t>Convolutional Neural Networks (CNN)</a:t>
            </a:r>
            <a:endParaRPr lang="en-US" sz="2000" b="1" dirty="0">
              <a:latin typeface="Times New Roman"/>
              <a:cs typeface="Times New Roman"/>
            </a:endParaRPr>
          </a:p>
          <a:p>
            <a:pPr algn="just">
              <a:buClrTx/>
              <a:buFont typeface="Wingdings" panose="020B0604020202020204" pitchFamily="34" charset="0"/>
              <a:buChar char="q"/>
            </a:pPr>
            <a:r>
              <a:rPr lang="en-US" sz="2000" dirty="0">
                <a:latin typeface="Times New Roman"/>
                <a:cs typeface="Times New Roman"/>
              </a:rPr>
              <a:t> </a:t>
            </a:r>
            <a:r>
              <a:rPr lang="en-US" sz="2000" dirty="0">
                <a:latin typeface="Times New Roman"/>
                <a:ea typeface="+mn-lt"/>
                <a:cs typeface="Times New Roman"/>
              </a:rPr>
              <a:t>Convolutional Neural Networks are deep learning architectures designed for image analysis, capable of automatically extracting spatial features such as edges, textures, and patterns from plant images without manual feature engineering.</a:t>
            </a:r>
          </a:p>
          <a:p>
            <a:pPr algn="just">
              <a:buClrTx/>
              <a:buFont typeface="Wingdings" panose="020B0604020202020204" pitchFamily="34" charset="0"/>
              <a:buChar char="q"/>
            </a:pPr>
            <a:r>
              <a:rPr lang="en-US" sz="2000" dirty="0">
                <a:latin typeface="Times New Roman"/>
                <a:ea typeface="+mn-lt"/>
                <a:cs typeface="Times New Roman"/>
              </a:rPr>
              <a:t> In this system, CNNs are used for identifying plant diseases and classifying crop growth stages based on visual characteristics, improving accuracy and reducing dependency on manual inspection.</a:t>
            </a:r>
            <a:endParaRPr lang="en-US" sz="2000" dirty="0">
              <a:latin typeface="Times New Roman"/>
              <a:ea typeface="Calibri"/>
              <a:cs typeface="Times New Roman"/>
            </a:endParaRPr>
          </a:p>
        </p:txBody>
      </p:sp>
    </p:spTree>
    <p:extLst>
      <p:ext uri="{BB962C8B-B14F-4D97-AF65-F5344CB8AC3E}">
        <p14:creationId xmlns:p14="http://schemas.microsoft.com/office/powerpoint/2010/main" val="112766802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Shape 189">
          <a:extLst>
            <a:ext uri="{FF2B5EF4-FFF2-40B4-BE49-F238E27FC236}">
              <a16:creationId xmlns:a16="http://schemas.microsoft.com/office/drawing/2014/main" id="{A5A64CF0-EACE-D283-4A57-9FC96CA60703}"/>
            </a:ext>
          </a:extLst>
        </p:cNvPr>
        <p:cNvGrpSpPr/>
        <p:nvPr/>
      </p:nvGrpSpPr>
      <p:grpSpPr>
        <a:xfrm>
          <a:off x="0" y="0"/>
          <a:ext cx="0" cy="0"/>
          <a:chOff x="0" y="0"/>
          <a:chExt cx="0" cy="0"/>
        </a:xfrm>
      </p:grpSpPr>
      <p:sp>
        <p:nvSpPr>
          <p:cNvPr id="16" name="Google Shape;199;ge4eb6b47ed_0_0">
            <a:extLst>
              <a:ext uri="{FF2B5EF4-FFF2-40B4-BE49-F238E27FC236}">
                <a16:creationId xmlns:a16="http://schemas.microsoft.com/office/drawing/2014/main" id="{406C88BD-E08E-7CB9-AB54-0ED772CDE00F}"/>
              </a:ext>
            </a:extLst>
          </p:cNvPr>
          <p:cNvSpPr txBox="1">
            <a:spLocks noGrp="1"/>
          </p:cNvSpPr>
          <p:nvPr>
            <p:ph type="title"/>
          </p:nvPr>
        </p:nvSpPr>
        <p:spPr>
          <a:xfrm>
            <a:off x="0" y="0"/>
            <a:ext cx="9144000" cy="724424"/>
          </a:xfrm>
          <a:prstGeom prst="rect">
            <a:avLst/>
          </a:prstGeom>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mj-lt"/>
                <a:sym typeface="Times New Roman" panose="02020603050405020304"/>
              </a:rPr>
              <a:t>Overview of Techniques, Algorithms and Simulation Used (Contd..)</a:t>
            </a:r>
            <a:endParaRPr lang="en-US" b="1" dirty="0">
              <a:solidFill>
                <a:srgbClr val="006600"/>
              </a:solidFill>
              <a:latin typeface="Bookman Old Style"/>
            </a:endParaRPr>
          </a:p>
        </p:txBody>
      </p:sp>
      <p:sp>
        <p:nvSpPr>
          <p:cNvPr id="6" name="Rectangle 5">
            <a:extLst>
              <a:ext uri="{FF2B5EF4-FFF2-40B4-BE49-F238E27FC236}">
                <a16:creationId xmlns:a16="http://schemas.microsoft.com/office/drawing/2014/main" id="{6253CEDE-6993-24C6-61C4-18DCF46CBFBE}"/>
              </a:ext>
            </a:extLst>
          </p:cNvPr>
          <p:cNvSpPr/>
          <p:nvPr/>
        </p:nvSpPr>
        <p:spPr>
          <a:xfrm>
            <a:off x="444500" y="1393190"/>
            <a:ext cx="7096125" cy="4668520"/>
          </a:xfrm>
          <a:prstGeom prst="rect">
            <a:avLst/>
          </a:prstGeom>
        </p:spPr>
        <p:txBody>
          <a:bodyPr wrap="none">
            <a:noAutofit/>
          </a:bodyPr>
          <a:lstStyle/>
          <a:p>
            <a:pPr algn="ctr"/>
            <a:endParaRPr lang="en-US" sz="1600" b="1">
              <a:latin typeface="Bookman Old Style" panose="02050604050505020204" pitchFamily="18" charset="0"/>
              <a:cs typeface="Times New Roman" panose="02020603050405020304" pitchFamily="18" charset="0"/>
            </a:endParaRPr>
          </a:p>
        </p:txBody>
      </p:sp>
      <p:cxnSp>
        <p:nvCxnSpPr>
          <p:cNvPr id="7" name="Google Shape;436;p31">
            <a:extLst>
              <a:ext uri="{FF2B5EF4-FFF2-40B4-BE49-F238E27FC236}">
                <a16:creationId xmlns:a16="http://schemas.microsoft.com/office/drawing/2014/main" id="{9F85C9AB-6441-FF0A-EA0E-510C6D8F25B2}"/>
              </a:ext>
            </a:extLst>
          </p:cNvPr>
          <p:cNvCxnSpPr/>
          <p:nvPr/>
        </p:nvCxnSpPr>
        <p:spPr>
          <a:xfrm>
            <a:off x="0" y="750637"/>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Text Box 1">
            <a:extLst>
              <a:ext uri="{FF2B5EF4-FFF2-40B4-BE49-F238E27FC236}">
                <a16:creationId xmlns:a16="http://schemas.microsoft.com/office/drawing/2014/main" id="{1FBF6F79-03EB-D604-FC44-F0CADB4C49E2}"/>
              </a:ext>
            </a:extLst>
          </p:cNvPr>
          <p:cNvSpPr txBox="1"/>
          <p:nvPr/>
        </p:nvSpPr>
        <p:spPr>
          <a:xfrm>
            <a:off x="7289800" y="1609725"/>
            <a:ext cx="3048000" cy="306705"/>
          </a:xfrm>
          <a:prstGeom prst="rect">
            <a:avLst/>
          </a:prstGeom>
          <a:noFill/>
        </p:spPr>
        <p:txBody>
          <a:bodyPr wrap="square" rtlCol="0">
            <a:spAutoFit/>
          </a:bodyPr>
          <a:lstStyle/>
          <a:p>
            <a:endParaRPr lang="en-US"/>
          </a:p>
        </p:txBody>
      </p:sp>
      <p:sp>
        <p:nvSpPr>
          <p:cNvPr id="4" name="Google Shape;167;p1">
            <a:extLst>
              <a:ext uri="{FF2B5EF4-FFF2-40B4-BE49-F238E27FC236}">
                <a16:creationId xmlns:a16="http://schemas.microsoft.com/office/drawing/2014/main" id="{15774469-EDC7-F136-7E64-9E1468BB5664}"/>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8" name="TextBox 7">
            <a:extLst>
              <a:ext uri="{FF2B5EF4-FFF2-40B4-BE49-F238E27FC236}">
                <a16:creationId xmlns:a16="http://schemas.microsoft.com/office/drawing/2014/main" id="{EBF08A1B-0E8E-F9BF-4AD5-A24248B54AB6}"/>
              </a:ext>
            </a:extLst>
          </p:cNvPr>
          <p:cNvSpPr txBox="1"/>
          <p:nvPr/>
        </p:nvSpPr>
        <p:spPr>
          <a:xfrm>
            <a:off x="2288866" y="6492875"/>
            <a:ext cx="184731" cy="307777"/>
          </a:xfrm>
          <a:prstGeom prst="rect">
            <a:avLst/>
          </a:prstGeom>
          <a:noFill/>
        </p:spPr>
        <p:txBody>
          <a:bodyPr wrap="none" rtlCol="0">
            <a:spAutoFit/>
          </a:bodyPr>
          <a:lstStyle/>
          <a:p>
            <a:endParaRPr lang="en-IN">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1DF2D1F2-C100-03D8-319D-79A9FE8380BB}"/>
              </a:ext>
            </a:extLst>
          </p:cNvPr>
          <p:cNvSpPr>
            <a:spLocks noGrp="1"/>
          </p:cNvSpPr>
          <p:nvPr>
            <p:ph type="sldNum" sz="quarter" idx="12"/>
          </p:nvPr>
        </p:nvSpPr>
        <p:spPr/>
        <p:txBody>
          <a:bodyPr/>
          <a:lstStyle/>
          <a:p>
            <a:fld id="{00000000-1234-1234-1234-123412341234}" type="slidenum">
              <a:rPr lang="en-US" smtClean="0"/>
              <a:t>7</a:t>
            </a:fld>
            <a:endParaRPr lang="en-US"/>
          </a:p>
        </p:txBody>
      </p:sp>
      <p:sp>
        <p:nvSpPr>
          <p:cNvPr id="9" name="Google Shape;200;ge4eb6b47ed_0_0">
            <a:extLst>
              <a:ext uri="{FF2B5EF4-FFF2-40B4-BE49-F238E27FC236}">
                <a16:creationId xmlns:a16="http://schemas.microsoft.com/office/drawing/2014/main" id="{C1966C2E-B7E8-FA81-48D1-01A9480F7E70}"/>
              </a:ext>
            </a:extLst>
          </p:cNvPr>
          <p:cNvSpPr txBox="1">
            <a:spLocks noGrp="1"/>
          </p:cNvSpPr>
          <p:nvPr>
            <p:ph idx="1"/>
          </p:nvPr>
        </p:nvSpPr>
        <p:spPr>
          <a:xfrm>
            <a:off x="144823" y="727136"/>
            <a:ext cx="8854354" cy="2450636"/>
          </a:xfrm>
          <a:prstGeom prst="rect">
            <a:avLst/>
          </a:prstGeom>
        </p:spPr>
        <p:txBody>
          <a:bodyPr spcFirstLastPara="1" wrap="square" lIns="91425" tIns="45700" rIns="91425" bIns="45700" anchor="t" anchorCtr="0">
            <a:noAutofit/>
          </a:bodyPr>
          <a:lstStyle/>
          <a:p>
            <a:pPr marL="342900" lvl="1" indent="0" algn="ctr">
              <a:buNone/>
            </a:pPr>
            <a:r>
              <a:rPr lang="en-US" sz="2000" b="1" dirty="0">
                <a:latin typeface="Times New Roman"/>
                <a:ea typeface="+mn-lt"/>
                <a:cs typeface="Times New Roman"/>
              </a:rPr>
              <a:t>Transfer Learning</a:t>
            </a:r>
            <a:endParaRPr lang="en-US" sz="2000" b="1" dirty="0">
              <a:latin typeface="Times New Roman"/>
              <a:cs typeface="Times New Roman"/>
            </a:endParaRPr>
          </a:p>
          <a:p>
            <a:pPr algn="just">
              <a:buFont typeface="Wingdings" panose="020B0604020202020204" pitchFamily="34" charset="0"/>
              <a:buChar char="q"/>
            </a:pPr>
            <a:r>
              <a:rPr lang="en-US" sz="2000" dirty="0">
                <a:latin typeface="Times New Roman"/>
                <a:ea typeface="+mn-lt"/>
                <a:cs typeface="Times New Roman"/>
              </a:rPr>
              <a:t> Transfer learning allows the reuse of pre-trained deep learning models trained on large datasets, enabling faster training and improved performance when applied to specific agricultural tasks.</a:t>
            </a:r>
          </a:p>
          <a:p>
            <a:pPr algn="just">
              <a:buFont typeface="Wingdings" panose="020B0604020202020204" pitchFamily="34" charset="0"/>
              <a:buChar char="q"/>
            </a:pPr>
            <a:r>
              <a:rPr lang="en-US" sz="2000" dirty="0">
                <a:latin typeface="Times New Roman"/>
                <a:ea typeface="+mn-lt"/>
                <a:cs typeface="Times New Roman"/>
              </a:rPr>
              <a:t> Instead of building models from scratch, the system fine-tunes learned features from existing models to adapt them to plant image datasets, significantly reducing computational cost and data requirements.</a:t>
            </a:r>
          </a:p>
        </p:txBody>
      </p:sp>
      <p:sp>
        <p:nvSpPr>
          <p:cNvPr id="5" name="Text Box 4">
            <a:extLst>
              <a:ext uri="{FF2B5EF4-FFF2-40B4-BE49-F238E27FC236}">
                <a16:creationId xmlns:a16="http://schemas.microsoft.com/office/drawing/2014/main" id="{F7B22596-D5D3-C1FC-90CC-DBE0745C34B3}"/>
              </a:ext>
            </a:extLst>
          </p:cNvPr>
          <p:cNvSpPr txBox="1"/>
          <p:nvPr/>
        </p:nvSpPr>
        <p:spPr>
          <a:xfrm>
            <a:off x="144823" y="3252592"/>
            <a:ext cx="8854354" cy="2827996"/>
          </a:xfrm>
          <a:prstGeom prst="rect">
            <a:avLst/>
          </a:prstGeom>
          <a:noFill/>
        </p:spPr>
        <p:txBody>
          <a:bodyPr wrap="square" lIns="91440" tIns="45720" rIns="91440" bIns="45720" rtlCol="0" anchor="t">
            <a:noAutofit/>
          </a:bodyPr>
          <a:lstStyle/>
          <a:p>
            <a:pPr lvl="1" algn="ctr"/>
            <a:r>
              <a:rPr lang="en-US" sz="2000" b="1" dirty="0" err="1">
                <a:latin typeface="Times New Roman"/>
                <a:cs typeface="Times New Roman"/>
              </a:rPr>
              <a:t>EfficientNet</a:t>
            </a:r>
            <a:r>
              <a:rPr lang="en-US" sz="2000" b="1" dirty="0">
                <a:latin typeface="Times New Roman"/>
                <a:cs typeface="Times New Roman"/>
              </a:rPr>
              <a:t> Architecture</a:t>
            </a:r>
          </a:p>
          <a:p>
            <a:pPr marL="342900" indent="-342900" algn="just">
              <a:buFont typeface="Wingdings" panose="020B0604020202020204"/>
              <a:buChar char="q"/>
            </a:pPr>
            <a:r>
              <a:rPr lang="en-US" sz="2000" dirty="0" err="1">
                <a:latin typeface="Times New Roman"/>
                <a:cs typeface="Times New Roman"/>
              </a:rPr>
              <a:t>EfficientNet</a:t>
            </a:r>
            <a:r>
              <a:rPr lang="en-US" sz="2000" dirty="0">
                <a:latin typeface="Times New Roman"/>
                <a:cs typeface="Times New Roman"/>
              </a:rPr>
              <a:t> is an advanced convolutional neural network architecture that achieves high accuracy by balancing network depth, width, and input resolution using a compound scaling method.</a:t>
            </a:r>
          </a:p>
          <a:p>
            <a:pPr marL="342900" indent="-342900" algn="just">
              <a:buFont typeface="Wingdings" panose="020B0604020202020204"/>
              <a:buChar char="q"/>
            </a:pPr>
            <a:r>
              <a:rPr lang="en-US" sz="2000" dirty="0">
                <a:latin typeface="Times New Roman"/>
                <a:cs typeface="Times New Roman"/>
              </a:rPr>
              <a:t>It provides superior performance compared to traditional CNNs while requiring fewer parameters and computational resources, making it efficient for real-world applications.</a:t>
            </a:r>
          </a:p>
          <a:p>
            <a:pPr marL="342900" indent="-342900" algn="just">
              <a:buFont typeface="Wingdings" panose="020B0604020202020204"/>
              <a:buChar char="q"/>
            </a:pPr>
            <a:r>
              <a:rPr lang="en-US" sz="2000" dirty="0">
                <a:latin typeface="Times New Roman"/>
                <a:cs typeface="Times New Roman"/>
              </a:rPr>
              <a:t>In this system, </a:t>
            </a:r>
            <a:r>
              <a:rPr lang="en-US" sz="2000" dirty="0" err="1">
                <a:latin typeface="Times New Roman"/>
                <a:cs typeface="Times New Roman"/>
              </a:rPr>
              <a:t>EfficientNet</a:t>
            </a:r>
            <a:r>
              <a:rPr lang="en-US" sz="2000" dirty="0">
                <a:latin typeface="Times New Roman"/>
                <a:cs typeface="Times New Roman"/>
              </a:rPr>
              <a:t> is used as the backbone model for both growth stage classification and disease detection, enabling precise and reliable image-based predictions.</a:t>
            </a:r>
          </a:p>
          <a:p>
            <a:pPr marL="342900" indent="-342900" algn="just">
              <a:buFont typeface="Wingdings" panose="020B0604020202020204" pitchFamily="34" charset="0"/>
              <a:buChar char="q"/>
            </a:pPr>
            <a:endParaRPr lang="en-US" sz="2000" dirty="0">
              <a:latin typeface="Times New Roman"/>
              <a:cs typeface="Times New Roman"/>
            </a:endParaRPr>
          </a:p>
        </p:txBody>
      </p:sp>
    </p:spTree>
    <p:extLst>
      <p:ext uri="{BB962C8B-B14F-4D97-AF65-F5344CB8AC3E}">
        <p14:creationId xmlns:p14="http://schemas.microsoft.com/office/powerpoint/2010/main" val="302927925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Shape 189">
          <a:extLst>
            <a:ext uri="{FF2B5EF4-FFF2-40B4-BE49-F238E27FC236}">
              <a16:creationId xmlns:a16="http://schemas.microsoft.com/office/drawing/2014/main" id="{20F37BB4-435C-8D07-0BC6-F38B15F2849D}"/>
            </a:ext>
          </a:extLst>
        </p:cNvPr>
        <p:cNvGrpSpPr/>
        <p:nvPr/>
      </p:nvGrpSpPr>
      <p:grpSpPr>
        <a:xfrm>
          <a:off x="0" y="0"/>
          <a:ext cx="0" cy="0"/>
          <a:chOff x="0" y="0"/>
          <a:chExt cx="0" cy="0"/>
        </a:xfrm>
      </p:grpSpPr>
      <p:sp>
        <p:nvSpPr>
          <p:cNvPr id="16" name="Google Shape;199;ge4eb6b47ed_0_0">
            <a:extLst>
              <a:ext uri="{FF2B5EF4-FFF2-40B4-BE49-F238E27FC236}">
                <a16:creationId xmlns:a16="http://schemas.microsoft.com/office/drawing/2014/main" id="{9CC7A889-2FB8-5321-4A09-B4D1F629FB45}"/>
              </a:ext>
            </a:extLst>
          </p:cNvPr>
          <p:cNvSpPr txBox="1">
            <a:spLocks noGrp="1"/>
          </p:cNvSpPr>
          <p:nvPr>
            <p:ph type="title"/>
          </p:nvPr>
        </p:nvSpPr>
        <p:spPr>
          <a:xfrm>
            <a:off x="0" y="0"/>
            <a:ext cx="9144000" cy="724424"/>
          </a:xfrm>
          <a:prstGeom prst="rect">
            <a:avLst/>
          </a:prstGeom>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mj-lt"/>
                <a:sym typeface="Times New Roman" panose="02020603050405020304"/>
              </a:rPr>
              <a:t>Overview of Techniques, Algorithms and Simulation Used (Contd..)</a:t>
            </a:r>
            <a:endParaRPr lang="en-US" b="1" dirty="0">
              <a:solidFill>
                <a:srgbClr val="006600"/>
              </a:solidFill>
              <a:latin typeface="Bookman Old Style"/>
            </a:endParaRPr>
          </a:p>
        </p:txBody>
      </p:sp>
      <p:sp>
        <p:nvSpPr>
          <p:cNvPr id="6" name="Rectangle 5">
            <a:extLst>
              <a:ext uri="{FF2B5EF4-FFF2-40B4-BE49-F238E27FC236}">
                <a16:creationId xmlns:a16="http://schemas.microsoft.com/office/drawing/2014/main" id="{73069A4E-492D-A13A-CADF-961064D8881D}"/>
              </a:ext>
            </a:extLst>
          </p:cNvPr>
          <p:cNvSpPr/>
          <p:nvPr/>
        </p:nvSpPr>
        <p:spPr>
          <a:xfrm>
            <a:off x="444500" y="1393190"/>
            <a:ext cx="7096125" cy="4668520"/>
          </a:xfrm>
          <a:prstGeom prst="rect">
            <a:avLst/>
          </a:prstGeom>
        </p:spPr>
        <p:txBody>
          <a:bodyPr wrap="none">
            <a:noAutofit/>
          </a:bodyPr>
          <a:lstStyle/>
          <a:p>
            <a:pPr algn="ctr"/>
            <a:endParaRPr lang="en-US" sz="1600" b="1">
              <a:latin typeface="Bookman Old Style" panose="02050604050505020204" pitchFamily="18" charset="0"/>
              <a:cs typeface="Times New Roman" panose="02020603050405020304" pitchFamily="18" charset="0"/>
            </a:endParaRPr>
          </a:p>
        </p:txBody>
      </p:sp>
      <p:cxnSp>
        <p:nvCxnSpPr>
          <p:cNvPr id="7" name="Google Shape;436;p31">
            <a:extLst>
              <a:ext uri="{FF2B5EF4-FFF2-40B4-BE49-F238E27FC236}">
                <a16:creationId xmlns:a16="http://schemas.microsoft.com/office/drawing/2014/main" id="{6FF21019-3171-E407-59E5-D3EDDF62DCE4}"/>
              </a:ext>
            </a:extLst>
          </p:cNvPr>
          <p:cNvCxnSpPr/>
          <p:nvPr/>
        </p:nvCxnSpPr>
        <p:spPr>
          <a:xfrm>
            <a:off x="0" y="750637"/>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Text Box 1">
            <a:extLst>
              <a:ext uri="{FF2B5EF4-FFF2-40B4-BE49-F238E27FC236}">
                <a16:creationId xmlns:a16="http://schemas.microsoft.com/office/drawing/2014/main" id="{6C8F5DBD-2827-BB61-DF1C-F1A83D9577A1}"/>
              </a:ext>
            </a:extLst>
          </p:cNvPr>
          <p:cNvSpPr txBox="1"/>
          <p:nvPr/>
        </p:nvSpPr>
        <p:spPr>
          <a:xfrm>
            <a:off x="7289800" y="1609725"/>
            <a:ext cx="3048000" cy="306705"/>
          </a:xfrm>
          <a:prstGeom prst="rect">
            <a:avLst/>
          </a:prstGeom>
          <a:noFill/>
        </p:spPr>
        <p:txBody>
          <a:bodyPr wrap="square" rtlCol="0">
            <a:spAutoFit/>
          </a:bodyPr>
          <a:lstStyle/>
          <a:p>
            <a:endParaRPr lang="en-US"/>
          </a:p>
        </p:txBody>
      </p:sp>
      <p:sp>
        <p:nvSpPr>
          <p:cNvPr id="4" name="Google Shape;167;p1">
            <a:extLst>
              <a:ext uri="{FF2B5EF4-FFF2-40B4-BE49-F238E27FC236}">
                <a16:creationId xmlns:a16="http://schemas.microsoft.com/office/drawing/2014/main" id="{C0CF202C-B894-C66A-EECC-72E6DF930F5D}"/>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8" name="TextBox 7">
            <a:extLst>
              <a:ext uri="{FF2B5EF4-FFF2-40B4-BE49-F238E27FC236}">
                <a16:creationId xmlns:a16="http://schemas.microsoft.com/office/drawing/2014/main" id="{DA41FA49-A981-83BB-5077-6A86C606E006}"/>
              </a:ext>
            </a:extLst>
          </p:cNvPr>
          <p:cNvSpPr txBox="1"/>
          <p:nvPr/>
        </p:nvSpPr>
        <p:spPr>
          <a:xfrm>
            <a:off x="2288866" y="6492875"/>
            <a:ext cx="184731" cy="307777"/>
          </a:xfrm>
          <a:prstGeom prst="rect">
            <a:avLst/>
          </a:prstGeom>
          <a:noFill/>
        </p:spPr>
        <p:txBody>
          <a:bodyPr wrap="none" rtlCol="0">
            <a:spAutoFit/>
          </a:bodyPr>
          <a:lstStyle/>
          <a:p>
            <a:endParaRPr lang="en-IN">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476F0675-E6E2-7682-B59E-C0F061B24C1B}"/>
              </a:ext>
            </a:extLst>
          </p:cNvPr>
          <p:cNvSpPr>
            <a:spLocks noGrp="1"/>
          </p:cNvSpPr>
          <p:nvPr>
            <p:ph type="sldNum" sz="quarter" idx="12"/>
          </p:nvPr>
        </p:nvSpPr>
        <p:spPr/>
        <p:txBody>
          <a:bodyPr/>
          <a:lstStyle/>
          <a:p>
            <a:fld id="{00000000-1234-1234-1234-123412341234}" type="slidenum">
              <a:rPr lang="en-US" smtClean="0"/>
              <a:t>8</a:t>
            </a:fld>
            <a:endParaRPr lang="en-US"/>
          </a:p>
        </p:txBody>
      </p:sp>
      <p:sp>
        <p:nvSpPr>
          <p:cNvPr id="9" name="Google Shape;200;ge4eb6b47ed_0_0">
            <a:extLst>
              <a:ext uri="{FF2B5EF4-FFF2-40B4-BE49-F238E27FC236}">
                <a16:creationId xmlns:a16="http://schemas.microsoft.com/office/drawing/2014/main" id="{C9B454FA-5E64-C04C-AA9A-1C9DD88016AE}"/>
              </a:ext>
            </a:extLst>
          </p:cNvPr>
          <p:cNvSpPr txBox="1">
            <a:spLocks noGrp="1"/>
          </p:cNvSpPr>
          <p:nvPr>
            <p:ph idx="1"/>
          </p:nvPr>
        </p:nvSpPr>
        <p:spPr>
          <a:xfrm>
            <a:off x="144823" y="796290"/>
            <a:ext cx="8854354" cy="2168891"/>
          </a:xfrm>
          <a:prstGeom prst="rect">
            <a:avLst/>
          </a:prstGeom>
        </p:spPr>
        <p:txBody>
          <a:bodyPr spcFirstLastPara="1" wrap="square" lIns="91425" tIns="45700" rIns="91425" bIns="45700" anchor="t" anchorCtr="0">
            <a:noAutofit/>
          </a:bodyPr>
          <a:lstStyle/>
          <a:p>
            <a:pPr marL="342900" lvl="1" indent="0" algn="ctr">
              <a:buNone/>
            </a:pPr>
            <a:r>
              <a:rPr lang="en-US" sz="2000" b="1" dirty="0">
                <a:latin typeface="Times New Roman"/>
                <a:ea typeface="+mn-lt"/>
                <a:cs typeface="Times New Roman"/>
              </a:rPr>
              <a:t>Image Data Augmentation</a:t>
            </a:r>
            <a:endParaRPr lang="en-US" sz="2000" b="1" dirty="0">
              <a:latin typeface="Times New Roman"/>
              <a:cs typeface="Times New Roman"/>
            </a:endParaRPr>
          </a:p>
          <a:p>
            <a:pPr algn="just">
              <a:buFont typeface="Wingdings" panose="020B0604020202020204" pitchFamily="34" charset="0"/>
              <a:buChar char="q"/>
            </a:pPr>
            <a:r>
              <a:rPr lang="en-US" sz="2000" dirty="0">
                <a:latin typeface="Times New Roman"/>
                <a:ea typeface="+mn-lt"/>
                <a:cs typeface="Times New Roman"/>
              </a:rPr>
              <a:t> Image data augmentation artificially increases dataset diversity by applying transformations such as rotation, flipping, scaling, cropping, and brightness adjustments to existing images.</a:t>
            </a:r>
          </a:p>
          <a:p>
            <a:pPr algn="just">
              <a:buFont typeface="Wingdings" panose="020B0604020202020204" pitchFamily="34" charset="0"/>
              <a:buChar char="q"/>
            </a:pPr>
            <a:r>
              <a:rPr lang="en-US" sz="2000" dirty="0">
                <a:latin typeface="Times New Roman"/>
                <a:ea typeface="+mn-lt"/>
                <a:cs typeface="Times New Roman"/>
              </a:rPr>
              <a:t> These transformations simulate real-world variations in lighting, orientation, and environmental conditions, helping the model generalize better to unseen data.</a:t>
            </a:r>
          </a:p>
        </p:txBody>
      </p:sp>
      <p:sp>
        <p:nvSpPr>
          <p:cNvPr id="5" name="Text Box 4">
            <a:extLst>
              <a:ext uri="{FF2B5EF4-FFF2-40B4-BE49-F238E27FC236}">
                <a16:creationId xmlns:a16="http://schemas.microsoft.com/office/drawing/2014/main" id="{F1B15372-F6BF-0683-C771-1868B582F141}"/>
              </a:ext>
            </a:extLst>
          </p:cNvPr>
          <p:cNvSpPr txBox="1"/>
          <p:nvPr/>
        </p:nvSpPr>
        <p:spPr>
          <a:xfrm>
            <a:off x="144823" y="2812596"/>
            <a:ext cx="8854354" cy="2168891"/>
          </a:xfrm>
          <a:prstGeom prst="rect">
            <a:avLst/>
          </a:prstGeom>
          <a:noFill/>
        </p:spPr>
        <p:txBody>
          <a:bodyPr wrap="square" lIns="91440" tIns="45720" rIns="91440" bIns="45720" rtlCol="0" anchor="t">
            <a:noAutofit/>
          </a:bodyPr>
          <a:lstStyle/>
          <a:p>
            <a:pPr lvl="1" algn="ctr"/>
            <a:r>
              <a:rPr lang="en-US" sz="2000" b="1" dirty="0">
                <a:latin typeface="Times New Roman"/>
                <a:cs typeface="Times New Roman"/>
              </a:rPr>
              <a:t>Long Short-Term Memory (LSTM)</a:t>
            </a:r>
          </a:p>
          <a:p>
            <a:pPr marL="342900" indent="-342900" algn="just">
              <a:buFont typeface="Wingdings" panose="020B0604020202020204"/>
              <a:buChar char="q"/>
            </a:pPr>
            <a:r>
              <a:rPr lang="en-US" sz="2000" dirty="0">
                <a:latin typeface="Times New Roman"/>
                <a:cs typeface="Times New Roman"/>
              </a:rPr>
              <a:t>LSTM is a type of recurrent neural network designed to capture long-term dependencies in sequential data using gated memory mechanisms, making it highly suitable for time-series analysis.</a:t>
            </a:r>
          </a:p>
          <a:p>
            <a:pPr marL="342900" indent="-342900" algn="just">
              <a:buFont typeface="Wingdings" panose="020B0604020202020204"/>
              <a:buChar char="q"/>
            </a:pPr>
            <a:r>
              <a:rPr lang="en-US" sz="2000" dirty="0">
                <a:latin typeface="Times New Roman"/>
                <a:cs typeface="Times New Roman"/>
              </a:rPr>
              <a:t>It is used to analyze environmental parameters such as temperature, humidity, and VPD over time to predict future greenhouse conditions accurately.</a:t>
            </a:r>
          </a:p>
          <a:p>
            <a:pPr algn="just"/>
            <a:endParaRPr lang="en-US" sz="2000" dirty="0">
              <a:latin typeface="Times New Roman"/>
              <a:cs typeface="Times New Roman"/>
            </a:endParaRPr>
          </a:p>
        </p:txBody>
      </p:sp>
      <p:sp>
        <p:nvSpPr>
          <p:cNvPr id="10" name="Text Box 4">
            <a:extLst>
              <a:ext uri="{FF2B5EF4-FFF2-40B4-BE49-F238E27FC236}">
                <a16:creationId xmlns:a16="http://schemas.microsoft.com/office/drawing/2014/main" id="{42F8F985-8E9F-A1E7-159A-B0ECEF651D69}"/>
              </a:ext>
            </a:extLst>
          </p:cNvPr>
          <p:cNvSpPr txBox="1"/>
          <p:nvPr/>
        </p:nvSpPr>
        <p:spPr>
          <a:xfrm>
            <a:off x="144823" y="4704948"/>
            <a:ext cx="8854354" cy="1760126"/>
          </a:xfrm>
          <a:prstGeom prst="rect">
            <a:avLst/>
          </a:prstGeom>
          <a:noFill/>
        </p:spPr>
        <p:txBody>
          <a:bodyPr wrap="square" lIns="91440" tIns="45720" rIns="91440" bIns="45720" rtlCol="0" anchor="t">
            <a:noAutofit/>
          </a:bodyPr>
          <a:lstStyle/>
          <a:p>
            <a:pPr lvl="1" algn="ctr"/>
            <a:r>
              <a:rPr lang="en-US" sz="2000" b="1" dirty="0">
                <a:latin typeface="Times New Roman"/>
                <a:cs typeface="Times New Roman"/>
              </a:rPr>
              <a:t>Ensemble Learning</a:t>
            </a:r>
          </a:p>
          <a:p>
            <a:pPr marL="342900" indent="-342900" algn="just">
              <a:buFont typeface="Wingdings" panose="020B0604020202020204"/>
              <a:buChar char="q"/>
            </a:pPr>
            <a:r>
              <a:rPr lang="en-US" sz="2000" dirty="0">
                <a:latin typeface="Times New Roman"/>
                <a:cs typeface="Times New Roman"/>
              </a:rPr>
              <a:t>Ensemble learning combines multiple machine learning models to improve overall predictive performance by reducing variance, bias, and overfitting.</a:t>
            </a:r>
          </a:p>
          <a:p>
            <a:pPr marL="342900" indent="-342900" algn="just">
              <a:buFont typeface="Wingdings" panose="020B0604020202020204"/>
              <a:buChar char="q"/>
            </a:pPr>
            <a:r>
              <a:rPr lang="en-US" sz="2000" dirty="0">
                <a:latin typeface="Times New Roman"/>
                <a:cs typeface="Times New Roman"/>
              </a:rPr>
              <a:t>This approach is particularly useful in greenhouse environments where data is dynamic and complex, requiring robust and adaptive modeling.</a:t>
            </a:r>
          </a:p>
          <a:p>
            <a:pPr marL="342900" indent="-342900" algn="just">
              <a:buFont typeface="Wingdings" panose="020B0604020202020204"/>
              <a:buChar char="q"/>
            </a:pPr>
            <a:endParaRPr lang="en-US" sz="2000" dirty="0">
              <a:latin typeface="Times New Roman"/>
              <a:cs typeface="Times New Roman"/>
            </a:endParaRPr>
          </a:p>
        </p:txBody>
      </p:sp>
    </p:spTree>
    <p:extLst>
      <p:ext uri="{BB962C8B-B14F-4D97-AF65-F5344CB8AC3E}">
        <p14:creationId xmlns:p14="http://schemas.microsoft.com/office/powerpoint/2010/main" val="425206885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Shape 189">
          <a:extLst>
            <a:ext uri="{FF2B5EF4-FFF2-40B4-BE49-F238E27FC236}">
              <a16:creationId xmlns:a16="http://schemas.microsoft.com/office/drawing/2014/main" id="{60B63403-0685-7BC2-50FF-ECFE19EA5112}"/>
            </a:ext>
          </a:extLst>
        </p:cNvPr>
        <p:cNvGrpSpPr/>
        <p:nvPr/>
      </p:nvGrpSpPr>
      <p:grpSpPr>
        <a:xfrm>
          <a:off x="0" y="0"/>
          <a:ext cx="0" cy="0"/>
          <a:chOff x="0" y="0"/>
          <a:chExt cx="0" cy="0"/>
        </a:xfrm>
      </p:grpSpPr>
      <p:sp>
        <p:nvSpPr>
          <p:cNvPr id="16" name="Google Shape;199;ge4eb6b47ed_0_0">
            <a:extLst>
              <a:ext uri="{FF2B5EF4-FFF2-40B4-BE49-F238E27FC236}">
                <a16:creationId xmlns:a16="http://schemas.microsoft.com/office/drawing/2014/main" id="{A13AC9EA-38B9-204F-9018-B8952470A5E4}"/>
              </a:ext>
            </a:extLst>
          </p:cNvPr>
          <p:cNvSpPr txBox="1">
            <a:spLocks noGrp="1"/>
          </p:cNvSpPr>
          <p:nvPr>
            <p:ph type="title"/>
          </p:nvPr>
        </p:nvSpPr>
        <p:spPr>
          <a:xfrm>
            <a:off x="0" y="0"/>
            <a:ext cx="9144000" cy="724424"/>
          </a:xfrm>
          <a:prstGeom prst="rect">
            <a:avLst/>
          </a:prstGeom>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mj-lt"/>
                <a:sym typeface="Times New Roman" panose="02020603050405020304"/>
              </a:rPr>
              <a:t>Overview of Techniques, Algorithms and Simulation Used (Contd..)</a:t>
            </a:r>
            <a:endParaRPr lang="en-US" b="1" dirty="0">
              <a:solidFill>
                <a:srgbClr val="006600"/>
              </a:solidFill>
              <a:latin typeface="Bookman Old Style"/>
            </a:endParaRPr>
          </a:p>
        </p:txBody>
      </p:sp>
      <p:sp>
        <p:nvSpPr>
          <p:cNvPr id="6" name="Rectangle 5">
            <a:extLst>
              <a:ext uri="{FF2B5EF4-FFF2-40B4-BE49-F238E27FC236}">
                <a16:creationId xmlns:a16="http://schemas.microsoft.com/office/drawing/2014/main" id="{F9046AB9-4D61-884E-6D2B-BF4693BCC413}"/>
              </a:ext>
            </a:extLst>
          </p:cNvPr>
          <p:cNvSpPr/>
          <p:nvPr/>
        </p:nvSpPr>
        <p:spPr>
          <a:xfrm>
            <a:off x="444500" y="1393190"/>
            <a:ext cx="7096125" cy="4668520"/>
          </a:xfrm>
          <a:prstGeom prst="rect">
            <a:avLst/>
          </a:prstGeom>
        </p:spPr>
        <p:txBody>
          <a:bodyPr wrap="none">
            <a:noAutofit/>
          </a:bodyPr>
          <a:lstStyle/>
          <a:p>
            <a:pPr algn="ctr"/>
            <a:endParaRPr lang="en-US" sz="1600" b="1">
              <a:latin typeface="Bookman Old Style" panose="02050604050505020204" pitchFamily="18" charset="0"/>
              <a:cs typeface="Times New Roman" panose="02020603050405020304" pitchFamily="18" charset="0"/>
            </a:endParaRPr>
          </a:p>
        </p:txBody>
      </p:sp>
      <p:cxnSp>
        <p:nvCxnSpPr>
          <p:cNvPr id="7" name="Google Shape;436;p31">
            <a:extLst>
              <a:ext uri="{FF2B5EF4-FFF2-40B4-BE49-F238E27FC236}">
                <a16:creationId xmlns:a16="http://schemas.microsoft.com/office/drawing/2014/main" id="{A81624B0-0334-B314-5D9F-033643CAB2BE}"/>
              </a:ext>
            </a:extLst>
          </p:cNvPr>
          <p:cNvCxnSpPr/>
          <p:nvPr/>
        </p:nvCxnSpPr>
        <p:spPr>
          <a:xfrm>
            <a:off x="0" y="750637"/>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Text Box 1">
            <a:extLst>
              <a:ext uri="{FF2B5EF4-FFF2-40B4-BE49-F238E27FC236}">
                <a16:creationId xmlns:a16="http://schemas.microsoft.com/office/drawing/2014/main" id="{9EDB389E-D47D-7EFB-BB02-393625B9AE0F}"/>
              </a:ext>
            </a:extLst>
          </p:cNvPr>
          <p:cNvSpPr txBox="1"/>
          <p:nvPr/>
        </p:nvSpPr>
        <p:spPr>
          <a:xfrm>
            <a:off x="7289800" y="1609725"/>
            <a:ext cx="3048000" cy="306705"/>
          </a:xfrm>
          <a:prstGeom prst="rect">
            <a:avLst/>
          </a:prstGeom>
          <a:noFill/>
        </p:spPr>
        <p:txBody>
          <a:bodyPr wrap="square" rtlCol="0">
            <a:spAutoFit/>
          </a:bodyPr>
          <a:lstStyle/>
          <a:p>
            <a:endParaRPr lang="en-US"/>
          </a:p>
        </p:txBody>
      </p:sp>
      <p:sp>
        <p:nvSpPr>
          <p:cNvPr id="4" name="Google Shape;167;p1">
            <a:extLst>
              <a:ext uri="{FF2B5EF4-FFF2-40B4-BE49-F238E27FC236}">
                <a16:creationId xmlns:a16="http://schemas.microsoft.com/office/drawing/2014/main" id="{78A9BF05-C7C8-13A0-B4D6-FC3E50F6D18C}"/>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8" name="TextBox 7">
            <a:extLst>
              <a:ext uri="{FF2B5EF4-FFF2-40B4-BE49-F238E27FC236}">
                <a16:creationId xmlns:a16="http://schemas.microsoft.com/office/drawing/2014/main" id="{C1E31EAC-8129-FBA3-6668-A419FB953E54}"/>
              </a:ext>
            </a:extLst>
          </p:cNvPr>
          <p:cNvSpPr txBox="1"/>
          <p:nvPr/>
        </p:nvSpPr>
        <p:spPr>
          <a:xfrm>
            <a:off x="2288866" y="6492875"/>
            <a:ext cx="184731" cy="307777"/>
          </a:xfrm>
          <a:prstGeom prst="rect">
            <a:avLst/>
          </a:prstGeom>
          <a:noFill/>
        </p:spPr>
        <p:txBody>
          <a:bodyPr wrap="none" rtlCol="0">
            <a:spAutoFit/>
          </a:bodyPr>
          <a:lstStyle/>
          <a:p>
            <a:endParaRPr lang="en-IN">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1400031A-6C76-ED13-82C6-FCA563CD4590}"/>
              </a:ext>
            </a:extLst>
          </p:cNvPr>
          <p:cNvSpPr>
            <a:spLocks noGrp="1"/>
          </p:cNvSpPr>
          <p:nvPr>
            <p:ph type="sldNum" sz="quarter" idx="12"/>
          </p:nvPr>
        </p:nvSpPr>
        <p:spPr/>
        <p:txBody>
          <a:bodyPr/>
          <a:lstStyle/>
          <a:p>
            <a:fld id="{00000000-1234-1234-1234-123412341234}" type="slidenum">
              <a:rPr lang="en-US" smtClean="0"/>
              <a:t>9</a:t>
            </a:fld>
            <a:endParaRPr lang="en-US"/>
          </a:p>
        </p:txBody>
      </p:sp>
      <p:sp>
        <p:nvSpPr>
          <p:cNvPr id="5" name="Text Box 4">
            <a:extLst>
              <a:ext uri="{FF2B5EF4-FFF2-40B4-BE49-F238E27FC236}">
                <a16:creationId xmlns:a16="http://schemas.microsoft.com/office/drawing/2014/main" id="{99BEF089-6EC0-586F-701B-B48882296FDE}"/>
              </a:ext>
            </a:extLst>
          </p:cNvPr>
          <p:cNvSpPr txBox="1"/>
          <p:nvPr/>
        </p:nvSpPr>
        <p:spPr>
          <a:xfrm>
            <a:off x="144823" y="2698691"/>
            <a:ext cx="8854354" cy="2007932"/>
          </a:xfrm>
          <a:prstGeom prst="rect">
            <a:avLst/>
          </a:prstGeom>
          <a:noFill/>
        </p:spPr>
        <p:txBody>
          <a:bodyPr wrap="square" lIns="91440" tIns="45720" rIns="91440" bIns="45720" rtlCol="0" anchor="t">
            <a:noAutofit/>
          </a:bodyPr>
          <a:lstStyle/>
          <a:p>
            <a:pPr lvl="1" algn="ctr"/>
            <a:r>
              <a:rPr lang="en-US" sz="2000" b="1" dirty="0">
                <a:latin typeface="Times New Roman"/>
                <a:cs typeface="Times New Roman"/>
              </a:rPr>
              <a:t>Extreme Gradient Boosting (</a:t>
            </a:r>
            <a:r>
              <a:rPr lang="en-US" sz="2000" b="1" dirty="0" err="1">
                <a:latin typeface="Times New Roman"/>
                <a:cs typeface="Times New Roman"/>
              </a:rPr>
              <a:t>XGBoost</a:t>
            </a:r>
            <a:r>
              <a:rPr lang="en-US" sz="2000" b="1" dirty="0">
                <a:latin typeface="Times New Roman"/>
                <a:cs typeface="Times New Roman"/>
              </a:rPr>
              <a:t>)</a:t>
            </a:r>
          </a:p>
          <a:p>
            <a:pPr marL="342900" indent="-342900" algn="just">
              <a:buFont typeface="Wingdings" panose="020B0604020202020204"/>
              <a:buChar char="q"/>
            </a:pPr>
            <a:r>
              <a:rPr lang="en-US" sz="2000" dirty="0" err="1">
                <a:latin typeface="Times New Roman"/>
                <a:cs typeface="Times New Roman"/>
              </a:rPr>
              <a:t>XGBoost</a:t>
            </a:r>
            <a:r>
              <a:rPr lang="en-US" sz="2000" dirty="0">
                <a:latin typeface="Times New Roman"/>
                <a:cs typeface="Times New Roman"/>
              </a:rPr>
              <a:t> is a powerful ensemble learning algorithm that uses gradient boosting over decision trees to model complex non-linear relationships in structured environmental data.</a:t>
            </a:r>
          </a:p>
          <a:p>
            <a:pPr marL="342900" indent="-342900" algn="just">
              <a:buFont typeface="Wingdings" panose="020B0604020202020204"/>
              <a:buChar char="q"/>
            </a:pPr>
            <a:r>
              <a:rPr lang="en-US" sz="2000" dirty="0">
                <a:latin typeface="Times New Roman"/>
                <a:cs typeface="Times New Roman"/>
              </a:rPr>
              <a:t>It processes engineered features such as temperature, humidity, and VPD to generate accurate predictions for environmental conditions and disease risks.</a:t>
            </a:r>
          </a:p>
        </p:txBody>
      </p:sp>
      <p:sp>
        <p:nvSpPr>
          <p:cNvPr id="10" name="Google Shape;200;ge4eb6b47ed_0_0">
            <a:extLst>
              <a:ext uri="{FF2B5EF4-FFF2-40B4-BE49-F238E27FC236}">
                <a16:creationId xmlns:a16="http://schemas.microsoft.com/office/drawing/2014/main" id="{80D1C847-D82C-7220-346A-E7D8FE68F998}"/>
              </a:ext>
            </a:extLst>
          </p:cNvPr>
          <p:cNvSpPr txBox="1">
            <a:spLocks/>
          </p:cNvSpPr>
          <p:nvPr/>
        </p:nvSpPr>
        <p:spPr>
          <a:xfrm>
            <a:off x="144823" y="4634095"/>
            <a:ext cx="8854354" cy="2124590"/>
          </a:xfrm>
          <a:prstGeom prst="rect">
            <a:avLst/>
          </a:prstGeom>
        </p:spPr>
        <p:txBody>
          <a:bodyPr spcFirstLastPara="1" vert="horz" wrap="square" lIns="91425" tIns="45700" rIns="91425" bIns="45700" rtlCol="0" anchor="t" anchorCtr="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42900" lvl="1" indent="0" algn="ctr">
              <a:buClrTx/>
              <a:buFont typeface="Arial" panose="020B0604020202020204" pitchFamily="34" charset="0"/>
              <a:buNone/>
            </a:pPr>
            <a:r>
              <a:rPr lang="en-US" sz="2000" b="1">
                <a:latin typeface="Times New Roman"/>
                <a:ea typeface="+mn-lt"/>
                <a:cs typeface="Times New Roman"/>
              </a:rPr>
              <a:t>Random Forest</a:t>
            </a:r>
            <a:endParaRPr lang="en-US" sz="2000" b="1">
              <a:latin typeface="Times New Roman"/>
              <a:cs typeface="Times New Roman"/>
            </a:endParaRPr>
          </a:p>
          <a:p>
            <a:pPr algn="just">
              <a:buClrTx/>
              <a:buFont typeface="Wingdings" panose="020B0604020202020204" pitchFamily="34" charset="0"/>
              <a:buChar char="q"/>
            </a:pPr>
            <a:r>
              <a:rPr lang="en-US" sz="2000">
                <a:latin typeface="Times New Roman"/>
                <a:ea typeface="+mn-lt"/>
                <a:cs typeface="Times New Roman"/>
              </a:rPr>
              <a:t> Random Forest is an ensemble learning technique that builds multiple decision trees and combines their outputs to improve prediction accuracy and reduce overfitting.</a:t>
            </a:r>
          </a:p>
          <a:p>
            <a:pPr algn="just">
              <a:buClrTx/>
              <a:buFont typeface="Wingdings" panose="020B0604020202020204" pitchFamily="34" charset="0"/>
              <a:buChar char="q"/>
            </a:pPr>
            <a:r>
              <a:rPr lang="en-US" sz="2000">
                <a:latin typeface="Times New Roman"/>
                <a:ea typeface="+mn-lt"/>
                <a:cs typeface="Times New Roman"/>
              </a:rPr>
              <a:t> In this system, it is used for regression and classification tasks within predictive analytics to ensure stable and reliable outputs.</a:t>
            </a:r>
          </a:p>
          <a:p>
            <a:pPr algn="just">
              <a:buClrTx/>
              <a:buFont typeface="Wingdings" panose="020B0604020202020204" pitchFamily="34" charset="0"/>
              <a:buChar char="q"/>
            </a:pPr>
            <a:endParaRPr lang="en-US" sz="2000">
              <a:latin typeface="Times New Roman"/>
              <a:ea typeface="Calibri"/>
              <a:cs typeface="Times New Roman"/>
            </a:endParaRPr>
          </a:p>
          <a:p>
            <a:pPr marL="0" indent="0" algn="just">
              <a:buClrTx/>
              <a:buFont typeface="Arial" panose="020B0604020202020204" pitchFamily="34" charset="0"/>
              <a:buNone/>
            </a:pPr>
            <a:endParaRPr lang="en-US" sz="2000" dirty="0">
              <a:latin typeface="Times New Roman" panose="02020603050405020304" pitchFamily="18" charset="0"/>
              <a:cs typeface="Times New Roman" panose="02020603050405020304" pitchFamily="18" charset="0"/>
            </a:endParaRPr>
          </a:p>
        </p:txBody>
      </p:sp>
      <p:sp>
        <p:nvSpPr>
          <p:cNvPr id="14" name="Google Shape;200;ge4eb6b47ed_0_0">
            <a:extLst>
              <a:ext uri="{FF2B5EF4-FFF2-40B4-BE49-F238E27FC236}">
                <a16:creationId xmlns:a16="http://schemas.microsoft.com/office/drawing/2014/main" id="{5FC8BCB5-3D00-BCAF-EB47-E988ADC9CAF8}"/>
              </a:ext>
            </a:extLst>
          </p:cNvPr>
          <p:cNvSpPr txBox="1">
            <a:spLocks noGrp="1"/>
          </p:cNvSpPr>
          <p:nvPr>
            <p:ph idx="1"/>
          </p:nvPr>
        </p:nvSpPr>
        <p:spPr>
          <a:xfrm>
            <a:off x="144823" y="724424"/>
            <a:ext cx="8854354" cy="2195946"/>
          </a:xfrm>
          <a:prstGeom prst="rect">
            <a:avLst/>
          </a:prstGeom>
        </p:spPr>
        <p:txBody>
          <a:bodyPr spcFirstLastPara="1" wrap="square" lIns="91425" tIns="45700" rIns="91425" bIns="45700" anchor="t" anchorCtr="0">
            <a:noAutofit/>
          </a:bodyPr>
          <a:lstStyle/>
          <a:p>
            <a:pPr marL="342900" lvl="1" indent="0" algn="ctr">
              <a:buNone/>
            </a:pPr>
            <a:r>
              <a:rPr lang="en-US" sz="2000" b="1" dirty="0">
                <a:latin typeface="Times New Roman"/>
                <a:ea typeface="+mn-lt"/>
                <a:cs typeface="Times New Roman"/>
              </a:rPr>
              <a:t>Chronos</a:t>
            </a:r>
            <a:endParaRPr lang="en-US" sz="2000" b="1" dirty="0">
              <a:latin typeface="Times New Roman"/>
              <a:cs typeface="Times New Roman"/>
            </a:endParaRPr>
          </a:p>
          <a:p>
            <a:pPr algn="just">
              <a:buFont typeface="Wingdings" panose="020B0604020202020204" pitchFamily="34" charset="0"/>
              <a:buChar char="q"/>
            </a:pPr>
            <a:r>
              <a:rPr lang="en-US" sz="2000" dirty="0">
                <a:latin typeface="Times New Roman"/>
                <a:ea typeface="+mn-lt"/>
                <a:cs typeface="Times New Roman"/>
              </a:rPr>
              <a:t> Chronos is a transformer-based time-series model that captures complex temporal dependencies across multiple environmental variables using pre-trained representations.</a:t>
            </a:r>
          </a:p>
          <a:p>
            <a:pPr algn="just">
              <a:buFont typeface="Wingdings" panose="020B0604020202020204" pitchFamily="34" charset="0"/>
              <a:buChar char="q"/>
            </a:pPr>
            <a:r>
              <a:rPr lang="en-US" sz="2000" dirty="0">
                <a:latin typeface="Times New Roman"/>
                <a:ea typeface="+mn-lt"/>
                <a:cs typeface="Times New Roman"/>
              </a:rPr>
              <a:t> It can model non-linear relationships and long-term patterns effectively, making it suitable for forecasting dynamic greenhouse conditions.</a:t>
            </a:r>
            <a:endParaRPr lang="en-US" sz="2000" dirty="0">
              <a:latin typeface="Times New Roman"/>
              <a:ea typeface="Calibri"/>
              <a:cs typeface="Times New Roman"/>
            </a:endParaRPr>
          </a:p>
          <a:p>
            <a:pPr marL="0" indent="0" algn="just">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108343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Shape 189">
          <a:extLst>
            <a:ext uri="{FF2B5EF4-FFF2-40B4-BE49-F238E27FC236}">
              <a16:creationId xmlns:a16="http://schemas.microsoft.com/office/drawing/2014/main" id="{E5D0F6D9-C092-AFB2-8BD8-79B373F1F696}"/>
            </a:ext>
          </a:extLst>
        </p:cNvPr>
        <p:cNvGrpSpPr/>
        <p:nvPr/>
      </p:nvGrpSpPr>
      <p:grpSpPr>
        <a:xfrm>
          <a:off x="0" y="0"/>
          <a:ext cx="0" cy="0"/>
          <a:chOff x="0" y="0"/>
          <a:chExt cx="0" cy="0"/>
        </a:xfrm>
      </p:grpSpPr>
      <p:sp>
        <p:nvSpPr>
          <p:cNvPr id="16" name="Google Shape;199;ge4eb6b47ed_0_0">
            <a:extLst>
              <a:ext uri="{FF2B5EF4-FFF2-40B4-BE49-F238E27FC236}">
                <a16:creationId xmlns:a16="http://schemas.microsoft.com/office/drawing/2014/main" id="{63C02CEC-E1E9-991A-8842-FC0D20E686B7}"/>
              </a:ext>
            </a:extLst>
          </p:cNvPr>
          <p:cNvSpPr txBox="1">
            <a:spLocks noGrp="1"/>
          </p:cNvSpPr>
          <p:nvPr>
            <p:ph type="title"/>
          </p:nvPr>
        </p:nvSpPr>
        <p:spPr>
          <a:xfrm>
            <a:off x="0" y="0"/>
            <a:ext cx="9144000" cy="724424"/>
          </a:xfrm>
          <a:prstGeom prst="rect">
            <a:avLst/>
          </a:prstGeom>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mj-lt"/>
                <a:sym typeface="Times New Roman" panose="02020603050405020304"/>
              </a:rPr>
              <a:t>Overview of Techniques, Algorithms and Simulation Used (Contd..)</a:t>
            </a:r>
            <a:endParaRPr lang="en-US" b="1" dirty="0">
              <a:solidFill>
                <a:srgbClr val="006600"/>
              </a:solidFill>
              <a:latin typeface="Bookman Old Style"/>
            </a:endParaRPr>
          </a:p>
        </p:txBody>
      </p:sp>
      <p:sp>
        <p:nvSpPr>
          <p:cNvPr id="6" name="Rectangle 5">
            <a:extLst>
              <a:ext uri="{FF2B5EF4-FFF2-40B4-BE49-F238E27FC236}">
                <a16:creationId xmlns:a16="http://schemas.microsoft.com/office/drawing/2014/main" id="{51A56979-9A4B-428D-CB5A-1E9FD4104577}"/>
              </a:ext>
            </a:extLst>
          </p:cNvPr>
          <p:cNvSpPr/>
          <p:nvPr/>
        </p:nvSpPr>
        <p:spPr>
          <a:xfrm>
            <a:off x="444500" y="1393190"/>
            <a:ext cx="7096125" cy="4668520"/>
          </a:xfrm>
          <a:prstGeom prst="rect">
            <a:avLst/>
          </a:prstGeom>
        </p:spPr>
        <p:txBody>
          <a:bodyPr wrap="none">
            <a:noAutofit/>
          </a:bodyPr>
          <a:lstStyle/>
          <a:p>
            <a:pPr algn="ctr"/>
            <a:endParaRPr lang="en-US" sz="1600" b="1">
              <a:latin typeface="Bookman Old Style" panose="02050604050505020204" pitchFamily="18" charset="0"/>
              <a:cs typeface="Times New Roman" panose="02020603050405020304" pitchFamily="18" charset="0"/>
            </a:endParaRPr>
          </a:p>
        </p:txBody>
      </p:sp>
      <p:cxnSp>
        <p:nvCxnSpPr>
          <p:cNvPr id="7" name="Google Shape;436;p31">
            <a:extLst>
              <a:ext uri="{FF2B5EF4-FFF2-40B4-BE49-F238E27FC236}">
                <a16:creationId xmlns:a16="http://schemas.microsoft.com/office/drawing/2014/main" id="{D05C7525-19B3-C2BB-9BD7-B1D18CA6E388}"/>
              </a:ext>
            </a:extLst>
          </p:cNvPr>
          <p:cNvCxnSpPr/>
          <p:nvPr/>
        </p:nvCxnSpPr>
        <p:spPr>
          <a:xfrm>
            <a:off x="0" y="750637"/>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Text Box 1">
            <a:extLst>
              <a:ext uri="{FF2B5EF4-FFF2-40B4-BE49-F238E27FC236}">
                <a16:creationId xmlns:a16="http://schemas.microsoft.com/office/drawing/2014/main" id="{537711A2-A29A-3898-7F5A-0769D49EA2A1}"/>
              </a:ext>
            </a:extLst>
          </p:cNvPr>
          <p:cNvSpPr txBox="1"/>
          <p:nvPr/>
        </p:nvSpPr>
        <p:spPr>
          <a:xfrm>
            <a:off x="7289800" y="1609725"/>
            <a:ext cx="3048000" cy="306705"/>
          </a:xfrm>
          <a:prstGeom prst="rect">
            <a:avLst/>
          </a:prstGeom>
          <a:noFill/>
        </p:spPr>
        <p:txBody>
          <a:bodyPr wrap="square" rtlCol="0">
            <a:spAutoFit/>
          </a:bodyPr>
          <a:lstStyle/>
          <a:p>
            <a:endParaRPr lang="en-US"/>
          </a:p>
        </p:txBody>
      </p:sp>
      <p:sp>
        <p:nvSpPr>
          <p:cNvPr id="4" name="Google Shape;167;p1">
            <a:extLst>
              <a:ext uri="{FF2B5EF4-FFF2-40B4-BE49-F238E27FC236}">
                <a16:creationId xmlns:a16="http://schemas.microsoft.com/office/drawing/2014/main" id="{F67D3B8E-882A-4894-3504-5CBC7C85A3B7}"/>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8" name="TextBox 7">
            <a:extLst>
              <a:ext uri="{FF2B5EF4-FFF2-40B4-BE49-F238E27FC236}">
                <a16:creationId xmlns:a16="http://schemas.microsoft.com/office/drawing/2014/main" id="{1BC15489-4C20-C8A0-ECCD-A4A57D9D3D41}"/>
              </a:ext>
            </a:extLst>
          </p:cNvPr>
          <p:cNvSpPr txBox="1"/>
          <p:nvPr/>
        </p:nvSpPr>
        <p:spPr>
          <a:xfrm>
            <a:off x="2288866" y="6492875"/>
            <a:ext cx="184731" cy="307777"/>
          </a:xfrm>
          <a:prstGeom prst="rect">
            <a:avLst/>
          </a:prstGeom>
          <a:noFill/>
        </p:spPr>
        <p:txBody>
          <a:bodyPr wrap="none" rtlCol="0">
            <a:spAutoFit/>
          </a:bodyPr>
          <a:lstStyle/>
          <a:p>
            <a:endParaRPr lang="en-IN">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1393EABD-2B97-63F2-26A6-B8E6D9BE7810}"/>
              </a:ext>
            </a:extLst>
          </p:cNvPr>
          <p:cNvSpPr>
            <a:spLocks noGrp="1"/>
          </p:cNvSpPr>
          <p:nvPr>
            <p:ph type="sldNum" sz="quarter" idx="12"/>
          </p:nvPr>
        </p:nvSpPr>
        <p:spPr/>
        <p:txBody>
          <a:bodyPr/>
          <a:lstStyle/>
          <a:p>
            <a:fld id="{00000000-1234-1234-1234-123412341234}" type="slidenum">
              <a:rPr lang="en-US" smtClean="0"/>
              <a:t>10</a:t>
            </a:fld>
            <a:endParaRPr lang="en-US"/>
          </a:p>
        </p:txBody>
      </p:sp>
      <p:sp>
        <p:nvSpPr>
          <p:cNvPr id="13" name="Google Shape;200;ge4eb6b47ed_0_0">
            <a:extLst>
              <a:ext uri="{FF2B5EF4-FFF2-40B4-BE49-F238E27FC236}">
                <a16:creationId xmlns:a16="http://schemas.microsoft.com/office/drawing/2014/main" id="{05CFA04E-62E9-5F47-AE2C-55A1FE1F76A5}"/>
              </a:ext>
            </a:extLst>
          </p:cNvPr>
          <p:cNvSpPr txBox="1">
            <a:spLocks/>
          </p:cNvSpPr>
          <p:nvPr/>
        </p:nvSpPr>
        <p:spPr>
          <a:xfrm>
            <a:off x="144823" y="1068366"/>
            <a:ext cx="8854354" cy="2050078"/>
          </a:xfrm>
          <a:prstGeom prst="rect">
            <a:avLst/>
          </a:prstGeom>
        </p:spPr>
        <p:txBody>
          <a:bodyPr spcFirstLastPara="1" vert="horz" wrap="square" lIns="91425" tIns="45700" rIns="91425" bIns="45700" rtlCol="0" anchor="t" anchorCtr="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42900" lvl="1" indent="0" algn="ctr">
              <a:buClrTx/>
              <a:buFont typeface="Arial" panose="020B0604020202020204" pitchFamily="34" charset="0"/>
              <a:buNone/>
            </a:pPr>
            <a:r>
              <a:rPr lang="en-US" sz="2000" b="1" dirty="0">
                <a:latin typeface="Times New Roman"/>
                <a:ea typeface="+mn-lt"/>
                <a:cs typeface="Times New Roman"/>
              </a:rPr>
              <a:t>Histogram-Based Gradient Boosting</a:t>
            </a:r>
            <a:endParaRPr lang="en-US" sz="2000" b="1" dirty="0">
              <a:latin typeface="Times New Roman"/>
              <a:cs typeface="Times New Roman"/>
            </a:endParaRPr>
          </a:p>
          <a:p>
            <a:pPr algn="just">
              <a:buClrTx/>
              <a:buFont typeface="Wingdings" panose="020B0604020202020204" pitchFamily="34" charset="0"/>
              <a:buChar char="q"/>
            </a:pPr>
            <a:r>
              <a:rPr lang="en-US" sz="2000" dirty="0">
                <a:latin typeface="Times New Roman"/>
                <a:ea typeface="+mn-lt"/>
                <a:cs typeface="Times New Roman"/>
              </a:rPr>
              <a:t> Histogram-based gradient boosting improves computational efficiency by grouping continuous features into discrete bins, reducing training time while maintaining high accuracy.</a:t>
            </a:r>
          </a:p>
          <a:p>
            <a:pPr algn="just">
              <a:buClrTx/>
              <a:buFont typeface="Wingdings" panose="020B0604020202020204" pitchFamily="34" charset="0"/>
              <a:buChar char="q"/>
            </a:pPr>
            <a:r>
              <a:rPr lang="en-US" sz="2000" dirty="0">
                <a:latin typeface="Times New Roman"/>
                <a:ea typeface="+mn-lt"/>
                <a:cs typeface="Times New Roman"/>
              </a:rPr>
              <a:t> It is well-suited for large-scale greenhouse datasets with multiple features and time-series components.</a:t>
            </a:r>
          </a:p>
          <a:p>
            <a:pPr algn="just">
              <a:buClrTx/>
              <a:buFont typeface="Wingdings" panose="020B0604020202020204" pitchFamily="34" charset="0"/>
              <a:buChar char="q"/>
            </a:pPr>
            <a:endParaRPr lang="en-US" sz="2000" dirty="0">
              <a:latin typeface="Times New Roman"/>
              <a:ea typeface="Calibri"/>
              <a:cs typeface="Times New Roman"/>
            </a:endParaRPr>
          </a:p>
          <a:p>
            <a:pPr marL="0" indent="0" algn="just">
              <a:buClrTx/>
              <a:buFont typeface="Arial" panose="020B0604020202020204" pitchFamily="34" charset="0"/>
              <a:buNone/>
            </a:pPr>
            <a:endParaRPr lang="en-US" sz="2000" dirty="0">
              <a:latin typeface="Times New Roman" panose="02020603050405020304" pitchFamily="18" charset="0"/>
              <a:cs typeface="Times New Roman" panose="02020603050405020304" pitchFamily="18" charset="0"/>
            </a:endParaRPr>
          </a:p>
        </p:txBody>
      </p:sp>
      <p:sp>
        <p:nvSpPr>
          <p:cNvPr id="17" name="Google Shape;200;ge4eb6b47ed_0_0">
            <a:extLst>
              <a:ext uri="{FF2B5EF4-FFF2-40B4-BE49-F238E27FC236}">
                <a16:creationId xmlns:a16="http://schemas.microsoft.com/office/drawing/2014/main" id="{89638A46-E542-01D8-5FE2-ACECD2151BAF}"/>
              </a:ext>
            </a:extLst>
          </p:cNvPr>
          <p:cNvSpPr txBox="1">
            <a:spLocks noGrp="1"/>
          </p:cNvSpPr>
          <p:nvPr>
            <p:ph idx="1"/>
          </p:nvPr>
        </p:nvSpPr>
        <p:spPr>
          <a:xfrm>
            <a:off x="144823" y="3490187"/>
            <a:ext cx="8854354" cy="2718844"/>
          </a:xfrm>
          <a:prstGeom prst="rect">
            <a:avLst/>
          </a:prstGeom>
        </p:spPr>
        <p:txBody>
          <a:bodyPr spcFirstLastPara="1" wrap="square" lIns="91425" tIns="45700" rIns="91425" bIns="45700" anchor="t" anchorCtr="0">
            <a:noAutofit/>
          </a:bodyPr>
          <a:lstStyle/>
          <a:p>
            <a:pPr marL="342900" lvl="1" indent="0" algn="ctr">
              <a:buNone/>
            </a:pPr>
            <a:r>
              <a:rPr lang="en-US" sz="2000" b="1" dirty="0">
                <a:latin typeface="Times New Roman"/>
                <a:ea typeface="+mn-lt"/>
                <a:cs typeface="Times New Roman"/>
              </a:rPr>
              <a:t>Model Predictive Control (MPC)</a:t>
            </a:r>
            <a:endParaRPr lang="en-US" sz="2000" b="1" dirty="0">
              <a:latin typeface="Times New Roman"/>
              <a:cs typeface="Times New Roman"/>
            </a:endParaRPr>
          </a:p>
          <a:p>
            <a:pPr marL="342900" indent="-342900" algn="just">
              <a:buFont typeface="Wingdings" panose="020B0604020202020204" pitchFamily="34" charset="0"/>
              <a:buChar char="q"/>
            </a:pPr>
            <a:r>
              <a:rPr lang="en-US" sz="2000" dirty="0">
                <a:latin typeface="Times New Roman"/>
                <a:ea typeface="+mn-lt"/>
                <a:cs typeface="Times New Roman"/>
              </a:rPr>
              <a:t>Model Predictive Control is an optimization-based control strategy that predicts future greenhouse states using system models and determines optimal control actions.</a:t>
            </a:r>
          </a:p>
          <a:p>
            <a:pPr marL="342900" indent="-342900" algn="just">
              <a:buFont typeface="Wingdings" panose="020B0604020202020204" pitchFamily="34" charset="0"/>
              <a:buChar char="q"/>
            </a:pPr>
            <a:r>
              <a:rPr lang="en-US" sz="2000" dirty="0">
                <a:latin typeface="Times New Roman"/>
                <a:ea typeface="+mn-lt"/>
                <a:cs typeface="Times New Roman"/>
              </a:rPr>
              <a:t>It minimizes an objective function that considers environmental deviation, resource consumption, and disease risk.</a:t>
            </a:r>
          </a:p>
          <a:p>
            <a:pPr marL="342900" indent="-342900" algn="just">
              <a:buFont typeface="Wingdings" panose="020B0604020202020204" pitchFamily="34" charset="0"/>
              <a:buChar char="q"/>
            </a:pPr>
            <a:r>
              <a:rPr lang="en-US" sz="2000" dirty="0">
                <a:latin typeface="Times New Roman"/>
                <a:ea typeface="+mn-lt"/>
                <a:cs typeface="Times New Roman"/>
              </a:rPr>
              <a:t>By evaluating multiple control scenarios at each step, MPC enables proactive, adaptive, and optimized greenhouse management.</a:t>
            </a:r>
            <a:endParaRPr lang="en-US" sz="2000" dirty="0">
              <a:latin typeface="Times New Roman"/>
              <a:ea typeface="Calibri"/>
              <a:cs typeface="Times New Roman"/>
            </a:endParaRPr>
          </a:p>
          <a:p>
            <a:pPr marL="0" indent="0" algn="just">
              <a:buFont typeface="Wingdings" panose="020B0604020202020204" pitchFamily="34" charset="0"/>
              <a:buNone/>
            </a:pPr>
            <a:endParaRPr lang="en-US" sz="2000" dirty="0">
              <a:latin typeface="Times New Roman"/>
              <a:ea typeface="+mn-lt"/>
              <a:cs typeface="Times New Roman"/>
            </a:endParaRPr>
          </a:p>
          <a:p>
            <a:pPr algn="just">
              <a:buFont typeface="Wingdings" panose="020B0604020202020204" pitchFamily="34" charset="0"/>
              <a:buChar char="q"/>
            </a:pPr>
            <a:endParaRPr lang="en-US" sz="2000" dirty="0">
              <a:latin typeface="Times New Roman"/>
              <a:ea typeface="Calibri"/>
              <a:cs typeface="Times New Roman"/>
            </a:endParaRPr>
          </a:p>
          <a:p>
            <a:pPr marL="0" indent="0" algn="just">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7681836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Shape 189">
          <a:extLst>
            <a:ext uri="{FF2B5EF4-FFF2-40B4-BE49-F238E27FC236}">
              <a16:creationId xmlns:a16="http://schemas.microsoft.com/office/drawing/2014/main" id="{C39BA1A7-6FDC-AD56-2BB9-8E2184D4D778}"/>
            </a:ext>
          </a:extLst>
        </p:cNvPr>
        <p:cNvGrpSpPr/>
        <p:nvPr/>
      </p:nvGrpSpPr>
      <p:grpSpPr>
        <a:xfrm>
          <a:off x="0" y="0"/>
          <a:ext cx="0" cy="0"/>
          <a:chOff x="0" y="0"/>
          <a:chExt cx="0" cy="0"/>
        </a:xfrm>
      </p:grpSpPr>
      <p:sp>
        <p:nvSpPr>
          <p:cNvPr id="16" name="Google Shape;199;ge4eb6b47ed_0_0">
            <a:extLst>
              <a:ext uri="{FF2B5EF4-FFF2-40B4-BE49-F238E27FC236}">
                <a16:creationId xmlns:a16="http://schemas.microsoft.com/office/drawing/2014/main" id="{0A937AB0-4766-2278-138E-5CC15AE44EEF}"/>
              </a:ext>
            </a:extLst>
          </p:cNvPr>
          <p:cNvSpPr txBox="1">
            <a:spLocks noGrp="1"/>
          </p:cNvSpPr>
          <p:nvPr>
            <p:ph type="title"/>
          </p:nvPr>
        </p:nvSpPr>
        <p:spPr>
          <a:xfrm>
            <a:off x="0" y="0"/>
            <a:ext cx="9144000" cy="724424"/>
          </a:xfrm>
          <a:prstGeom prst="rect">
            <a:avLst/>
          </a:prstGeom>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mj-lt"/>
                <a:sym typeface="Times New Roman" panose="02020603050405020304"/>
              </a:rPr>
              <a:t>Overview of Techniques, Algorithms and Simulation Used (Contd..)</a:t>
            </a:r>
            <a:endParaRPr lang="en-US" b="1" dirty="0">
              <a:solidFill>
                <a:srgbClr val="006600"/>
              </a:solidFill>
              <a:latin typeface="Bookman Old Style"/>
            </a:endParaRPr>
          </a:p>
        </p:txBody>
      </p:sp>
      <p:sp>
        <p:nvSpPr>
          <p:cNvPr id="6" name="Rectangle 5">
            <a:extLst>
              <a:ext uri="{FF2B5EF4-FFF2-40B4-BE49-F238E27FC236}">
                <a16:creationId xmlns:a16="http://schemas.microsoft.com/office/drawing/2014/main" id="{DB99666D-D23E-0EBE-7E6A-3D57F77998B6}"/>
              </a:ext>
            </a:extLst>
          </p:cNvPr>
          <p:cNvSpPr/>
          <p:nvPr/>
        </p:nvSpPr>
        <p:spPr>
          <a:xfrm>
            <a:off x="444500" y="1393190"/>
            <a:ext cx="7096125" cy="4668520"/>
          </a:xfrm>
          <a:prstGeom prst="rect">
            <a:avLst/>
          </a:prstGeom>
        </p:spPr>
        <p:txBody>
          <a:bodyPr wrap="none">
            <a:noAutofit/>
          </a:bodyPr>
          <a:lstStyle/>
          <a:p>
            <a:pPr algn="ctr"/>
            <a:endParaRPr lang="en-US" sz="1600" b="1">
              <a:latin typeface="Bookman Old Style" panose="02050604050505020204" pitchFamily="18" charset="0"/>
              <a:cs typeface="Times New Roman" panose="02020603050405020304" pitchFamily="18" charset="0"/>
            </a:endParaRPr>
          </a:p>
        </p:txBody>
      </p:sp>
      <p:cxnSp>
        <p:nvCxnSpPr>
          <p:cNvPr id="7" name="Google Shape;436;p31">
            <a:extLst>
              <a:ext uri="{FF2B5EF4-FFF2-40B4-BE49-F238E27FC236}">
                <a16:creationId xmlns:a16="http://schemas.microsoft.com/office/drawing/2014/main" id="{604DE23F-63A3-C8B5-7D7F-C647700911EC}"/>
              </a:ext>
            </a:extLst>
          </p:cNvPr>
          <p:cNvCxnSpPr/>
          <p:nvPr/>
        </p:nvCxnSpPr>
        <p:spPr>
          <a:xfrm>
            <a:off x="0" y="750637"/>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Text Box 1">
            <a:extLst>
              <a:ext uri="{FF2B5EF4-FFF2-40B4-BE49-F238E27FC236}">
                <a16:creationId xmlns:a16="http://schemas.microsoft.com/office/drawing/2014/main" id="{E7A23DCF-CDEB-EF8C-77A5-1BC46422BA5A}"/>
              </a:ext>
            </a:extLst>
          </p:cNvPr>
          <p:cNvSpPr txBox="1"/>
          <p:nvPr/>
        </p:nvSpPr>
        <p:spPr>
          <a:xfrm>
            <a:off x="7289800" y="1609725"/>
            <a:ext cx="3048000" cy="306705"/>
          </a:xfrm>
          <a:prstGeom prst="rect">
            <a:avLst/>
          </a:prstGeom>
          <a:noFill/>
        </p:spPr>
        <p:txBody>
          <a:bodyPr wrap="square" rtlCol="0">
            <a:spAutoFit/>
          </a:bodyPr>
          <a:lstStyle/>
          <a:p>
            <a:endParaRPr lang="en-US"/>
          </a:p>
        </p:txBody>
      </p:sp>
      <p:sp>
        <p:nvSpPr>
          <p:cNvPr id="4" name="Google Shape;167;p1">
            <a:extLst>
              <a:ext uri="{FF2B5EF4-FFF2-40B4-BE49-F238E27FC236}">
                <a16:creationId xmlns:a16="http://schemas.microsoft.com/office/drawing/2014/main" id="{D5EBEAE1-5A7C-616F-D9AD-6DC29669CB77}"/>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8" name="TextBox 7">
            <a:extLst>
              <a:ext uri="{FF2B5EF4-FFF2-40B4-BE49-F238E27FC236}">
                <a16:creationId xmlns:a16="http://schemas.microsoft.com/office/drawing/2014/main" id="{04FE1407-4D63-9B68-56C7-1732B49D3EC9}"/>
              </a:ext>
            </a:extLst>
          </p:cNvPr>
          <p:cNvSpPr txBox="1"/>
          <p:nvPr/>
        </p:nvSpPr>
        <p:spPr>
          <a:xfrm>
            <a:off x="2288866" y="6492875"/>
            <a:ext cx="184731" cy="307777"/>
          </a:xfrm>
          <a:prstGeom prst="rect">
            <a:avLst/>
          </a:prstGeom>
          <a:noFill/>
        </p:spPr>
        <p:txBody>
          <a:bodyPr wrap="none" rtlCol="0">
            <a:spAutoFit/>
          </a:bodyPr>
          <a:lstStyle/>
          <a:p>
            <a:endParaRPr lang="en-IN">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42738AB7-0DD8-D554-C38E-9426CE335A85}"/>
              </a:ext>
            </a:extLst>
          </p:cNvPr>
          <p:cNvSpPr>
            <a:spLocks noGrp="1"/>
          </p:cNvSpPr>
          <p:nvPr>
            <p:ph type="sldNum" sz="quarter" idx="12"/>
          </p:nvPr>
        </p:nvSpPr>
        <p:spPr/>
        <p:txBody>
          <a:bodyPr/>
          <a:lstStyle/>
          <a:p>
            <a:fld id="{00000000-1234-1234-1234-123412341234}" type="slidenum">
              <a:rPr lang="en-US" smtClean="0"/>
              <a:t>11</a:t>
            </a:fld>
            <a:endParaRPr lang="en-US"/>
          </a:p>
        </p:txBody>
      </p:sp>
      <p:sp>
        <p:nvSpPr>
          <p:cNvPr id="5" name="Text Box 4">
            <a:extLst>
              <a:ext uri="{FF2B5EF4-FFF2-40B4-BE49-F238E27FC236}">
                <a16:creationId xmlns:a16="http://schemas.microsoft.com/office/drawing/2014/main" id="{410CCFCD-23B3-A14D-1485-CAEA18D677A5}"/>
              </a:ext>
            </a:extLst>
          </p:cNvPr>
          <p:cNvSpPr txBox="1"/>
          <p:nvPr/>
        </p:nvSpPr>
        <p:spPr>
          <a:xfrm>
            <a:off x="144823" y="736776"/>
            <a:ext cx="8854354" cy="2951260"/>
          </a:xfrm>
          <a:prstGeom prst="rect">
            <a:avLst/>
          </a:prstGeom>
          <a:noFill/>
        </p:spPr>
        <p:txBody>
          <a:bodyPr wrap="square" lIns="91440" tIns="45720" rIns="91440" bIns="45720" rtlCol="0" anchor="t">
            <a:noAutofit/>
          </a:bodyPr>
          <a:lstStyle/>
          <a:p>
            <a:pPr lvl="1" algn="ctr"/>
            <a:r>
              <a:rPr lang="en-US" sz="2000" b="1" dirty="0">
                <a:latin typeface="Times New Roman"/>
                <a:cs typeface="Times New Roman"/>
              </a:rPr>
              <a:t>ARX</a:t>
            </a:r>
          </a:p>
          <a:p>
            <a:pPr marL="342900" indent="-342900" algn="just">
              <a:buFont typeface="Wingdings" panose="020B0604020202020204"/>
              <a:buChar char="q"/>
            </a:pPr>
            <a:r>
              <a:rPr lang="en-US" sz="2000" dirty="0">
                <a:latin typeface="Times New Roman"/>
                <a:cs typeface="Times New Roman"/>
              </a:rPr>
              <a:t>The </a:t>
            </a:r>
            <a:r>
              <a:rPr lang="en-US" sz="2000" dirty="0" err="1">
                <a:latin typeface="Times New Roman"/>
                <a:cs typeface="Times New Roman"/>
              </a:rPr>
              <a:t>AutoRegressive</a:t>
            </a:r>
            <a:r>
              <a:rPr lang="en-US" sz="2000" dirty="0">
                <a:latin typeface="Times New Roman"/>
                <a:cs typeface="Times New Roman"/>
              </a:rPr>
              <a:t> with Exogenous Inputs (ARX) model is used to represent greenhouse system dynamics by modeling relationships between current states and external control inputs.</a:t>
            </a:r>
          </a:p>
          <a:p>
            <a:pPr marL="342900" indent="-342900" algn="just">
              <a:buFont typeface="Wingdings" panose="020B0604020202020204"/>
              <a:buChar char="q"/>
            </a:pPr>
            <a:r>
              <a:rPr lang="en-US" sz="2000" dirty="0">
                <a:latin typeface="Times New Roman"/>
                <a:cs typeface="Times New Roman"/>
              </a:rPr>
              <a:t>It considers environmental variables such as temperature, humidity, and CO₂ along with control actions like ventilation and irrigation.</a:t>
            </a:r>
          </a:p>
          <a:p>
            <a:pPr marL="342900" indent="-342900" algn="just">
              <a:buFont typeface="Wingdings" panose="020B0604020202020204"/>
              <a:buChar char="q"/>
            </a:pPr>
            <a:r>
              <a:rPr lang="en-US" sz="2000" dirty="0">
                <a:latin typeface="Times New Roman"/>
                <a:cs typeface="Times New Roman"/>
              </a:rPr>
              <a:t>This model enables the digital twin to simulate future greenhouse conditions and evaluate the impact of different control strategies before real-world implementation.</a:t>
            </a:r>
          </a:p>
          <a:p>
            <a:pPr marL="342900" indent="-342900" algn="just">
              <a:buFont typeface="Wingdings" panose="020B0604020202020204"/>
              <a:buChar char="q"/>
            </a:pPr>
            <a:endParaRPr lang="en-US" sz="2000" dirty="0">
              <a:latin typeface="Times New Roman"/>
              <a:cs typeface="Times New Roman"/>
            </a:endParaRPr>
          </a:p>
        </p:txBody>
      </p:sp>
      <p:sp>
        <p:nvSpPr>
          <p:cNvPr id="15" name="Text Box 4">
            <a:extLst>
              <a:ext uri="{FF2B5EF4-FFF2-40B4-BE49-F238E27FC236}">
                <a16:creationId xmlns:a16="http://schemas.microsoft.com/office/drawing/2014/main" id="{03FED58A-B2D5-A75E-B64D-689F293BD983}"/>
              </a:ext>
            </a:extLst>
          </p:cNvPr>
          <p:cNvSpPr txBox="1"/>
          <p:nvPr/>
        </p:nvSpPr>
        <p:spPr>
          <a:xfrm>
            <a:off x="144823" y="3563638"/>
            <a:ext cx="8854354" cy="2359813"/>
          </a:xfrm>
          <a:prstGeom prst="rect">
            <a:avLst/>
          </a:prstGeom>
          <a:noFill/>
        </p:spPr>
        <p:txBody>
          <a:bodyPr wrap="square" lIns="91440" tIns="45720" rIns="91440" bIns="45720" rtlCol="0" anchor="t">
            <a:noAutofit/>
          </a:bodyPr>
          <a:lstStyle/>
          <a:p>
            <a:pPr lvl="1" algn="ctr"/>
            <a:r>
              <a:rPr lang="en-US" sz="2000" b="1" dirty="0">
                <a:latin typeface="Times New Roman" panose="02020603050405020304" pitchFamily="18" charset="0"/>
                <a:cs typeface="Times New Roman" panose="02020603050405020304" pitchFamily="18" charset="0"/>
              </a:rPr>
              <a:t>Unity-Based Digital Twin Simulation</a:t>
            </a:r>
          </a:p>
          <a:p>
            <a:pPr marL="342900" indent="-342900" algn="just">
              <a:buFont typeface="Wingdings" panose="020B0604020202020204"/>
              <a:buChar char="q"/>
            </a:pPr>
            <a:r>
              <a:rPr lang="en-US" sz="2000" dirty="0">
                <a:latin typeface="Times New Roman" panose="02020603050405020304" pitchFamily="18" charset="0"/>
                <a:cs typeface="Times New Roman" panose="02020603050405020304" pitchFamily="18" charset="0"/>
              </a:rPr>
              <a:t>A 3D virtual greenhouse environment is developed using the Unity engine to provide an interactive and immersive visualization of the digital twin system, representing crop stages, environmental conditions, and actuator states. </a:t>
            </a:r>
          </a:p>
          <a:p>
            <a:pPr marL="342900" indent="-342900" algn="just">
              <a:buFont typeface="Wingdings" panose="020B0604020202020204"/>
              <a:buChar char="q"/>
            </a:pPr>
            <a:r>
              <a:rPr lang="en-US" sz="2000" dirty="0">
                <a:latin typeface="Times New Roman" panose="02020603050405020304" pitchFamily="18" charset="0"/>
                <a:cs typeface="Times New Roman" panose="02020603050405020304" pitchFamily="18" charset="0"/>
              </a:rPr>
              <a:t>The model includes key components such as fans, vents, irrigation systems, and lighting, visually reflecting real-time system behavior and simplifying interpretation of complex greenhouse data. </a:t>
            </a:r>
          </a:p>
          <a:p>
            <a:pPr marL="342900" indent="-342900" algn="just">
              <a:buFont typeface="Wingdings" panose="020B0604020202020204"/>
              <a:buChar char="q"/>
            </a:pPr>
            <a:r>
              <a:rPr lang="en-US" sz="2000" dirty="0">
                <a:latin typeface="Times New Roman" panose="02020603050405020304" pitchFamily="18" charset="0"/>
                <a:cs typeface="Times New Roman" panose="02020603050405020304" pitchFamily="18" charset="0"/>
              </a:rPr>
              <a:t>The backend communicates with the Unity environment via API integration, enabling real-time updates of greenhouse conditions and control actions. </a:t>
            </a:r>
          </a:p>
        </p:txBody>
      </p:sp>
    </p:spTree>
    <p:extLst>
      <p:ext uri="{BB962C8B-B14F-4D97-AF65-F5344CB8AC3E}">
        <p14:creationId xmlns:p14="http://schemas.microsoft.com/office/powerpoint/2010/main" val="274898686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graphicFrame>
        <p:nvGraphicFramePr>
          <p:cNvPr id="265" name="Google Shape;265;p11"/>
          <p:cNvGraphicFramePr/>
          <p:nvPr>
            <p:custDataLst>
              <p:tags r:id="rId1"/>
            </p:custDataLst>
            <p:extLst>
              <p:ext uri="{D42A27DB-BD31-4B8C-83A1-F6EECF244321}">
                <p14:modId xmlns:p14="http://schemas.microsoft.com/office/powerpoint/2010/main" val="2365857154"/>
              </p:ext>
            </p:extLst>
          </p:nvPr>
        </p:nvGraphicFramePr>
        <p:xfrm>
          <a:off x="146485" y="862600"/>
          <a:ext cx="8839174" cy="5588329"/>
        </p:xfrm>
        <a:graphic>
          <a:graphicData uri="http://schemas.openxmlformats.org/drawingml/2006/table">
            <a:tbl>
              <a:tblPr firstRow="1" bandRow="1">
                <a:noFill/>
                <a:tableStyleId>{56D51072-94E4-4FC1-8697-D52FD32A7993}</a:tableStyleId>
              </a:tblPr>
              <a:tblGrid>
                <a:gridCol w="627786">
                  <a:extLst>
                    <a:ext uri="{9D8B030D-6E8A-4147-A177-3AD203B41FA5}">
                      <a16:colId xmlns:a16="http://schemas.microsoft.com/office/drawing/2014/main" val="20000"/>
                    </a:ext>
                  </a:extLst>
                </a:gridCol>
                <a:gridCol w="1694889">
                  <a:extLst>
                    <a:ext uri="{9D8B030D-6E8A-4147-A177-3AD203B41FA5}">
                      <a16:colId xmlns:a16="http://schemas.microsoft.com/office/drawing/2014/main" val="20001"/>
                    </a:ext>
                  </a:extLst>
                </a:gridCol>
                <a:gridCol w="1610845">
                  <a:extLst>
                    <a:ext uri="{9D8B030D-6E8A-4147-A177-3AD203B41FA5}">
                      <a16:colId xmlns:a16="http://schemas.microsoft.com/office/drawing/2014/main" val="20002"/>
                    </a:ext>
                  </a:extLst>
                </a:gridCol>
                <a:gridCol w="2344607">
                  <a:extLst>
                    <a:ext uri="{9D8B030D-6E8A-4147-A177-3AD203B41FA5}">
                      <a16:colId xmlns:a16="http://schemas.microsoft.com/office/drawing/2014/main" val="20003"/>
                    </a:ext>
                  </a:extLst>
                </a:gridCol>
                <a:gridCol w="2561047">
                  <a:extLst>
                    <a:ext uri="{9D8B030D-6E8A-4147-A177-3AD203B41FA5}">
                      <a16:colId xmlns:a16="http://schemas.microsoft.com/office/drawing/2014/main" val="20004"/>
                    </a:ext>
                  </a:extLst>
                </a:gridCol>
              </a:tblGrid>
              <a:tr h="787699">
                <a:tc>
                  <a:txBody>
                    <a:bodyPr/>
                    <a:lstStyle/>
                    <a:p>
                      <a:pPr marL="0" marR="0" lvl="0" indent="0" algn="l" rtl="0">
                        <a:spcBef>
                          <a:spcPts val="0"/>
                        </a:spcBef>
                        <a:spcAft>
                          <a:spcPts val="0"/>
                        </a:spcAft>
                        <a:buNone/>
                      </a:pPr>
                      <a:r>
                        <a:rPr lang="en-US" sz="1350" u="none" strike="noStrike" cap="none" dirty="0">
                          <a:solidFill>
                            <a:schemeClr val="bg1"/>
                          </a:solidFill>
                          <a:latin typeface="Times New Roman" panose="02020603050405020304"/>
                          <a:ea typeface="Times New Roman" panose="02020603050405020304"/>
                          <a:cs typeface="Times New Roman" panose="02020603050405020304"/>
                          <a:sym typeface="Times New Roman" panose="02020603050405020304"/>
                        </a:rPr>
                        <a:t>S. No.</a:t>
                      </a:r>
                    </a:p>
                  </a:txBody>
                  <a:tcPr marL="91450" marR="91450" marT="35175" marB="35175" anchor="ctr" anchorCtr="1"/>
                </a:tc>
                <a:tc>
                  <a:txBody>
                    <a:bodyPr/>
                    <a:lstStyle/>
                    <a:p>
                      <a:pPr marL="0" marR="0" lvl="0" indent="0" algn="l" defTabSz="685800" rtl="0" eaLnBrk="1" fontAlgn="auto" latinLnBrk="0" hangingPunct="1">
                        <a:lnSpc>
                          <a:spcPct val="100000"/>
                        </a:lnSpc>
                        <a:spcBef>
                          <a:spcPts val="0"/>
                        </a:spcBef>
                        <a:spcAft>
                          <a:spcPts val="0"/>
                        </a:spcAft>
                        <a:buClrTx/>
                        <a:buSzTx/>
                        <a:buFontTx/>
                        <a:buNone/>
                        <a:defRPr/>
                      </a:pPr>
                      <a:r>
                        <a:rPr lang="en-US" sz="1350" u="none" dirty="0">
                          <a:solidFill>
                            <a:schemeClr val="bg1"/>
                          </a:solidFill>
                          <a:latin typeface="Times New Roman" panose="02020603050405020304"/>
                          <a:ea typeface="Times New Roman" panose="02020603050405020304"/>
                          <a:cs typeface="Times New Roman" panose="02020603050405020304"/>
                          <a:sym typeface="Times New Roman" panose="02020603050405020304"/>
                        </a:rPr>
                        <a:t>Title </a:t>
                      </a:r>
                      <a:r>
                        <a:rPr lang="en-US" sz="1350" b="1" u="none" dirty="0">
                          <a:solidFill>
                            <a:schemeClr val="bg1"/>
                          </a:solidFill>
                          <a:latin typeface="Times New Roman" panose="02020603050405020304"/>
                          <a:ea typeface="Times New Roman" panose="02020603050405020304"/>
                          <a:cs typeface="Times New Roman" panose="02020603050405020304"/>
                          <a:sym typeface="Times New Roman" panose="02020603050405020304"/>
                        </a:rPr>
                        <a:t>of Paper</a:t>
                      </a:r>
                      <a:endParaRPr lang="en-US" sz="1350" dirty="0">
                        <a:solidFill>
                          <a:schemeClr val="bg1"/>
                        </a:solidFill>
                      </a:endParaRPr>
                    </a:p>
                    <a:p>
                      <a:pPr marL="0" marR="0" lvl="0" indent="0" algn="l" rtl="0">
                        <a:spcBef>
                          <a:spcPts val="0"/>
                        </a:spcBef>
                        <a:spcAft>
                          <a:spcPts val="0"/>
                        </a:spcAft>
                        <a:buNone/>
                      </a:pPr>
                      <a:endParaRPr sz="1350" dirty="0">
                        <a:solidFill>
                          <a:schemeClr val="bg1"/>
                        </a:solidFill>
                      </a:endParaRPr>
                    </a:p>
                  </a:txBody>
                  <a:tcPr marL="91450" marR="91450" marT="35175" marB="35175" anchor="ctr" anchorCtr="1"/>
                </a:tc>
                <a:tc>
                  <a:txBody>
                    <a:bodyPr/>
                    <a:lstStyle/>
                    <a:p>
                      <a:pPr marL="0" marR="0" lvl="0" indent="0" algn="ctr" rtl="0">
                        <a:spcBef>
                          <a:spcPts val="0"/>
                        </a:spcBef>
                        <a:spcAft>
                          <a:spcPts val="0"/>
                        </a:spcAft>
                        <a:buNone/>
                      </a:pPr>
                      <a:r>
                        <a:rPr lang="en-IN" sz="1350" u="none">
                          <a:solidFill>
                            <a:schemeClr val="bg1"/>
                          </a:solidFill>
                          <a:latin typeface="Times New Roman" panose="02020603050405020304"/>
                          <a:ea typeface="Times New Roman" panose="02020603050405020304"/>
                          <a:cs typeface="Times New Roman" panose="02020603050405020304"/>
                          <a:sym typeface="Times New Roman" panose="02020603050405020304"/>
                        </a:rPr>
                        <a:t>Journal Title  with Year of Publication &amp; Author</a:t>
                      </a:r>
                    </a:p>
                  </a:txBody>
                  <a:tcPr marL="91450" marR="91450" marT="35175" marB="35175" anchor="ctr" anchorCtr="1"/>
                </a:tc>
                <a:tc>
                  <a:txBody>
                    <a:bodyPr/>
                    <a:lstStyle/>
                    <a:p>
                      <a:pPr marL="0" marR="0" lvl="0" indent="0" algn="l" rtl="0">
                        <a:lnSpc>
                          <a:spcPct val="100000"/>
                        </a:lnSpc>
                        <a:spcBef>
                          <a:spcPts val="0"/>
                        </a:spcBef>
                        <a:spcAft>
                          <a:spcPts val="0"/>
                        </a:spcAft>
                        <a:buClr>
                          <a:schemeClr val="dk1"/>
                        </a:buClr>
                        <a:buSzPts val="1400"/>
                        <a:buFont typeface="Times New Roman" panose="02020603050405020304"/>
                        <a:buNone/>
                      </a:pPr>
                      <a:r>
                        <a:rPr lang="en-US" sz="1350" b="1" i="0" u="none" strike="noStrike" cap="none">
                          <a:solidFill>
                            <a:schemeClr val="bg1"/>
                          </a:solidFill>
                          <a:latin typeface="Times New Roman" panose="02020603050405020304"/>
                          <a:ea typeface="Times New Roman" panose="02020603050405020304"/>
                          <a:cs typeface="Times New Roman" panose="02020603050405020304"/>
                          <a:sym typeface="Times New Roman" panose="02020603050405020304"/>
                        </a:rPr>
                        <a:t>Technical Description</a:t>
                      </a:r>
                    </a:p>
                  </a:txBody>
                  <a:tcPr marL="91450" marR="91450" marT="35175" marB="35175" anchor="ctr" anchorCtr="1"/>
                </a:tc>
                <a:tc>
                  <a:txBody>
                    <a:bodyPr/>
                    <a:lstStyle/>
                    <a:p>
                      <a:pPr marL="0" marR="0" lvl="0" indent="0" algn="l" rtl="0">
                        <a:lnSpc>
                          <a:spcPct val="100000"/>
                        </a:lnSpc>
                        <a:spcBef>
                          <a:spcPts val="0"/>
                        </a:spcBef>
                        <a:spcAft>
                          <a:spcPts val="0"/>
                        </a:spcAft>
                        <a:buClr>
                          <a:schemeClr val="dk1"/>
                        </a:buClr>
                        <a:buSzPts val="1400"/>
                        <a:buFont typeface="Times New Roman" panose="02020603050405020304"/>
                        <a:buNone/>
                      </a:pPr>
                      <a:r>
                        <a:rPr lang="en-US" sz="1350" b="1" i="0" u="none" strike="noStrike" cap="none" dirty="0">
                          <a:solidFill>
                            <a:schemeClr val="bg1"/>
                          </a:solidFill>
                          <a:latin typeface="Times New Roman" panose="02020603050405020304"/>
                          <a:ea typeface="Times New Roman" panose="02020603050405020304"/>
                          <a:cs typeface="Times New Roman" panose="02020603050405020304"/>
                          <a:sym typeface="Times New Roman" panose="02020603050405020304"/>
                        </a:rPr>
                        <a:t>Research Gap</a:t>
                      </a:r>
                    </a:p>
                  </a:txBody>
                  <a:tcPr marL="91450" marR="91450" marT="35175" marB="35175" anchor="ctr" anchorCtr="1"/>
                </a:tc>
                <a:extLst>
                  <a:ext uri="{0D108BD9-81ED-4DB2-BD59-A6C34878D82A}">
                    <a16:rowId xmlns:a16="http://schemas.microsoft.com/office/drawing/2014/main" val="10000"/>
                  </a:ext>
                </a:extLst>
              </a:tr>
              <a:tr h="1602056">
                <a:tc>
                  <a:txBody>
                    <a:bodyPr/>
                    <a:lstStyle/>
                    <a:p>
                      <a:pPr marL="0" marR="0" lvl="0" indent="0" algn="just" rtl="0">
                        <a:spcBef>
                          <a:spcPts val="0"/>
                        </a:spcBef>
                        <a:spcAft>
                          <a:spcPts val="0"/>
                        </a:spcAft>
                        <a:buNone/>
                      </a:pPr>
                      <a:r>
                        <a:rPr lang="en-US" sz="1350" b="0" u="none" dirty="0">
                          <a:latin typeface="Times New Roman"/>
                          <a:cs typeface="Times New Roman"/>
                        </a:rPr>
                        <a:t>1</a:t>
                      </a:r>
                    </a:p>
                    <a:p>
                      <a:pPr marL="0" marR="0" lvl="0" indent="0" algn="just" rtl="0">
                        <a:spcBef>
                          <a:spcPts val="0"/>
                        </a:spcBef>
                        <a:spcAft>
                          <a:spcPts val="0"/>
                        </a:spcAft>
                        <a:buNone/>
                      </a:pPr>
                      <a:endParaRPr lang="en-US" sz="1350" b="0" u="none" dirty="0">
                        <a:latin typeface="Times New Roman"/>
                        <a:cs typeface="Times New Roman"/>
                      </a:endParaRPr>
                    </a:p>
                  </a:txBody>
                  <a:tcPr marL="91450" marR="91450" marT="35175" marB="35175" anchor="ctr"/>
                </a:tc>
                <a:tc>
                  <a:txBody>
                    <a:bodyPr/>
                    <a:lstStyle/>
                    <a:p>
                      <a:pPr marL="0" marR="0" lvl="0" indent="0" algn="just">
                        <a:spcBef>
                          <a:spcPts val="0"/>
                        </a:spcBef>
                        <a:spcAft>
                          <a:spcPts val="0"/>
                        </a:spcAft>
                        <a:buNone/>
                      </a:pPr>
                      <a:r>
                        <a:rPr lang="en-US" sz="1350" b="0" i="0" u="none" strike="noStrike" noProof="0" dirty="0">
                          <a:latin typeface="Times New Roman"/>
                          <a:cs typeface="Times New Roman"/>
                        </a:rPr>
                        <a:t>Optimizing Agricultural Data Analysis Techniques Through AI-Powered Decision-Making Processes</a:t>
                      </a:r>
                      <a:endParaRPr lang="en-US" sz="1350" dirty="0">
                        <a:latin typeface="Times New Roman"/>
                        <a:cs typeface="Times New Roman"/>
                      </a:endParaRPr>
                    </a:p>
                    <a:p>
                      <a:pPr marL="0" marR="0" lvl="0" indent="0" algn="just" rtl="0">
                        <a:spcBef>
                          <a:spcPts val="0"/>
                        </a:spcBef>
                        <a:spcAft>
                          <a:spcPts val="0"/>
                        </a:spcAft>
                        <a:buNone/>
                      </a:pPr>
                      <a:endParaRPr lang="en-US" sz="1350" b="0" dirty="0">
                        <a:latin typeface="Times New Roman"/>
                        <a:cs typeface="Times New Roman"/>
                      </a:endParaRPr>
                    </a:p>
                  </a:txBody>
                  <a:tcPr marL="91450" marR="91450" marT="45725" marB="45725" anchor="ctr"/>
                </a:tc>
                <a:tc>
                  <a:txBody>
                    <a:bodyPr/>
                    <a:lstStyle/>
                    <a:p>
                      <a:pPr lvl="0" algn="just">
                        <a:lnSpc>
                          <a:spcPct val="100000"/>
                        </a:lnSpc>
                        <a:spcBef>
                          <a:spcPts val="0"/>
                        </a:spcBef>
                        <a:spcAft>
                          <a:spcPts val="0"/>
                        </a:spcAft>
                        <a:buNone/>
                      </a:pPr>
                      <a:r>
                        <a:rPr lang="en-IN" sz="1350" b="0" i="0" u="none" strike="noStrike" noProof="0" dirty="0" err="1">
                          <a:solidFill>
                            <a:schemeClr val="tx1"/>
                          </a:solidFill>
                          <a:latin typeface="Times New Roman"/>
                          <a:cs typeface="Times New Roman"/>
                        </a:rPr>
                        <a:t>Elbasi</a:t>
                      </a:r>
                      <a:r>
                        <a:rPr lang="en-IN" sz="1350" b="0" i="0" u="none" strike="noStrike" noProof="0" dirty="0">
                          <a:solidFill>
                            <a:schemeClr val="tx1"/>
                          </a:solidFill>
                          <a:latin typeface="Times New Roman"/>
                          <a:cs typeface="Times New Roman"/>
                        </a:rPr>
                        <a:t>, E., Mostafa, N., Zaki, C., </a:t>
                      </a:r>
                      <a:r>
                        <a:rPr lang="en-IN" sz="1350" b="0" i="0" u="none" strike="noStrike" noProof="0" dirty="0" err="1">
                          <a:solidFill>
                            <a:schemeClr val="tx1"/>
                          </a:solidFill>
                          <a:latin typeface="Times New Roman"/>
                          <a:cs typeface="Times New Roman"/>
                        </a:rPr>
                        <a:t>AlArnaout</a:t>
                      </a:r>
                      <a:r>
                        <a:rPr lang="en-IN" sz="1350" b="0" i="0" u="none" strike="noStrike" noProof="0" dirty="0">
                          <a:solidFill>
                            <a:schemeClr val="tx1"/>
                          </a:solidFill>
                          <a:latin typeface="Times New Roman"/>
                          <a:cs typeface="Times New Roman"/>
                        </a:rPr>
                        <a:t>, Z., </a:t>
                      </a:r>
                      <a:r>
                        <a:rPr lang="en-IN" sz="1350" b="0" i="0" u="none" strike="noStrike" noProof="0" dirty="0" err="1">
                          <a:solidFill>
                            <a:schemeClr val="tx1"/>
                          </a:solidFill>
                          <a:latin typeface="Times New Roman"/>
                          <a:cs typeface="Times New Roman"/>
                        </a:rPr>
                        <a:t>Topcu</a:t>
                      </a:r>
                      <a:r>
                        <a:rPr lang="en-IN" sz="1350" b="0" i="0" u="none" strike="noStrike" noProof="0" dirty="0">
                          <a:solidFill>
                            <a:schemeClr val="tx1"/>
                          </a:solidFill>
                          <a:latin typeface="Times New Roman"/>
                          <a:cs typeface="Times New Roman"/>
                        </a:rPr>
                        <a:t>, A. E., &amp; Saker, L.</a:t>
                      </a:r>
                      <a:br>
                        <a:rPr lang="en-IN" sz="1350" b="0" i="0" u="none" strike="noStrike" noProof="0" dirty="0">
                          <a:solidFill>
                            <a:srgbClr val="000000"/>
                          </a:solidFill>
                          <a:latin typeface="Times New Roman"/>
                          <a:cs typeface="Times New Roman"/>
                        </a:rPr>
                      </a:br>
                      <a:r>
                        <a:rPr lang="en-IN" sz="1350" b="0" i="0" u="none" strike="noStrike" noProof="0" dirty="0">
                          <a:solidFill>
                            <a:schemeClr val="tx1"/>
                          </a:solidFill>
                          <a:latin typeface="Times New Roman"/>
                          <a:cs typeface="Times New Roman"/>
                        </a:rPr>
                        <a:t>Applied Sciences, Vol. 14, 2024.</a:t>
                      </a:r>
                      <a:endParaRPr lang="en-US" sz="1350" b="0" dirty="0">
                        <a:latin typeface="Times New Roman"/>
                        <a:cs typeface="Times New Roman"/>
                      </a:endParaRPr>
                    </a:p>
                  </a:txBody>
                  <a:tcPr marL="91450" marR="91450" marT="45725" marB="45725" anchor="ctr"/>
                </a:tc>
                <a:tc>
                  <a:txBody>
                    <a:bodyPr/>
                    <a:lstStyle/>
                    <a:p>
                      <a:pPr marL="0" marR="0" lvl="0" indent="0" algn="just">
                        <a:lnSpc>
                          <a:spcPct val="100000"/>
                        </a:lnSpc>
                        <a:spcBef>
                          <a:spcPts val="0"/>
                        </a:spcBef>
                        <a:spcAft>
                          <a:spcPts val="0"/>
                        </a:spcAft>
                        <a:buNone/>
                      </a:pPr>
                      <a:r>
                        <a:rPr lang="en-US" sz="1350" b="0" i="0" u="none" strike="noStrike" noProof="0" dirty="0">
                          <a:latin typeface="Times New Roman"/>
                          <a:cs typeface="Times New Roman"/>
                        </a:rPr>
                        <a:t>The study focuses on preprocessing techniques for agricultural datasets including noise removal, dataset balancing, feature selection, and dimensionality reduction to improve machine learning model performance.</a:t>
                      </a:r>
                    </a:p>
                  </a:txBody>
                  <a:tcPr marL="91450" marR="91450" marT="45725" marB="45725" anchor="ctr"/>
                </a:tc>
                <a:tc>
                  <a:txBody>
                    <a:bodyPr/>
                    <a:lstStyle/>
                    <a:p>
                      <a:pPr lvl="0" algn="just">
                        <a:lnSpc>
                          <a:spcPct val="100000"/>
                        </a:lnSpc>
                        <a:spcBef>
                          <a:spcPts val="0"/>
                        </a:spcBef>
                        <a:spcAft>
                          <a:spcPts val="0"/>
                        </a:spcAft>
                        <a:buNone/>
                      </a:pPr>
                      <a:r>
                        <a:rPr lang="en-US" sz="1350" b="0" i="0" u="none" strike="noStrike" noProof="0" dirty="0">
                          <a:latin typeface="Times New Roman"/>
                          <a:cs typeface="Times New Roman"/>
                        </a:rPr>
                        <a:t>Focuses only on agricultural data preprocessing and does not address plant disease detection or greenhouse monitoring systems.</a:t>
                      </a:r>
                      <a:endParaRPr lang="en-US" sz="1350" dirty="0">
                        <a:latin typeface="Times New Roman"/>
                        <a:cs typeface="Times New Roman"/>
                      </a:endParaRPr>
                    </a:p>
                  </a:txBody>
                  <a:tcPr marL="91450" marR="91450" marT="45725" marB="45725" anchor="ctr"/>
                </a:tc>
                <a:extLst>
                  <a:ext uri="{0D108BD9-81ED-4DB2-BD59-A6C34878D82A}">
                    <a16:rowId xmlns:a16="http://schemas.microsoft.com/office/drawing/2014/main" val="10001"/>
                  </a:ext>
                </a:extLst>
              </a:tr>
              <a:tr h="1123371">
                <a:tc>
                  <a:txBody>
                    <a:bodyPr/>
                    <a:lstStyle/>
                    <a:p>
                      <a:pPr marL="0" marR="0" lvl="0" indent="0" algn="just" rtl="0">
                        <a:spcBef>
                          <a:spcPts val="0"/>
                        </a:spcBef>
                        <a:spcAft>
                          <a:spcPts val="0"/>
                        </a:spcAft>
                        <a:buNone/>
                      </a:pPr>
                      <a:r>
                        <a:rPr lang="en-US" sz="1350" b="0" dirty="0">
                          <a:latin typeface="Times New Roman"/>
                          <a:cs typeface="Times New Roman"/>
                        </a:rPr>
                        <a:t>2</a:t>
                      </a:r>
                      <a:endParaRPr lang="en-US" sz="1350" b="0" dirty="0">
                        <a:latin typeface="Times New Roman"/>
                        <a:cs typeface="Times New Roman"/>
                        <a:sym typeface="Times New Roman" panose="02020603050405020304"/>
                      </a:endParaRPr>
                    </a:p>
                  </a:txBody>
                  <a:tcPr marL="91450" marR="91450" marT="35175" marB="35175" anchor="ctr"/>
                </a:tc>
                <a:tc>
                  <a:txBody>
                    <a:bodyPr/>
                    <a:lstStyle/>
                    <a:p>
                      <a:pPr marL="0" marR="0" lvl="0" indent="0" algn="just">
                        <a:lnSpc>
                          <a:spcPct val="100000"/>
                        </a:lnSpc>
                        <a:spcBef>
                          <a:spcPts val="0"/>
                        </a:spcBef>
                        <a:spcAft>
                          <a:spcPts val="0"/>
                        </a:spcAft>
                        <a:buNone/>
                      </a:pPr>
                      <a:r>
                        <a:rPr lang="en-US" sz="1350" b="0" i="0" u="none" strike="noStrike" noProof="0">
                          <a:latin typeface="Times New Roman"/>
                          <a:cs typeface="Times New Roman"/>
                        </a:rPr>
                        <a:t>Plant Leaf Disease Detection Using Ensemble Learning and Explainable Artificial Intelligence</a:t>
                      </a:r>
                      <a:endParaRPr lang="en-US" sz="1350">
                        <a:latin typeface="Times New Roman"/>
                        <a:cs typeface="Times New Roman"/>
                        <a:sym typeface="Times New Roman" panose="02020603050405020304"/>
                      </a:endParaRPr>
                    </a:p>
                  </a:txBody>
                  <a:tcPr marL="91450" marR="91450" marT="45725" marB="45725" anchor="ctr"/>
                </a:tc>
                <a:tc>
                  <a:txBody>
                    <a:bodyPr/>
                    <a:lstStyle/>
                    <a:p>
                      <a:pPr lvl="0" algn="just">
                        <a:lnSpc>
                          <a:spcPct val="100000"/>
                        </a:lnSpc>
                        <a:spcBef>
                          <a:spcPts val="0"/>
                        </a:spcBef>
                        <a:spcAft>
                          <a:spcPts val="0"/>
                        </a:spcAft>
                        <a:buNone/>
                      </a:pPr>
                      <a:r>
                        <a:rPr lang="en-US" sz="1350" b="0" i="0" u="none" strike="noStrike" noProof="0" dirty="0">
                          <a:latin typeface="Times New Roman"/>
                          <a:cs typeface="Times New Roman"/>
                        </a:rPr>
                        <a:t>Oad, A., Abbas, S. S., Zafar, A., et al.</a:t>
                      </a:r>
                      <a:br>
                        <a:rPr lang="en-US" sz="1350" b="0" i="0" u="none" strike="noStrike" noProof="0" dirty="0">
                          <a:latin typeface="Times New Roman"/>
                          <a:cs typeface="Times New Roman"/>
                        </a:rPr>
                      </a:br>
                      <a:r>
                        <a:rPr lang="en-US" sz="1350" b="0" i="0" u="none" strike="noStrike" noProof="0" dirty="0">
                          <a:latin typeface="Times New Roman"/>
                          <a:cs typeface="Times New Roman"/>
                        </a:rPr>
                        <a:t> IEEE Access, Vol. 12, 2024.</a:t>
                      </a:r>
                    </a:p>
                  </a:txBody>
                  <a:tcPr marL="91450" marR="91450" marT="45725" marB="45725" anchor="ctr"/>
                </a:tc>
                <a:tc>
                  <a:txBody>
                    <a:bodyPr/>
                    <a:lstStyle/>
                    <a:p>
                      <a:pPr marL="0" marR="0" lvl="0" indent="0" algn="just">
                        <a:spcBef>
                          <a:spcPts val="0"/>
                        </a:spcBef>
                        <a:spcAft>
                          <a:spcPts val="0"/>
                        </a:spcAft>
                        <a:buNone/>
                      </a:pPr>
                      <a:r>
                        <a:rPr lang="en-IN" sz="1350" b="0" i="0" u="none" strike="noStrike" noProof="0" dirty="0">
                          <a:latin typeface="Times New Roman"/>
                          <a:cs typeface="Times New Roman"/>
                        </a:rPr>
                        <a:t>Proposes an ensemble deep learning framework using CNN architectures such as VGG16, VGG19, InceptionV3, and ResNet101V2 for plant leaf disease classification using the </a:t>
                      </a:r>
                      <a:r>
                        <a:rPr lang="en-IN" sz="1350" b="0" i="0" u="none" strike="noStrike" noProof="0" dirty="0" err="1">
                          <a:latin typeface="Times New Roman"/>
                          <a:cs typeface="Times New Roman"/>
                        </a:rPr>
                        <a:t>PlantVillage</a:t>
                      </a:r>
                      <a:r>
                        <a:rPr lang="en-IN" sz="1350" b="0" i="0" u="none" strike="noStrike" noProof="0" dirty="0">
                          <a:latin typeface="Times New Roman"/>
                          <a:cs typeface="Times New Roman"/>
                        </a:rPr>
                        <a:t> dataset.</a:t>
                      </a:r>
                      <a:endParaRPr lang="en-US" sz="1350" dirty="0">
                        <a:latin typeface="Times New Roman"/>
                        <a:cs typeface="Times New Roman"/>
                      </a:endParaRPr>
                    </a:p>
                  </a:txBody>
                  <a:tcPr marL="91450" marR="91450" marT="45725" marB="45725" anchor="ctr"/>
                </a:tc>
                <a:tc>
                  <a:txBody>
                    <a:bodyPr/>
                    <a:lstStyle/>
                    <a:p>
                      <a:pPr lvl="0" algn="just">
                        <a:lnSpc>
                          <a:spcPct val="100000"/>
                        </a:lnSpc>
                        <a:spcBef>
                          <a:spcPts val="0"/>
                        </a:spcBef>
                        <a:spcAft>
                          <a:spcPts val="0"/>
                        </a:spcAft>
                        <a:buNone/>
                      </a:pPr>
                      <a:r>
                        <a:rPr lang="en-US" sz="1350" b="0" i="0" u="none" strike="noStrike" noProof="0" dirty="0">
                          <a:latin typeface="Times New Roman"/>
                          <a:cs typeface="Times New Roman"/>
                        </a:rPr>
                        <a:t>The system performs only disease classification and does not integrate environmental monitoring or crop growth prediction in greenhouse environments.</a:t>
                      </a:r>
                    </a:p>
                  </a:txBody>
                  <a:tcPr marL="91450" marR="91450" marT="45725" marB="45725" anchor="ctr"/>
                </a:tc>
                <a:extLst>
                  <a:ext uri="{0D108BD9-81ED-4DB2-BD59-A6C34878D82A}">
                    <a16:rowId xmlns:a16="http://schemas.microsoft.com/office/drawing/2014/main" val="10002"/>
                  </a:ext>
                </a:extLst>
              </a:tr>
              <a:tr h="0">
                <a:tc>
                  <a:txBody>
                    <a:bodyPr/>
                    <a:lstStyle/>
                    <a:p>
                      <a:pPr marL="0" marR="0" lvl="0" indent="0" algn="just" rtl="0">
                        <a:spcBef>
                          <a:spcPts val="0"/>
                        </a:spcBef>
                        <a:spcAft>
                          <a:spcPts val="0"/>
                        </a:spcAft>
                        <a:buNone/>
                      </a:pPr>
                      <a:r>
                        <a:rPr lang="en-US" sz="1350" b="0" dirty="0">
                          <a:latin typeface="Times New Roman"/>
                          <a:cs typeface="Times New Roman"/>
                        </a:rPr>
                        <a:t>3</a:t>
                      </a:r>
                      <a:endParaRPr sz="1350" b="0" dirty="0">
                        <a:latin typeface="Times New Roman"/>
                        <a:cs typeface="Times New Roman"/>
                      </a:endParaRPr>
                    </a:p>
                  </a:txBody>
                  <a:tcPr marL="91450" marR="91450" marT="35175" marB="35175" anchor="ctr"/>
                </a:tc>
                <a:tc>
                  <a:txBody>
                    <a:bodyPr/>
                    <a:lstStyle/>
                    <a:p>
                      <a:pPr lvl="0" algn="l">
                        <a:lnSpc>
                          <a:spcPct val="100000"/>
                        </a:lnSpc>
                        <a:spcBef>
                          <a:spcPts val="0"/>
                        </a:spcBef>
                        <a:spcAft>
                          <a:spcPts val="0"/>
                        </a:spcAft>
                        <a:buNone/>
                      </a:pPr>
                      <a:r>
                        <a:rPr lang="en-US" sz="1350" dirty="0">
                          <a:latin typeface="Times New Roman"/>
                          <a:cs typeface="Times New Roman"/>
                        </a:rPr>
                        <a:t>Identifying Tomato Growth Stages in Protected Agriculture with StyleGAN3-Synthetic Images and Vision Transformer</a:t>
                      </a:r>
                    </a:p>
                  </a:txBody>
                  <a:tcPr marL="91450" marR="91450" marT="45725" marB="45725" anchor="ctr"/>
                </a:tc>
                <a:tc>
                  <a:txBody>
                    <a:bodyPr/>
                    <a:lstStyle/>
                    <a:p>
                      <a:pPr lvl="0" algn="just">
                        <a:lnSpc>
                          <a:spcPct val="100000"/>
                        </a:lnSpc>
                        <a:spcBef>
                          <a:spcPts val="0"/>
                        </a:spcBef>
                        <a:spcAft>
                          <a:spcPts val="0"/>
                        </a:spcAft>
                        <a:buNone/>
                      </a:pPr>
                      <a:r>
                        <a:rPr lang="en-US" sz="1350" b="0" i="0" u="none" strike="noStrike" noProof="0" dirty="0">
                          <a:latin typeface="Times New Roman"/>
                          <a:cs typeface="Times New Roman"/>
                        </a:rPr>
                        <a:t>Huo, Y., Liu, Y., He, P., Hu, L., Gao, W., &amp; Gu, L.</a:t>
                      </a:r>
                      <a:br>
                        <a:rPr lang="en-US" sz="1350" b="0" i="0" u="none" strike="noStrike" noProof="0" dirty="0">
                          <a:latin typeface="Times New Roman"/>
                          <a:cs typeface="Times New Roman"/>
                        </a:rPr>
                      </a:br>
                      <a:r>
                        <a:rPr lang="en-US" sz="1350" b="0" i="0" u="none" strike="noStrike" noProof="0" dirty="0">
                          <a:latin typeface="Times New Roman"/>
                          <a:cs typeface="Times New Roman"/>
                        </a:rPr>
                        <a:t>Agriculture, Vol. 15, Article 120, 2025.</a:t>
                      </a:r>
                      <a:endParaRPr lang="en-US" sz="1350" b="0" dirty="0">
                        <a:latin typeface="Times New Roman"/>
                        <a:cs typeface="Times New Roman"/>
                      </a:endParaRPr>
                    </a:p>
                  </a:txBody>
                  <a:tcPr marL="91450" marR="91450" marT="45725" marB="45725" anchor="ctr"/>
                </a:tc>
                <a:tc>
                  <a:txBody>
                    <a:bodyPr/>
                    <a:lstStyle/>
                    <a:p>
                      <a:pPr marL="0" marR="0" lvl="0" indent="0" algn="just">
                        <a:lnSpc>
                          <a:spcPct val="100000"/>
                        </a:lnSpc>
                        <a:spcBef>
                          <a:spcPts val="0"/>
                        </a:spcBef>
                        <a:spcAft>
                          <a:spcPts val="0"/>
                        </a:spcAft>
                        <a:buNone/>
                      </a:pPr>
                      <a:r>
                        <a:rPr lang="en-US" sz="1350" b="0" i="0" u="none" strike="noStrike" noProof="0" dirty="0">
                          <a:latin typeface="Times New Roman"/>
                          <a:cs typeface="Times New Roman"/>
                        </a:rPr>
                        <a:t>Introduces a hybrid deep learning framework combining StyleGAN3 for synthetic image generation and Vision Transformer for accurate tomato growth stage recognition.</a:t>
                      </a:r>
                      <a:endParaRPr lang="en-US" sz="1350" dirty="0">
                        <a:latin typeface="Times New Roman"/>
                        <a:cs typeface="Times New Roman"/>
                      </a:endParaRPr>
                    </a:p>
                  </a:txBody>
                  <a:tcPr marL="91450" marR="91450" marT="45725" marB="45725" anchor="ctr"/>
                </a:tc>
                <a:tc>
                  <a:txBody>
                    <a:bodyPr/>
                    <a:lstStyle/>
                    <a:p>
                      <a:pPr lvl="0" algn="just">
                        <a:lnSpc>
                          <a:spcPct val="100000"/>
                        </a:lnSpc>
                        <a:spcBef>
                          <a:spcPts val="0"/>
                        </a:spcBef>
                        <a:spcAft>
                          <a:spcPts val="0"/>
                        </a:spcAft>
                        <a:buNone/>
                      </a:pPr>
                      <a:r>
                        <a:rPr lang="en-US" sz="1350" b="0" i="0" u="none" strike="noStrike" noProof="0" dirty="0">
                          <a:latin typeface="Times New Roman"/>
                          <a:cs typeface="Times New Roman"/>
                        </a:rPr>
                        <a:t>The study focuses only on growth stage identification and does not incorporate disease detection or integrated digital twin greenhouse management.</a:t>
                      </a:r>
                      <a:endParaRPr lang="en-US" sz="1350" dirty="0">
                        <a:latin typeface="Times New Roman"/>
                        <a:cs typeface="Times New Roman"/>
                        <a:sym typeface="+mn-ea"/>
                      </a:endParaRPr>
                    </a:p>
                  </a:txBody>
                  <a:tcPr marL="91450" marR="91450" marT="45725" marB="45725" anchor="ctr"/>
                </a:tc>
                <a:extLst>
                  <a:ext uri="{0D108BD9-81ED-4DB2-BD59-A6C34878D82A}">
                    <a16:rowId xmlns:a16="http://schemas.microsoft.com/office/drawing/2014/main" val="3984641383"/>
                  </a:ext>
                </a:extLst>
              </a:tr>
            </a:tbl>
          </a:graphicData>
        </a:graphic>
      </p:graphicFrame>
      <p:cxnSp>
        <p:nvCxnSpPr>
          <p:cNvPr id="6" name="Google Shape;436;p31"/>
          <p:cNvCxnSpPr/>
          <p:nvPr/>
        </p:nvCxnSpPr>
        <p:spPr>
          <a:xfrm>
            <a:off x="0" y="812178"/>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B8DE3DE7-7CCC-7FFC-4B5A-681A97A2AE51}"/>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5" name="Google Shape;268;p11">
            <a:extLst>
              <a:ext uri="{FF2B5EF4-FFF2-40B4-BE49-F238E27FC236}">
                <a16:creationId xmlns:a16="http://schemas.microsoft.com/office/drawing/2014/main" id="{71CCD4DD-BA44-5FB6-73F9-84524A62433E}"/>
              </a:ext>
            </a:extLst>
          </p:cNvPr>
          <p:cNvSpPr txBox="1">
            <a:spLocks/>
          </p:cNvSpPr>
          <p:nvPr/>
        </p:nvSpPr>
        <p:spPr>
          <a:xfrm>
            <a:off x="0" y="1"/>
            <a:ext cx="9144000" cy="809000"/>
          </a:xfrm>
          <a:prstGeom prst="rect">
            <a:avLst/>
          </a:prstGeom>
          <a:noFill/>
          <a:ln>
            <a:noFill/>
          </a:ln>
        </p:spPr>
        <p:txBody>
          <a:bodyPr spcFirstLastPara="1" vert="horz" wrap="square" lIns="91425" tIns="45700" rIns="91425" bIns="45700" rtlCol="0" anchor="ctr" anchorCtr="0">
            <a:no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ctr">
              <a:spcBef>
                <a:spcPts val="0"/>
              </a:spcBef>
              <a:buClrTx/>
              <a:buFontTx/>
            </a:pPr>
            <a:r>
              <a:rPr lang="en-US" sz="2800" b="1" dirty="0">
                <a:solidFill>
                  <a:srgbClr val="006600"/>
                </a:solidFill>
                <a:latin typeface="Bookman Old Style" panose="02050604050505020204" pitchFamily="18" charset="0"/>
                <a:cs typeface="Arial" panose="020B0604020202020204"/>
                <a:sym typeface="Times New Roman" panose="02020603050405020304"/>
              </a:rPr>
              <a:t>Literature</a:t>
            </a:r>
            <a:r>
              <a:rPr lang="en-US" sz="2800" b="1" dirty="0">
                <a:solidFill>
                  <a:srgbClr val="006600"/>
                </a:solidFill>
                <a:latin typeface="Bookman Old Style" panose="02050604050505020204" pitchFamily="18" charset="0"/>
                <a:ea typeface="Times New Roman" panose="02020603050405020304"/>
                <a:cs typeface="Times New Roman" panose="02020603050405020304"/>
                <a:sym typeface="Times New Roman" panose="02020603050405020304"/>
              </a:rPr>
              <a:t> </a:t>
            </a:r>
            <a:r>
              <a:rPr lang="en-US" sz="2800" b="1" dirty="0">
                <a:solidFill>
                  <a:srgbClr val="006600"/>
                </a:solidFill>
                <a:latin typeface="Bookman Old Style" panose="02050604050505020204" pitchFamily="18" charset="0"/>
                <a:cs typeface="Arial" panose="020B0604020202020204"/>
                <a:sym typeface="Times New Roman" panose="02020603050405020304"/>
              </a:rPr>
              <a:t>Survey</a:t>
            </a:r>
          </a:p>
        </p:txBody>
      </p:sp>
      <p:sp>
        <p:nvSpPr>
          <p:cNvPr id="3" name="Slide Number Placeholder 2">
            <a:extLst>
              <a:ext uri="{FF2B5EF4-FFF2-40B4-BE49-F238E27FC236}">
                <a16:creationId xmlns:a16="http://schemas.microsoft.com/office/drawing/2014/main" id="{953655EE-610F-1A08-2827-55EFA278B644}"/>
              </a:ext>
            </a:extLst>
          </p:cNvPr>
          <p:cNvSpPr>
            <a:spLocks noGrp="1"/>
          </p:cNvSpPr>
          <p:nvPr>
            <p:ph type="sldNum" sz="quarter" idx="12"/>
          </p:nvPr>
        </p:nvSpPr>
        <p:spPr/>
        <p:txBody>
          <a:bodyPr/>
          <a:lstStyle/>
          <a:p>
            <a:fld id="{00000000-1234-1234-1234-123412341234}" type="slidenum">
              <a:rPr lang="en-US" smtClean="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graphicFrame>
        <p:nvGraphicFramePr>
          <p:cNvPr id="265" name="Google Shape;265;p11"/>
          <p:cNvGraphicFramePr/>
          <p:nvPr>
            <p:custDataLst>
              <p:tags r:id="rId1"/>
            </p:custDataLst>
            <p:extLst>
              <p:ext uri="{D42A27DB-BD31-4B8C-83A1-F6EECF244321}">
                <p14:modId xmlns:p14="http://schemas.microsoft.com/office/powerpoint/2010/main" val="1590252860"/>
              </p:ext>
            </p:extLst>
          </p:nvPr>
        </p:nvGraphicFramePr>
        <p:xfrm>
          <a:off x="152413" y="858192"/>
          <a:ext cx="8839174" cy="5933740"/>
        </p:xfrm>
        <a:graphic>
          <a:graphicData uri="http://schemas.openxmlformats.org/drawingml/2006/table">
            <a:tbl>
              <a:tblPr firstRow="1" bandRow="1">
                <a:noFill/>
                <a:tableStyleId>{56D51072-94E4-4FC1-8697-D52FD32A7993}</a:tableStyleId>
              </a:tblPr>
              <a:tblGrid>
                <a:gridCol w="627786">
                  <a:extLst>
                    <a:ext uri="{9D8B030D-6E8A-4147-A177-3AD203B41FA5}">
                      <a16:colId xmlns:a16="http://schemas.microsoft.com/office/drawing/2014/main" val="20000"/>
                    </a:ext>
                  </a:extLst>
                </a:gridCol>
                <a:gridCol w="1694889">
                  <a:extLst>
                    <a:ext uri="{9D8B030D-6E8A-4147-A177-3AD203B41FA5}">
                      <a16:colId xmlns:a16="http://schemas.microsoft.com/office/drawing/2014/main" val="20001"/>
                    </a:ext>
                  </a:extLst>
                </a:gridCol>
                <a:gridCol w="1610845">
                  <a:extLst>
                    <a:ext uri="{9D8B030D-6E8A-4147-A177-3AD203B41FA5}">
                      <a16:colId xmlns:a16="http://schemas.microsoft.com/office/drawing/2014/main" val="20002"/>
                    </a:ext>
                  </a:extLst>
                </a:gridCol>
                <a:gridCol w="2344607">
                  <a:extLst>
                    <a:ext uri="{9D8B030D-6E8A-4147-A177-3AD203B41FA5}">
                      <a16:colId xmlns:a16="http://schemas.microsoft.com/office/drawing/2014/main" val="20003"/>
                    </a:ext>
                  </a:extLst>
                </a:gridCol>
                <a:gridCol w="2561047">
                  <a:extLst>
                    <a:ext uri="{9D8B030D-6E8A-4147-A177-3AD203B41FA5}">
                      <a16:colId xmlns:a16="http://schemas.microsoft.com/office/drawing/2014/main" val="20004"/>
                    </a:ext>
                  </a:extLst>
                </a:gridCol>
              </a:tblGrid>
              <a:tr h="721630">
                <a:tc>
                  <a:txBody>
                    <a:bodyPr/>
                    <a:lstStyle/>
                    <a:p>
                      <a:pPr marL="0" marR="0" lvl="0" indent="0" algn="l" rtl="0">
                        <a:spcBef>
                          <a:spcPts val="0"/>
                        </a:spcBef>
                        <a:spcAft>
                          <a:spcPts val="0"/>
                        </a:spcAft>
                        <a:buNone/>
                      </a:pPr>
                      <a:r>
                        <a:rPr lang="en-US" sz="1350" u="none" strike="noStrike" cap="none" dirty="0">
                          <a:solidFill>
                            <a:schemeClr val="bg1"/>
                          </a:solidFill>
                          <a:latin typeface="Times New Roman" panose="02020603050405020304"/>
                          <a:ea typeface="Times New Roman" panose="02020603050405020304"/>
                          <a:cs typeface="Times New Roman" panose="02020603050405020304"/>
                          <a:sym typeface="Times New Roman" panose="02020603050405020304"/>
                        </a:rPr>
                        <a:t>S. No.</a:t>
                      </a:r>
                    </a:p>
                  </a:txBody>
                  <a:tcPr marL="91450" marR="91450" marT="35175" marB="35175" anchor="ctr" anchorCtr="1"/>
                </a:tc>
                <a:tc>
                  <a:txBody>
                    <a:bodyPr/>
                    <a:lstStyle/>
                    <a:p>
                      <a:pPr marL="0" marR="0" lvl="0" indent="0" algn="l" defTabSz="685800" rtl="0" eaLnBrk="1" fontAlgn="auto" latinLnBrk="0" hangingPunct="1">
                        <a:lnSpc>
                          <a:spcPct val="100000"/>
                        </a:lnSpc>
                        <a:spcBef>
                          <a:spcPts val="0"/>
                        </a:spcBef>
                        <a:spcAft>
                          <a:spcPts val="0"/>
                        </a:spcAft>
                        <a:buClrTx/>
                        <a:buSzTx/>
                        <a:buFontTx/>
                        <a:buNone/>
                        <a:defRPr/>
                      </a:pPr>
                      <a:r>
                        <a:rPr lang="en-US" sz="1350" u="none">
                          <a:solidFill>
                            <a:schemeClr val="bg1"/>
                          </a:solidFill>
                          <a:latin typeface="Times New Roman" panose="02020603050405020304"/>
                          <a:ea typeface="Times New Roman" panose="02020603050405020304"/>
                          <a:cs typeface="Times New Roman" panose="02020603050405020304"/>
                          <a:sym typeface="Times New Roman" panose="02020603050405020304"/>
                        </a:rPr>
                        <a:t>Title </a:t>
                      </a:r>
                      <a:r>
                        <a:rPr lang="en-US" sz="1350" b="1" u="none">
                          <a:solidFill>
                            <a:schemeClr val="bg1"/>
                          </a:solidFill>
                          <a:latin typeface="Times New Roman" panose="02020603050405020304"/>
                          <a:ea typeface="Times New Roman" panose="02020603050405020304"/>
                          <a:cs typeface="Times New Roman" panose="02020603050405020304"/>
                          <a:sym typeface="Times New Roman" panose="02020603050405020304"/>
                        </a:rPr>
                        <a:t>of Paper</a:t>
                      </a:r>
                      <a:endParaRPr lang="en-US" sz="1350">
                        <a:solidFill>
                          <a:schemeClr val="bg1"/>
                        </a:solidFill>
                      </a:endParaRPr>
                    </a:p>
                    <a:p>
                      <a:pPr marL="0" marR="0" lvl="0" indent="0" algn="l" rtl="0">
                        <a:spcBef>
                          <a:spcPts val="0"/>
                        </a:spcBef>
                        <a:spcAft>
                          <a:spcPts val="0"/>
                        </a:spcAft>
                        <a:buNone/>
                      </a:pPr>
                      <a:endParaRPr sz="1350">
                        <a:solidFill>
                          <a:schemeClr val="bg1"/>
                        </a:solidFill>
                      </a:endParaRPr>
                    </a:p>
                  </a:txBody>
                  <a:tcPr marL="91450" marR="91450" marT="35175" marB="35175" anchor="ctr" anchorCtr="1"/>
                </a:tc>
                <a:tc>
                  <a:txBody>
                    <a:bodyPr/>
                    <a:lstStyle/>
                    <a:p>
                      <a:pPr marL="0" marR="0" lvl="0" indent="0" algn="ctr" rtl="0">
                        <a:spcBef>
                          <a:spcPts val="0"/>
                        </a:spcBef>
                        <a:spcAft>
                          <a:spcPts val="0"/>
                        </a:spcAft>
                        <a:buNone/>
                      </a:pPr>
                      <a:r>
                        <a:rPr lang="en-IN" sz="1350" u="none">
                          <a:solidFill>
                            <a:schemeClr val="bg1"/>
                          </a:solidFill>
                          <a:latin typeface="Times New Roman" panose="02020603050405020304"/>
                          <a:ea typeface="Times New Roman" panose="02020603050405020304"/>
                          <a:cs typeface="Times New Roman" panose="02020603050405020304"/>
                          <a:sym typeface="Times New Roman" panose="02020603050405020304"/>
                        </a:rPr>
                        <a:t>Journal Title  with Year of Publication &amp; Author</a:t>
                      </a:r>
                    </a:p>
                  </a:txBody>
                  <a:tcPr marL="91450" marR="91450" marT="35175" marB="35175" anchor="ctr" anchorCtr="1"/>
                </a:tc>
                <a:tc>
                  <a:txBody>
                    <a:bodyPr/>
                    <a:lstStyle/>
                    <a:p>
                      <a:pPr marL="0" marR="0" lvl="0" indent="0" algn="l" rtl="0">
                        <a:lnSpc>
                          <a:spcPct val="100000"/>
                        </a:lnSpc>
                        <a:spcBef>
                          <a:spcPts val="0"/>
                        </a:spcBef>
                        <a:spcAft>
                          <a:spcPts val="0"/>
                        </a:spcAft>
                        <a:buClr>
                          <a:schemeClr val="dk1"/>
                        </a:buClr>
                        <a:buSzPts val="1400"/>
                        <a:buFont typeface="Times New Roman" panose="02020603050405020304"/>
                        <a:buNone/>
                      </a:pPr>
                      <a:r>
                        <a:rPr lang="en-US" sz="1350" b="1" i="0" u="none" strike="noStrike" cap="none">
                          <a:solidFill>
                            <a:schemeClr val="bg1"/>
                          </a:solidFill>
                          <a:latin typeface="Times New Roman" panose="02020603050405020304"/>
                          <a:ea typeface="Times New Roman" panose="02020603050405020304"/>
                          <a:cs typeface="Times New Roman" panose="02020603050405020304"/>
                          <a:sym typeface="Times New Roman" panose="02020603050405020304"/>
                        </a:rPr>
                        <a:t>Technical Description</a:t>
                      </a:r>
                    </a:p>
                  </a:txBody>
                  <a:tcPr marL="91450" marR="91450" marT="35175" marB="35175" anchor="ctr" anchorCtr="1"/>
                </a:tc>
                <a:tc>
                  <a:txBody>
                    <a:bodyPr/>
                    <a:lstStyle/>
                    <a:p>
                      <a:pPr marL="0" marR="0" lvl="0" indent="0" algn="l" rtl="0">
                        <a:lnSpc>
                          <a:spcPct val="100000"/>
                        </a:lnSpc>
                        <a:spcBef>
                          <a:spcPts val="0"/>
                        </a:spcBef>
                        <a:spcAft>
                          <a:spcPts val="0"/>
                        </a:spcAft>
                        <a:buClr>
                          <a:schemeClr val="dk1"/>
                        </a:buClr>
                        <a:buSzPts val="1400"/>
                        <a:buFont typeface="Times New Roman" panose="02020603050405020304"/>
                        <a:buNone/>
                      </a:pPr>
                      <a:r>
                        <a:rPr lang="en-US" sz="1350" b="1" i="0" u="none" strike="noStrike" cap="none" dirty="0">
                          <a:solidFill>
                            <a:schemeClr val="bg1"/>
                          </a:solidFill>
                          <a:latin typeface="Times New Roman" panose="02020603050405020304"/>
                          <a:ea typeface="Times New Roman" panose="02020603050405020304"/>
                          <a:cs typeface="Times New Roman" panose="02020603050405020304"/>
                          <a:sym typeface="Times New Roman" panose="02020603050405020304"/>
                        </a:rPr>
                        <a:t>Research Gap</a:t>
                      </a:r>
                    </a:p>
                  </a:txBody>
                  <a:tcPr marL="91450" marR="91450" marT="35175" marB="35175" anchor="ctr" anchorCtr="1"/>
                </a:tc>
                <a:extLst>
                  <a:ext uri="{0D108BD9-81ED-4DB2-BD59-A6C34878D82A}">
                    <a16:rowId xmlns:a16="http://schemas.microsoft.com/office/drawing/2014/main" val="10000"/>
                  </a:ext>
                </a:extLst>
              </a:tr>
              <a:tr h="1591647">
                <a:tc>
                  <a:txBody>
                    <a:bodyPr/>
                    <a:lstStyle/>
                    <a:p>
                      <a:pPr marL="0" marR="0" lvl="0" indent="0" algn="just" rtl="0">
                        <a:spcBef>
                          <a:spcPts val="0"/>
                        </a:spcBef>
                        <a:spcAft>
                          <a:spcPts val="0"/>
                        </a:spcAft>
                        <a:buNone/>
                      </a:pPr>
                      <a:r>
                        <a:rPr lang="en-US" sz="1350" b="0" u="none" dirty="0">
                          <a:latin typeface="Times New Roman" panose="02020603050405020304" pitchFamily="18" charset="0"/>
                          <a:cs typeface="Times New Roman" panose="02020603050405020304" pitchFamily="18" charset="0"/>
                        </a:rPr>
                        <a:t>4</a:t>
                      </a:r>
                    </a:p>
                    <a:p>
                      <a:pPr marL="0" marR="0" lvl="0" indent="0" algn="just" rtl="0">
                        <a:spcBef>
                          <a:spcPts val="0"/>
                        </a:spcBef>
                        <a:spcAft>
                          <a:spcPts val="0"/>
                        </a:spcAft>
                        <a:buNone/>
                      </a:pPr>
                      <a:endParaRPr lang="en-US" sz="1350" b="0" u="none" dirty="0">
                        <a:latin typeface="Times New Roman" panose="02020603050405020304" pitchFamily="18" charset="0"/>
                        <a:cs typeface="Times New Roman" panose="02020603050405020304" pitchFamily="18" charset="0"/>
                      </a:endParaRPr>
                    </a:p>
                  </a:txBody>
                  <a:tcPr marL="91450" marR="91450" marT="35175" marB="35175" anchor="ctr"/>
                </a:tc>
                <a:tc>
                  <a:txBody>
                    <a:bodyPr/>
                    <a:lstStyle/>
                    <a:p>
                      <a:r>
                        <a:rPr lang="en-US" b="0" dirty="0">
                          <a:latin typeface="Times New Roman" panose="02020603050405020304" pitchFamily="18" charset="0"/>
                          <a:cs typeface="Times New Roman" panose="02020603050405020304" pitchFamily="18" charset="0"/>
                        </a:rPr>
                        <a:t>DL2F: A Deep Learning Model for the Local Forecasting of Renewable Sources</a:t>
                      </a:r>
                      <a:endParaRPr lang="en-IN" b="0" dirty="0">
                        <a:latin typeface="Times New Roman" panose="02020603050405020304" pitchFamily="18" charset="0"/>
                        <a:cs typeface="Times New Roman" panose="02020603050405020304" pitchFamily="18" charset="0"/>
                      </a:endParaRPr>
                    </a:p>
                  </a:txBody>
                  <a:tcPr anchor="ctr"/>
                </a:tc>
                <a:tc>
                  <a:txBody>
                    <a:bodyPr/>
                    <a:lstStyle/>
                    <a:p>
                      <a:pPr lvl="0" algn="just">
                        <a:lnSpc>
                          <a:spcPct val="100000"/>
                        </a:lnSpc>
                        <a:spcBef>
                          <a:spcPts val="0"/>
                        </a:spcBef>
                        <a:spcAft>
                          <a:spcPts val="0"/>
                        </a:spcAft>
                        <a:buNone/>
                      </a:pPr>
                      <a:r>
                        <a:rPr lang="en-US" b="0" i="0" dirty="0">
                          <a:latin typeface="Times New Roman" panose="02020603050405020304" pitchFamily="18" charset="0"/>
                          <a:cs typeface="Times New Roman" panose="02020603050405020304" pitchFamily="18" charset="0"/>
                        </a:rPr>
                        <a:t>L. </a:t>
                      </a:r>
                      <a:r>
                        <a:rPr lang="en-US" b="0" i="0" dirty="0" err="1">
                          <a:latin typeface="Times New Roman" panose="02020603050405020304" pitchFamily="18" charset="0"/>
                          <a:cs typeface="Times New Roman" panose="02020603050405020304" pitchFamily="18" charset="0"/>
                        </a:rPr>
                        <a:t>Caroprese</a:t>
                      </a:r>
                      <a:r>
                        <a:rPr lang="en-US" b="0" i="0" dirty="0">
                          <a:latin typeface="Times New Roman" panose="02020603050405020304" pitchFamily="18" charset="0"/>
                          <a:cs typeface="Times New Roman" panose="02020603050405020304" pitchFamily="18" charset="0"/>
                        </a:rPr>
                        <a:t>, M. </a:t>
                      </a:r>
                      <a:r>
                        <a:rPr lang="en-US" b="0" i="0" dirty="0" err="1">
                          <a:latin typeface="Times New Roman" panose="02020603050405020304" pitchFamily="18" charset="0"/>
                          <a:cs typeface="Times New Roman" panose="02020603050405020304" pitchFamily="18" charset="0"/>
                        </a:rPr>
                        <a:t>Pierantozzi</a:t>
                      </a:r>
                      <a:r>
                        <a:rPr lang="en-US" b="0" i="0" dirty="0">
                          <a:latin typeface="Times New Roman" panose="02020603050405020304" pitchFamily="18" charset="0"/>
                          <a:cs typeface="Times New Roman" panose="02020603050405020304" pitchFamily="18" charset="0"/>
                        </a:rPr>
                        <a:t>, C. Lops, and S. </a:t>
                      </a:r>
                      <a:r>
                        <a:rPr lang="en-US" b="0" i="0" dirty="0" err="1">
                          <a:latin typeface="Times New Roman" panose="02020603050405020304" pitchFamily="18" charset="0"/>
                          <a:cs typeface="Times New Roman" panose="02020603050405020304" pitchFamily="18" charset="0"/>
                        </a:rPr>
                        <a:t>Montelpare</a:t>
                      </a:r>
                      <a:r>
                        <a:rPr lang="en-US" b="0" i="0" dirty="0">
                          <a:latin typeface="Times New Roman" panose="02020603050405020304" pitchFamily="18" charset="0"/>
                          <a:cs typeface="Times New Roman" panose="02020603050405020304" pitchFamily="18" charset="0"/>
                        </a:rPr>
                        <a:t>, Computers &amp; Industrial Engineering, Vol. 187, 2024.</a:t>
                      </a:r>
                      <a:endParaRPr lang="en-US" sz="1350" b="0" i="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just">
                        <a:lnSpc>
                          <a:spcPct val="100000"/>
                        </a:lnSpc>
                        <a:spcBef>
                          <a:spcPts val="0"/>
                        </a:spcBef>
                        <a:spcAft>
                          <a:spcPts val="0"/>
                        </a:spcAft>
                        <a:buNone/>
                      </a:pPr>
                      <a:r>
                        <a:rPr lang="en-US" b="0" dirty="0">
                          <a:latin typeface="Times New Roman" panose="02020603050405020304" pitchFamily="18" charset="0"/>
                          <a:cs typeface="Times New Roman" panose="02020603050405020304" pitchFamily="18" charset="0"/>
                        </a:rPr>
                        <a:t>The study proposes a deep learning-based forecasting framework for meteorological variables relevant to renewable energy systems. It uses GRU-based recurrent neural.</a:t>
                      </a:r>
                      <a:endParaRPr lang="en-US" sz="1350" b="0" i="0" u="none" strike="noStrike" noProof="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lvl="0" algn="just">
                        <a:lnSpc>
                          <a:spcPct val="100000"/>
                        </a:lnSpc>
                        <a:spcBef>
                          <a:spcPts val="0"/>
                        </a:spcBef>
                        <a:spcAft>
                          <a:spcPts val="0"/>
                        </a:spcAft>
                        <a:buNone/>
                      </a:pPr>
                      <a:r>
                        <a:rPr lang="en-US" b="0" dirty="0">
                          <a:latin typeface="Times New Roman" panose="02020603050405020304" pitchFamily="18" charset="0"/>
                          <a:cs typeface="Times New Roman" panose="02020603050405020304" pitchFamily="18" charset="0"/>
                        </a:rPr>
                        <a:t>The framework mainly improves existing numerical forecasts using a single deep learning model and does not provide independent hybrid forecasting or greenhouse-specific prediction.</a:t>
                      </a:r>
                      <a:endParaRPr lang="en-US" sz="1350" b="0" dirty="0">
                        <a:latin typeface="Times New Roman" panose="02020603050405020304" pitchFamily="18" charset="0"/>
                        <a:cs typeface="Times New Roman" panose="02020603050405020304" pitchFamily="18" charset="0"/>
                      </a:endParaRPr>
                    </a:p>
                  </a:txBody>
                  <a:tcPr marL="91450" marR="91450" marT="45725" marB="45725" anchor="ctr"/>
                </a:tc>
                <a:extLst>
                  <a:ext uri="{0D108BD9-81ED-4DB2-BD59-A6C34878D82A}">
                    <a16:rowId xmlns:a16="http://schemas.microsoft.com/office/drawing/2014/main" val="10001"/>
                  </a:ext>
                </a:extLst>
              </a:tr>
              <a:tr h="1591647">
                <a:tc>
                  <a:txBody>
                    <a:bodyPr/>
                    <a:lstStyle/>
                    <a:p>
                      <a:pPr marL="0" marR="0" lvl="0" indent="0" algn="just" rtl="0">
                        <a:spcBef>
                          <a:spcPts val="0"/>
                        </a:spcBef>
                        <a:spcAft>
                          <a:spcPts val="0"/>
                        </a:spcAft>
                        <a:buNone/>
                      </a:pPr>
                      <a:r>
                        <a:rPr lang="en-US" sz="1350" b="0" dirty="0">
                          <a:latin typeface="Times New Roman" panose="02020603050405020304" pitchFamily="18" charset="0"/>
                          <a:cs typeface="Times New Roman" panose="02020603050405020304" pitchFamily="18" charset="0"/>
                          <a:sym typeface="Times New Roman" panose="02020603050405020304"/>
                        </a:rPr>
                        <a:t>5</a:t>
                      </a:r>
                    </a:p>
                  </a:txBody>
                  <a:tcPr marL="91450" marR="91450" marT="35175" marB="35175" anchor="ctr"/>
                </a:tc>
                <a:tc>
                  <a:txBody>
                    <a:bodyPr/>
                    <a:lstStyle/>
                    <a:p>
                      <a:r>
                        <a:rPr lang="en-US" b="0" dirty="0">
                          <a:latin typeface="Times New Roman" panose="02020603050405020304" pitchFamily="18" charset="0"/>
                          <a:cs typeface="Times New Roman" panose="02020603050405020304" pitchFamily="18" charset="0"/>
                        </a:rPr>
                        <a:t>Deep Learning-Based Time Series Prediction for Precision Field Crop Protection</a:t>
                      </a:r>
                      <a:endParaRPr lang="en-IN" b="0" dirty="0">
                        <a:latin typeface="Times New Roman" panose="02020603050405020304" pitchFamily="18" charset="0"/>
                        <a:cs typeface="Times New Roman" panose="02020603050405020304" pitchFamily="18" charset="0"/>
                      </a:endParaRPr>
                    </a:p>
                  </a:txBody>
                  <a:tcPr anchor="ctr"/>
                </a:tc>
                <a:tc>
                  <a:txBody>
                    <a:bodyPr/>
                    <a:lstStyle/>
                    <a:p>
                      <a:pPr lvl="0" algn="just">
                        <a:lnSpc>
                          <a:spcPct val="100000"/>
                        </a:lnSpc>
                        <a:spcBef>
                          <a:spcPts val="0"/>
                        </a:spcBef>
                        <a:spcAft>
                          <a:spcPts val="0"/>
                        </a:spcAft>
                        <a:buNone/>
                      </a:pPr>
                      <a:r>
                        <a:rPr lang="en-US" b="0" i="0" dirty="0">
                          <a:latin typeface="Times New Roman" panose="02020603050405020304" pitchFamily="18" charset="0"/>
                          <a:cs typeface="Times New Roman" panose="02020603050405020304" pitchFamily="18" charset="0"/>
                        </a:rPr>
                        <a:t>T. He, M. Li, and D. Jin, Frontiers in Plant Science, Vol. 16, 2025.</a:t>
                      </a:r>
                      <a:endParaRPr lang="en-US" sz="1350" b="0" i="0" u="none" strike="noStrike" noProof="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just">
                        <a:spcBef>
                          <a:spcPts val="0"/>
                        </a:spcBef>
                        <a:spcAft>
                          <a:spcPts val="0"/>
                        </a:spcAft>
                        <a:buNone/>
                      </a:pPr>
                      <a:r>
                        <a:rPr lang="en-US" b="0" dirty="0">
                          <a:latin typeface="Times New Roman" panose="02020603050405020304" pitchFamily="18" charset="0"/>
                          <a:cs typeface="Times New Roman" panose="02020603050405020304" pitchFamily="18" charset="0"/>
                        </a:rPr>
                        <a:t>The study uses time-series sensor data, IoT monitoring, and advanced deep learning models such as recurrent networks, attention mechanisms, and transformers to identify crop growth stages in precision agriculture.</a:t>
                      </a:r>
                      <a:endParaRPr lang="en-US" sz="1350" b="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lvl="0" algn="just">
                        <a:lnSpc>
                          <a:spcPct val="100000"/>
                        </a:lnSpc>
                        <a:spcBef>
                          <a:spcPts val="0"/>
                        </a:spcBef>
                        <a:spcAft>
                          <a:spcPts val="0"/>
                        </a:spcAft>
                        <a:buNone/>
                      </a:pPr>
                      <a:r>
                        <a:rPr lang="en-US" b="0" dirty="0">
                          <a:latin typeface="Times New Roman" panose="02020603050405020304" pitchFamily="18" charset="0"/>
                          <a:cs typeface="Times New Roman" panose="02020603050405020304" pitchFamily="18" charset="0"/>
                        </a:rPr>
                        <a:t>The approach mainly focuses on current growth stage classification and does not model future stage transitions or temporal progression.</a:t>
                      </a:r>
                      <a:endParaRPr lang="en-US" sz="1350" b="0" i="0" u="none" strike="noStrike" noProof="0" dirty="0">
                        <a:latin typeface="Times New Roman" panose="02020603050405020304" pitchFamily="18" charset="0"/>
                        <a:cs typeface="Times New Roman" panose="02020603050405020304" pitchFamily="18" charset="0"/>
                      </a:endParaRPr>
                    </a:p>
                  </a:txBody>
                  <a:tcPr marL="91450" marR="91450" marT="45725" marB="45725" anchor="ctr"/>
                </a:tc>
                <a:extLst>
                  <a:ext uri="{0D108BD9-81ED-4DB2-BD59-A6C34878D82A}">
                    <a16:rowId xmlns:a16="http://schemas.microsoft.com/office/drawing/2014/main" val="10002"/>
                  </a:ext>
                </a:extLst>
              </a:tr>
              <a:tr h="1591647">
                <a:tc>
                  <a:txBody>
                    <a:bodyPr/>
                    <a:lstStyle/>
                    <a:p>
                      <a:pPr marL="0" marR="0" lvl="0" indent="0" algn="just" rtl="0">
                        <a:spcBef>
                          <a:spcPts val="0"/>
                        </a:spcBef>
                        <a:spcAft>
                          <a:spcPts val="0"/>
                        </a:spcAft>
                        <a:buNone/>
                      </a:pPr>
                      <a:r>
                        <a:rPr lang="en-US" sz="1350" b="0" dirty="0">
                          <a:latin typeface="Times New Roman" panose="02020603050405020304" pitchFamily="18" charset="0"/>
                          <a:cs typeface="Times New Roman" panose="02020603050405020304" pitchFamily="18" charset="0"/>
                        </a:rPr>
                        <a:t>6</a:t>
                      </a:r>
                      <a:endParaRPr sz="1350" b="0" dirty="0">
                        <a:latin typeface="Times New Roman" panose="02020603050405020304" pitchFamily="18" charset="0"/>
                        <a:cs typeface="Times New Roman" panose="02020603050405020304" pitchFamily="18" charset="0"/>
                      </a:endParaRPr>
                    </a:p>
                  </a:txBody>
                  <a:tcPr marL="91450" marR="91450" marT="35175" marB="35175" anchor="ctr"/>
                </a:tc>
                <a:tc>
                  <a:txBody>
                    <a:bodyPr/>
                    <a:lstStyle/>
                    <a:p>
                      <a:pPr lvl="0" algn="l">
                        <a:lnSpc>
                          <a:spcPct val="100000"/>
                        </a:lnSpc>
                        <a:spcBef>
                          <a:spcPts val="0"/>
                        </a:spcBef>
                        <a:spcAft>
                          <a:spcPts val="0"/>
                        </a:spcAft>
                        <a:buNone/>
                      </a:pPr>
                      <a:r>
                        <a:rPr lang="en-US" b="0" dirty="0">
                          <a:latin typeface="Times New Roman" panose="02020603050405020304" pitchFamily="18" charset="0"/>
                          <a:cs typeface="Times New Roman" panose="02020603050405020304" pitchFamily="18" charset="0"/>
                        </a:rPr>
                        <a:t>Greenhouse Industry 4.0 – Digital Twin Technology for Commercial Greenhouses</a:t>
                      </a:r>
                      <a:endParaRPr lang="en-US" sz="1350" b="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lvl="0" algn="just">
                        <a:lnSpc>
                          <a:spcPct val="100000"/>
                        </a:lnSpc>
                        <a:spcBef>
                          <a:spcPts val="0"/>
                        </a:spcBef>
                        <a:spcAft>
                          <a:spcPts val="0"/>
                        </a:spcAft>
                        <a:buNone/>
                      </a:pPr>
                      <a:r>
                        <a:rPr lang="en-IN" b="0" i="0" dirty="0">
                          <a:latin typeface="Times New Roman" panose="02020603050405020304" pitchFamily="18" charset="0"/>
                          <a:cs typeface="Times New Roman" panose="02020603050405020304" pitchFamily="18" charset="0"/>
                        </a:rPr>
                        <a:t>D. A. Howard, Z. Ma, C. </a:t>
                      </a:r>
                      <a:r>
                        <a:rPr lang="en-IN" b="0" i="0" dirty="0" err="1">
                          <a:latin typeface="Times New Roman" panose="02020603050405020304" pitchFamily="18" charset="0"/>
                          <a:cs typeface="Times New Roman" panose="02020603050405020304" pitchFamily="18" charset="0"/>
                        </a:rPr>
                        <a:t>Veje</a:t>
                      </a:r>
                      <a:r>
                        <a:rPr lang="en-IN" b="0" i="0" dirty="0">
                          <a:latin typeface="Times New Roman" panose="02020603050405020304" pitchFamily="18" charset="0"/>
                          <a:cs typeface="Times New Roman" panose="02020603050405020304" pitchFamily="18" charset="0"/>
                        </a:rPr>
                        <a:t>, A. Clausen, J. M. </a:t>
                      </a:r>
                      <a:r>
                        <a:rPr lang="en-IN" b="0" i="0" dirty="0" err="1">
                          <a:latin typeface="Times New Roman" panose="02020603050405020304" pitchFamily="18" charset="0"/>
                          <a:cs typeface="Times New Roman" panose="02020603050405020304" pitchFamily="18" charset="0"/>
                        </a:rPr>
                        <a:t>Aaslyng</a:t>
                      </a:r>
                      <a:r>
                        <a:rPr lang="en-IN" b="0" i="0" dirty="0">
                          <a:latin typeface="Times New Roman" panose="02020603050405020304" pitchFamily="18" charset="0"/>
                          <a:cs typeface="Times New Roman" panose="02020603050405020304" pitchFamily="18" charset="0"/>
                        </a:rPr>
                        <a:t>, and B. N. </a:t>
                      </a:r>
                      <a:r>
                        <a:rPr lang="en-IN" b="0" i="0" dirty="0" err="1">
                          <a:latin typeface="Times New Roman" panose="02020603050405020304" pitchFamily="18" charset="0"/>
                          <a:cs typeface="Times New Roman" panose="02020603050405020304" pitchFamily="18" charset="0"/>
                        </a:rPr>
                        <a:t>Jørgensen</a:t>
                      </a:r>
                      <a:r>
                        <a:rPr lang="en-IN" b="0" i="0" dirty="0">
                          <a:latin typeface="Times New Roman" panose="02020603050405020304" pitchFamily="18" charset="0"/>
                          <a:cs typeface="Times New Roman" panose="02020603050405020304" pitchFamily="18" charset="0"/>
                        </a:rPr>
                        <a:t>, Energy Informatics, Vol. 4, No. 1, 2021.</a:t>
                      </a:r>
                      <a:endParaRPr lang="en-US" sz="1350" b="0" i="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just">
                        <a:lnSpc>
                          <a:spcPct val="100000"/>
                        </a:lnSpc>
                        <a:spcBef>
                          <a:spcPts val="0"/>
                        </a:spcBef>
                        <a:spcAft>
                          <a:spcPts val="0"/>
                        </a:spcAft>
                        <a:buNone/>
                      </a:pPr>
                      <a:r>
                        <a:rPr lang="en-US" b="0" dirty="0">
                          <a:latin typeface="Times New Roman" panose="02020603050405020304" pitchFamily="18" charset="0"/>
                          <a:cs typeface="Times New Roman" panose="02020603050405020304" pitchFamily="18" charset="0"/>
                        </a:rPr>
                        <a:t>The paper presents an Industry 4.0-based digital twin framework integrating IoT, AI, cloud computing, and big data for greenhouse simulation. It models climate compartments, energy systems, and production.</a:t>
                      </a:r>
                      <a:endParaRPr lang="en-US" sz="1350" b="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lvl="0" algn="just">
                        <a:lnSpc>
                          <a:spcPct val="100000"/>
                        </a:lnSpc>
                        <a:spcBef>
                          <a:spcPts val="0"/>
                        </a:spcBef>
                        <a:spcAft>
                          <a:spcPts val="0"/>
                        </a:spcAft>
                        <a:buNone/>
                      </a:pPr>
                      <a:r>
                        <a:rPr lang="en-US" b="0" dirty="0">
                          <a:latin typeface="Times New Roman" panose="02020603050405020304" pitchFamily="18" charset="0"/>
                          <a:cs typeface="Times New Roman" panose="02020603050405020304" pitchFamily="18" charset="0"/>
                        </a:rPr>
                        <a:t>The system emphasizes large-scale industrial optimization and infrastructure-level integration but gives limited attention to crop-level intelligence or disease prediction.</a:t>
                      </a:r>
                      <a:endParaRPr lang="en-US" sz="1350" b="0" dirty="0">
                        <a:latin typeface="Times New Roman" panose="02020603050405020304" pitchFamily="18" charset="0"/>
                        <a:cs typeface="Times New Roman" panose="02020603050405020304" pitchFamily="18" charset="0"/>
                        <a:sym typeface="+mn-ea"/>
                      </a:endParaRPr>
                    </a:p>
                  </a:txBody>
                  <a:tcPr marL="91450" marR="91450" marT="45725" marB="45725" anchor="ctr"/>
                </a:tc>
                <a:extLst>
                  <a:ext uri="{0D108BD9-81ED-4DB2-BD59-A6C34878D82A}">
                    <a16:rowId xmlns:a16="http://schemas.microsoft.com/office/drawing/2014/main" val="3984641383"/>
                  </a:ext>
                </a:extLst>
              </a:tr>
            </a:tbl>
          </a:graphicData>
        </a:graphic>
      </p:graphicFrame>
      <p:cxnSp>
        <p:nvCxnSpPr>
          <p:cNvPr id="6" name="Google Shape;436;p31"/>
          <p:cNvCxnSpPr/>
          <p:nvPr/>
        </p:nvCxnSpPr>
        <p:spPr>
          <a:xfrm>
            <a:off x="0" y="812178"/>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B8DE3DE7-7CCC-7FFC-4B5A-681A97A2AE51}"/>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5" name="Google Shape;268;p11">
            <a:extLst>
              <a:ext uri="{FF2B5EF4-FFF2-40B4-BE49-F238E27FC236}">
                <a16:creationId xmlns:a16="http://schemas.microsoft.com/office/drawing/2014/main" id="{71CCD4DD-BA44-5FB6-73F9-84524A62433E}"/>
              </a:ext>
            </a:extLst>
          </p:cNvPr>
          <p:cNvSpPr txBox="1">
            <a:spLocks/>
          </p:cNvSpPr>
          <p:nvPr/>
        </p:nvSpPr>
        <p:spPr>
          <a:xfrm>
            <a:off x="0" y="3178"/>
            <a:ext cx="9144000" cy="809000"/>
          </a:xfrm>
          <a:prstGeom prst="rect">
            <a:avLst/>
          </a:prstGeom>
          <a:noFill/>
          <a:ln>
            <a:noFill/>
          </a:ln>
        </p:spPr>
        <p:txBody>
          <a:bodyPr spcFirstLastPara="1" vert="horz" wrap="square" lIns="91425" tIns="45700" rIns="91425" bIns="45700" rtlCol="0" anchor="ctr" anchorCtr="0">
            <a:no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ctr">
              <a:spcBef>
                <a:spcPts val="0"/>
              </a:spcBef>
              <a:buClrTx/>
              <a:buFontTx/>
            </a:pPr>
            <a:r>
              <a:rPr lang="en-US" sz="2800" b="1" dirty="0">
                <a:solidFill>
                  <a:srgbClr val="006600"/>
                </a:solidFill>
                <a:latin typeface="Bookman Old Style" panose="02050604050505020204" pitchFamily="18" charset="0"/>
                <a:cs typeface="Arial" panose="020B0604020202020204"/>
                <a:sym typeface="Times New Roman" panose="02020603050405020304"/>
              </a:rPr>
              <a:t>Literature</a:t>
            </a:r>
            <a:r>
              <a:rPr lang="en-US" sz="2800" b="1" dirty="0">
                <a:solidFill>
                  <a:srgbClr val="006600"/>
                </a:solidFill>
                <a:latin typeface="Bookman Old Style" panose="02050604050505020204" pitchFamily="18" charset="0"/>
                <a:ea typeface="Times New Roman" panose="02020603050405020304"/>
                <a:cs typeface="Times New Roman" panose="02020603050405020304"/>
                <a:sym typeface="Times New Roman" panose="02020603050405020304"/>
              </a:rPr>
              <a:t> </a:t>
            </a:r>
            <a:r>
              <a:rPr lang="en-US" sz="2800" b="1" dirty="0">
                <a:solidFill>
                  <a:srgbClr val="006600"/>
                </a:solidFill>
                <a:latin typeface="Bookman Old Style" panose="02050604050505020204" pitchFamily="18" charset="0"/>
                <a:cs typeface="Arial" panose="020B0604020202020204"/>
                <a:sym typeface="Times New Roman" panose="02020603050405020304"/>
              </a:rPr>
              <a:t>Survey </a:t>
            </a:r>
            <a:r>
              <a:rPr lang="en-US" sz="2800" b="1" dirty="0">
                <a:solidFill>
                  <a:srgbClr val="006600"/>
                </a:solidFill>
                <a:latin typeface="Bookman Old Style"/>
                <a:ea typeface="+mj-lt"/>
                <a:cs typeface="+mj-lt"/>
                <a:sym typeface="Times New Roman" panose="02020603050405020304"/>
              </a:rPr>
              <a:t>(Contd..)</a:t>
            </a:r>
            <a:endParaRPr lang="en-US" sz="2800" b="1" dirty="0">
              <a:solidFill>
                <a:srgbClr val="006600"/>
              </a:solidFill>
              <a:latin typeface="Bookman Old Style" panose="02050604050505020204" pitchFamily="18" charset="0"/>
              <a:cs typeface="Arial" panose="020B0604020202020204"/>
              <a:sym typeface="Times New Roman" panose="02020603050405020304"/>
            </a:endParaRPr>
          </a:p>
        </p:txBody>
      </p:sp>
      <p:sp>
        <p:nvSpPr>
          <p:cNvPr id="3" name="Slide Number Placeholder 2">
            <a:extLst>
              <a:ext uri="{FF2B5EF4-FFF2-40B4-BE49-F238E27FC236}">
                <a16:creationId xmlns:a16="http://schemas.microsoft.com/office/drawing/2014/main" id="{953655EE-610F-1A08-2827-55EFA278B644}"/>
              </a:ext>
            </a:extLst>
          </p:cNvPr>
          <p:cNvSpPr>
            <a:spLocks noGrp="1"/>
          </p:cNvSpPr>
          <p:nvPr>
            <p:ph type="sldNum" sz="quarter" idx="12"/>
          </p:nvPr>
        </p:nvSpPr>
        <p:spPr/>
        <p:txBody>
          <a:bodyPr/>
          <a:lstStyle/>
          <a:p>
            <a:fld id="{00000000-1234-1234-1234-123412341234}" type="slidenum">
              <a:rPr lang="en-US" smtClean="0"/>
              <a:t>13</a:t>
            </a:fld>
            <a:endParaRPr lang="en-US"/>
          </a:p>
        </p:txBody>
      </p:sp>
    </p:spTree>
    <p:extLst>
      <p:ext uri="{BB962C8B-B14F-4D97-AF65-F5344CB8AC3E}">
        <p14:creationId xmlns:p14="http://schemas.microsoft.com/office/powerpoint/2010/main" val="15324241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graphicFrame>
        <p:nvGraphicFramePr>
          <p:cNvPr id="265" name="Google Shape;265;p11"/>
          <p:cNvGraphicFramePr/>
          <p:nvPr>
            <p:custDataLst>
              <p:tags r:id="rId1"/>
            </p:custDataLst>
            <p:extLst>
              <p:ext uri="{D42A27DB-BD31-4B8C-83A1-F6EECF244321}">
                <p14:modId xmlns:p14="http://schemas.microsoft.com/office/powerpoint/2010/main" val="1034305394"/>
              </p:ext>
            </p:extLst>
          </p:nvPr>
        </p:nvGraphicFramePr>
        <p:xfrm>
          <a:off x="152413" y="867598"/>
          <a:ext cx="8839174" cy="5496571"/>
        </p:xfrm>
        <a:graphic>
          <a:graphicData uri="http://schemas.openxmlformats.org/drawingml/2006/table">
            <a:tbl>
              <a:tblPr firstRow="1" bandRow="1">
                <a:noFill/>
                <a:tableStyleId>{56D51072-94E4-4FC1-8697-D52FD32A7993}</a:tableStyleId>
              </a:tblPr>
              <a:tblGrid>
                <a:gridCol w="627786">
                  <a:extLst>
                    <a:ext uri="{9D8B030D-6E8A-4147-A177-3AD203B41FA5}">
                      <a16:colId xmlns:a16="http://schemas.microsoft.com/office/drawing/2014/main" val="20000"/>
                    </a:ext>
                  </a:extLst>
                </a:gridCol>
                <a:gridCol w="1694889">
                  <a:extLst>
                    <a:ext uri="{9D8B030D-6E8A-4147-A177-3AD203B41FA5}">
                      <a16:colId xmlns:a16="http://schemas.microsoft.com/office/drawing/2014/main" val="20001"/>
                    </a:ext>
                  </a:extLst>
                </a:gridCol>
                <a:gridCol w="1610845">
                  <a:extLst>
                    <a:ext uri="{9D8B030D-6E8A-4147-A177-3AD203B41FA5}">
                      <a16:colId xmlns:a16="http://schemas.microsoft.com/office/drawing/2014/main" val="20002"/>
                    </a:ext>
                  </a:extLst>
                </a:gridCol>
                <a:gridCol w="2344607">
                  <a:extLst>
                    <a:ext uri="{9D8B030D-6E8A-4147-A177-3AD203B41FA5}">
                      <a16:colId xmlns:a16="http://schemas.microsoft.com/office/drawing/2014/main" val="20003"/>
                    </a:ext>
                  </a:extLst>
                </a:gridCol>
                <a:gridCol w="2561047">
                  <a:extLst>
                    <a:ext uri="{9D8B030D-6E8A-4147-A177-3AD203B41FA5}">
                      <a16:colId xmlns:a16="http://schemas.microsoft.com/office/drawing/2014/main" val="20004"/>
                    </a:ext>
                  </a:extLst>
                </a:gridCol>
              </a:tblGrid>
              <a:tr h="721630">
                <a:tc>
                  <a:txBody>
                    <a:bodyPr/>
                    <a:lstStyle/>
                    <a:p>
                      <a:pPr marL="0" marR="0" lvl="0" indent="0" algn="l" rtl="0">
                        <a:spcBef>
                          <a:spcPts val="0"/>
                        </a:spcBef>
                        <a:spcAft>
                          <a:spcPts val="0"/>
                        </a:spcAft>
                        <a:buNone/>
                      </a:pPr>
                      <a:r>
                        <a:rPr lang="en-US" sz="1350" u="none" strike="noStrike" cap="none" dirty="0">
                          <a:solidFill>
                            <a:schemeClr val="bg1"/>
                          </a:solidFill>
                          <a:latin typeface="Times New Roman" panose="02020603050405020304"/>
                          <a:ea typeface="Times New Roman" panose="02020603050405020304"/>
                          <a:cs typeface="Times New Roman" panose="02020603050405020304"/>
                          <a:sym typeface="Times New Roman" panose="02020603050405020304"/>
                        </a:rPr>
                        <a:t>S. No.</a:t>
                      </a:r>
                    </a:p>
                  </a:txBody>
                  <a:tcPr marL="91450" marR="91450" marT="35175" marB="35175" anchor="ctr" anchorCtr="1"/>
                </a:tc>
                <a:tc>
                  <a:txBody>
                    <a:bodyPr/>
                    <a:lstStyle/>
                    <a:p>
                      <a:pPr marL="0" marR="0" lvl="0" indent="0" algn="l" defTabSz="685800" rtl="0" eaLnBrk="1" fontAlgn="auto" latinLnBrk="0" hangingPunct="1">
                        <a:lnSpc>
                          <a:spcPct val="100000"/>
                        </a:lnSpc>
                        <a:spcBef>
                          <a:spcPts val="0"/>
                        </a:spcBef>
                        <a:spcAft>
                          <a:spcPts val="0"/>
                        </a:spcAft>
                        <a:buClrTx/>
                        <a:buSzTx/>
                        <a:buFontTx/>
                        <a:buNone/>
                        <a:defRPr/>
                      </a:pPr>
                      <a:r>
                        <a:rPr lang="en-US" sz="1350" u="none" dirty="0">
                          <a:solidFill>
                            <a:schemeClr val="bg1"/>
                          </a:solidFill>
                          <a:latin typeface="Times New Roman" panose="02020603050405020304"/>
                          <a:ea typeface="Times New Roman" panose="02020603050405020304"/>
                          <a:cs typeface="Times New Roman" panose="02020603050405020304"/>
                          <a:sym typeface="Times New Roman" panose="02020603050405020304"/>
                        </a:rPr>
                        <a:t>Title </a:t>
                      </a:r>
                      <a:r>
                        <a:rPr lang="en-US" sz="1350" b="1" u="none" dirty="0">
                          <a:solidFill>
                            <a:schemeClr val="bg1"/>
                          </a:solidFill>
                          <a:latin typeface="Times New Roman" panose="02020603050405020304"/>
                          <a:ea typeface="Times New Roman" panose="02020603050405020304"/>
                          <a:cs typeface="Times New Roman" panose="02020603050405020304"/>
                          <a:sym typeface="Times New Roman" panose="02020603050405020304"/>
                        </a:rPr>
                        <a:t>of Paper</a:t>
                      </a:r>
                      <a:endParaRPr lang="en-US" sz="1350" dirty="0">
                        <a:solidFill>
                          <a:schemeClr val="bg1"/>
                        </a:solidFill>
                      </a:endParaRPr>
                    </a:p>
                    <a:p>
                      <a:pPr marL="0" marR="0" lvl="0" indent="0" algn="l" rtl="0">
                        <a:spcBef>
                          <a:spcPts val="0"/>
                        </a:spcBef>
                        <a:spcAft>
                          <a:spcPts val="0"/>
                        </a:spcAft>
                        <a:buNone/>
                      </a:pPr>
                      <a:endParaRPr sz="1350" dirty="0">
                        <a:solidFill>
                          <a:schemeClr val="bg1"/>
                        </a:solidFill>
                      </a:endParaRPr>
                    </a:p>
                  </a:txBody>
                  <a:tcPr marL="91450" marR="91450" marT="35175" marB="35175" anchor="ctr" anchorCtr="1"/>
                </a:tc>
                <a:tc>
                  <a:txBody>
                    <a:bodyPr/>
                    <a:lstStyle/>
                    <a:p>
                      <a:pPr marL="0" marR="0" lvl="0" indent="0" algn="ctr" rtl="0">
                        <a:spcBef>
                          <a:spcPts val="0"/>
                        </a:spcBef>
                        <a:spcAft>
                          <a:spcPts val="0"/>
                        </a:spcAft>
                        <a:buNone/>
                      </a:pPr>
                      <a:r>
                        <a:rPr lang="en-IN" sz="1350" u="none">
                          <a:solidFill>
                            <a:schemeClr val="bg1"/>
                          </a:solidFill>
                          <a:latin typeface="Times New Roman" panose="02020603050405020304"/>
                          <a:ea typeface="Times New Roman" panose="02020603050405020304"/>
                          <a:cs typeface="Times New Roman" panose="02020603050405020304"/>
                          <a:sym typeface="Times New Roman" panose="02020603050405020304"/>
                        </a:rPr>
                        <a:t>Journal Title  with Year of Publication &amp; Author</a:t>
                      </a:r>
                    </a:p>
                  </a:txBody>
                  <a:tcPr marL="91450" marR="91450" marT="35175" marB="35175" anchor="ctr" anchorCtr="1"/>
                </a:tc>
                <a:tc>
                  <a:txBody>
                    <a:bodyPr/>
                    <a:lstStyle/>
                    <a:p>
                      <a:pPr marL="0" marR="0" lvl="0" indent="0" algn="l" rtl="0">
                        <a:lnSpc>
                          <a:spcPct val="100000"/>
                        </a:lnSpc>
                        <a:spcBef>
                          <a:spcPts val="0"/>
                        </a:spcBef>
                        <a:spcAft>
                          <a:spcPts val="0"/>
                        </a:spcAft>
                        <a:buClr>
                          <a:schemeClr val="dk1"/>
                        </a:buClr>
                        <a:buSzPts val="1400"/>
                        <a:buFont typeface="Times New Roman" panose="02020603050405020304"/>
                        <a:buNone/>
                      </a:pPr>
                      <a:r>
                        <a:rPr lang="en-US" sz="1350" b="1" i="0" u="none" strike="noStrike" cap="none">
                          <a:solidFill>
                            <a:schemeClr val="bg1"/>
                          </a:solidFill>
                          <a:latin typeface="Times New Roman" panose="02020603050405020304"/>
                          <a:ea typeface="Times New Roman" panose="02020603050405020304"/>
                          <a:cs typeface="Times New Roman" panose="02020603050405020304"/>
                          <a:sym typeface="Times New Roman" panose="02020603050405020304"/>
                        </a:rPr>
                        <a:t>Technical Description</a:t>
                      </a:r>
                    </a:p>
                  </a:txBody>
                  <a:tcPr marL="91450" marR="91450" marT="35175" marB="35175" anchor="ctr" anchorCtr="1"/>
                </a:tc>
                <a:tc>
                  <a:txBody>
                    <a:bodyPr/>
                    <a:lstStyle/>
                    <a:p>
                      <a:pPr marL="0" marR="0" lvl="0" indent="0" algn="l" rtl="0">
                        <a:lnSpc>
                          <a:spcPct val="100000"/>
                        </a:lnSpc>
                        <a:spcBef>
                          <a:spcPts val="0"/>
                        </a:spcBef>
                        <a:spcAft>
                          <a:spcPts val="0"/>
                        </a:spcAft>
                        <a:buClr>
                          <a:schemeClr val="dk1"/>
                        </a:buClr>
                        <a:buSzPts val="1400"/>
                        <a:buFont typeface="Times New Roman" panose="02020603050405020304"/>
                        <a:buNone/>
                      </a:pPr>
                      <a:r>
                        <a:rPr lang="en-US" sz="1350" b="1" i="0" u="none" strike="noStrike" cap="none" dirty="0">
                          <a:solidFill>
                            <a:schemeClr val="bg1"/>
                          </a:solidFill>
                          <a:latin typeface="Times New Roman" panose="02020603050405020304"/>
                          <a:ea typeface="Times New Roman" panose="02020603050405020304"/>
                          <a:cs typeface="Times New Roman" panose="02020603050405020304"/>
                          <a:sym typeface="Times New Roman" panose="02020603050405020304"/>
                        </a:rPr>
                        <a:t>Research Gap</a:t>
                      </a:r>
                    </a:p>
                  </a:txBody>
                  <a:tcPr marL="91450" marR="91450" marT="35175" marB="35175" anchor="ctr" anchorCtr="1"/>
                </a:tc>
                <a:extLst>
                  <a:ext uri="{0D108BD9-81ED-4DB2-BD59-A6C34878D82A}">
                    <a16:rowId xmlns:a16="http://schemas.microsoft.com/office/drawing/2014/main" val="10000"/>
                  </a:ext>
                </a:extLst>
              </a:tr>
              <a:tr h="1591647">
                <a:tc>
                  <a:txBody>
                    <a:bodyPr/>
                    <a:lstStyle/>
                    <a:p>
                      <a:pPr marL="0" marR="0" lvl="0" indent="0" algn="just" rtl="0">
                        <a:spcBef>
                          <a:spcPts val="0"/>
                        </a:spcBef>
                        <a:spcAft>
                          <a:spcPts val="0"/>
                        </a:spcAft>
                        <a:buNone/>
                      </a:pPr>
                      <a:r>
                        <a:rPr lang="en-US" sz="1350" b="0" i="0" u="none" dirty="0">
                          <a:latin typeface="Times New Roman" panose="02020603050405020304" pitchFamily="18" charset="0"/>
                          <a:cs typeface="Times New Roman" panose="02020603050405020304" pitchFamily="18" charset="0"/>
                        </a:rPr>
                        <a:t>7</a:t>
                      </a:r>
                    </a:p>
                    <a:p>
                      <a:pPr marL="0" marR="0" lvl="0" indent="0" algn="just" rtl="0">
                        <a:spcBef>
                          <a:spcPts val="0"/>
                        </a:spcBef>
                        <a:spcAft>
                          <a:spcPts val="0"/>
                        </a:spcAft>
                        <a:buNone/>
                      </a:pPr>
                      <a:endParaRPr lang="en-US" sz="1350" b="0" i="0" u="none" dirty="0">
                        <a:latin typeface="Times New Roman" panose="02020603050405020304" pitchFamily="18" charset="0"/>
                        <a:cs typeface="Times New Roman" panose="02020603050405020304" pitchFamily="18" charset="0"/>
                      </a:endParaRPr>
                    </a:p>
                  </a:txBody>
                  <a:tcPr marL="91450" marR="91450" marT="35175" marB="35175" anchor="ctr"/>
                </a:tc>
                <a:tc>
                  <a:txBody>
                    <a:bodyPr/>
                    <a:lstStyle/>
                    <a:p>
                      <a:r>
                        <a:rPr lang="en-US" b="0" i="0" dirty="0">
                          <a:latin typeface="Times New Roman" panose="02020603050405020304" pitchFamily="18" charset="0"/>
                          <a:cs typeface="Times New Roman" panose="02020603050405020304" pitchFamily="18" charset="0"/>
                        </a:rPr>
                        <a:t>Optimal Strategy for Energy-Efficient Management of Greenhouse Climate Control</a:t>
                      </a:r>
                      <a:endParaRPr lang="en-IN" b="0" i="0" dirty="0">
                        <a:latin typeface="Times New Roman" panose="02020603050405020304" pitchFamily="18" charset="0"/>
                        <a:cs typeface="Times New Roman" panose="02020603050405020304" pitchFamily="18" charset="0"/>
                      </a:endParaRPr>
                    </a:p>
                  </a:txBody>
                  <a:tcPr anchor="ctr"/>
                </a:tc>
                <a:tc>
                  <a:txBody>
                    <a:bodyPr/>
                    <a:lstStyle/>
                    <a:p>
                      <a:pPr lvl="0" algn="just">
                        <a:lnSpc>
                          <a:spcPct val="100000"/>
                        </a:lnSpc>
                        <a:spcBef>
                          <a:spcPts val="0"/>
                        </a:spcBef>
                        <a:spcAft>
                          <a:spcPts val="0"/>
                        </a:spcAft>
                        <a:buNone/>
                      </a:pPr>
                      <a:r>
                        <a:rPr lang="en-US" b="0" i="0" dirty="0">
                          <a:latin typeface="Times New Roman" panose="02020603050405020304" pitchFamily="18" charset="0"/>
                          <a:cs typeface="Times New Roman" panose="02020603050405020304" pitchFamily="18" charset="0"/>
                        </a:rPr>
                        <a:t>M. </a:t>
                      </a:r>
                      <a:r>
                        <a:rPr lang="en-US" b="0" i="0" dirty="0" err="1">
                          <a:latin typeface="Times New Roman" panose="02020603050405020304" pitchFamily="18" charset="0"/>
                          <a:cs typeface="Times New Roman" panose="02020603050405020304" pitchFamily="18" charset="0"/>
                        </a:rPr>
                        <a:t>Ghiasi</a:t>
                      </a:r>
                      <a:r>
                        <a:rPr lang="en-US" b="0" i="0" dirty="0">
                          <a:latin typeface="Times New Roman" panose="02020603050405020304" pitchFamily="18" charset="0"/>
                          <a:cs typeface="Times New Roman" panose="02020603050405020304" pitchFamily="18" charset="0"/>
                        </a:rPr>
                        <a:t>, Z. Wang, M. </a:t>
                      </a:r>
                      <a:r>
                        <a:rPr lang="en-US" b="0" i="0" dirty="0" err="1">
                          <a:latin typeface="Times New Roman" panose="02020603050405020304" pitchFamily="18" charset="0"/>
                          <a:cs typeface="Times New Roman" panose="02020603050405020304" pitchFamily="18" charset="0"/>
                        </a:rPr>
                        <a:t>Mehrandezh</a:t>
                      </a:r>
                      <a:r>
                        <a:rPr lang="en-US" b="0" i="0" dirty="0">
                          <a:latin typeface="Times New Roman" panose="02020603050405020304" pitchFamily="18" charset="0"/>
                          <a:cs typeface="Times New Roman" panose="02020603050405020304" pitchFamily="18" charset="0"/>
                        </a:rPr>
                        <a:t>, and A. Mohammadi, IEEE Open Access Journal of Power and Energy, Vol. 12, 2025.</a:t>
                      </a:r>
                      <a:endParaRPr lang="en-US" sz="1350" b="0" i="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just">
                        <a:lnSpc>
                          <a:spcPct val="100000"/>
                        </a:lnSpc>
                        <a:spcBef>
                          <a:spcPts val="0"/>
                        </a:spcBef>
                        <a:spcAft>
                          <a:spcPts val="0"/>
                        </a:spcAft>
                        <a:buNone/>
                      </a:pPr>
                      <a:r>
                        <a:rPr lang="en-US" b="0" i="0" dirty="0">
                          <a:latin typeface="Times New Roman" panose="02020603050405020304" pitchFamily="18" charset="0"/>
                          <a:cs typeface="Times New Roman" panose="02020603050405020304" pitchFamily="18" charset="0"/>
                        </a:rPr>
                        <a:t>The study develops a multi-objective optimization strategy for greenhouse climate control, focusing on minimizing energy consumption while maintaining suitable growth conditions. </a:t>
                      </a:r>
                      <a:endParaRPr lang="en-US" sz="1350" b="0" i="0" u="none" strike="noStrike" noProof="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lvl="0" algn="just">
                        <a:lnSpc>
                          <a:spcPct val="100000"/>
                        </a:lnSpc>
                        <a:spcBef>
                          <a:spcPts val="0"/>
                        </a:spcBef>
                        <a:spcAft>
                          <a:spcPts val="0"/>
                        </a:spcAft>
                        <a:buNone/>
                      </a:pPr>
                      <a:r>
                        <a:rPr lang="en-US" b="0" i="0" dirty="0">
                          <a:latin typeface="Times New Roman" panose="02020603050405020304" pitchFamily="18" charset="0"/>
                          <a:cs typeface="Times New Roman" panose="02020603050405020304" pitchFamily="18" charset="0"/>
                        </a:rPr>
                        <a:t>The approach is mainly centered on energy optimization and environmental control and does not integrate real-time crop health monitoring, disease progression or growth intelligence.</a:t>
                      </a:r>
                      <a:endParaRPr lang="en-US" sz="1350" b="0" i="0" dirty="0">
                        <a:latin typeface="Times New Roman" panose="02020603050405020304" pitchFamily="18" charset="0"/>
                        <a:cs typeface="Times New Roman" panose="02020603050405020304" pitchFamily="18" charset="0"/>
                      </a:endParaRPr>
                    </a:p>
                  </a:txBody>
                  <a:tcPr marL="91450" marR="91450" marT="45725" marB="45725" anchor="ctr"/>
                </a:tc>
                <a:extLst>
                  <a:ext uri="{0D108BD9-81ED-4DB2-BD59-A6C34878D82A}">
                    <a16:rowId xmlns:a16="http://schemas.microsoft.com/office/drawing/2014/main" val="10001"/>
                  </a:ext>
                </a:extLst>
              </a:tr>
              <a:tr h="1591647">
                <a:tc>
                  <a:txBody>
                    <a:bodyPr/>
                    <a:lstStyle/>
                    <a:p>
                      <a:pPr marL="0" marR="0" lvl="0" indent="0" algn="just" rtl="0">
                        <a:spcBef>
                          <a:spcPts val="0"/>
                        </a:spcBef>
                        <a:spcAft>
                          <a:spcPts val="0"/>
                        </a:spcAft>
                        <a:buNone/>
                      </a:pPr>
                      <a:r>
                        <a:rPr lang="en-US" sz="1350" b="0" i="0" dirty="0">
                          <a:latin typeface="Times New Roman" panose="02020603050405020304" pitchFamily="18" charset="0"/>
                          <a:cs typeface="Times New Roman" panose="02020603050405020304" pitchFamily="18" charset="0"/>
                          <a:sym typeface="Times New Roman" panose="02020603050405020304"/>
                        </a:rPr>
                        <a:t>8</a:t>
                      </a:r>
                    </a:p>
                  </a:txBody>
                  <a:tcPr marL="91450" marR="91450" marT="35175" marB="35175" anchor="ctr"/>
                </a:tc>
                <a:tc>
                  <a:txBody>
                    <a:bodyPr/>
                    <a:lstStyle/>
                    <a:p>
                      <a:r>
                        <a:rPr lang="en-US" b="0" i="0" dirty="0">
                          <a:latin typeface="Times New Roman" panose="02020603050405020304" pitchFamily="18" charset="0"/>
                          <a:cs typeface="Times New Roman" panose="02020603050405020304" pitchFamily="18" charset="0"/>
                        </a:rPr>
                        <a:t>Detection and Classification of Diseases in Multi-Crop Leaves Using LSTM and CNN Models</a:t>
                      </a:r>
                      <a:endParaRPr lang="en-IN" b="0" i="0" dirty="0">
                        <a:latin typeface="Times New Roman" panose="02020603050405020304" pitchFamily="18" charset="0"/>
                        <a:cs typeface="Times New Roman" panose="02020603050405020304" pitchFamily="18" charset="0"/>
                      </a:endParaRPr>
                    </a:p>
                  </a:txBody>
                  <a:tcPr anchor="ctr"/>
                </a:tc>
                <a:tc>
                  <a:txBody>
                    <a:bodyPr/>
                    <a:lstStyle/>
                    <a:p>
                      <a:pPr lvl="0" algn="just">
                        <a:lnSpc>
                          <a:spcPct val="100000"/>
                        </a:lnSpc>
                        <a:spcBef>
                          <a:spcPts val="0"/>
                        </a:spcBef>
                        <a:spcAft>
                          <a:spcPts val="0"/>
                        </a:spcAft>
                        <a:buNone/>
                      </a:pPr>
                      <a:r>
                        <a:rPr lang="en-US" b="0" i="0" dirty="0">
                          <a:latin typeface="Times New Roman" panose="02020603050405020304" pitchFamily="18" charset="0"/>
                          <a:cs typeface="Times New Roman" panose="02020603050405020304" pitchFamily="18" charset="0"/>
                        </a:rPr>
                        <a:t>S. </a:t>
                      </a:r>
                      <a:r>
                        <a:rPr lang="en-US" b="0" i="0" dirty="0" err="1">
                          <a:latin typeface="Times New Roman" panose="02020603050405020304" pitchFamily="18" charset="0"/>
                          <a:cs typeface="Times New Roman" panose="02020603050405020304" pitchFamily="18" charset="0"/>
                        </a:rPr>
                        <a:t>Kanakala</a:t>
                      </a:r>
                      <a:r>
                        <a:rPr lang="en-US" b="0" i="0" dirty="0">
                          <a:latin typeface="Times New Roman" panose="02020603050405020304" pitchFamily="18" charset="0"/>
                          <a:cs typeface="Times New Roman" panose="02020603050405020304" pitchFamily="18" charset="0"/>
                        </a:rPr>
                        <a:t> and S. </a:t>
                      </a:r>
                      <a:r>
                        <a:rPr lang="en-US" b="0" i="0" dirty="0" err="1">
                          <a:latin typeface="Times New Roman" panose="02020603050405020304" pitchFamily="18" charset="0"/>
                          <a:cs typeface="Times New Roman" panose="02020603050405020304" pitchFamily="18" charset="0"/>
                        </a:rPr>
                        <a:t>Ningappa</a:t>
                      </a:r>
                      <a:r>
                        <a:rPr lang="en-US" b="0" i="0" dirty="0">
                          <a:latin typeface="Times New Roman" panose="02020603050405020304" pitchFamily="18" charset="0"/>
                          <a:cs typeface="Times New Roman" panose="02020603050405020304" pitchFamily="18" charset="0"/>
                        </a:rPr>
                        <a:t>, Journal of Innovative Image Processing, Vol. 7, No. 1, 2025.</a:t>
                      </a:r>
                      <a:endParaRPr lang="en-US" sz="1350" b="0" i="0" u="none" strike="noStrike" noProof="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just">
                        <a:spcBef>
                          <a:spcPts val="0"/>
                        </a:spcBef>
                        <a:spcAft>
                          <a:spcPts val="0"/>
                        </a:spcAft>
                        <a:buNone/>
                      </a:pPr>
                      <a:r>
                        <a:rPr lang="en-US" b="0" i="0" dirty="0">
                          <a:latin typeface="Times New Roman" panose="02020603050405020304" pitchFamily="18" charset="0"/>
                          <a:cs typeface="Times New Roman" panose="02020603050405020304" pitchFamily="18" charset="0"/>
                        </a:rPr>
                        <a:t>The study applies CNN and LSTM models to plant leaf image datasets for automated multi-class disease classification across multiple crop types. </a:t>
                      </a:r>
                      <a:endParaRPr lang="en-US" sz="1350" b="0" i="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lvl="0" algn="just">
                        <a:lnSpc>
                          <a:spcPct val="100000"/>
                        </a:lnSpc>
                        <a:spcBef>
                          <a:spcPts val="0"/>
                        </a:spcBef>
                        <a:spcAft>
                          <a:spcPts val="0"/>
                        </a:spcAft>
                        <a:buNone/>
                      </a:pPr>
                      <a:r>
                        <a:rPr lang="en-US" b="0" i="0" dirty="0">
                          <a:latin typeface="Times New Roman" panose="02020603050405020304" pitchFamily="18" charset="0"/>
                          <a:cs typeface="Times New Roman" panose="02020603050405020304" pitchFamily="18" charset="0"/>
                        </a:rPr>
                        <a:t>The work is limited to static image-based disease classification and does not include disease progression forecasting or severity prediction.</a:t>
                      </a:r>
                      <a:endParaRPr lang="en-US" sz="1350" b="0" i="0" u="none" strike="noStrike" noProof="0" dirty="0">
                        <a:latin typeface="Times New Roman" panose="02020603050405020304" pitchFamily="18" charset="0"/>
                        <a:cs typeface="Times New Roman" panose="02020603050405020304" pitchFamily="18" charset="0"/>
                      </a:endParaRPr>
                    </a:p>
                  </a:txBody>
                  <a:tcPr marL="91450" marR="91450" marT="45725" marB="45725" anchor="ctr"/>
                </a:tc>
                <a:extLst>
                  <a:ext uri="{0D108BD9-81ED-4DB2-BD59-A6C34878D82A}">
                    <a16:rowId xmlns:a16="http://schemas.microsoft.com/office/drawing/2014/main" val="10002"/>
                  </a:ext>
                </a:extLst>
              </a:tr>
              <a:tr h="1591647">
                <a:tc>
                  <a:txBody>
                    <a:bodyPr/>
                    <a:lstStyle/>
                    <a:p>
                      <a:pPr marL="0" marR="0" lvl="0" indent="0" algn="just" rtl="0">
                        <a:spcBef>
                          <a:spcPts val="0"/>
                        </a:spcBef>
                        <a:spcAft>
                          <a:spcPts val="0"/>
                        </a:spcAft>
                        <a:buNone/>
                      </a:pPr>
                      <a:r>
                        <a:rPr lang="en-US" sz="1350" b="0" i="0" dirty="0">
                          <a:latin typeface="Times New Roman" panose="02020603050405020304" pitchFamily="18" charset="0"/>
                          <a:cs typeface="Times New Roman" panose="02020603050405020304" pitchFamily="18" charset="0"/>
                        </a:rPr>
                        <a:t>9</a:t>
                      </a:r>
                      <a:endParaRPr sz="1350" b="0" i="0" dirty="0">
                        <a:latin typeface="Times New Roman" panose="02020603050405020304" pitchFamily="18" charset="0"/>
                        <a:cs typeface="Times New Roman" panose="02020603050405020304" pitchFamily="18" charset="0"/>
                      </a:endParaRPr>
                    </a:p>
                  </a:txBody>
                  <a:tcPr marL="91450" marR="91450" marT="35175" marB="35175" anchor="ctr"/>
                </a:tc>
                <a:tc>
                  <a:txBody>
                    <a:bodyPr/>
                    <a:lstStyle/>
                    <a:p>
                      <a:pPr lvl="0" algn="l">
                        <a:lnSpc>
                          <a:spcPct val="100000"/>
                        </a:lnSpc>
                        <a:spcBef>
                          <a:spcPts val="0"/>
                        </a:spcBef>
                        <a:spcAft>
                          <a:spcPts val="0"/>
                        </a:spcAft>
                        <a:buNone/>
                      </a:pPr>
                      <a:r>
                        <a:rPr lang="en-US" b="0" i="0" dirty="0">
                          <a:latin typeface="Times New Roman" panose="02020603050405020304" pitchFamily="18" charset="0"/>
                          <a:cs typeface="Times New Roman" panose="02020603050405020304" pitchFamily="18" charset="0"/>
                        </a:rPr>
                        <a:t>An Intelligent IoT-Based System Design for Controlling and Monitoring Greenhouse Temperature</a:t>
                      </a:r>
                      <a:endParaRPr lang="en-US" sz="1350" b="0" i="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lvl="0" algn="just">
                        <a:lnSpc>
                          <a:spcPct val="100000"/>
                        </a:lnSpc>
                        <a:spcBef>
                          <a:spcPts val="0"/>
                        </a:spcBef>
                        <a:spcAft>
                          <a:spcPts val="0"/>
                        </a:spcAft>
                        <a:buNone/>
                      </a:pPr>
                      <a:r>
                        <a:rPr lang="en-US" b="0" i="0" dirty="0">
                          <a:latin typeface="Times New Roman" panose="02020603050405020304" pitchFamily="18" charset="0"/>
                          <a:cs typeface="Times New Roman" panose="02020603050405020304" pitchFamily="18" charset="0"/>
                        </a:rPr>
                        <a:t>A. F. Subahi and K. E. </a:t>
                      </a:r>
                      <a:r>
                        <a:rPr lang="en-US" b="0" i="0" dirty="0" err="1">
                          <a:latin typeface="Times New Roman" panose="02020603050405020304" pitchFamily="18" charset="0"/>
                          <a:cs typeface="Times New Roman" panose="02020603050405020304" pitchFamily="18" charset="0"/>
                        </a:rPr>
                        <a:t>Bouazza</a:t>
                      </a:r>
                      <a:r>
                        <a:rPr lang="en-US" b="0" i="0" dirty="0">
                          <a:latin typeface="Times New Roman" panose="02020603050405020304" pitchFamily="18" charset="0"/>
                          <a:cs typeface="Times New Roman" panose="02020603050405020304" pitchFamily="18" charset="0"/>
                        </a:rPr>
                        <a:t>, IEEE Access, Vol. 10, 2022.</a:t>
                      </a:r>
                      <a:endParaRPr lang="en-US" sz="1350" b="0" i="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just">
                        <a:lnSpc>
                          <a:spcPct val="100000"/>
                        </a:lnSpc>
                        <a:spcBef>
                          <a:spcPts val="0"/>
                        </a:spcBef>
                        <a:spcAft>
                          <a:spcPts val="0"/>
                        </a:spcAft>
                        <a:buNone/>
                      </a:pPr>
                      <a:r>
                        <a:rPr lang="en-US" b="0" i="0" dirty="0">
                          <a:latin typeface="Times New Roman" panose="02020603050405020304" pitchFamily="18" charset="0"/>
                          <a:cs typeface="Times New Roman" panose="02020603050405020304" pitchFamily="18" charset="0"/>
                        </a:rPr>
                        <a:t>The study proposes an IoT-based greenhouse monitoring and control system using sensors, cloud storage, and automated temperature regulation mechanisms.</a:t>
                      </a:r>
                      <a:endParaRPr lang="en-US" sz="1350" b="0" i="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lvl="0" algn="just">
                        <a:lnSpc>
                          <a:spcPct val="100000"/>
                        </a:lnSpc>
                        <a:spcBef>
                          <a:spcPts val="0"/>
                        </a:spcBef>
                        <a:spcAft>
                          <a:spcPts val="0"/>
                        </a:spcAft>
                        <a:buNone/>
                      </a:pPr>
                      <a:r>
                        <a:rPr lang="en-US" b="0" i="0" dirty="0">
                          <a:latin typeface="Times New Roman" panose="02020603050405020304" pitchFamily="18" charset="0"/>
                          <a:cs typeface="Times New Roman" panose="02020603050405020304" pitchFamily="18" charset="0"/>
                        </a:rPr>
                        <a:t>The framework mainly supports environmental monitoring and rule-based control but lacks advanced predictive analytics, crop-specific intelligence, disease detection, and multi-objective optimization.</a:t>
                      </a:r>
                      <a:endParaRPr lang="en-US" sz="1350" b="0" i="0" dirty="0">
                        <a:latin typeface="Times New Roman" panose="02020603050405020304" pitchFamily="18" charset="0"/>
                        <a:cs typeface="Times New Roman" panose="02020603050405020304" pitchFamily="18" charset="0"/>
                        <a:sym typeface="+mn-ea"/>
                      </a:endParaRPr>
                    </a:p>
                  </a:txBody>
                  <a:tcPr marL="91450" marR="91450" marT="45725" marB="45725" anchor="ctr"/>
                </a:tc>
                <a:extLst>
                  <a:ext uri="{0D108BD9-81ED-4DB2-BD59-A6C34878D82A}">
                    <a16:rowId xmlns:a16="http://schemas.microsoft.com/office/drawing/2014/main" val="3984641383"/>
                  </a:ext>
                </a:extLst>
              </a:tr>
            </a:tbl>
          </a:graphicData>
        </a:graphic>
      </p:graphicFrame>
      <p:cxnSp>
        <p:nvCxnSpPr>
          <p:cNvPr id="6" name="Google Shape;436;p31"/>
          <p:cNvCxnSpPr/>
          <p:nvPr/>
        </p:nvCxnSpPr>
        <p:spPr>
          <a:xfrm>
            <a:off x="0" y="812178"/>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B8DE3DE7-7CCC-7FFC-4B5A-681A97A2AE51}"/>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5" name="Google Shape;268;p11">
            <a:extLst>
              <a:ext uri="{FF2B5EF4-FFF2-40B4-BE49-F238E27FC236}">
                <a16:creationId xmlns:a16="http://schemas.microsoft.com/office/drawing/2014/main" id="{71CCD4DD-BA44-5FB6-73F9-84524A62433E}"/>
              </a:ext>
            </a:extLst>
          </p:cNvPr>
          <p:cNvSpPr txBox="1">
            <a:spLocks/>
          </p:cNvSpPr>
          <p:nvPr/>
        </p:nvSpPr>
        <p:spPr>
          <a:xfrm>
            <a:off x="0" y="3178"/>
            <a:ext cx="9144000" cy="809000"/>
          </a:xfrm>
          <a:prstGeom prst="rect">
            <a:avLst/>
          </a:prstGeom>
          <a:noFill/>
          <a:ln>
            <a:noFill/>
          </a:ln>
        </p:spPr>
        <p:txBody>
          <a:bodyPr spcFirstLastPara="1" vert="horz" wrap="square" lIns="91425" tIns="45700" rIns="91425" bIns="45700" rtlCol="0" anchor="ctr" anchorCtr="0">
            <a:no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ctr">
              <a:spcBef>
                <a:spcPts val="0"/>
              </a:spcBef>
              <a:buClrTx/>
              <a:buFontTx/>
            </a:pPr>
            <a:r>
              <a:rPr lang="en-US" sz="2800" b="1" dirty="0">
                <a:solidFill>
                  <a:srgbClr val="006600"/>
                </a:solidFill>
                <a:latin typeface="Bookman Old Style" panose="02050604050505020204" pitchFamily="18" charset="0"/>
                <a:cs typeface="Arial" panose="020B0604020202020204"/>
                <a:sym typeface="Times New Roman" panose="02020603050405020304"/>
              </a:rPr>
              <a:t>Literature</a:t>
            </a:r>
            <a:r>
              <a:rPr lang="en-US" sz="2800" b="1" dirty="0">
                <a:solidFill>
                  <a:srgbClr val="006600"/>
                </a:solidFill>
                <a:latin typeface="Bookman Old Style" panose="02050604050505020204" pitchFamily="18" charset="0"/>
                <a:ea typeface="Times New Roman" panose="02020603050405020304"/>
                <a:cs typeface="Times New Roman" panose="02020603050405020304"/>
                <a:sym typeface="Times New Roman" panose="02020603050405020304"/>
              </a:rPr>
              <a:t> </a:t>
            </a:r>
            <a:r>
              <a:rPr lang="en-US" sz="2800" b="1" dirty="0">
                <a:solidFill>
                  <a:srgbClr val="006600"/>
                </a:solidFill>
                <a:latin typeface="Bookman Old Style" panose="02050604050505020204" pitchFamily="18" charset="0"/>
                <a:cs typeface="Arial" panose="020B0604020202020204"/>
                <a:sym typeface="Times New Roman" panose="02020603050405020304"/>
              </a:rPr>
              <a:t>Survey </a:t>
            </a:r>
            <a:r>
              <a:rPr lang="en-US" sz="2800" b="1" dirty="0">
                <a:solidFill>
                  <a:srgbClr val="006600"/>
                </a:solidFill>
                <a:latin typeface="Bookman Old Style"/>
                <a:ea typeface="+mj-lt"/>
                <a:cs typeface="+mj-lt"/>
                <a:sym typeface="Times New Roman" panose="02020603050405020304"/>
              </a:rPr>
              <a:t>(Contd..)</a:t>
            </a:r>
            <a:endParaRPr lang="en-US" sz="2800" b="1" dirty="0">
              <a:solidFill>
                <a:srgbClr val="006600"/>
              </a:solidFill>
              <a:latin typeface="Bookman Old Style" panose="02050604050505020204" pitchFamily="18" charset="0"/>
              <a:cs typeface="Arial" panose="020B0604020202020204"/>
              <a:sym typeface="Times New Roman" panose="02020603050405020304"/>
            </a:endParaRPr>
          </a:p>
        </p:txBody>
      </p:sp>
      <p:sp>
        <p:nvSpPr>
          <p:cNvPr id="3" name="Slide Number Placeholder 2">
            <a:extLst>
              <a:ext uri="{FF2B5EF4-FFF2-40B4-BE49-F238E27FC236}">
                <a16:creationId xmlns:a16="http://schemas.microsoft.com/office/drawing/2014/main" id="{953655EE-610F-1A08-2827-55EFA278B644}"/>
              </a:ext>
            </a:extLst>
          </p:cNvPr>
          <p:cNvSpPr>
            <a:spLocks noGrp="1"/>
          </p:cNvSpPr>
          <p:nvPr>
            <p:ph type="sldNum" sz="quarter" idx="12"/>
          </p:nvPr>
        </p:nvSpPr>
        <p:spPr/>
        <p:txBody>
          <a:bodyPr/>
          <a:lstStyle/>
          <a:p>
            <a:fld id="{00000000-1234-1234-1234-123412341234}" type="slidenum">
              <a:rPr lang="en-US" smtClean="0"/>
              <a:t>14</a:t>
            </a:fld>
            <a:endParaRPr lang="en-US"/>
          </a:p>
        </p:txBody>
      </p:sp>
    </p:spTree>
    <p:extLst>
      <p:ext uri="{BB962C8B-B14F-4D97-AF65-F5344CB8AC3E}">
        <p14:creationId xmlns:p14="http://schemas.microsoft.com/office/powerpoint/2010/main" val="38375309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Shape 307">
          <a:extLst>
            <a:ext uri="{FF2B5EF4-FFF2-40B4-BE49-F238E27FC236}">
              <a16:creationId xmlns:a16="http://schemas.microsoft.com/office/drawing/2014/main" id="{F632CEC3-6850-B08D-162B-06B9F959F948}"/>
            </a:ext>
          </a:extLst>
        </p:cNvPr>
        <p:cNvGrpSpPr/>
        <p:nvPr/>
      </p:nvGrpSpPr>
      <p:grpSpPr>
        <a:xfrm>
          <a:off x="0" y="0"/>
          <a:ext cx="0" cy="0"/>
          <a:chOff x="0" y="0"/>
          <a:chExt cx="0" cy="0"/>
        </a:xfrm>
      </p:grpSpPr>
      <p:sp>
        <p:nvSpPr>
          <p:cNvPr id="9" name="Google Shape;303;p15">
            <a:extLst>
              <a:ext uri="{FF2B5EF4-FFF2-40B4-BE49-F238E27FC236}">
                <a16:creationId xmlns:a16="http://schemas.microsoft.com/office/drawing/2014/main" id="{ECBCC9E5-0543-42D9-BB5B-CEBB6BB98F70}"/>
              </a:ext>
            </a:extLst>
          </p:cNvPr>
          <p:cNvSpPr txBox="1">
            <a:spLocks noGrp="1"/>
          </p:cNvSpPr>
          <p:nvPr>
            <p:ph type="title"/>
          </p:nvPr>
        </p:nvSpPr>
        <p:spPr>
          <a:xfrm>
            <a:off x="0" y="0"/>
            <a:ext cx="9143999" cy="667384"/>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mj-lt"/>
                <a:sym typeface="Times New Roman" panose="02020603050405020304"/>
              </a:rPr>
              <a:t>Inference from Literature</a:t>
            </a:r>
            <a:endParaRPr lang="en-US" b="1" dirty="0">
              <a:solidFill>
                <a:srgbClr val="006600"/>
              </a:solidFill>
              <a:latin typeface="Bookman Old Style"/>
            </a:endParaRPr>
          </a:p>
        </p:txBody>
      </p:sp>
      <p:sp>
        <p:nvSpPr>
          <p:cNvPr id="309" name="Google Shape;309;p16">
            <a:extLst>
              <a:ext uri="{FF2B5EF4-FFF2-40B4-BE49-F238E27FC236}">
                <a16:creationId xmlns:a16="http://schemas.microsoft.com/office/drawing/2014/main" id="{07DAFB41-8774-5817-372F-56F22D40505C}"/>
              </a:ext>
            </a:extLst>
          </p:cNvPr>
          <p:cNvSpPr txBox="1">
            <a:spLocks noGrp="1"/>
          </p:cNvSpPr>
          <p:nvPr>
            <p:ph idx="1"/>
          </p:nvPr>
        </p:nvSpPr>
        <p:spPr>
          <a:xfrm>
            <a:off x="242487" y="711307"/>
            <a:ext cx="8659024" cy="5781568"/>
          </a:xfrm>
          <a:prstGeom prst="rect">
            <a:avLst/>
          </a:prstGeom>
          <a:noFill/>
          <a:ln>
            <a:noFill/>
          </a:ln>
        </p:spPr>
        <p:txBody>
          <a:bodyPr spcFirstLastPara="1" wrap="square" lIns="91425" tIns="45700" rIns="91425" bIns="45700" anchor="t" anchorCtr="0">
            <a:noAutofit/>
          </a:bodyPr>
          <a:lstStyle/>
          <a:p>
            <a:pPr algn="just">
              <a:buFont typeface="Wingdings" panose="020B0604020202020204" pitchFamily="34" charset="0"/>
              <a:buChar char="q"/>
            </a:pPr>
            <a:r>
              <a:rPr lang="en-US" sz="2000" dirty="0">
                <a:latin typeface="Times New Roman" panose="02020603050405020304" pitchFamily="18" charset="0"/>
                <a:ea typeface="+mn-lt"/>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Existing studies emphasize preprocessing (noise removal, balancing, feature engineering) mainly for training readiness, highlighting the lack of a unified environmental data processing pipeline.</a:t>
            </a:r>
            <a:endParaRPr lang="en-US" sz="2000" dirty="0">
              <a:latin typeface="Times New Roman" panose="02020603050405020304" pitchFamily="18" charset="0"/>
              <a:ea typeface="+mn-lt"/>
              <a:cs typeface="Times New Roman" panose="02020603050405020304" pitchFamily="18" charset="0"/>
            </a:endParaRPr>
          </a:p>
          <a:p>
            <a:pPr algn="just">
              <a:buFont typeface="Wingdings" panose="020B0604020202020204" pitchFamily="34" charset="0"/>
              <a:buChar char="q"/>
            </a:pPr>
            <a:r>
              <a:rPr lang="en-US" sz="2000" dirty="0">
                <a:latin typeface="Times New Roman" panose="02020603050405020304" pitchFamily="18" charset="0"/>
                <a:ea typeface="+mn-lt"/>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CNN-based disease detection methods achieve high accuracy but introduce high computational complexity and limited interpretability for real-time greenhouse deployment.</a:t>
            </a:r>
          </a:p>
          <a:p>
            <a:pPr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 Single-model forecasting approaches lack robustness, showing the need for hybrid multi-model prediction frameworks.</a:t>
            </a:r>
          </a:p>
          <a:p>
            <a:pPr algn="just">
              <a:buFont typeface="Wingdings" panose="020B0604020202020204" pitchFamily="34" charset="0"/>
              <a:buChar char="q"/>
            </a:pPr>
            <a:r>
              <a:rPr lang="en-US" sz="2000" dirty="0">
                <a:latin typeface="Times New Roman" panose="02020603050405020304" pitchFamily="18" charset="0"/>
                <a:ea typeface="Calibri"/>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Existing growth analysis treats plant development as static classification, lacking models that predict transition timelines, and progression behavior.</a:t>
            </a:r>
          </a:p>
          <a:p>
            <a:pPr algn="just">
              <a:buFont typeface="Wingdings" panose="020B0604020202020204" pitchFamily="34" charset="0"/>
              <a:buChar char="q"/>
            </a:pPr>
            <a:r>
              <a:rPr lang="en-US" sz="2000" dirty="0">
                <a:latin typeface="Times New Roman" panose="02020603050405020304" pitchFamily="18" charset="0"/>
                <a:ea typeface="Calibri"/>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Disease detection methods are reactive and image-based, with limited integration of environmental and temporal factors for forecasting disease progression. </a:t>
            </a:r>
          </a:p>
          <a:p>
            <a:pPr algn="just">
              <a:buFont typeface="Wingdings" panose="020B0604020202020204" pitchFamily="34" charset="0"/>
              <a:buChar char="q"/>
            </a:pPr>
            <a:r>
              <a:rPr lang="en-US" sz="2000" dirty="0">
                <a:latin typeface="Times New Roman" panose="02020603050405020304" pitchFamily="18" charset="0"/>
                <a:ea typeface="Calibri"/>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Current IoT and digital twin systems focus on infrastructure and environmental optimization, lacking fine-grained crop-level intelligence for precise decision-making.</a:t>
            </a:r>
          </a:p>
          <a:p>
            <a:pPr algn="just">
              <a:buFont typeface="Wingdings" panose="020B0604020202020204" pitchFamily="34" charset="0"/>
              <a:buChar char="q"/>
            </a:pPr>
            <a:r>
              <a:rPr lang="en-US" sz="2000" dirty="0">
                <a:latin typeface="Times New Roman" panose="02020603050405020304" pitchFamily="18" charset="0"/>
                <a:ea typeface="Calibri"/>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Many frameworks rely on rule-based or single-model control, reducing adaptability and robustness under dynamic greenhouse conditions. </a:t>
            </a:r>
            <a:endParaRPr lang="en-US" sz="2000" dirty="0">
              <a:latin typeface="Times New Roman" panose="02020603050405020304" pitchFamily="18" charset="0"/>
              <a:ea typeface="Calibri"/>
              <a:cs typeface="Times New Roman" panose="02020603050405020304" pitchFamily="18" charset="0"/>
            </a:endParaRPr>
          </a:p>
        </p:txBody>
      </p:sp>
      <p:cxnSp>
        <p:nvCxnSpPr>
          <p:cNvPr id="10" name="Google Shape;436;p31">
            <a:extLst>
              <a:ext uri="{FF2B5EF4-FFF2-40B4-BE49-F238E27FC236}">
                <a16:creationId xmlns:a16="http://schemas.microsoft.com/office/drawing/2014/main" id="{BD03D2FC-8E5E-0286-C129-090D3B05E27B}"/>
              </a:ext>
            </a:extLst>
          </p:cNvPr>
          <p:cNvCxnSpPr/>
          <p:nvPr/>
        </p:nvCxnSpPr>
        <p:spPr>
          <a:xfrm>
            <a:off x="0" y="682394"/>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3C00A296-A8AE-B0FC-915F-89949E0D84DF}"/>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E6727537-C643-68ED-1420-41F1A5DC89D3}"/>
              </a:ext>
            </a:extLst>
          </p:cNvPr>
          <p:cNvSpPr>
            <a:spLocks noGrp="1"/>
          </p:cNvSpPr>
          <p:nvPr>
            <p:ph type="sldNum" sz="quarter" idx="12"/>
          </p:nvPr>
        </p:nvSpPr>
        <p:spPr/>
        <p:txBody>
          <a:bodyPr/>
          <a:lstStyle/>
          <a:p>
            <a:fld id="{00000000-1234-1234-1234-123412341234}" type="slidenum">
              <a:rPr lang="en-US" smtClean="0"/>
              <a:t>15</a:t>
            </a:fld>
            <a:endParaRPr lang="en-US"/>
          </a:p>
        </p:txBody>
      </p:sp>
    </p:spTree>
    <p:extLst>
      <p:ext uri="{BB962C8B-B14F-4D97-AF65-F5344CB8AC3E}">
        <p14:creationId xmlns:p14="http://schemas.microsoft.com/office/powerpoint/2010/main" val="50219706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Shape 307">
          <a:extLst>
            <a:ext uri="{FF2B5EF4-FFF2-40B4-BE49-F238E27FC236}">
              <a16:creationId xmlns:a16="http://schemas.microsoft.com/office/drawing/2014/main" id="{EFBCACE7-05D6-B0A2-7143-6AAE209530B3}"/>
            </a:ext>
          </a:extLst>
        </p:cNvPr>
        <p:cNvGrpSpPr/>
        <p:nvPr/>
      </p:nvGrpSpPr>
      <p:grpSpPr>
        <a:xfrm>
          <a:off x="0" y="0"/>
          <a:ext cx="0" cy="0"/>
          <a:chOff x="0" y="0"/>
          <a:chExt cx="0" cy="0"/>
        </a:xfrm>
      </p:grpSpPr>
      <p:sp>
        <p:nvSpPr>
          <p:cNvPr id="9" name="Google Shape;303;p15">
            <a:extLst>
              <a:ext uri="{FF2B5EF4-FFF2-40B4-BE49-F238E27FC236}">
                <a16:creationId xmlns:a16="http://schemas.microsoft.com/office/drawing/2014/main" id="{ED25204E-D1C9-EC57-D803-92B56A6A9201}"/>
              </a:ext>
            </a:extLst>
          </p:cNvPr>
          <p:cNvSpPr txBox="1">
            <a:spLocks noGrp="1"/>
          </p:cNvSpPr>
          <p:nvPr>
            <p:ph type="title"/>
          </p:nvPr>
        </p:nvSpPr>
        <p:spPr>
          <a:xfrm>
            <a:off x="0" y="0"/>
            <a:ext cx="9143999" cy="667384"/>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mj-lt"/>
                <a:sym typeface="Times New Roman" panose="02020603050405020304"/>
              </a:rPr>
              <a:t>Proposed </a:t>
            </a:r>
            <a:r>
              <a:rPr lang="en-US" sz="2800" b="1" dirty="0" err="1">
                <a:solidFill>
                  <a:srgbClr val="006600"/>
                </a:solidFill>
                <a:latin typeface="Bookman Old Style"/>
                <a:ea typeface="+mj-lt"/>
                <a:cs typeface="+mj-lt"/>
                <a:sym typeface="Times New Roman" panose="02020603050405020304"/>
              </a:rPr>
              <a:t>AgriTwin</a:t>
            </a:r>
            <a:r>
              <a:rPr lang="en-US" sz="2800" b="1" dirty="0">
                <a:solidFill>
                  <a:srgbClr val="006600"/>
                </a:solidFill>
                <a:latin typeface="Bookman Old Style"/>
                <a:ea typeface="+mj-lt"/>
                <a:cs typeface="+mj-lt"/>
                <a:sym typeface="Times New Roman" panose="02020603050405020304"/>
              </a:rPr>
              <a:t>-GH System</a:t>
            </a:r>
            <a:endParaRPr lang="en-US" b="1" dirty="0">
              <a:solidFill>
                <a:srgbClr val="006600"/>
              </a:solidFill>
              <a:latin typeface="Bookman Old Style"/>
            </a:endParaRPr>
          </a:p>
        </p:txBody>
      </p:sp>
      <p:sp>
        <p:nvSpPr>
          <p:cNvPr id="309" name="Google Shape;309;p16">
            <a:extLst>
              <a:ext uri="{FF2B5EF4-FFF2-40B4-BE49-F238E27FC236}">
                <a16:creationId xmlns:a16="http://schemas.microsoft.com/office/drawing/2014/main" id="{10A27695-A21E-61B2-E4C8-7494516D5E2B}"/>
              </a:ext>
            </a:extLst>
          </p:cNvPr>
          <p:cNvSpPr txBox="1">
            <a:spLocks noGrp="1"/>
          </p:cNvSpPr>
          <p:nvPr>
            <p:ph idx="1"/>
          </p:nvPr>
        </p:nvSpPr>
        <p:spPr>
          <a:xfrm>
            <a:off x="242487" y="933588"/>
            <a:ext cx="8659024" cy="5422763"/>
          </a:xfrm>
          <a:prstGeom prst="rect">
            <a:avLst/>
          </a:prstGeom>
          <a:noFill/>
          <a:ln>
            <a:noFill/>
          </a:ln>
        </p:spPr>
        <p:txBody>
          <a:bodyPr spcFirstLastPara="1" wrap="square" lIns="91425" tIns="45700" rIns="91425" bIns="45700" anchor="t" anchorCtr="0">
            <a:noAutofit/>
          </a:bodyPr>
          <a:lstStyle/>
          <a:p>
            <a:pPr algn="just">
              <a:buFont typeface="Wingdings" panose="020B0604020202020204" pitchFamily="34" charset="0"/>
              <a:buChar char="q"/>
            </a:pPr>
            <a:r>
              <a:rPr lang="en-US" sz="2000" dirty="0">
                <a:latin typeface="Times New Roman" panose="02020603050405020304" pitchFamily="18" charset="0"/>
                <a:ea typeface="Calibri"/>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AgriTwin</a:t>
            </a:r>
            <a:r>
              <a:rPr lang="en-US" sz="2000" dirty="0">
                <a:latin typeface="Times New Roman" panose="02020603050405020304" pitchFamily="18" charset="0"/>
                <a:cs typeface="Times New Roman" panose="02020603050405020304" pitchFamily="18" charset="0"/>
              </a:rPr>
              <a:t>-GH is an AI-driven system designed to enable intelligent and efficient greenhouse management through data-driven monitoring and control.</a:t>
            </a:r>
          </a:p>
          <a:p>
            <a:pPr algn="just">
              <a:buFont typeface="Wingdings" panose="020B0604020202020204" pitchFamily="34" charset="0"/>
              <a:buChar char="q"/>
            </a:pPr>
            <a:r>
              <a:rPr lang="en-US" sz="2000" dirty="0">
                <a:latin typeface="Times New Roman" panose="02020603050405020304" pitchFamily="18" charset="0"/>
                <a:ea typeface="Calibri"/>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The system combines environmental data and plant image analysis to provide a comprehensive understanding of crop conditions.</a:t>
            </a:r>
          </a:p>
          <a:p>
            <a:pPr algn="just">
              <a:buFont typeface="Wingdings" panose="020B0604020202020204" pitchFamily="34" charset="0"/>
              <a:buChar char="q"/>
            </a:pPr>
            <a:r>
              <a:rPr lang="en-US" sz="2000" dirty="0">
                <a:latin typeface="Times New Roman" panose="02020603050405020304" pitchFamily="18" charset="0"/>
                <a:ea typeface="Calibri"/>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It utilizes advanced machine learning and deep learning models to analyze current states and generate predictive insights.</a:t>
            </a:r>
          </a:p>
          <a:p>
            <a:pPr algn="just">
              <a:buFont typeface="Wingdings" panose="020B0604020202020204" pitchFamily="34" charset="0"/>
              <a:buChar char="q"/>
            </a:pPr>
            <a:r>
              <a:rPr lang="en-US" sz="2000" dirty="0">
                <a:latin typeface="Times New Roman" panose="02020603050405020304" pitchFamily="18" charset="0"/>
                <a:ea typeface="Calibri"/>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The system supports early detection of risks such as disease and suboptimal growth conditions, enabling timely interventions.</a:t>
            </a:r>
          </a:p>
          <a:p>
            <a:pPr algn="just">
              <a:buFont typeface="Wingdings" panose="020B0604020202020204" pitchFamily="34" charset="0"/>
              <a:buChar char="q"/>
            </a:pPr>
            <a:r>
              <a:rPr lang="en-US" sz="2000" dirty="0">
                <a:latin typeface="Times New Roman" panose="02020603050405020304" pitchFamily="18" charset="0"/>
                <a:ea typeface="Calibri"/>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A digital twin component creates a virtual representation of the greenhouse to simulate and validate control strategies.</a:t>
            </a:r>
          </a:p>
          <a:p>
            <a:pPr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 Intelligent decision-making mechanisms optimize key operations such as irrigation, ventilation, temperature, and lighting.</a:t>
            </a:r>
          </a:p>
          <a:p>
            <a:pPr algn="just">
              <a:buFont typeface="Wingdings" panose="020B0604020202020204" pitchFamily="34" charset="0"/>
              <a:buChar char="q"/>
            </a:pPr>
            <a:r>
              <a:rPr lang="en-US" sz="2000" dirty="0">
                <a:latin typeface="Times New Roman" panose="02020603050405020304" pitchFamily="18" charset="0"/>
                <a:ea typeface="Calibri"/>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The system operates in real time, continuously adapting to changing conditions within the greenhouse environment.</a:t>
            </a:r>
          </a:p>
          <a:p>
            <a:pPr algn="just">
              <a:buFont typeface="Wingdings" panose="020B0604020202020204" pitchFamily="34" charset="0"/>
              <a:buChar char="q"/>
            </a:pPr>
            <a:r>
              <a:rPr lang="en-US" sz="2000" dirty="0">
                <a:latin typeface="Times New Roman" panose="02020603050405020304" pitchFamily="18" charset="0"/>
                <a:ea typeface="Calibri"/>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Overall, it transforms greenhouse management from a reactive approach to a predictive and proactive system. </a:t>
            </a:r>
          </a:p>
          <a:p>
            <a:pPr algn="just">
              <a:buFont typeface="Wingdings" panose="020B0604020202020204" pitchFamily="34" charset="0"/>
              <a:buChar char="q"/>
            </a:pPr>
            <a:endParaRPr lang="en-US" sz="2000" dirty="0">
              <a:latin typeface="Times New Roman" panose="02020603050405020304" pitchFamily="18" charset="0"/>
              <a:ea typeface="Calibri"/>
              <a:cs typeface="Times New Roman" panose="02020603050405020304" pitchFamily="18" charset="0"/>
            </a:endParaRPr>
          </a:p>
        </p:txBody>
      </p:sp>
      <p:cxnSp>
        <p:nvCxnSpPr>
          <p:cNvPr id="10" name="Google Shape;436;p31">
            <a:extLst>
              <a:ext uri="{FF2B5EF4-FFF2-40B4-BE49-F238E27FC236}">
                <a16:creationId xmlns:a16="http://schemas.microsoft.com/office/drawing/2014/main" id="{651FC17F-BE5A-9C26-7345-6EEA7B6D033F}"/>
              </a:ext>
            </a:extLst>
          </p:cNvPr>
          <p:cNvCxnSpPr/>
          <p:nvPr/>
        </p:nvCxnSpPr>
        <p:spPr>
          <a:xfrm>
            <a:off x="0" y="682394"/>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B0C0636E-CBBB-8461-454B-DC5D031E3775}"/>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221FB452-11D4-CA39-0083-4F277C81BB98}"/>
              </a:ext>
            </a:extLst>
          </p:cNvPr>
          <p:cNvSpPr>
            <a:spLocks noGrp="1"/>
          </p:cNvSpPr>
          <p:nvPr>
            <p:ph type="sldNum" sz="quarter" idx="12"/>
          </p:nvPr>
        </p:nvSpPr>
        <p:spPr/>
        <p:txBody>
          <a:bodyPr/>
          <a:lstStyle/>
          <a:p>
            <a:fld id="{00000000-1234-1234-1234-123412341234}" type="slidenum">
              <a:rPr lang="en-US" smtClean="0"/>
              <a:t>16</a:t>
            </a:fld>
            <a:endParaRPr lang="en-US"/>
          </a:p>
        </p:txBody>
      </p:sp>
    </p:spTree>
    <p:extLst>
      <p:ext uri="{BB962C8B-B14F-4D97-AF65-F5344CB8AC3E}">
        <p14:creationId xmlns:p14="http://schemas.microsoft.com/office/powerpoint/2010/main" val="186905841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Shape 307">
          <a:extLst>
            <a:ext uri="{FF2B5EF4-FFF2-40B4-BE49-F238E27FC236}">
              <a16:creationId xmlns:a16="http://schemas.microsoft.com/office/drawing/2014/main" id="{6EE69D61-0300-7D4F-18AB-EFE7ABBC8A4C}"/>
            </a:ext>
          </a:extLst>
        </p:cNvPr>
        <p:cNvGrpSpPr/>
        <p:nvPr/>
      </p:nvGrpSpPr>
      <p:grpSpPr>
        <a:xfrm>
          <a:off x="0" y="0"/>
          <a:ext cx="0" cy="0"/>
          <a:chOff x="0" y="0"/>
          <a:chExt cx="0" cy="0"/>
        </a:xfrm>
      </p:grpSpPr>
      <p:sp>
        <p:nvSpPr>
          <p:cNvPr id="9" name="Google Shape;303;p15">
            <a:extLst>
              <a:ext uri="{FF2B5EF4-FFF2-40B4-BE49-F238E27FC236}">
                <a16:creationId xmlns:a16="http://schemas.microsoft.com/office/drawing/2014/main" id="{4316088F-DA18-D152-744D-A68A8EF577DD}"/>
              </a:ext>
            </a:extLst>
          </p:cNvPr>
          <p:cNvSpPr txBox="1">
            <a:spLocks noGrp="1"/>
          </p:cNvSpPr>
          <p:nvPr>
            <p:ph type="title"/>
          </p:nvPr>
        </p:nvSpPr>
        <p:spPr>
          <a:xfrm>
            <a:off x="0" y="0"/>
            <a:ext cx="9143999" cy="667384"/>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mj-lt"/>
                <a:sym typeface="Times New Roman" panose="02020603050405020304"/>
              </a:rPr>
              <a:t>System Architecture of </a:t>
            </a:r>
            <a:r>
              <a:rPr lang="en-US" sz="2800" b="1" dirty="0" err="1">
                <a:solidFill>
                  <a:srgbClr val="006600"/>
                </a:solidFill>
                <a:latin typeface="Bookman Old Style"/>
                <a:ea typeface="+mj-lt"/>
                <a:cs typeface="+mj-lt"/>
                <a:sym typeface="Times New Roman" panose="02020603050405020304"/>
              </a:rPr>
              <a:t>AgriTwin</a:t>
            </a:r>
            <a:r>
              <a:rPr lang="en-US" sz="2800" b="1" dirty="0">
                <a:solidFill>
                  <a:srgbClr val="006600"/>
                </a:solidFill>
                <a:latin typeface="Bookman Old Style"/>
                <a:ea typeface="+mj-lt"/>
                <a:cs typeface="+mj-lt"/>
                <a:sym typeface="Times New Roman" panose="02020603050405020304"/>
              </a:rPr>
              <a:t>-GH</a:t>
            </a:r>
            <a:endParaRPr lang="en-US" b="1" dirty="0">
              <a:solidFill>
                <a:srgbClr val="006600"/>
              </a:solidFill>
              <a:latin typeface="Bookman Old Style"/>
            </a:endParaRPr>
          </a:p>
        </p:txBody>
      </p:sp>
      <p:sp>
        <p:nvSpPr>
          <p:cNvPr id="309" name="Google Shape;309;p16">
            <a:extLst>
              <a:ext uri="{FF2B5EF4-FFF2-40B4-BE49-F238E27FC236}">
                <a16:creationId xmlns:a16="http://schemas.microsoft.com/office/drawing/2014/main" id="{38440BDF-C344-0931-4051-800F37EE950F}"/>
              </a:ext>
            </a:extLst>
          </p:cNvPr>
          <p:cNvSpPr txBox="1">
            <a:spLocks noGrp="1"/>
          </p:cNvSpPr>
          <p:nvPr>
            <p:ph idx="1"/>
          </p:nvPr>
        </p:nvSpPr>
        <p:spPr>
          <a:xfrm>
            <a:off x="242488" y="911444"/>
            <a:ext cx="8659024" cy="5422763"/>
          </a:xfrm>
          <a:prstGeom prst="rect">
            <a:avLst/>
          </a:prstGeom>
          <a:noFill/>
          <a:ln>
            <a:noFill/>
          </a:ln>
        </p:spPr>
        <p:txBody>
          <a:bodyPr spcFirstLastPara="1" wrap="square" lIns="91425" tIns="45700" rIns="91425" bIns="45700" anchor="t" anchorCtr="0">
            <a:noAutofit/>
          </a:bodyPr>
          <a:lstStyle/>
          <a:p>
            <a:pPr algn="just">
              <a:buFont typeface="Wingdings" panose="020B0604020202020204" pitchFamily="34" charset="0"/>
              <a:buChar char="q"/>
            </a:pPr>
            <a:r>
              <a:rPr lang="en-US" sz="2000" dirty="0">
                <a:latin typeface="Times New Roman"/>
                <a:ea typeface="+mn-lt"/>
                <a:cs typeface="Times New Roman"/>
              </a:rPr>
              <a:t> The </a:t>
            </a:r>
            <a:r>
              <a:rPr lang="en-US" sz="2000" dirty="0" err="1">
                <a:latin typeface="Times New Roman"/>
                <a:ea typeface="+mn-lt"/>
                <a:cs typeface="Times New Roman"/>
              </a:rPr>
              <a:t>AgriTwin</a:t>
            </a:r>
            <a:r>
              <a:rPr lang="en-US" sz="2000" dirty="0">
                <a:latin typeface="Times New Roman"/>
                <a:ea typeface="+mn-lt"/>
                <a:cs typeface="Times New Roman"/>
              </a:rPr>
              <a:t>-GH system architecture integrates environmental datasets and plant image data into a unified framework to enable intelligent greenhouse monitoring and predictive crop analysis</a:t>
            </a:r>
          </a:p>
          <a:p>
            <a:pPr algn="just">
              <a:buFont typeface="Wingdings" panose="020B0604020202020204" pitchFamily="34" charset="0"/>
              <a:buChar char="q"/>
            </a:pPr>
            <a:r>
              <a:rPr lang="en-US" sz="2000" dirty="0">
                <a:latin typeface="Times New Roman"/>
                <a:ea typeface="+mn-lt"/>
                <a:cs typeface="Times New Roman"/>
              </a:rPr>
              <a:t> Input Layer: Environmental parameters such as temperature, humidity, solar radiation, wind speed, CO₂, and VPD, along with plant image datasets, provide both physical and visual information required for accurate crop analysis.</a:t>
            </a:r>
          </a:p>
          <a:p>
            <a:pPr algn="just">
              <a:buFont typeface="Wingdings" panose="020B0604020202020204" pitchFamily="34" charset="0"/>
              <a:buChar char="q"/>
            </a:pPr>
            <a:r>
              <a:rPr lang="en-US" sz="2000" dirty="0">
                <a:latin typeface="Times New Roman"/>
                <a:ea typeface="+mn-lt"/>
                <a:cs typeface="Times New Roman"/>
              </a:rPr>
              <a:t> Processing Layer: Data is processed through stages including preprocessing, cleaning, feature engineering, image-based crop intelligence, predictive analytics, and digital twin-based decision support to generate meaningful insights.</a:t>
            </a:r>
          </a:p>
          <a:p>
            <a:pPr algn="just">
              <a:buFont typeface="Wingdings" panose="020B0604020202020204" pitchFamily="34" charset="0"/>
              <a:buChar char="q"/>
            </a:pPr>
            <a:r>
              <a:rPr lang="en-US" sz="2000" dirty="0">
                <a:latin typeface="Times New Roman"/>
                <a:ea typeface="+mn-lt"/>
                <a:cs typeface="Times New Roman"/>
              </a:rPr>
              <a:t> Modular Design:</a:t>
            </a:r>
          </a:p>
          <a:p>
            <a:pPr lvl="1" algn="just">
              <a:spcBef>
                <a:spcPts val="750"/>
              </a:spcBef>
              <a:buFont typeface="Courier New" panose="020B0604020202020204" pitchFamily="34" charset="0"/>
              <a:buChar char="o"/>
            </a:pPr>
            <a:r>
              <a:rPr lang="en-US" sz="2000" dirty="0">
                <a:latin typeface="Times New Roman"/>
                <a:ea typeface="+mn-lt"/>
                <a:cs typeface="Times New Roman"/>
              </a:rPr>
              <a:t>Module I: Data Processing and AI-Based Crop Intelligence</a:t>
            </a:r>
          </a:p>
          <a:p>
            <a:pPr lvl="1" algn="just">
              <a:spcBef>
                <a:spcPts val="750"/>
              </a:spcBef>
              <a:buFont typeface="Courier New" panose="020B0604020202020204" pitchFamily="34" charset="0"/>
              <a:buChar char="o"/>
            </a:pPr>
            <a:r>
              <a:rPr lang="en-US" sz="2000" dirty="0">
                <a:latin typeface="Times New Roman"/>
                <a:ea typeface="+mn-lt"/>
                <a:cs typeface="Times New Roman"/>
              </a:rPr>
              <a:t>Module II: Predictive Analytics and Crop Health Forecasting</a:t>
            </a:r>
          </a:p>
          <a:p>
            <a:pPr lvl="1" algn="just">
              <a:spcBef>
                <a:spcPts val="750"/>
              </a:spcBef>
              <a:buFont typeface="Courier New" panose="020B0604020202020204" pitchFamily="34" charset="0"/>
              <a:buChar char="o"/>
            </a:pPr>
            <a:r>
              <a:rPr lang="en-US" sz="2000" dirty="0">
                <a:latin typeface="Times New Roman"/>
                <a:ea typeface="+mn-lt"/>
                <a:cs typeface="Times New Roman"/>
              </a:rPr>
              <a:t>Module III: Digital Twin Simulation and Intelligent Greenhouse Control</a:t>
            </a:r>
          </a:p>
          <a:p>
            <a:pPr algn="just">
              <a:buFont typeface="Wingdings" panose="020B0604020202020204" pitchFamily="34" charset="0"/>
              <a:buChar char="q"/>
            </a:pPr>
            <a:r>
              <a:rPr lang="en-US" sz="2000" dirty="0">
                <a:latin typeface="Times New Roman"/>
                <a:ea typeface="+mn-lt"/>
                <a:cs typeface="Times New Roman"/>
              </a:rPr>
              <a:t> Output Layer: Provides plant health and disease assessment, identifies crop growth stage, supports predictive insights, and generates optimized control decisions for efficient greenhouse management.</a:t>
            </a:r>
            <a:endParaRPr lang="en-US" sz="2000" dirty="0">
              <a:latin typeface="Times New Roman"/>
              <a:ea typeface="Calibri"/>
              <a:cs typeface="Times New Roman"/>
            </a:endParaRPr>
          </a:p>
          <a:p>
            <a:pPr marL="0" indent="0" algn="just">
              <a:buNone/>
            </a:pPr>
            <a:endParaRPr lang="en-US" sz="2000" dirty="0">
              <a:latin typeface="Times New Roman" panose="02020603050405020304" pitchFamily="18" charset="0"/>
              <a:ea typeface="Calibri"/>
              <a:cs typeface="Times New Roman" panose="02020603050405020304" pitchFamily="18" charset="0"/>
            </a:endParaRPr>
          </a:p>
        </p:txBody>
      </p:sp>
      <p:cxnSp>
        <p:nvCxnSpPr>
          <p:cNvPr id="10" name="Google Shape;436;p31">
            <a:extLst>
              <a:ext uri="{FF2B5EF4-FFF2-40B4-BE49-F238E27FC236}">
                <a16:creationId xmlns:a16="http://schemas.microsoft.com/office/drawing/2014/main" id="{100AB114-C2FB-E51D-F406-96AD47EDF6CF}"/>
              </a:ext>
            </a:extLst>
          </p:cNvPr>
          <p:cNvCxnSpPr/>
          <p:nvPr/>
        </p:nvCxnSpPr>
        <p:spPr>
          <a:xfrm>
            <a:off x="0" y="682394"/>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0C7BE86E-3B30-FC89-50CF-5D1E0C9288B4}"/>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AE8F2054-A96A-72D7-51E9-76C0B3CD8516}"/>
              </a:ext>
            </a:extLst>
          </p:cNvPr>
          <p:cNvSpPr>
            <a:spLocks noGrp="1"/>
          </p:cNvSpPr>
          <p:nvPr>
            <p:ph type="sldNum" sz="quarter" idx="12"/>
          </p:nvPr>
        </p:nvSpPr>
        <p:spPr/>
        <p:txBody>
          <a:bodyPr/>
          <a:lstStyle/>
          <a:p>
            <a:fld id="{00000000-1234-1234-1234-123412341234}" type="slidenum">
              <a:rPr lang="en-US" smtClean="0"/>
              <a:t>17</a:t>
            </a:fld>
            <a:endParaRPr lang="en-US"/>
          </a:p>
        </p:txBody>
      </p:sp>
    </p:spTree>
    <p:extLst>
      <p:ext uri="{BB962C8B-B14F-4D97-AF65-F5344CB8AC3E}">
        <p14:creationId xmlns:p14="http://schemas.microsoft.com/office/powerpoint/2010/main" val="400061232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Shape 307">
          <a:extLst>
            <a:ext uri="{FF2B5EF4-FFF2-40B4-BE49-F238E27FC236}">
              <a16:creationId xmlns:a16="http://schemas.microsoft.com/office/drawing/2014/main" id="{49B4A64F-671C-3347-8402-FF235ABF76BB}"/>
            </a:ext>
          </a:extLst>
        </p:cNvPr>
        <p:cNvGrpSpPr/>
        <p:nvPr/>
      </p:nvGrpSpPr>
      <p:grpSpPr>
        <a:xfrm>
          <a:off x="0" y="0"/>
          <a:ext cx="0" cy="0"/>
          <a:chOff x="0" y="0"/>
          <a:chExt cx="0" cy="0"/>
        </a:xfrm>
      </p:grpSpPr>
      <p:sp>
        <p:nvSpPr>
          <p:cNvPr id="9" name="Google Shape;303;p15">
            <a:extLst>
              <a:ext uri="{FF2B5EF4-FFF2-40B4-BE49-F238E27FC236}">
                <a16:creationId xmlns:a16="http://schemas.microsoft.com/office/drawing/2014/main" id="{937E7718-B30E-EB93-992B-810B8AB50FD5}"/>
              </a:ext>
            </a:extLst>
          </p:cNvPr>
          <p:cNvSpPr txBox="1">
            <a:spLocks noGrp="1"/>
          </p:cNvSpPr>
          <p:nvPr>
            <p:ph type="title"/>
          </p:nvPr>
        </p:nvSpPr>
        <p:spPr>
          <a:xfrm>
            <a:off x="0" y="0"/>
            <a:ext cx="9143999" cy="667384"/>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mj-lt"/>
                <a:sym typeface="Times New Roman" panose="02020603050405020304"/>
              </a:rPr>
              <a:t> System Architecture of </a:t>
            </a:r>
            <a:r>
              <a:rPr lang="en-US" sz="2800" b="1" dirty="0" err="1">
                <a:solidFill>
                  <a:srgbClr val="006600"/>
                </a:solidFill>
                <a:latin typeface="Bookman Old Style"/>
                <a:ea typeface="+mj-lt"/>
                <a:cs typeface="+mj-lt"/>
                <a:sym typeface="Times New Roman" panose="02020603050405020304"/>
              </a:rPr>
              <a:t>AgriTwin</a:t>
            </a:r>
            <a:r>
              <a:rPr lang="en-US" sz="2800" b="1" dirty="0">
                <a:solidFill>
                  <a:srgbClr val="006600"/>
                </a:solidFill>
                <a:latin typeface="Bookman Old Style"/>
                <a:ea typeface="+mj-lt"/>
                <a:cs typeface="+mj-lt"/>
                <a:sym typeface="Times New Roman" panose="02020603050405020304"/>
              </a:rPr>
              <a:t>-GH (Contd..)</a:t>
            </a:r>
            <a:endParaRPr lang="en-US" dirty="0">
              <a:solidFill>
                <a:srgbClr val="006600"/>
              </a:solidFill>
              <a:latin typeface="Bookman Old Style"/>
            </a:endParaRPr>
          </a:p>
        </p:txBody>
      </p:sp>
      <p:cxnSp>
        <p:nvCxnSpPr>
          <p:cNvPr id="10" name="Google Shape;436;p31">
            <a:extLst>
              <a:ext uri="{FF2B5EF4-FFF2-40B4-BE49-F238E27FC236}">
                <a16:creationId xmlns:a16="http://schemas.microsoft.com/office/drawing/2014/main" id="{460FE9F3-7897-EBA5-B75A-CB1C37E8278E}"/>
              </a:ext>
            </a:extLst>
          </p:cNvPr>
          <p:cNvCxnSpPr/>
          <p:nvPr/>
        </p:nvCxnSpPr>
        <p:spPr>
          <a:xfrm>
            <a:off x="0" y="682394"/>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021D6026-86B8-9722-8315-CC156FEA49E4}"/>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588F2BC5-E8B4-6B28-8BBC-71A295F486F5}"/>
              </a:ext>
            </a:extLst>
          </p:cNvPr>
          <p:cNvSpPr>
            <a:spLocks noGrp="1"/>
          </p:cNvSpPr>
          <p:nvPr>
            <p:ph type="sldNum" sz="quarter" idx="12"/>
          </p:nvPr>
        </p:nvSpPr>
        <p:spPr/>
        <p:txBody>
          <a:bodyPr/>
          <a:lstStyle/>
          <a:p>
            <a:fld id="{00000000-1234-1234-1234-123412341234}" type="slidenum">
              <a:rPr lang="en-US" smtClean="0"/>
              <a:t>18</a:t>
            </a:fld>
            <a:endParaRPr lang="en-US"/>
          </a:p>
        </p:txBody>
      </p:sp>
      <p:sp>
        <p:nvSpPr>
          <p:cNvPr id="5" name="TextBox 4">
            <a:extLst>
              <a:ext uri="{FF2B5EF4-FFF2-40B4-BE49-F238E27FC236}">
                <a16:creationId xmlns:a16="http://schemas.microsoft.com/office/drawing/2014/main" id="{FF599654-14E5-F29C-13D0-4988A3DE6F52}"/>
              </a:ext>
            </a:extLst>
          </p:cNvPr>
          <p:cNvSpPr txBox="1"/>
          <p:nvPr/>
        </p:nvSpPr>
        <p:spPr>
          <a:xfrm>
            <a:off x="2757007" y="6464653"/>
            <a:ext cx="741216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dirty="0">
                <a:latin typeface="Times New Roman"/>
                <a:cs typeface="Times New Roman"/>
              </a:rPr>
              <a:t>Fig: High-Level Architecture Diagram of </a:t>
            </a:r>
            <a:r>
              <a:rPr lang="en-US" sz="1200" dirty="0" err="1">
                <a:latin typeface="Times New Roman"/>
                <a:cs typeface="Times New Roman"/>
              </a:rPr>
              <a:t>AgriTwin</a:t>
            </a:r>
            <a:r>
              <a:rPr lang="en-US" sz="1200" dirty="0">
                <a:latin typeface="Times New Roman"/>
                <a:cs typeface="Times New Roman"/>
              </a:rPr>
              <a:t>-GH</a:t>
            </a:r>
            <a:endParaRPr lang="en-US" sz="1200" dirty="0"/>
          </a:p>
        </p:txBody>
      </p:sp>
      <p:pic>
        <p:nvPicPr>
          <p:cNvPr id="8" name="Picture 7">
            <a:extLst>
              <a:ext uri="{FF2B5EF4-FFF2-40B4-BE49-F238E27FC236}">
                <a16:creationId xmlns:a16="http://schemas.microsoft.com/office/drawing/2014/main" id="{6F98F5C5-11C8-A2C7-4EE9-549A34B65A8F}"/>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486833" y="792284"/>
            <a:ext cx="8245526" cy="5618218"/>
          </a:xfrm>
          <a:prstGeom prst="rect">
            <a:avLst/>
          </a:prstGeom>
          <a:noFill/>
          <a:ln>
            <a:noFill/>
          </a:ln>
        </p:spPr>
      </p:pic>
    </p:spTree>
    <p:extLst>
      <p:ext uri="{BB962C8B-B14F-4D97-AF65-F5344CB8AC3E}">
        <p14:creationId xmlns:p14="http://schemas.microsoft.com/office/powerpoint/2010/main" val="184342638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256"/>
        <p:cNvGrpSpPr/>
        <p:nvPr/>
      </p:nvGrpSpPr>
      <p:grpSpPr>
        <a:xfrm>
          <a:off x="0" y="0"/>
          <a:ext cx="0" cy="0"/>
          <a:chOff x="0" y="0"/>
          <a:chExt cx="0" cy="0"/>
        </a:xfrm>
      </p:grpSpPr>
      <p:sp>
        <p:nvSpPr>
          <p:cNvPr id="1257" name="Google Shape;1257;p101"/>
          <p:cNvSpPr txBox="1">
            <a:spLocks noGrp="1"/>
          </p:cNvSpPr>
          <p:nvPr>
            <p:ph type="title"/>
          </p:nvPr>
        </p:nvSpPr>
        <p:spPr>
          <a:xfrm>
            <a:off x="0" y="1"/>
            <a:ext cx="9144000" cy="691664"/>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2800" b="1" dirty="0">
                <a:solidFill>
                  <a:srgbClr val="006600"/>
                </a:solidFill>
                <a:latin typeface="Bookman Old Style" panose="02050604050505020204" pitchFamily="18" charset="0"/>
                <a:cs typeface="Calibri" panose="020F0502020204030204"/>
                <a:sym typeface="Times New Roman" panose="02020603050405020304"/>
              </a:rPr>
              <a:t>Project Modules</a:t>
            </a:r>
            <a:endParaRPr sz="2800" b="1" dirty="0">
              <a:solidFill>
                <a:srgbClr val="006600"/>
              </a:solidFill>
              <a:latin typeface="Bookman Old Style" panose="02050604050505020204" pitchFamily="18" charset="0"/>
              <a:cs typeface="Calibri" panose="020F0502020204030204"/>
              <a:sym typeface="Arial" panose="020B0604020202020204"/>
            </a:endParaRPr>
          </a:p>
        </p:txBody>
      </p:sp>
      <p:sp>
        <p:nvSpPr>
          <p:cNvPr id="1258" name="Google Shape;1258;p101"/>
          <p:cNvSpPr txBox="1">
            <a:spLocks noGrp="1"/>
          </p:cNvSpPr>
          <p:nvPr>
            <p:ph idx="1"/>
          </p:nvPr>
        </p:nvSpPr>
        <p:spPr>
          <a:xfrm>
            <a:off x="-1044" y="674852"/>
            <a:ext cx="9019785" cy="2754148"/>
          </a:xfrm>
          <a:prstGeom prst="rect">
            <a:avLst/>
          </a:prstGeom>
          <a:noFill/>
          <a:ln>
            <a:noFill/>
          </a:ln>
        </p:spPr>
        <p:txBody>
          <a:bodyPr spcFirstLastPara="1" wrap="square" lIns="91425" tIns="45700" rIns="91425" bIns="45700" anchor="t" anchorCtr="0">
            <a:noAutofit/>
          </a:bodyPr>
          <a:lstStyle/>
          <a:p>
            <a:pPr marL="720725" lvl="2" indent="0" algn="ctr">
              <a:lnSpc>
                <a:spcPts val="2600"/>
              </a:lnSpc>
              <a:spcBef>
                <a:spcPts val="380"/>
              </a:spcBef>
              <a:buNone/>
            </a:pPr>
            <a:r>
              <a:rPr lang="en-US" sz="2000" b="1" dirty="0">
                <a:latin typeface="Times New Roman"/>
                <a:ea typeface="+mn-lt"/>
                <a:cs typeface="Times New Roman"/>
                <a:sym typeface="Times New Roman" panose="02020603050405020304"/>
              </a:rPr>
              <a:t>Module I – Data Processing and AI-Based Crop Intelligence</a:t>
            </a:r>
            <a:endParaRPr lang="en-US" sz="2000" b="1" dirty="0">
              <a:latin typeface="Times New Roman"/>
              <a:ea typeface="+mn-lt"/>
              <a:cs typeface="Times New Roman"/>
            </a:endParaRPr>
          </a:p>
          <a:p>
            <a:pPr marL="285750" indent="-285750" algn="just">
              <a:buFont typeface="Wingdings" panose="020B0604020202020204" pitchFamily="34" charset="0"/>
              <a:buChar char="q"/>
            </a:pPr>
            <a:r>
              <a:rPr lang="en-US" sz="2000" dirty="0">
                <a:latin typeface="Times New Roman"/>
                <a:ea typeface="+mn-lt"/>
                <a:cs typeface="Times New Roman"/>
                <a:sym typeface="Times New Roman" panose="02020603050405020304"/>
              </a:rPr>
              <a:t>This</a:t>
            </a:r>
            <a:r>
              <a:rPr lang="en-US" sz="2000" dirty="0">
                <a:latin typeface="Times New Roman"/>
                <a:ea typeface="+mn-lt"/>
                <a:cs typeface="Times New Roman"/>
              </a:rPr>
              <a:t> module forms the foundation of the </a:t>
            </a:r>
            <a:r>
              <a:rPr lang="en-US" sz="2000" dirty="0" err="1">
                <a:latin typeface="Times New Roman"/>
                <a:ea typeface="+mn-lt"/>
                <a:cs typeface="Times New Roman"/>
              </a:rPr>
              <a:t>AgriTwin</a:t>
            </a:r>
            <a:r>
              <a:rPr lang="en-US" sz="2000" dirty="0">
                <a:latin typeface="Times New Roman"/>
                <a:ea typeface="+mn-lt"/>
                <a:cs typeface="Times New Roman"/>
              </a:rPr>
              <a:t>-GH system by converting raw environmental data into structured crop intelligence for further analysis. </a:t>
            </a:r>
          </a:p>
          <a:p>
            <a:pPr marL="285750" indent="-285750" algn="just">
              <a:buFont typeface="Wingdings" panose="020B0604020202020204" pitchFamily="34" charset="0"/>
              <a:buChar char="q"/>
            </a:pPr>
            <a:r>
              <a:rPr lang="en-US" sz="2000" dirty="0">
                <a:latin typeface="Times New Roman"/>
                <a:ea typeface="+mn-lt"/>
                <a:cs typeface="Times New Roman"/>
              </a:rPr>
              <a:t>Feature engineering is applied to derive key agronomic indicators such as temperature, humidity, CO₂, VPD, dew point, and leaf wetness for accurate greenhouse condition analysis. </a:t>
            </a:r>
          </a:p>
          <a:p>
            <a:pPr marL="285750" indent="-285750" algn="just">
              <a:buFont typeface="Wingdings" panose="020B0604020202020204" pitchFamily="34" charset="0"/>
              <a:buChar char="q"/>
            </a:pPr>
            <a:r>
              <a:rPr lang="en-US" sz="2000" dirty="0">
                <a:latin typeface="Times New Roman"/>
                <a:ea typeface="+mn-lt"/>
                <a:cs typeface="Times New Roman"/>
              </a:rPr>
              <a:t>AI-based models are used for crop growth stage classification and plant disease detection, enabling reliable monitoring of crop development and health.</a:t>
            </a:r>
            <a:endParaRPr lang="en-US" sz="2000" dirty="0">
              <a:latin typeface="Times New Roman"/>
              <a:ea typeface="Calibri"/>
              <a:cs typeface="Times New Roman"/>
            </a:endParaRPr>
          </a:p>
          <a:p>
            <a:pPr marL="285750" indent="-285750" algn="just">
              <a:lnSpc>
                <a:spcPct val="100000"/>
              </a:lnSpc>
              <a:buFont typeface="Wingdings" panose="020B0604020202020204" pitchFamily="34" charset="0"/>
              <a:buChar char="q"/>
            </a:pPr>
            <a:endParaRPr lang="en-US" sz="2000" dirty="0">
              <a:latin typeface="Times New Roman"/>
              <a:ea typeface="Calibri"/>
              <a:cs typeface="Times New Roman"/>
            </a:endParaRPr>
          </a:p>
        </p:txBody>
      </p:sp>
      <p:cxnSp>
        <p:nvCxnSpPr>
          <p:cNvPr id="6" name="Google Shape;1249;p100"/>
          <p:cNvCxnSpPr/>
          <p:nvPr/>
        </p:nvCxnSpPr>
        <p:spPr>
          <a:xfrm>
            <a:off x="0" y="694840"/>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0A56B0C5-58E0-9753-7EDD-007A20B9BC88}"/>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5" name="Slide Number Placeholder 4">
            <a:extLst>
              <a:ext uri="{FF2B5EF4-FFF2-40B4-BE49-F238E27FC236}">
                <a16:creationId xmlns:a16="http://schemas.microsoft.com/office/drawing/2014/main" id="{79933AC9-D4C1-30CF-9EFE-002F836EFE5A}"/>
              </a:ext>
            </a:extLst>
          </p:cNvPr>
          <p:cNvSpPr>
            <a:spLocks noGrp="1"/>
          </p:cNvSpPr>
          <p:nvPr>
            <p:ph type="sldNum" sz="quarter" idx="12"/>
          </p:nvPr>
        </p:nvSpPr>
        <p:spPr/>
        <p:txBody>
          <a:bodyPr/>
          <a:lstStyle/>
          <a:p>
            <a:fld id="{00000000-1234-1234-1234-123412341234}" type="slidenum">
              <a:rPr lang="en-US" smtClean="0"/>
              <a:t>19</a:t>
            </a:fld>
            <a:endParaRPr lang="en-US"/>
          </a:p>
        </p:txBody>
      </p:sp>
      <p:sp>
        <p:nvSpPr>
          <p:cNvPr id="9" name="TextBox 3">
            <a:extLst>
              <a:ext uri="{FF2B5EF4-FFF2-40B4-BE49-F238E27FC236}">
                <a16:creationId xmlns:a16="http://schemas.microsoft.com/office/drawing/2014/main" id="{0710DEFF-298F-796F-9F9D-CAECEAA5D915}"/>
              </a:ext>
            </a:extLst>
          </p:cNvPr>
          <p:cNvSpPr txBox="1"/>
          <p:nvPr/>
        </p:nvSpPr>
        <p:spPr>
          <a:xfrm>
            <a:off x="1710812" y="6539975"/>
            <a:ext cx="5716750" cy="276999"/>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algn="ctr"/>
            <a:r>
              <a:rPr lang="en-US" sz="1200" dirty="0">
                <a:latin typeface="Times New Roman"/>
                <a:cs typeface="Times New Roman"/>
              </a:rPr>
              <a:t>Fig. Task-Level Architecture of Data Processing and AI-Based Crop Intelligence Module</a:t>
            </a:r>
            <a:endParaRPr lang="en-US" sz="1200" dirty="0"/>
          </a:p>
        </p:txBody>
      </p:sp>
      <p:pic>
        <p:nvPicPr>
          <p:cNvPr id="3" name="Picture 2">
            <a:extLst>
              <a:ext uri="{FF2B5EF4-FFF2-40B4-BE49-F238E27FC236}">
                <a16:creationId xmlns:a16="http://schemas.microsoft.com/office/drawing/2014/main" id="{77F5B59D-A1A0-78F6-31C3-1158F3B851D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05527" y="3429000"/>
            <a:ext cx="6927319" cy="3109388"/>
          </a:xfrm>
          <a:prstGeom prst="rect">
            <a:avLst/>
          </a:prstGeom>
          <a:noFill/>
          <a:ln>
            <a:noFill/>
          </a:ln>
        </p:spPr>
      </p:pic>
    </p:spTree>
    <p:extLst>
      <p:ext uri="{BB962C8B-B14F-4D97-AF65-F5344CB8AC3E}">
        <p14:creationId xmlns:p14="http://schemas.microsoft.com/office/powerpoint/2010/main" val="22391286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93134BFD-24C4-A818-6646-8C9FDA6CDA25}"/>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A6BD94DF-FEF4-EF13-2F2C-D51E43EB09B4}"/>
              </a:ext>
            </a:extLst>
          </p:cNvPr>
          <p:cNvSpPr txBox="1">
            <a:spLocks noGrp="1"/>
          </p:cNvSpPr>
          <p:nvPr>
            <p:ph type="title"/>
          </p:nvPr>
        </p:nvSpPr>
        <p:spPr>
          <a:xfrm>
            <a:off x="0" y="1"/>
            <a:ext cx="9144000" cy="691664"/>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2800" b="1" dirty="0">
                <a:solidFill>
                  <a:srgbClr val="006600"/>
                </a:solidFill>
                <a:latin typeface="Bookman Old Style" panose="02050604050505020204" pitchFamily="18" charset="0"/>
                <a:cs typeface="Calibri" panose="020F0502020204030204"/>
                <a:sym typeface="Times New Roman" panose="02020603050405020304"/>
              </a:rPr>
              <a:t>Project Modules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sz="2800" b="1" dirty="0">
              <a:solidFill>
                <a:srgbClr val="006600"/>
              </a:solidFill>
              <a:latin typeface="Bookman Old Style" panose="02050604050505020204" pitchFamily="18" charset="0"/>
              <a:cs typeface="Calibri" panose="020F0502020204030204"/>
              <a:sym typeface="Arial" panose="020B0604020202020204"/>
            </a:endParaRPr>
          </a:p>
        </p:txBody>
      </p:sp>
      <p:sp>
        <p:nvSpPr>
          <p:cNvPr id="1258" name="Google Shape;1258;p101">
            <a:extLst>
              <a:ext uri="{FF2B5EF4-FFF2-40B4-BE49-F238E27FC236}">
                <a16:creationId xmlns:a16="http://schemas.microsoft.com/office/drawing/2014/main" id="{AE7E8EF2-1CD7-98CC-4447-21485AA677D1}"/>
              </a:ext>
            </a:extLst>
          </p:cNvPr>
          <p:cNvSpPr txBox="1">
            <a:spLocks noGrp="1"/>
          </p:cNvSpPr>
          <p:nvPr>
            <p:ph idx="1"/>
          </p:nvPr>
        </p:nvSpPr>
        <p:spPr>
          <a:xfrm>
            <a:off x="202367" y="1138870"/>
            <a:ext cx="8739266" cy="4173406"/>
          </a:xfrm>
          <a:prstGeom prst="rect">
            <a:avLst/>
          </a:prstGeom>
          <a:noFill/>
          <a:ln>
            <a:noFill/>
          </a:ln>
        </p:spPr>
        <p:txBody>
          <a:bodyPr spcFirstLastPara="1" wrap="square" lIns="91425" tIns="45700" rIns="91425" bIns="45700" anchor="t" anchorCtr="0">
            <a:noAutofit/>
          </a:bodyPr>
          <a:lstStyle/>
          <a:p>
            <a:pPr marL="720725" lvl="2" indent="0" algn="ctr">
              <a:lnSpc>
                <a:spcPts val="2600"/>
              </a:lnSpc>
              <a:spcBef>
                <a:spcPts val="380"/>
              </a:spcBef>
              <a:buNone/>
            </a:pPr>
            <a:r>
              <a:rPr lang="en-US" sz="2000" b="1" dirty="0">
                <a:latin typeface="Times New Roman" panose="02020603050405020304" pitchFamily="18" charset="0"/>
                <a:ea typeface="+mn-lt"/>
                <a:cs typeface="Times New Roman" panose="02020603050405020304" pitchFamily="18" charset="0"/>
                <a:sym typeface="Times New Roman" panose="02020603050405020304"/>
              </a:rPr>
              <a:t>Task 1 – Unified Data Processing</a:t>
            </a:r>
            <a:endParaRPr lang="en-US" sz="2000" b="1" dirty="0">
              <a:latin typeface="Times New Roman" panose="02020603050405020304" pitchFamily="18" charset="0"/>
              <a:ea typeface="+mn-lt"/>
              <a:cs typeface="Times New Roman" panose="02020603050405020304" pitchFamily="18" charset="0"/>
            </a:endParaRP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This task focuses on transforming raw environmental data obtained from external weather sources into a structured and standardized greenhouse dataset suitable for AI-based analysis and modeling.</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Raw data often contains missing values, noise, inconsistencies, and anomalies, which are handled through systematic data validation, cleaning, and preprocessing techniques to improve data reliability.</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Ensures temporal synchronization so that all environmental parameters are aligned on a consistent time axis for accurate analysis.</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Feature engineering techniques are applied to extract meaningful greenhouse indicators, including temperature variations, humidity trends, and other agronomic parameters.</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The process includes data ingestion, preprocessing, parameter alignment, and generation of a high-quality dataset that serves as input for downstream machine learning and deep learning models.</a:t>
            </a:r>
          </a:p>
        </p:txBody>
      </p:sp>
      <p:cxnSp>
        <p:nvCxnSpPr>
          <p:cNvPr id="6" name="Google Shape;1249;p100">
            <a:extLst>
              <a:ext uri="{FF2B5EF4-FFF2-40B4-BE49-F238E27FC236}">
                <a16:creationId xmlns:a16="http://schemas.microsoft.com/office/drawing/2014/main" id="{165D4D5B-3F58-7A6C-6D85-8B26D3E4A964}"/>
              </a:ext>
            </a:extLst>
          </p:cNvPr>
          <p:cNvCxnSpPr/>
          <p:nvPr/>
        </p:nvCxnSpPr>
        <p:spPr>
          <a:xfrm>
            <a:off x="0" y="694840"/>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67D28EA1-CF70-B088-E5AB-1058C78F6667}"/>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5" name="Slide Number Placeholder 4">
            <a:extLst>
              <a:ext uri="{FF2B5EF4-FFF2-40B4-BE49-F238E27FC236}">
                <a16:creationId xmlns:a16="http://schemas.microsoft.com/office/drawing/2014/main" id="{12AE2C80-5F77-BB13-2466-3552864B80B5}"/>
              </a:ext>
            </a:extLst>
          </p:cNvPr>
          <p:cNvSpPr>
            <a:spLocks noGrp="1"/>
          </p:cNvSpPr>
          <p:nvPr>
            <p:ph type="sldNum" sz="quarter" idx="12"/>
          </p:nvPr>
        </p:nvSpPr>
        <p:spPr/>
        <p:txBody>
          <a:bodyPr/>
          <a:lstStyle/>
          <a:p>
            <a:fld id="{00000000-1234-1234-1234-123412341234}" type="slidenum">
              <a:rPr lang="en-US" smtClean="0"/>
              <a:t>20</a:t>
            </a:fld>
            <a:endParaRPr lang="en-US"/>
          </a:p>
        </p:txBody>
      </p:sp>
    </p:spTree>
    <p:extLst>
      <p:ext uri="{BB962C8B-B14F-4D97-AF65-F5344CB8AC3E}">
        <p14:creationId xmlns:p14="http://schemas.microsoft.com/office/powerpoint/2010/main" val="19451126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2CE8FEB2-A656-2F09-7FF1-24B4102FDE79}"/>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A5EBE8A5-7570-CFD0-DB88-B7AD99A45D14}"/>
              </a:ext>
            </a:extLst>
          </p:cNvPr>
          <p:cNvSpPr txBox="1">
            <a:spLocks noGrp="1"/>
          </p:cNvSpPr>
          <p:nvPr>
            <p:ph type="title"/>
          </p:nvPr>
        </p:nvSpPr>
        <p:spPr>
          <a:xfrm>
            <a:off x="0" y="1"/>
            <a:ext cx="9144000" cy="691664"/>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2800" b="1" dirty="0">
                <a:solidFill>
                  <a:srgbClr val="006600"/>
                </a:solidFill>
                <a:latin typeface="Bookman Old Style" panose="02050604050505020204" pitchFamily="18" charset="0"/>
                <a:cs typeface="Calibri" panose="020F0502020204030204"/>
                <a:sym typeface="Times New Roman" panose="02020603050405020304"/>
              </a:rPr>
              <a:t>Project Modules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sz="2800" b="1" dirty="0">
              <a:solidFill>
                <a:srgbClr val="006600"/>
              </a:solidFill>
              <a:latin typeface="Bookman Old Style" panose="02050604050505020204" pitchFamily="18" charset="0"/>
              <a:cs typeface="Calibri" panose="020F0502020204030204"/>
              <a:sym typeface="Arial" panose="020B0604020202020204"/>
            </a:endParaRPr>
          </a:p>
        </p:txBody>
      </p:sp>
      <p:cxnSp>
        <p:nvCxnSpPr>
          <p:cNvPr id="6" name="Google Shape;1249;p100">
            <a:extLst>
              <a:ext uri="{FF2B5EF4-FFF2-40B4-BE49-F238E27FC236}">
                <a16:creationId xmlns:a16="http://schemas.microsoft.com/office/drawing/2014/main" id="{6F42976B-861F-3CDC-7C0F-AF5E583D228B}"/>
              </a:ext>
            </a:extLst>
          </p:cNvPr>
          <p:cNvCxnSpPr/>
          <p:nvPr/>
        </p:nvCxnSpPr>
        <p:spPr>
          <a:xfrm>
            <a:off x="0" y="694840"/>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FCF85D8A-D951-F3C2-5C43-022080A9E277}"/>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5" name="Slide Number Placeholder 4">
            <a:extLst>
              <a:ext uri="{FF2B5EF4-FFF2-40B4-BE49-F238E27FC236}">
                <a16:creationId xmlns:a16="http://schemas.microsoft.com/office/drawing/2014/main" id="{8C89637F-FF50-7D8A-9A00-680DD69D8002}"/>
              </a:ext>
            </a:extLst>
          </p:cNvPr>
          <p:cNvSpPr>
            <a:spLocks noGrp="1"/>
          </p:cNvSpPr>
          <p:nvPr>
            <p:ph type="sldNum" sz="quarter" idx="12"/>
          </p:nvPr>
        </p:nvSpPr>
        <p:spPr/>
        <p:txBody>
          <a:bodyPr/>
          <a:lstStyle/>
          <a:p>
            <a:fld id="{00000000-1234-1234-1234-123412341234}" type="slidenum">
              <a:rPr lang="en-US" smtClean="0"/>
              <a:t>21</a:t>
            </a:fld>
            <a:endParaRPr lang="en-US"/>
          </a:p>
        </p:txBody>
      </p:sp>
      <p:pic>
        <p:nvPicPr>
          <p:cNvPr id="3" name="Picture 2">
            <a:extLst>
              <a:ext uri="{FF2B5EF4-FFF2-40B4-BE49-F238E27FC236}">
                <a16:creationId xmlns:a16="http://schemas.microsoft.com/office/drawing/2014/main" id="{BA1CDB3D-5BDD-A8FE-EFFB-AFB660326056}"/>
              </a:ext>
            </a:extLst>
          </p:cNvPr>
          <p:cNvPicPr>
            <a:picLocks noChangeAspect="1"/>
          </p:cNvPicPr>
          <p:nvPr/>
        </p:nvPicPr>
        <p:blipFill>
          <a:blip r:embed="rId3"/>
          <a:stretch>
            <a:fillRect/>
          </a:stretch>
        </p:blipFill>
        <p:spPr>
          <a:xfrm>
            <a:off x="2965173" y="789887"/>
            <a:ext cx="3213653" cy="5566464"/>
          </a:xfrm>
          <a:prstGeom prst="rect">
            <a:avLst/>
          </a:prstGeom>
        </p:spPr>
      </p:pic>
      <p:sp>
        <p:nvSpPr>
          <p:cNvPr id="4" name="TextBox 3">
            <a:extLst>
              <a:ext uri="{FF2B5EF4-FFF2-40B4-BE49-F238E27FC236}">
                <a16:creationId xmlns:a16="http://schemas.microsoft.com/office/drawing/2014/main" id="{14F657B0-4DCA-120A-E735-B809FAA93217}"/>
              </a:ext>
            </a:extLst>
          </p:cNvPr>
          <p:cNvSpPr txBox="1"/>
          <p:nvPr/>
        </p:nvSpPr>
        <p:spPr>
          <a:xfrm>
            <a:off x="3104735" y="6308080"/>
            <a:ext cx="3213653"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panose="02020603050405020304" pitchFamily="18" charset="0"/>
                <a:cs typeface="Times New Roman" panose="02020603050405020304" pitchFamily="18" charset="0"/>
              </a:rPr>
              <a:t>Fig.  Data Processing Pipeline Architecture</a:t>
            </a:r>
          </a:p>
          <a:p>
            <a:pPr algn="l"/>
            <a:endParaRPr lang="en-US" sz="1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474034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EEFB8A43-FBCF-1075-1B1B-5E25BDAB4067}"/>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10CD3C92-B14A-09B2-3001-0536E4EE51E9}"/>
              </a:ext>
            </a:extLst>
          </p:cNvPr>
          <p:cNvSpPr txBox="1">
            <a:spLocks noGrp="1"/>
          </p:cNvSpPr>
          <p:nvPr>
            <p:ph type="title"/>
          </p:nvPr>
        </p:nvSpPr>
        <p:spPr>
          <a:xfrm>
            <a:off x="0" y="1"/>
            <a:ext cx="9144000" cy="691664"/>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2800" b="1" dirty="0">
                <a:solidFill>
                  <a:srgbClr val="006600"/>
                </a:solidFill>
                <a:latin typeface="Bookman Old Style" panose="02050604050505020204" pitchFamily="18" charset="0"/>
                <a:cs typeface="Calibri" panose="020F0502020204030204"/>
                <a:sym typeface="Times New Roman" panose="02020603050405020304"/>
              </a:rPr>
              <a:t>Project Modules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sz="2800" b="1" dirty="0">
              <a:solidFill>
                <a:srgbClr val="006600"/>
              </a:solidFill>
              <a:latin typeface="Bookman Old Style" panose="02050604050505020204" pitchFamily="18" charset="0"/>
              <a:cs typeface="Calibri" panose="020F0502020204030204"/>
              <a:sym typeface="Arial" panose="020B0604020202020204"/>
            </a:endParaRPr>
          </a:p>
        </p:txBody>
      </p:sp>
      <p:sp>
        <p:nvSpPr>
          <p:cNvPr id="1258" name="Google Shape;1258;p101">
            <a:extLst>
              <a:ext uri="{FF2B5EF4-FFF2-40B4-BE49-F238E27FC236}">
                <a16:creationId xmlns:a16="http://schemas.microsoft.com/office/drawing/2014/main" id="{EF319043-B768-8486-5D6B-F113E1C0A81F}"/>
              </a:ext>
            </a:extLst>
          </p:cNvPr>
          <p:cNvSpPr txBox="1">
            <a:spLocks noGrp="1"/>
          </p:cNvSpPr>
          <p:nvPr>
            <p:ph idx="1"/>
          </p:nvPr>
        </p:nvSpPr>
        <p:spPr>
          <a:xfrm>
            <a:off x="114300" y="725382"/>
            <a:ext cx="8915400" cy="5602015"/>
          </a:xfrm>
          <a:prstGeom prst="rect">
            <a:avLst/>
          </a:prstGeom>
          <a:noFill/>
          <a:ln>
            <a:noFill/>
          </a:ln>
        </p:spPr>
        <p:txBody>
          <a:bodyPr spcFirstLastPara="1" wrap="square" lIns="91425" tIns="45700" rIns="91425" bIns="45700" anchor="t" anchorCtr="0">
            <a:noAutofit/>
          </a:bodyPr>
          <a:lstStyle/>
          <a:p>
            <a:pPr lvl="2" algn="ctr">
              <a:buNone/>
            </a:pPr>
            <a:r>
              <a:rPr lang="en-US" sz="2000" b="1" dirty="0">
                <a:latin typeface="Times New Roman" panose="02020603050405020304" pitchFamily="18" charset="0"/>
                <a:cs typeface="Times New Roman" panose="02020603050405020304" pitchFamily="18" charset="0"/>
                <a:sym typeface="Times New Roman" panose="02020603050405020304"/>
              </a:rPr>
              <a:t>Task 2 – Crop Growth Stage Classification</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This task automatically identifies the developmental stage of tomato plants using image-based deep learning.</a:t>
            </a:r>
            <a:r>
              <a:rPr lang="en-US" sz="2000" dirty="0">
                <a:latin typeface="Times New Roman" panose="02020603050405020304" pitchFamily="18" charset="0"/>
                <a:ea typeface="+mn-lt"/>
                <a:cs typeface="Times New Roman" panose="02020603050405020304" pitchFamily="18" charset="0"/>
              </a:rPr>
              <a:t> </a:t>
            </a:r>
            <a:endParaRPr lang="en-US" sz="2000" dirty="0">
              <a:latin typeface="Times New Roman" panose="02020603050405020304" pitchFamily="18" charset="0"/>
              <a:ea typeface="Calibri"/>
              <a:cs typeface="Times New Roman" panose="02020603050405020304" pitchFamily="18" charset="0"/>
            </a:endParaRPr>
          </a:p>
          <a:p>
            <a:pPr algn="just">
              <a:lnSpc>
                <a:spcPct val="100000"/>
              </a:lnSpc>
              <a:buFont typeface="Wingdings" panose="020B0604020202020204" pitchFamily="34" charset="0"/>
              <a:buChar char="q"/>
            </a:pPr>
            <a:r>
              <a:rPr lang="en-US" sz="2000" dirty="0">
                <a:latin typeface="Times New Roman" panose="02020603050405020304" pitchFamily="18" charset="0"/>
                <a:ea typeface="Calibri"/>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The system processes plant images through a pipeline of preprocessing, feature extraction, classification, and probability estimation.</a:t>
            </a:r>
          </a:p>
          <a:p>
            <a:pPr algn="just">
              <a:lnSpc>
                <a:spcPct val="100000"/>
              </a:lnSpc>
              <a:buFont typeface="Wingdings" panose="020B0604020202020204" pitchFamily="34" charset="0"/>
              <a:buChar char="q"/>
            </a:pPr>
            <a:r>
              <a:rPr lang="en-US" sz="2000" dirty="0">
                <a:latin typeface="Times New Roman" panose="02020603050405020304" pitchFamily="18" charset="0"/>
                <a:ea typeface="Calibri"/>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Images are classified into six biological stages: Seedling, Early Vegetative, Flowering Initiation, Flowering, Unripe Fruit, and Ripe Fruit, based on gradual morphological and color transitions.</a:t>
            </a:r>
          </a:p>
          <a:p>
            <a:pPr algn="just">
              <a:lnSpc>
                <a:spcPct val="100000"/>
              </a:lnSpc>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 The architecture combines a pre-trained EfficientNetB3 with a custom classification head including pooling, dense layers, batch normalization, and dropout for stable and robust learning.</a:t>
            </a:r>
          </a:p>
          <a:p>
            <a:pPr algn="just">
              <a:lnSpc>
                <a:spcPct val="100000"/>
              </a:lnSpc>
              <a:buFont typeface="Wingdings" panose="020B0604020202020204" pitchFamily="34" charset="0"/>
              <a:buChar char="q"/>
            </a:pPr>
            <a:r>
              <a:rPr lang="en-US" sz="2000" dirty="0">
                <a:latin typeface="Times New Roman" panose="02020603050405020304" pitchFamily="18" charset="0"/>
                <a:ea typeface="Calibri"/>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A two-phase training strategy is applied, involving initial training of the classification head followed by fine-tuning of upper layers.</a:t>
            </a:r>
          </a:p>
          <a:p>
            <a:pPr algn="just">
              <a:lnSpc>
                <a:spcPct val="100000"/>
              </a:lnSpc>
              <a:buFont typeface="Wingdings" panose="020B0604020202020204" pitchFamily="34" charset="0"/>
              <a:buChar char="q"/>
            </a:pPr>
            <a:r>
              <a:rPr lang="en-US" sz="2000" dirty="0">
                <a:latin typeface="Times New Roman" panose="02020603050405020304" pitchFamily="18" charset="0"/>
                <a:ea typeface="Calibri"/>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Controlled data augmentation and class balancing techniques are used to improve generalization while preserving important biological features.</a:t>
            </a:r>
          </a:p>
          <a:p>
            <a:pPr algn="just">
              <a:lnSpc>
                <a:spcPct val="100000"/>
              </a:lnSpc>
              <a:buFont typeface="Wingdings" panose="020B0604020202020204" pitchFamily="34" charset="0"/>
              <a:buChar char="q"/>
            </a:pPr>
            <a:r>
              <a:rPr lang="en-US" sz="2000" dirty="0">
                <a:latin typeface="Times New Roman" panose="02020603050405020304" pitchFamily="18" charset="0"/>
                <a:ea typeface="Calibri"/>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The model produces probability-based outputs across all growth stages, enabling confidence-driven decision-making in greenhouse management.</a:t>
            </a:r>
            <a:endParaRPr lang="en-US" sz="2000" dirty="0">
              <a:latin typeface="Times New Roman" panose="02020603050405020304" pitchFamily="18" charset="0"/>
              <a:ea typeface="Calibri"/>
              <a:cs typeface="Times New Roman" panose="02020603050405020304" pitchFamily="18" charset="0"/>
            </a:endParaRPr>
          </a:p>
        </p:txBody>
      </p:sp>
      <p:cxnSp>
        <p:nvCxnSpPr>
          <p:cNvPr id="6" name="Google Shape;1249;p100">
            <a:extLst>
              <a:ext uri="{FF2B5EF4-FFF2-40B4-BE49-F238E27FC236}">
                <a16:creationId xmlns:a16="http://schemas.microsoft.com/office/drawing/2014/main" id="{E19DD69A-146E-C896-77B5-B031F371630E}"/>
              </a:ext>
            </a:extLst>
          </p:cNvPr>
          <p:cNvCxnSpPr/>
          <p:nvPr/>
        </p:nvCxnSpPr>
        <p:spPr>
          <a:xfrm>
            <a:off x="0" y="694840"/>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F960ABD9-526E-8F0B-6799-2CCDA2738BFC}"/>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5" name="Slide Number Placeholder 4">
            <a:extLst>
              <a:ext uri="{FF2B5EF4-FFF2-40B4-BE49-F238E27FC236}">
                <a16:creationId xmlns:a16="http://schemas.microsoft.com/office/drawing/2014/main" id="{2DF30228-5262-7151-8C7D-E70E3B71014B}"/>
              </a:ext>
            </a:extLst>
          </p:cNvPr>
          <p:cNvSpPr>
            <a:spLocks noGrp="1"/>
          </p:cNvSpPr>
          <p:nvPr>
            <p:ph type="sldNum" sz="quarter" idx="12"/>
          </p:nvPr>
        </p:nvSpPr>
        <p:spPr/>
        <p:txBody>
          <a:bodyPr/>
          <a:lstStyle/>
          <a:p>
            <a:fld id="{00000000-1234-1234-1234-123412341234}" type="slidenum">
              <a:rPr lang="en-US" smtClean="0"/>
              <a:t>22</a:t>
            </a:fld>
            <a:endParaRPr lang="en-US"/>
          </a:p>
        </p:txBody>
      </p:sp>
    </p:spTree>
    <p:extLst>
      <p:ext uri="{BB962C8B-B14F-4D97-AF65-F5344CB8AC3E}">
        <p14:creationId xmlns:p14="http://schemas.microsoft.com/office/powerpoint/2010/main" val="40453130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6386A213-3302-998F-C1B9-32704F27DCB0}"/>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0602297E-F000-3246-2B10-B37EEC397303}"/>
              </a:ext>
            </a:extLst>
          </p:cNvPr>
          <p:cNvSpPr txBox="1">
            <a:spLocks noGrp="1"/>
          </p:cNvSpPr>
          <p:nvPr>
            <p:ph type="title"/>
          </p:nvPr>
        </p:nvSpPr>
        <p:spPr>
          <a:xfrm>
            <a:off x="0" y="1"/>
            <a:ext cx="9144000" cy="691664"/>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2800" b="1" dirty="0">
                <a:solidFill>
                  <a:srgbClr val="006600"/>
                </a:solidFill>
                <a:latin typeface="Bookman Old Style" panose="02050604050505020204" pitchFamily="18" charset="0"/>
                <a:cs typeface="Calibri" panose="020F0502020204030204"/>
                <a:sym typeface="Times New Roman" panose="02020603050405020304"/>
              </a:rPr>
              <a:t>Project Modules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sz="2800" b="1" dirty="0">
              <a:solidFill>
                <a:srgbClr val="006600"/>
              </a:solidFill>
              <a:latin typeface="Bookman Old Style" panose="02050604050505020204" pitchFamily="18" charset="0"/>
              <a:cs typeface="Calibri" panose="020F0502020204030204"/>
              <a:sym typeface="Arial" panose="020B0604020202020204"/>
            </a:endParaRPr>
          </a:p>
        </p:txBody>
      </p:sp>
      <p:sp>
        <p:nvSpPr>
          <p:cNvPr id="1258" name="Google Shape;1258;p101">
            <a:extLst>
              <a:ext uri="{FF2B5EF4-FFF2-40B4-BE49-F238E27FC236}">
                <a16:creationId xmlns:a16="http://schemas.microsoft.com/office/drawing/2014/main" id="{0A4A4A74-BC6A-EED5-91B2-8B263644F134}"/>
              </a:ext>
            </a:extLst>
          </p:cNvPr>
          <p:cNvSpPr txBox="1">
            <a:spLocks noGrp="1"/>
          </p:cNvSpPr>
          <p:nvPr>
            <p:ph idx="1"/>
          </p:nvPr>
        </p:nvSpPr>
        <p:spPr>
          <a:xfrm>
            <a:off x="114300" y="924025"/>
            <a:ext cx="8915400" cy="5602015"/>
          </a:xfrm>
          <a:prstGeom prst="rect">
            <a:avLst/>
          </a:prstGeom>
          <a:noFill/>
          <a:ln>
            <a:noFill/>
          </a:ln>
        </p:spPr>
        <p:txBody>
          <a:bodyPr spcFirstLastPara="1" wrap="square" lIns="91425" tIns="45700" rIns="91425" bIns="45700" anchor="t" anchorCtr="0">
            <a:noAutofit/>
          </a:bodyPr>
          <a:lstStyle/>
          <a:p>
            <a:pPr lvl="2" algn="ctr">
              <a:buNone/>
            </a:pPr>
            <a:r>
              <a:rPr lang="en-US" sz="2000" b="1" dirty="0">
                <a:latin typeface="Times New Roman" panose="02020603050405020304" pitchFamily="18" charset="0"/>
                <a:ea typeface="+mn-lt"/>
                <a:cs typeface="Times New Roman" panose="02020603050405020304" pitchFamily="18" charset="0"/>
                <a:sym typeface="Times New Roman" panose="02020603050405020304"/>
              </a:rPr>
              <a:t>Task 3 – Plant Disease Detection</a:t>
            </a:r>
            <a:endParaRPr lang="en-US" sz="2000" b="1" dirty="0">
              <a:latin typeface="Times New Roman" panose="02020603050405020304" pitchFamily="18" charset="0"/>
              <a:cs typeface="Times New Roman" panose="02020603050405020304" pitchFamily="18" charset="0"/>
            </a:endParaRPr>
          </a:p>
          <a:p>
            <a:pPr marL="342900" indent="-342900" algn="just">
              <a:buFont typeface="Wingdings" panose="020B0604020202020204" pitchFamily="34" charset="0"/>
              <a:buChar char="q"/>
            </a:pPr>
            <a:r>
              <a:rPr lang="en-US" sz="2000" dirty="0">
                <a:latin typeface="Times New Roman" panose="02020603050405020304" pitchFamily="18" charset="0"/>
                <a:ea typeface="+mn-lt"/>
                <a:cs typeface="Times New Roman" panose="02020603050405020304" pitchFamily="18" charset="0"/>
              </a:rPr>
              <a:t>This task </a:t>
            </a:r>
            <a:r>
              <a:rPr lang="en-US" sz="2000" dirty="0">
                <a:latin typeface="Times New Roman" panose="02020603050405020304" pitchFamily="18" charset="0"/>
                <a:cs typeface="Times New Roman" panose="02020603050405020304" pitchFamily="18" charset="0"/>
              </a:rPr>
              <a:t>identifies and classifies diseases in tomato plants using image-based deep learning.</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The system processes leaf images through preprocessing, feature extraction, classification, and probability estimation to ensure accurate predictions.</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Images are classified into six categories: Early Blight, Late Blight, Leaf Mold, Powdery Mildew, Spider Mites, and Healthy Leaf based on visible symptoms.</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The architecture includes a pre-trained EfficientNetB0 as backbone with a custom classification head using pooling, dense layers, batch normalization, and dropout for robust learning.</a:t>
            </a:r>
            <a:r>
              <a:rPr lang="en-US" sz="2000" dirty="0">
                <a:latin typeface="Times New Roman" panose="02020603050405020304" pitchFamily="18" charset="0"/>
                <a:ea typeface="Calibri"/>
                <a:cs typeface="Times New Roman" panose="02020603050405020304" pitchFamily="18" charset="0"/>
              </a:rPr>
              <a:t> </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A two-stage transfer learning strategy is applied, involving initial training of classification layers followed by fine-tuning of upper backbone layers.</a:t>
            </a:r>
            <a:endParaRPr lang="en-US" sz="2000" dirty="0">
              <a:latin typeface="Times New Roman" panose="02020603050405020304" pitchFamily="18" charset="0"/>
              <a:ea typeface="Calibri"/>
              <a:cs typeface="Times New Roman" panose="02020603050405020304" pitchFamily="18" charset="0"/>
            </a:endParaRP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Data augmentation techniques such as rotation, flipping, zooming, and brightness adjustments improve model generalization across varying conditions.</a:t>
            </a:r>
            <a:endParaRPr lang="en-US" sz="2000" dirty="0">
              <a:latin typeface="Times New Roman" panose="02020603050405020304" pitchFamily="18" charset="0"/>
              <a:ea typeface="Calibri"/>
              <a:cs typeface="Times New Roman" panose="02020603050405020304" pitchFamily="18" charset="0"/>
            </a:endParaRP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The model outputs probability distributions over disease classes, enabling accurate classification along with confidence estimation for decision-making.</a:t>
            </a:r>
            <a:r>
              <a:rPr lang="en-US" sz="2000" dirty="0">
                <a:latin typeface="Times New Roman" panose="02020603050405020304" pitchFamily="18" charset="0"/>
                <a:ea typeface="Calibri"/>
                <a:cs typeface="Times New Roman" panose="02020603050405020304" pitchFamily="18" charset="0"/>
              </a:rPr>
              <a:t> </a:t>
            </a:r>
          </a:p>
          <a:p>
            <a:pPr marL="342900" indent="-342900" algn="just">
              <a:buFont typeface="Wingdings" panose="020B0604020202020204" pitchFamily="34" charset="0"/>
              <a:buChar char="q"/>
            </a:pPr>
            <a:endParaRPr lang="en-US" sz="2000" dirty="0">
              <a:latin typeface="Times New Roman" panose="02020603050405020304" pitchFamily="18" charset="0"/>
              <a:ea typeface="Calibri"/>
              <a:cs typeface="Times New Roman" panose="02020603050405020304" pitchFamily="18" charset="0"/>
            </a:endParaRPr>
          </a:p>
          <a:p>
            <a:pPr algn="just">
              <a:lnSpc>
                <a:spcPct val="100000"/>
              </a:lnSpc>
              <a:buFont typeface="Wingdings" panose="020B0604020202020204" pitchFamily="34" charset="0"/>
              <a:buChar char="q"/>
            </a:pPr>
            <a:endParaRPr lang="en-US" sz="2000" dirty="0">
              <a:latin typeface="Times New Roman" panose="02020603050405020304" pitchFamily="18" charset="0"/>
              <a:ea typeface="Calibri"/>
              <a:cs typeface="Times New Roman" panose="02020603050405020304" pitchFamily="18" charset="0"/>
            </a:endParaRPr>
          </a:p>
        </p:txBody>
      </p:sp>
      <p:cxnSp>
        <p:nvCxnSpPr>
          <p:cNvPr id="6" name="Google Shape;1249;p100">
            <a:extLst>
              <a:ext uri="{FF2B5EF4-FFF2-40B4-BE49-F238E27FC236}">
                <a16:creationId xmlns:a16="http://schemas.microsoft.com/office/drawing/2014/main" id="{BD84D82D-574D-70CC-5DE1-A47FA315D289}"/>
              </a:ext>
            </a:extLst>
          </p:cNvPr>
          <p:cNvCxnSpPr/>
          <p:nvPr/>
        </p:nvCxnSpPr>
        <p:spPr>
          <a:xfrm>
            <a:off x="0" y="694840"/>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580C1352-BA2A-C5B7-41B8-E42F1BA92113}"/>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5" name="Slide Number Placeholder 4">
            <a:extLst>
              <a:ext uri="{FF2B5EF4-FFF2-40B4-BE49-F238E27FC236}">
                <a16:creationId xmlns:a16="http://schemas.microsoft.com/office/drawing/2014/main" id="{715D92F9-3598-9A6B-50DA-FB4726FABA8D}"/>
              </a:ext>
            </a:extLst>
          </p:cNvPr>
          <p:cNvSpPr>
            <a:spLocks noGrp="1"/>
          </p:cNvSpPr>
          <p:nvPr>
            <p:ph type="sldNum" sz="quarter" idx="12"/>
          </p:nvPr>
        </p:nvSpPr>
        <p:spPr/>
        <p:txBody>
          <a:bodyPr/>
          <a:lstStyle/>
          <a:p>
            <a:fld id="{00000000-1234-1234-1234-123412341234}" type="slidenum">
              <a:rPr lang="en-US" smtClean="0"/>
              <a:t>23</a:t>
            </a:fld>
            <a:endParaRPr lang="en-US"/>
          </a:p>
        </p:txBody>
      </p:sp>
    </p:spTree>
    <p:extLst>
      <p:ext uri="{BB962C8B-B14F-4D97-AF65-F5344CB8AC3E}">
        <p14:creationId xmlns:p14="http://schemas.microsoft.com/office/powerpoint/2010/main" val="23282067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256"/>
        <p:cNvGrpSpPr/>
        <p:nvPr/>
      </p:nvGrpSpPr>
      <p:grpSpPr>
        <a:xfrm>
          <a:off x="0" y="0"/>
          <a:ext cx="0" cy="0"/>
          <a:chOff x="0" y="0"/>
          <a:chExt cx="0" cy="0"/>
        </a:xfrm>
      </p:grpSpPr>
      <p:sp>
        <p:nvSpPr>
          <p:cNvPr id="1257" name="Google Shape;1257;p101"/>
          <p:cNvSpPr txBox="1">
            <a:spLocks noGrp="1"/>
          </p:cNvSpPr>
          <p:nvPr>
            <p:ph type="title"/>
          </p:nvPr>
        </p:nvSpPr>
        <p:spPr>
          <a:xfrm>
            <a:off x="0" y="1"/>
            <a:ext cx="9144000" cy="691664"/>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2800" b="1" dirty="0">
                <a:solidFill>
                  <a:srgbClr val="006600"/>
                </a:solidFill>
                <a:latin typeface="Bookman Old Style" panose="02050604050505020204" pitchFamily="18" charset="0"/>
                <a:cs typeface="Calibri" panose="020F0502020204030204"/>
                <a:sym typeface="Times New Roman" panose="02020603050405020304"/>
              </a:rPr>
              <a:t>Project Modules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sz="2800" b="1" dirty="0">
              <a:solidFill>
                <a:srgbClr val="006600"/>
              </a:solidFill>
              <a:latin typeface="Bookman Old Style" panose="02050604050505020204" pitchFamily="18" charset="0"/>
              <a:cs typeface="Calibri" panose="020F0502020204030204"/>
              <a:sym typeface="Arial" panose="020B0604020202020204"/>
            </a:endParaRPr>
          </a:p>
        </p:txBody>
      </p:sp>
      <p:sp>
        <p:nvSpPr>
          <p:cNvPr id="1258" name="Google Shape;1258;p101"/>
          <p:cNvSpPr txBox="1">
            <a:spLocks noGrp="1"/>
          </p:cNvSpPr>
          <p:nvPr>
            <p:ph idx="1"/>
          </p:nvPr>
        </p:nvSpPr>
        <p:spPr>
          <a:xfrm>
            <a:off x="114300" y="678822"/>
            <a:ext cx="8915400" cy="5831659"/>
          </a:xfrm>
          <a:prstGeom prst="rect">
            <a:avLst/>
          </a:prstGeom>
          <a:noFill/>
          <a:ln>
            <a:noFill/>
          </a:ln>
        </p:spPr>
        <p:txBody>
          <a:bodyPr spcFirstLastPara="1" wrap="square" lIns="91425" tIns="45700" rIns="91425" bIns="45700" anchor="t" anchorCtr="0">
            <a:noAutofit/>
          </a:bodyPr>
          <a:lstStyle/>
          <a:p>
            <a:pPr marL="720725" lvl="2" indent="0" algn="ctr">
              <a:lnSpc>
                <a:spcPts val="2600"/>
              </a:lnSpc>
              <a:spcBef>
                <a:spcPts val="380"/>
              </a:spcBef>
              <a:buNone/>
            </a:pPr>
            <a:r>
              <a:rPr lang="en-US" sz="2000" b="1" dirty="0">
                <a:latin typeface="Times New Roman" panose="02020603050405020304" pitchFamily="18" charset="0"/>
                <a:ea typeface="+mn-lt"/>
                <a:cs typeface="Times New Roman" panose="02020603050405020304" pitchFamily="18" charset="0"/>
                <a:sym typeface="Times New Roman" panose="02020603050405020304"/>
              </a:rPr>
              <a:t>Module II – Predictive Analytics and Crop Health Forecasting</a:t>
            </a:r>
            <a:endParaRPr lang="en-US" sz="2000" b="1" dirty="0">
              <a:latin typeface="Times New Roman" panose="02020603050405020304" pitchFamily="18" charset="0"/>
              <a:cs typeface="Times New Roman" panose="02020603050405020304" pitchFamily="18" charset="0"/>
            </a:endParaRPr>
          </a:p>
          <a:p>
            <a:pPr marL="342900" indent="-342900" algn="just">
              <a:buFont typeface="Wingdings" panose="020B0604020202020204" pitchFamily="34" charset="0"/>
              <a:buChar char="q"/>
            </a:pPr>
            <a:r>
              <a:rPr lang="en-US" sz="2000" dirty="0">
                <a:latin typeface="Times New Roman" panose="02020603050405020304" pitchFamily="18" charset="0"/>
                <a:ea typeface="+mn-lt"/>
                <a:cs typeface="Times New Roman" panose="02020603050405020304" pitchFamily="18" charset="0"/>
              </a:rPr>
              <a:t>This module analyzes processed environmental data to generate predictive insights for greenhouse conditions and crop health.</a:t>
            </a:r>
          </a:p>
          <a:p>
            <a:pPr marL="342900" indent="-342900" algn="just">
              <a:buFont typeface="Wingdings" panose="020B0604020202020204" pitchFamily="34" charset="0"/>
              <a:buChar char="q"/>
            </a:pPr>
            <a:r>
              <a:rPr lang="en-US" sz="2000" dirty="0">
                <a:latin typeface="Times New Roman" panose="02020603050405020304" pitchFamily="18" charset="0"/>
                <a:ea typeface="+mn-lt"/>
                <a:cs typeface="Times New Roman" panose="02020603050405020304" pitchFamily="18" charset="0"/>
              </a:rPr>
              <a:t>It uses time-series and machine learning models to capture temporal patterns in environmental parameters such as temperature, humidity, and VPD.</a:t>
            </a:r>
          </a:p>
          <a:p>
            <a:pPr marL="342900" indent="-342900" algn="just">
              <a:buFont typeface="Wingdings" panose="020B0604020202020204" pitchFamily="34" charset="0"/>
              <a:buChar char="q"/>
            </a:pPr>
            <a:r>
              <a:rPr lang="en-US" sz="2000" dirty="0">
                <a:latin typeface="Times New Roman" panose="02020603050405020304" pitchFamily="18" charset="0"/>
                <a:ea typeface="+mn-lt"/>
                <a:cs typeface="Times New Roman" panose="02020603050405020304" pitchFamily="18" charset="0"/>
              </a:rPr>
              <a:t>The module predicts future environmental conditions, crop growth progression, and disease risk trends to support proactive decision-making.</a:t>
            </a:r>
            <a:endParaRPr lang="en-US" sz="2000" dirty="0">
              <a:latin typeface="Times New Roman" panose="02020603050405020304" pitchFamily="18" charset="0"/>
              <a:ea typeface="Calibri"/>
              <a:cs typeface="Times New Roman" panose="02020603050405020304" pitchFamily="18" charset="0"/>
            </a:endParaRPr>
          </a:p>
          <a:p>
            <a:pPr algn="just">
              <a:lnSpc>
                <a:spcPct val="150000"/>
              </a:lnSpc>
              <a:spcBef>
                <a:spcPts val="0"/>
              </a:spcBef>
              <a:buClr>
                <a:srgbClr val="000000"/>
              </a:buClr>
              <a:buSzPct val="100000"/>
              <a:buFont typeface="Wingdings" panose="05000000000000000000" pitchFamily="2" charset="2"/>
              <a:buChar char="q"/>
            </a:pPr>
            <a:endParaRPr lang="en-US" sz="2000" dirty="0">
              <a:latin typeface="Times New Roman" panose="02020603050405020304" pitchFamily="18" charset="0"/>
              <a:cs typeface="Times New Roman" panose="02020603050405020304" pitchFamily="18" charset="0"/>
            </a:endParaRPr>
          </a:p>
        </p:txBody>
      </p:sp>
      <p:cxnSp>
        <p:nvCxnSpPr>
          <p:cNvPr id="6" name="Google Shape;1249;p100"/>
          <p:cNvCxnSpPr/>
          <p:nvPr/>
        </p:nvCxnSpPr>
        <p:spPr>
          <a:xfrm>
            <a:off x="0" y="694840"/>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0A56B0C5-58E0-9753-7EDD-007A20B9BC88}"/>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5" name="Slide Number Placeholder 4">
            <a:extLst>
              <a:ext uri="{FF2B5EF4-FFF2-40B4-BE49-F238E27FC236}">
                <a16:creationId xmlns:a16="http://schemas.microsoft.com/office/drawing/2014/main" id="{651FC67D-3B08-8992-F7B5-C888F88C5D59}"/>
              </a:ext>
            </a:extLst>
          </p:cNvPr>
          <p:cNvSpPr>
            <a:spLocks noGrp="1"/>
          </p:cNvSpPr>
          <p:nvPr>
            <p:ph type="sldNum" sz="quarter" idx="12"/>
          </p:nvPr>
        </p:nvSpPr>
        <p:spPr/>
        <p:txBody>
          <a:bodyPr/>
          <a:lstStyle/>
          <a:p>
            <a:fld id="{00000000-1234-1234-1234-123412341234}" type="slidenum">
              <a:rPr lang="en-US" smtClean="0"/>
              <a:t>24</a:t>
            </a:fld>
            <a:endParaRPr lang="en-US"/>
          </a:p>
        </p:txBody>
      </p:sp>
      <p:sp>
        <p:nvSpPr>
          <p:cNvPr id="7" name="TextBox 6">
            <a:extLst>
              <a:ext uri="{FF2B5EF4-FFF2-40B4-BE49-F238E27FC236}">
                <a16:creationId xmlns:a16="http://schemas.microsoft.com/office/drawing/2014/main" id="{046FEA73-2173-7C5B-042A-01561FA92CF5}"/>
              </a:ext>
            </a:extLst>
          </p:cNvPr>
          <p:cNvSpPr txBox="1"/>
          <p:nvPr/>
        </p:nvSpPr>
        <p:spPr>
          <a:xfrm>
            <a:off x="1567631" y="6396161"/>
            <a:ext cx="5919019" cy="276999"/>
          </a:xfrm>
          <a:prstGeom prst="rect">
            <a:avLst/>
          </a:prstGeom>
          <a:noFill/>
        </p:spPr>
        <p:txBody>
          <a:bodyPr wrap="square" lIns="91440" tIns="45720" rIns="91440" bIns="45720" rtlCol="0" anchor="t">
            <a:spAutoFit/>
          </a:bodyPr>
          <a:lstStyle/>
          <a:p>
            <a:r>
              <a:rPr lang="en-IN" sz="1200" dirty="0">
                <a:latin typeface="Times New Roman"/>
                <a:cs typeface="Times New Roman"/>
              </a:rPr>
              <a:t>Fig. Task-Level Architecture of Predictive Analytics and Crop Health Forecasting Module</a:t>
            </a:r>
          </a:p>
        </p:txBody>
      </p:sp>
      <p:pic>
        <p:nvPicPr>
          <p:cNvPr id="4" name="Picture 3">
            <a:extLst>
              <a:ext uri="{FF2B5EF4-FFF2-40B4-BE49-F238E27FC236}">
                <a16:creationId xmlns:a16="http://schemas.microsoft.com/office/drawing/2014/main" id="{B52E2D70-0F81-7988-211F-FF786B000E2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840965" y="3160425"/>
            <a:ext cx="7372350" cy="3215831"/>
          </a:xfrm>
          <a:prstGeom prst="rect">
            <a:avLst/>
          </a:prstGeom>
          <a:noFill/>
          <a:ln>
            <a:noFill/>
          </a:ln>
        </p:spPr>
      </p:pic>
    </p:spTree>
    <p:extLst>
      <p:ext uri="{BB962C8B-B14F-4D97-AF65-F5344CB8AC3E}">
        <p14:creationId xmlns:p14="http://schemas.microsoft.com/office/powerpoint/2010/main" val="13151356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2CF3617D-D28E-D73B-C474-B43E96A7C276}"/>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A54A4784-1F25-072A-7B8E-3205A985653D}"/>
              </a:ext>
            </a:extLst>
          </p:cNvPr>
          <p:cNvSpPr txBox="1">
            <a:spLocks noGrp="1"/>
          </p:cNvSpPr>
          <p:nvPr>
            <p:ph type="title"/>
          </p:nvPr>
        </p:nvSpPr>
        <p:spPr>
          <a:xfrm>
            <a:off x="0" y="1"/>
            <a:ext cx="9144000" cy="691664"/>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2800" b="1" dirty="0">
                <a:solidFill>
                  <a:srgbClr val="006600"/>
                </a:solidFill>
                <a:latin typeface="Bookman Old Style" panose="02050604050505020204" pitchFamily="18" charset="0"/>
                <a:cs typeface="Calibri" panose="020F0502020204030204"/>
                <a:sym typeface="Times New Roman" panose="02020603050405020304"/>
              </a:rPr>
              <a:t>Project Modules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sz="2800" b="1" dirty="0">
              <a:solidFill>
                <a:srgbClr val="006600"/>
              </a:solidFill>
              <a:latin typeface="Bookman Old Style" panose="02050604050505020204" pitchFamily="18" charset="0"/>
              <a:cs typeface="Calibri" panose="020F0502020204030204"/>
              <a:sym typeface="Arial" panose="020B0604020202020204"/>
            </a:endParaRPr>
          </a:p>
        </p:txBody>
      </p:sp>
      <p:sp>
        <p:nvSpPr>
          <p:cNvPr id="1258" name="Google Shape;1258;p101">
            <a:extLst>
              <a:ext uri="{FF2B5EF4-FFF2-40B4-BE49-F238E27FC236}">
                <a16:creationId xmlns:a16="http://schemas.microsoft.com/office/drawing/2014/main" id="{8332A5C8-AD4A-1044-5A3F-3C0A8E122222}"/>
              </a:ext>
            </a:extLst>
          </p:cNvPr>
          <p:cNvSpPr txBox="1">
            <a:spLocks noGrp="1"/>
          </p:cNvSpPr>
          <p:nvPr>
            <p:ph idx="1"/>
          </p:nvPr>
        </p:nvSpPr>
        <p:spPr>
          <a:xfrm>
            <a:off x="171711" y="668841"/>
            <a:ext cx="8800578" cy="5842096"/>
          </a:xfrm>
          <a:prstGeom prst="rect">
            <a:avLst/>
          </a:prstGeom>
          <a:noFill/>
          <a:ln>
            <a:noFill/>
          </a:ln>
        </p:spPr>
        <p:txBody>
          <a:bodyPr spcFirstLastPara="1" wrap="square" lIns="91425" tIns="45700" rIns="91425" bIns="45700" anchor="t" anchorCtr="0">
            <a:noAutofit/>
          </a:bodyPr>
          <a:lstStyle/>
          <a:p>
            <a:pPr lvl="2" algn="ctr">
              <a:buNone/>
            </a:pPr>
            <a:r>
              <a:rPr lang="en-US" sz="2200" b="1" dirty="0">
                <a:latin typeface="Times New Roman"/>
                <a:cs typeface="Times New Roman"/>
                <a:sym typeface="Times New Roman" panose="02020603050405020304"/>
              </a:rPr>
              <a:t>Task 1 –</a:t>
            </a:r>
            <a:r>
              <a:rPr lang="en-US" sz="2200" b="1" dirty="0">
                <a:latin typeface="Times New Roman"/>
                <a:ea typeface="+mn-lt"/>
                <a:cs typeface="Times New Roman"/>
                <a:sym typeface="Times New Roman" panose="02020603050405020304"/>
              </a:rPr>
              <a:t> Environmental Forecasting</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A hybrid multi-model forecasting framework is designed to predict short-term greenhouse climate variables (temperature, humidity, wind speed, solar radiation) at 24h and 48h horizons.</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The system uses Chronos-T5 (transformer), </a:t>
            </a:r>
            <a:r>
              <a:rPr lang="en-US" sz="2000" dirty="0" err="1">
                <a:latin typeface="Times New Roman" panose="02020603050405020304" pitchFamily="18" charset="0"/>
                <a:cs typeface="Times New Roman" panose="02020603050405020304" pitchFamily="18" charset="0"/>
              </a:rPr>
              <a:t>XGBoost</a:t>
            </a:r>
            <a:r>
              <a:rPr lang="en-US" sz="2000" dirty="0">
                <a:latin typeface="Times New Roman" panose="02020603050405020304" pitchFamily="18" charset="0"/>
                <a:cs typeface="Times New Roman" panose="02020603050405020304" pitchFamily="18" charset="0"/>
              </a:rPr>
              <a:t> (tree-based), and LSTM (sequence model) to capture global temporal patterns, structured feature interactions, and sequential dependencies respectively. </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Historical time-series data is chronologically split (70:15:15) and preprocessed with cleaning, temporal continuity, and feature engineering.</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Chronos-T5 is fine-tuned using a two-stage training strategy (frozen → full fine-tuning).</a:t>
            </a:r>
          </a:p>
          <a:p>
            <a:pPr marL="342900" indent="-342900" algn="just">
              <a:buFont typeface="Wingdings" panose="020B0604020202020204" pitchFamily="34" charset="0"/>
              <a:buChar char="q"/>
            </a:pPr>
            <a:r>
              <a:rPr lang="en-US" sz="2000" dirty="0" err="1">
                <a:latin typeface="Times New Roman" panose="02020603050405020304" pitchFamily="18" charset="0"/>
                <a:cs typeface="Times New Roman" panose="02020603050405020304" pitchFamily="18" charset="0"/>
              </a:rPr>
              <a:t>XGBoost</a:t>
            </a:r>
            <a:r>
              <a:rPr lang="en-US" sz="2000" dirty="0">
                <a:latin typeface="Times New Roman" panose="02020603050405020304" pitchFamily="18" charset="0"/>
                <a:cs typeface="Times New Roman" panose="02020603050405020304" pitchFamily="18" charset="0"/>
              </a:rPr>
              <a:t> uses a direct multi-step approach with variable-specific regularization to handle differences in predictability across climate variables.  </a:t>
            </a:r>
            <a:r>
              <a:rPr lang="en-US" sz="2000" dirty="0">
                <a:latin typeface="Times New Roman" panose="02020603050405020304" pitchFamily="18" charset="0"/>
                <a:ea typeface="Calibri"/>
                <a:cs typeface="Times New Roman" panose="02020603050405020304" pitchFamily="18" charset="0"/>
              </a:rPr>
              <a:t> </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LSTM models are trained using 30-day sequences.</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Final predictions are generated through </a:t>
            </a:r>
            <a:r>
              <a:rPr lang="en-US" sz="2000" dirty="0" err="1">
                <a:latin typeface="Times New Roman" panose="02020603050405020304" pitchFamily="18" charset="0"/>
                <a:cs typeface="Times New Roman" panose="02020603050405020304" pitchFamily="18" charset="0"/>
              </a:rPr>
              <a:t>Optuna</a:t>
            </a:r>
            <a:r>
              <a:rPr lang="en-US" sz="2000" dirty="0">
                <a:latin typeface="Times New Roman" panose="02020603050405020304" pitchFamily="18" charset="0"/>
                <a:cs typeface="Times New Roman" panose="02020603050405020304" pitchFamily="18" charset="0"/>
              </a:rPr>
              <a:t>-based ensemble blending, optimizing weights per variable and horizon for improved accuracy and robustness.</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The system also includes sky-condition classification using Random Forest. </a:t>
            </a:r>
            <a:endParaRPr lang="en-US" sz="2000" dirty="0">
              <a:latin typeface="Times New Roman" panose="02020603050405020304" pitchFamily="18" charset="0"/>
              <a:ea typeface="Calibri"/>
              <a:cs typeface="Times New Roman" panose="02020603050405020304" pitchFamily="18" charset="0"/>
            </a:endParaRPr>
          </a:p>
          <a:p>
            <a:pPr marL="685800" lvl="1" indent="-342900" algn="just">
              <a:buFont typeface="Courier New" panose="020B0604020202020204" pitchFamily="34" charset="0"/>
              <a:buChar char="o"/>
            </a:pPr>
            <a:endParaRPr lang="en-US" sz="2200" dirty="0">
              <a:latin typeface="Times New Roman"/>
              <a:ea typeface="Calibri"/>
              <a:cs typeface="Times New Roman"/>
            </a:endParaRPr>
          </a:p>
          <a:p>
            <a:pPr marL="342900" indent="-342900" algn="just">
              <a:buFont typeface="Wingdings" panose="020B0604020202020204" pitchFamily="34" charset="0"/>
              <a:buChar char="q"/>
            </a:pPr>
            <a:endParaRPr lang="en-US" sz="2000" dirty="0">
              <a:latin typeface="Times New Roman"/>
              <a:ea typeface="Calibri"/>
              <a:cs typeface="Times New Roman"/>
            </a:endParaRPr>
          </a:p>
          <a:p>
            <a:pPr algn="just">
              <a:lnSpc>
                <a:spcPct val="100000"/>
              </a:lnSpc>
              <a:buFont typeface="Wingdings" panose="020B0604020202020204" pitchFamily="34" charset="0"/>
              <a:buChar char="q"/>
            </a:pPr>
            <a:endParaRPr lang="en-US" sz="2000" dirty="0">
              <a:latin typeface="Times New Roman"/>
              <a:ea typeface="Calibri"/>
              <a:cs typeface="Times New Roman"/>
            </a:endParaRPr>
          </a:p>
        </p:txBody>
      </p:sp>
      <p:cxnSp>
        <p:nvCxnSpPr>
          <p:cNvPr id="6" name="Google Shape;1249;p100">
            <a:extLst>
              <a:ext uri="{FF2B5EF4-FFF2-40B4-BE49-F238E27FC236}">
                <a16:creationId xmlns:a16="http://schemas.microsoft.com/office/drawing/2014/main" id="{06AE158A-328E-DECC-3D54-6C6BBDB55434}"/>
              </a:ext>
            </a:extLst>
          </p:cNvPr>
          <p:cNvCxnSpPr/>
          <p:nvPr/>
        </p:nvCxnSpPr>
        <p:spPr>
          <a:xfrm>
            <a:off x="0" y="694840"/>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AB774459-12CF-6CD7-DCAC-8608D7AE4F60}"/>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5" name="Slide Number Placeholder 4">
            <a:extLst>
              <a:ext uri="{FF2B5EF4-FFF2-40B4-BE49-F238E27FC236}">
                <a16:creationId xmlns:a16="http://schemas.microsoft.com/office/drawing/2014/main" id="{B8074430-AFE4-CD90-4D37-943B87675E12}"/>
              </a:ext>
            </a:extLst>
          </p:cNvPr>
          <p:cNvSpPr>
            <a:spLocks noGrp="1"/>
          </p:cNvSpPr>
          <p:nvPr>
            <p:ph type="sldNum" sz="quarter" idx="12"/>
          </p:nvPr>
        </p:nvSpPr>
        <p:spPr/>
        <p:txBody>
          <a:bodyPr/>
          <a:lstStyle/>
          <a:p>
            <a:fld id="{00000000-1234-1234-1234-123412341234}" type="slidenum">
              <a:rPr lang="en-US" smtClean="0"/>
              <a:t>25</a:t>
            </a:fld>
            <a:endParaRPr lang="en-US"/>
          </a:p>
        </p:txBody>
      </p:sp>
    </p:spTree>
    <p:extLst>
      <p:ext uri="{BB962C8B-B14F-4D97-AF65-F5344CB8AC3E}">
        <p14:creationId xmlns:p14="http://schemas.microsoft.com/office/powerpoint/2010/main" val="5646062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CCFEC380-FF1F-7EF9-1496-D7176650FC71}"/>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A0E5F524-04EC-B09D-818F-616130284803}"/>
              </a:ext>
            </a:extLst>
          </p:cNvPr>
          <p:cNvSpPr txBox="1">
            <a:spLocks noGrp="1"/>
          </p:cNvSpPr>
          <p:nvPr>
            <p:ph type="title"/>
          </p:nvPr>
        </p:nvSpPr>
        <p:spPr>
          <a:xfrm>
            <a:off x="0" y="1"/>
            <a:ext cx="9144000" cy="691664"/>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2800" b="1" dirty="0">
                <a:solidFill>
                  <a:srgbClr val="006600"/>
                </a:solidFill>
                <a:latin typeface="Bookman Old Style" panose="02050604050505020204" pitchFamily="18" charset="0"/>
                <a:cs typeface="Calibri" panose="020F0502020204030204"/>
                <a:sym typeface="Times New Roman" panose="02020603050405020304"/>
              </a:rPr>
              <a:t>Project Modules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sz="2800" b="1" dirty="0">
              <a:solidFill>
                <a:srgbClr val="006600"/>
              </a:solidFill>
              <a:latin typeface="Bookman Old Style" panose="02050604050505020204" pitchFamily="18" charset="0"/>
              <a:cs typeface="Calibri" panose="020F0502020204030204"/>
              <a:sym typeface="Arial" panose="020B0604020202020204"/>
            </a:endParaRPr>
          </a:p>
        </p:txBody>
      </p:sp>
      <p:cxnSp>
        <p:nvCxnSpPr>
          <p:cNvPr id="6" name="Google Shape;1249;p100">
            <a:extLst>
              <a:ext uri="{FF2B5EF4-FFF2-40B4-BE49-F238E27FC236}">
                <a16:creationId xmlns:a16="http://schemas.microsoft.com/office/drawing/2014/main" id="{8916A353-E4FE-E218-915D-1E4D3A6433EF}"/>
              </a:ext>
            </a:extLst>
          </p:cNvPr>
          <p:cNvCxnSpPr/>
          <p:nvPr/>
        </p:nvCxnSpPr>
        <p:spPr>
          <a:xfrm>
            <a:off x="0" y="694840"/>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BF8C7F83-7A2D-72D7-F52A-7BB0DC714E70}"/>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5" name="Slide Number Placeholder 4">
            <a:extLst>
              <a:ext uri="{FF2B5EF4-FFF2-40B4-BE49-F238E27FC236}">
                <a16:creationId xmlns:a16="http://schemas.microsoft.com/office/drawing/2014/main" id="{853D77EF-C1DF-C79C-AE07-E632B47B5195}"/>
              </a:ext>
            </a:extLst>
          </p:cNvPr>
          <p:cNvSpPr>
            <a:spLocks noGrp="1"/>
          </p:cNvSpPr>
          <p:nvPr>
            <p:ph type="sldNum" sz="quarter" idx="12"/>
          </p:nvPr>
        </p:nvSpPr>
        <p:spPr/>
        <p:txBody>
          <a:bodyPr/>
          <a:lstStyle/>
          <a:p>
            <a:fld id="{00000000-1234-1234-1234-123412341234}" type="slidenum">
              <a:rPr lang="en-US" smtClean="0"/>
              <a:t>26</a:t>
            </a:fld>
            <a:endParaRPr lang="en-US"/>
          </a:p>
        </p:txBody>
      </p:sp>
      <p:sp>
        <p:nvSpPr>
          <p:cNvPr id="4" name="TextBox 3">
            <a:extLst>
              <a:ext uri="{FF2B5EF4-FFF2-40B4-BE49-F238E27FC236}">
                <a16:creationId xmlns:a16="http://schemas.microsoft.com/office/drawing/2014/main" id="{22540A8A-4EF9-9645-C776-DDEED8269B85}"/>
              </a:ext>
            </a:extLst>
          </p:cNvPr>
          <p:cNvSpPr txBox="1"/>
          <p:nvPr/>
        </p:nvSpPr>
        <p:spPr>
          <a:xfrm>
            <a:off x="2514235" y="6444477"/>
            <a:ext cx="4539501"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Weather Forecasting Model Architecture</a:t>
            </a:r>
            <a:endParaRPr lang="en-US" sz="1200" dirty="0"/>
          </a:p>
        </p:txBody>
      </p:sp>
      <p:pic>
        <p:nvPicPr>
          <p:cNvPr id="11" name="Picture 10" descr="A diagram of a flowchart">
            <a:extLst>
              <a:ext uri="{FF2B5EF4-FFF2-40B4-BE49-F238E27FC236}">
                <a16:creationId xmlns:a16="http://schemas.microsoft.com/office/drawing/2014/main" id="{51606598-039F-BFDF-A9D9-2B371716D5C7}"/>
              </a:ext>
            </a:extLst>
          </p:cNvPr>
          <p:cNvPicPr>
            <a:picLocks noChangeAspect="1"/>
          </p:cNvPicPr>
          <p:nvPr/>
        </p:nvPicPr>
        <p:blipFill>
          <a:blip r:embed="rId3"/>
          <a:stretch>
            <a:fillRect/>
          </a:stretch>
        </p:blipFill>
        <p:spPr>
          <a:xfrm>
            <a:off x="1540569" y="740625"/>
            <a:ext cx="6062862" cy="5753318"/>
          </a:xfrm>
          <a:prstGeom prst="rect">
            <a:avLst/>
          </a:prstGeom>
        </p:spPr>
      </p:pic>
    </p:spTree>
    <p:extLst>
      <p:ext uri="{BB962C8B-B14F-4D97-AF65-F5344CB8AC3E}">
        <p14:creationId xmlns:p14="http://schemas.microsoft.com/office/powerpoint/2010/main" val="25637934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5E9ADF03-C06E-F716-6E56-752E61790165}"/>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19DC463C-5F36-5CD1-4882-AB8E1E281111}"/>
              </a:ext>
            </a:extLst>
          </p:cNvPr>
          <p:cNvSpPr txBox="1">
            <a:spLocks noGrp="1"/>
          </p:cNvSpPr>
          <p:nvPr>
            <p:ph type="title"/>
          </p:nvPr>
        </p:nvSpPr>
        <p:spPr>
          <a:xfrm>
            <a:off x="0" y="1"/>
            <a:ext cx="9144000" cy="691664"/>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2800" b="1" dirty="0">
                <a:solidFill>
                  <a:srgbClr val="006600"/>
                </a:solidFill>
                <a:latin typeface="Bookman Old Style" panose="02050604050505020204" pitchFamily="18" charset="0"/>
                <a:cs typeface="Calibri" panose="020F0502020204030204"/>
                <a:sym typeface="Times New Roman" panose="02020603050405020304"/>
              </a:rPr>
              <a:t>Project Modules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sz="2800" b="1" dirty="0">
              <a:solidFill>
                <a:srgbClr val="006600"/>
              </a:solidFill>
              <a:latin typeface="Bookman Old Style" panose="02050604050505020204" pitchFamily="18" charset="0"/>
              <a:cs typeface="Calibri" panose="020F0502020204030204"/>
              <a:sym typeface="Arial" panose="020B0604020202020204"/>
            </a:endParaRPr>
          </a:p>
        </p:txBody>
      </p:sp>
      <p:sp>
        <p:nvSpPr>
          <p:cNvPr id="1258" name="Google Shape;1258;p101">
            <a:extLst>
              <a:ext uri="{FF2B5EF4-FFF2-40B4-BE49-F238E27FC236}">
                <a16:creationId xmlns:a16="http://schemas.microsoft.com/office/drawing/2014/main" id="{C962DA5E-81F8-764A-3130-C17C960C2A84}"/>
              </a:ext>
            </a:extLst>
          </p:cNvPr>
          <p:cNvSpPr txBox="1">
            <a:spLocks noGrp="1"/>
          </p:cNvSpPr>
          <p:nvPr>
            <p:ph idx="1"/>
          </p:nvPr>
        </p:nvSpPr>
        <p:spPr>
          <a:xfrm>
            <a:off x="171711" y="1015904"/>
            <a:ext cx="8800578" cy="5145668"/>
          </a:xfrm>
          <a:prstGeom prst="rect">
            <a:avLst/>
          </a:prstGeom>
          <a:noFill/>
          <a:ln>
            <a:noFill/>
          </a:ln>
        </p:spPr>
        <p:txBody>
          <a:bodyPr spcFirstLastPara="1" wrap="square" lIns="91425" tIns="45700" rIns="91425" bIns="45700" anchor="t" anchorCtr="0">
            <a:noAutofit/>
          </a:bodyPr>
          <a:lstStyle/>
          <a:p>
            <a:pPr lvl="2" algn="ctr">
              <a:buNone/>
            </a:pPr>
            <a:r>
              <a:rPr lang="en-US" sz="2000" b="1" dirty="0">
                <a:latin typeface="Times New Roman" panose="02020603050405020304" pitchFamily="18" charset="0"/>
                <a:cs typeface="Times New Roman" panose="02020603050405020304" pitchFamily="18" charset="0"/>
                <a:sym typeface="Times New Roman" panose="02020603050405020304"/>
              </a:rPr>
              <a:t>Task 2 – Disease Risk Prediction</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A time-series disease forecasting pipeline predicts presence, future severity (24h), and trend (absent, emerging, reducing, stable, worsening) for each disease, enabling proactive greenhouse intervention.</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Data is structured from long to wide format, creating disease-specific features (presence, severity, targets, trends) while preserving multi-disease learning in a unified feature space.</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Feature pipeline includes encoding and chronological splitting (70:15:15)</a:t>
            </a:r>
            <a:r>
              <a:rPr lang="en-US" sz="2000" dirty="0">
                <a:latin typeface="Times New Roman" panose="02020603050405020304" pitchFamily="18" charset="0"/>
                <a:ea typeface="Calibri"/>
                <a:cs typeface="Times New Roman" panose="02020603050405020304" pitchFamily="18" charset="0"/>
              </a:rPr>
              <a:t>.</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Baseline models use </a:t>
            </a:r>
            <a:r>
              <a:rPr lang="en-US" sz="2000" dirty="0" err="1">
                <a:latin typeface="Times New Roman" panose="02020603050405020304" pitchFamily="18" charset="0"/>
                <a:cs typeface="Times New Roman" panose="02020603050405020304" pitchFamily="18" charset="0"/>
              </a:rPr>
              <a:t>HistGradientBoosting</a:t>
            </a:r>
            <a:r>
              <a:rPr lang="en-US" sz="2000" dirty="0">
                <a:latin typeface="Times New Roman" panose="02020603050405020304" pitchFamily="18" charset="0"/>
                <a:cs typeface="Times New Roman" panose="02020603050405020304" pitchFamily="18" charset="0"/>
              </a:rPr>
              <a:t> (multi-output classification + regression) with lagged features, providing stable reference predictions and supporting hybrid blending.</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Core models use LSTM/GRU sequence learning (24-hour windows) with a shared encoder and dual heads for presence classification and future severity regression. </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Training includes </a:t>
            </a:r>
            <a:r>
              <a:rPr lang="en-US" sz="2000" dirty="0" err="1">
                <a:latin typeface="Times New Roman" panose="02020603050405020304" pitchFamily="18" charset="0"/>
                <a:cs typeface="Times New Roman" panose="02020603050405020304" pitchFamily="18" charset="0"/>
              </a:rPr>
              <a:t>EarlyStopping</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ReduceLROnPlateau</a:t>
            </a:r>
            <a:r>
              <a:rPr lang="en-US" sz="2000" dirty="0">
                <a:latin typeface="Times New Roman" panose="02020603050405020304" pitchFamily="18" charset="0"/>
                <a:cs typeface="Times New Roman" panose="02020603050405020304" pitchFamily="18" charset="0"/>
              </a:rPr>
              <a:t>, checkpointing, and model selection between LSTM/GRU based on validation performance. </a:t>
            </a:r>
            <a:r>
              <a:rPr lang="en-US" sz="2000" dirty="0">
                <a:latin typeface="Times New Roman" panose="02020603050405020304" pitchFamily="18" charset="0"/>
                <a:ea typeface="Calibri"/>
                <a:cs typeface="Times New Roman" panose="02020603050405020304" pitchFamily="18" charset="0"/>
              </a:rPr>
              <a:t> </a:t>
            </a:r>
          </a:p>
          <a:p>
            <a:pPr marL="342900" indent="-342900" algn="just">
              <a:buFont typeface="Wingdings" panose="020B0604020202020204" pitchFamily="34" charset="0"/>
              <a:buChar char="q"/>
            </a:pPr>
            <a:endParaRPr lang="en-US" sz="2000" dirty="0">
              <a:latin typeface="Times New Roman" panose="02020603050405020304" pitchFamily="18" charset="0"/>
              <a:ea typeface="Calibri"/>
              <a:cs typeface="Times New Roman" panose="02020603050405020304" pitchFamily="18" charset="0"/>
            </a:endParaRPr>
          </a:p>
          <a:p>
            <a:pPr algn="just">
              <a:lnSpc>
                <a:spcPct val="100000"/>
              </a:lnSpc>
              <a:buFont typeface="Wingdings" panose="020B0604020202020204" pitchFamily="34" charset="0"/>
              <a:buChar char="q"/>
            </a:pPr>
            <a:endParaRPr lang="en-US" sz="2000" dirty="0">
              <a:latin typeface="Times New Roman" panose="02020603050405020304" pitchFamily="18" charset="0"/>
              <a:ea typeface="Calibri"/>
              <a:cs typeface="Times New Roman" panose="02020603050405020304" pitchFamily="18" charset="0"/>
            </a:endParaRPr>
          </a:p>
        </p:txBody>
      </p:sp>
      <p:cxnSp>
        <p:nvCxnSpPr>
          <p:cNvPr id="6" name="Google Shape;1249;p100">
            <a:extLst>
              <a:ext uri="{FF2B5EF4-FFF2-40B4-BE49-F238E27FC236}">
                <a16:creationId xmlns:a16="http://schemas.microsoft.com/office/drawing/2014/main" id="{071659D7-5665-189C-43F1-338AD1935B96}"/>
              </a:ext>
            </a:extLst>
          </p:cNvPr>
          <p:cNvCxnSpPr/>
          <p:nvPr/>
        </p:nvCxnSpPr>
        <p:spPr>
          <a:xfrm>
            <a:off x="0" y="694840"/>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2DEA27B8-73B6-0927-61CC-2782BD554A39}"/>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5" name="Slide Number Placeholder 4">
            <a:extLst>
              <a:ext uri="{FF2B5EF4-FFF2-40B4-BE49-F238E27FC236}">
                <a16:creationId xmlns:a16="http://schemas.microsoft.com/office/drawing/2014/main" id="{B968ABAD-7779-2551-DE6A-C85C1BD56593}"/>
              </a:ext>
            </a:extLst>
          </p:cNvPr>
          <p:cNvSpPr>
            <a:spLocks noGrp="1"/>
          </p:cNvSpPr>
          <p:nvPr>
            <p:ph type="sldNum" sz="quarter" idx="12"/>
          </p:nvPr>
        </p:nvSpPr>
        <p:spPr/>
        <p:txBody>
          <a:bodyPr/>
          <a:lstStyle/>
          <a:p>
            <a:fld id="{00000000-1234-1234-1234-123412341234}" type="slidenum">
              <a:rPr lang="en-US" smtClean="0"/>
              <a:t>27</a:t>
            </a:fld>
            <a:endParaRPr lang="en-US"/>
          </a:p>
        </p:txBody>
      </p:sp>
    </p:spTree>
    <p:extLst>
      <p:ext uri="{BB962C8B-B14F-4D97-AF65-F5344CB8AC3E}">
        <p14:creationId xmlns:p14="http://schemas.microsoft.com/office/powerpoint/2010/main" val="5443222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619461F1-C78A-E419-0480-098467112695}"/>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A298DFB6-A32D-4581-F5C9-872C640459AE}"/>
              </a:ext>
            </a:extLst>
          </p:cNvPr>
          <p:cNvSpPr txBox="1">
            <a:spLocks noGrp="1"/>
          </p:cNvSpPr>
          <p:nvPr>
            <p:ph type="title"/>
          </p:nvPr>
        </p:nvSpPr>
        <p:spPr>
          <a:xfrm>
            <a:off x="0" y="1"/>
            <a:ext cx="9144000" cy="691664"/>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2800" b="1" dirty="0">
                <a:solidFill>
                  <a:srgbClr val="006600"/>
                </a:solidFill>
                <a:latin typeface="Bookman Old Style" panose="02050604050505020204" pitchFamily="18" charset="0"/>
                <a:cs typeface="Calibri" panose="020F0502020204030204"/>
                <a:sym typeface="Times New Roman" panose="02020603050405020304"/>
              </a:rPr>
              <a:t>Project Modules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sz="2800" b="1" dirty="0">
              <a:solidFill>
                <a:srgbClr val="006600"/>
              </a:solidFill>
              <a:latin typeface="Bookman Old Style" panose="02050604050505020204" pitchFamily="18" charset="0"/>
              <a:cs typeface="Calibri" panose="020F0502020204030204"/>
              <a:sym typeface="Arial" panose="020B0604020202020204"/>
            </a:endParaRPr>
          </a:p>
        </p:txBody>
      </p:sp>
      <p:cxnSp>
        <p:nvCxnSpPr>
          <p:cNvPr id="6" name="Google Shape;1249;p100">
            <a:extLst>
              <a:ext uri="{FF2B5EF4-FFF2-40B4-BE49-F238E27FC236}">
                <a16:creationId xmlns:a16="http://schemas.microsoft.com/office/drawing/2014/main" id="{D7291F4C-7441-07EB-D6AA-62E54AD7EE93}"/>
              </a:ext>
            </a:extLst>
          </p:cNvPr>
          <p:cNvCxnSpPr/>
          <p:nvPr/>
        </p:nvCxnSpPr>
        <p:spPr>
          <a:xfrm>
            <a:off x="0" y="694840"/>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2C5ECDDC-AA9F-136B-D53A-D68C08491A36}"/>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5" name="Slide Number Placeholder 4">
            <a:extLst>
              <a:ext uri="{FF2B5EF4-FFF2-40B4-BE49-F238E27FC236}">
                <a16:creationId xmlns:a16="http://schemas.microsoft.com/office/drawing/2014/main" id="{544C6EBB-01FA-5625-7F41-4C7A881F58B2}"/>
              </a:ext>
            </a:extLst>
          </p:cNvPr>
          <p:cNvSpPr>
            <a:spLocks noGrp="1"/>
          </p:cNvSpPr>
          <p:nvPr>
            <p:ph type="sldNum" sz="quarter" idx="12"/>
          </p:nvPr>
        </p:nvSpPr>
        <p:spPr/>
        <p:txBody>
          <a:bodyPr/>
          <a:lstStyle/>
          <a:p>
            <a:fld id="{00000000-1234-1234-1234-123412341234}" type="slidenum">
              <a:rPr lang="en-US" smtClean="0"/>
              <a:t>28</a:t>
            </a:fld>
            <a:endParaRPr lang="en-US"/>
          </a:p>
        </p:txBody>
      </p:sp>
      <p:sp>
        <p:nvSpPr>
          <p:cNvPr id="4" name="TextBox 3">
            <a:extLst>
              <a:ext uri="{FF2B5EF4-FFF2-40B4-BE49-F238E27FC236}">
                <a16:creationId xmlns:a16="http://schemas.microsoft.com/office/drawing/2014/main" id="{EFF0F387-AA24-2364-ADEF-46D6D77031F7}"/>
              </a:ext>
            </a:extLst>
          </p:cNvPr>
          <p:cNvSpPr txBox="1"/>
          <p:nvPr/>
        </p:nvSpPr>
        <p:spPr>
          <a:xfrm>
            <a:off x="2686051" y="6492875"/>
            <a:ext cx="4539501"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Disease Progression Prediction Model Architecture</a:t>
            </a:r>
            <a:endParaRPr lang="en-US" sz="1200" dirty="0"/>
          </a:p>
        </p:txBody>
      </p:sp>
      <p:pic>
        <p:nvPicPr>
          <p:cNvPr id="11" name="Picture 10" descr="A diagram of a flowchart">
            <a:extLst>
              <a:ext uri="{FF2B5EF4-FFF2-40B4-BE49-F238E27FC236}">
                <a16:creationId xmlns:a16="http://schemas.microsoft.com/office/drawing/2014/main" id="{AA17337F-2670-9C14-8BDA-4C1B753A50DE}"/>
              </a:ext>
            </a:extLst>
          </p:cNvPr>
          <p:cNvPicPr>
            <a:picLocks noChangeAspect="1"/>
          </p:cNvPicPr>
          <p:nvPr/>
        </p:nvPicPr>
        <p:blipFill>
          <a:blip r:embed="rId3"/>
          <a:stretch>
            <a:fillRect/>
          </a:stretch>
        </p:blipFill>
        <p:spPr>
          <a:xfrm>
            <a:off x="1843094" y="753239"/>
            <a:ext cx="5414469" cy="5749760"/>
          </a:xfrm>
          <a:prstGeom prst="rect">
            <a:avLst/>
          </a:prstGeom>
        </p:spPr>
      </p:pic>
    </p:spTree>
    <p:extLst>
      <p:ext uri="{BB962C8B-B14F-4D97-AF65-F5344CB8AC3E}">
        <p14:creationId xmlns:p14="http://schemas.microsoft.com/office/powerpoint/2010/main" val="37675903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7FBB6932-868D-D22B-0A4F-CFCC1FD039D4}"/>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0DE4FFDD-C98F-25B6-3999-8BAA44D70319}"/>
              </a:ext>
            </a:extLst>
          </p:cNvPr>
          <p:cNvSpPr txBox="1">
            <a:spLocks noGrp="1"/>
          </p:cNvSpPr>
          <p:nvPr>
            <p:ph type="title"/>
          </p:nvPr>
        </p:nvSpPr>
        <p:spPr>
          <a:xfrm>
            <a:off x="0" y="1"/>
            <a:ext cx="9144000" cy="691664"/>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2800" b="1" dirty="0">
                <a:solidFill>
                  <a:srgbClr val="006600"/>
                </a:solidFill>
                <a:latin typeface="Bookman Old Style" panose="02050604050505020204" pitchFamily="18" charset="0"/>
                <a:cs typeface="Calibri" panose="020F0502020204030204"/>
                <a:sym typeface="Times New Roman" panose="02020603050405020304"/>
              </a:rPr>
              <a:t>Project Modules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sz="2800" b="1" dirty="0">
              <a:solidFill>
                <a:srgbClr val="006600"/>
              </a:solidFill>
              <a:latin typeface="Bookman Old Style" panose="02050604050505020204" pitchFamily="18" charset="0"/>
              <a:cs typeface="Calibri" panose="020F0502020204030204"/>
              <a:sym typeface="Arial" panose="020B0604020202020204"/>
            </a:endParaRPr>
          </a:p>
        </p:txBody>
      </p:sp>
      <p:sp>
        <p:nvSpPr>
          <p:cNvPr id="1258" name="Google Shape;1258;p101">
            <a:extLst>
              <a:ext uri="{FF2B5EF4-FFF2-40B4-BE49-F238E27FC236}">
                <a16:creationId xmlns:a16="http://schemas.microsoft.com/office/drawing/2014/main" id="{CE89C879-450F-165E-9FA2-3411D2C4F1C0}"/>
              </a:ext>
            </a:extLst>
          </p:cNvPr>
          <p:cNvSpPr txBox="1">
            <a:spLocks noGrp="1"/>
          </p:cNvSpPr>
          <p:nvPr>
            <p:ph idx="1"/>
          </p:nvPr>
        </p:nvSpPr>
        <p:spPr>
          <a:xfrm>
            <a:off x="171711" y="699603"/>
            <a:ext cx="8800578" cy="5842096"/>
          </a:xfrm>
          <a:prstGeom prst="rect">
            <a:avLst/>
          </a:prstGeom>
          <a:noFill/>
          <a:ln>
            <a:noFill/>
          </a:ln>
        </p:spPr>
        <p:txBody>
          <a:bodyPr spcFirstLastPara="1" wrap="square" lIns="91425" tIns="45700" rIns="91425" bIns="45700" anchor="t" anchorCtr="0">
            <a:noAutofit/>
          </a:bodyPr>
          <a:lstStyle/>
          <a:p>
            <a:pPr lvl="2" algn="ctr">
              <a:buNone/>
            </a:pPr>
            <a:r>
              <a:rPr lang="en-US" sz="2000" b="1" dirty="0">
                <a:latin typeface="Times New Roman" panose="02020603050405020304" pitchFamily="18" charset="0"/>
                <a:cs typeface="Times New Roman" panose="02020603050405020304" pitchFamily="18" charset="0"/>
                <a:sym typeface="Times New Roman" panose="02020603050405020304"/>
              </a:rPr>
              <a:t>Task 3 – </a:t>
            </a:r>
            <a:r>
              <a:rPr lang="en-US" sz="2000" b="1" dirty="0">
                <a:latin typeface="Times New Roman" panose="02020603050405020304" pitchFamily="18" charset="0"/>
                <a:ea typeface="+mn-lt"/>
                <a:cs typeface="Times New Roman" panose="02020603050405020304" pitchFamily="18" charset="0"/>
                <a:sym typeface="Times New Roman" panose="02020603050405020304"/>
              </a:rPr>
              <a:t>Growth Forecasting</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A sequence-based multi-task framework predicts current stage, next stage, hours to transition, and transition probabilities (24h, 48h) using greenhouse sensor time-series data. </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Data is structured as hourly time-series across multiple plant growth cycles, ensuring biologically valid progression learning and generalization across unseen cycles. </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Feature engineering includes rolling statistics (6h–24h), lag features, and environmental variables (temperature, humidity, CO₂, radiation) to capture growth dynamics. </a:t>
            </a:r>
            <a:endParaRPr lang="en-US" sz="2000" dirty="0">
              <a:latin typeface="Times New Roman" panose="02020603050405020304" pitchFamily="18" charset="0"/>
              <a:ea typeface="Calibri"/>
              <a:cs typeface="Times New Roman" panose="02020603050405020304" pitchFamily="18" charset="0"/>
            </a:endParaRP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Sequence modeling uses 24-hour sliding windows, enabling the model to learn temporal patterns across full day–night greenhouse cycles.</a:t>
            </a:r>
            <a:endParaRPr lang="en-US" sz="2000" dirty="0">
              <a:latin typeface="Times New Roman" panose="02020603050405020304" pitchFamily="18" charset="0"/>
              <a:ea typeface="Calibri"/>
              <a:cs typeface="Times New Roman" panose="02020603050405020304" pitchFamily="18" charset="0"/>
            </a:endParaRP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Baselines (Random Forest, </a:t>
            </a:r>
            <a:r>
              <a:rPr lang="en-US" sz="2000" dirty="0" err="1">
                <a:latin typeface="Times New Roman" panose="02020603050405020304" pitchFamily="18" charset="0"/>
                <a:cs typeface="Times New Roman" panose="02020603050405020304" pitchFamily="18" charset="0"/>
              </a:rPr>
              <a:t>XGBoost</a:t>
            </a:r>
            <a:r>
              <a:rPr lang="en-US" sz="2000" dirty="0">
                <a:latin typeface="Times New Roman" panose="02020603050405020304" pitchFamily="18" charset="0"/>
                <a:cs typeface="Times New Roman" panose="02020603050405020304" pitchFamily="18" charset="0"/>
              </a:rPr>
              <a:t>) provide tabular benchmarks, validating improvements from sequence-based deep learning approaches. </a:t>
            </a:r>
            <a:endParaRPr lang="en-US" sz="2000" dirty="0">
              <a:latin typeface="Times New Roman" panose="02020603050405020304" pitchFamily="18" charset="0"/>
              <a:ea typeface="Calibri"/>
              <a:cs typeface="Times New Roman" panose="02020603050405020304" pitchFamily="18" charset="0"/>
            </a:endParaRP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Core model uses a multi-task LSTM architecture for joint classification and regression of growth progression variables. </a:t>
            </a:r>
            <a:r>
              <a:rPr lang="en-US" sz="2000" dirty="0">
                <a:latin typeface="Times New Roman" panose="02020603050405020304" pitchFamily="18" charset="0"/>
                <a:ea typeface="Calibri"/>
                <a:cs typeface="Times New Roman" panose="02020603050405020304" pitchFamily="18" charset="0"/>
              </a:rPr>
              <a:t> </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Training includes cross-entropy (classification), Huber loss (regression), early stopping, LR scheduling, and logical post-processing for consistent outputs. </a:t>
            </a:r>
            <a:r>
              <a:rPr lang="en-US" sz="2000" dirty="0">
                <a:latin typeface="Times New Roman" panose="02020603050405020304" pitchFamily="18" charset="0"/>
                <a:ea typeface="Calibri"/>
                <a:cs typeface="Times New Roman" panose="02020603050405020304" pitchFamily="18" charset="0"/>
              </a:rPr>
              <a:t> </a:t>
            </a:r>
          </a:p>
          <a:p>
            <a:pPr algn="just">
              <a:lnSpc>
                <a:spcPct val="100000"/>
              </a:lnSpc>
              <a:buFont typeface="Wingdings" panose="020B0604020202020204" pitchFamily="34" charset="0"/>
              <a:buChar char="q"/>
            </a:pPr>
            <a:endParaRPr lang="en-US" sz="2000" dirty="0">
              <a:latin typeface="Times New Roman" panose="02020603050405020304" pitchFamily="18" charset="0"/>
              <a:ea typeface="Calibri"/>
              <a:cs typeface="Times New Roman" panose="02020603050405020304" pitchFamily="18" charset="0"/>
            </a:endParaRPr>
          </a:p>
        </p:txBody>
      </p:sp>
      <p:cxnSp>
        <p:nvCxnSpPr>
          <p:cNvPr id="6" name="Google Shape;1249;p100">
            <a:extLst>
              <a:ext uri="{FF2B5EF4-FFF2-40B4-BE49-F238E27FC236}">
                <a16:creationId xmlns:a16="http://schemas.microsoft.com/office/drawing/2014/main" id="{60B0E20F-28E4-761C-9BD2-4635BCBFC1B9}"/>
              </a:ext>
            </a:extLst>
          </p:cNvPr>
          <p:cNvCxnSpPr/>
          <p:nvPr/>
        </p:nvCxnSpPr>
        <p:spPr>
          <a:xfrm>
            <a:off x="0" y="694840"/>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A8695870-8DF9-08D9-DF74-9D4AE4354116}"/>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5" name="Slide Number Placeholder 4">
            <a:extLst>
              <a:ext uri="{FF2B5EF4-FFF2-40B4-BE49-F238E27FC236}">
                <a16:creationId xmlns:a16="http://schemas.microsoft.com/office/drawing/2014/main" id="{68794316-E4F7-5483-670A-72A0BCD557FF}"/>
              </a:ext>
            </a:extLst>
          </p:cNvPr>
          <p:cNvSpPr>
            <a:spLocks noGrp="1"/>
          </p:cNvSpPr>
          <p:nvPr>
            <p:ph type="sldNum" sz="quarter" idx="12"/>
          </p:nvPr>
        </p:nvSpPr>
        <p:spPr/>
        <p:txBody>
          <a:bodyPr/>
          <a:lstStyle/>
          <a:p>
            <a:fld id="{00000000-1234-1234-1234-123412341234}" type="slidenum">
              <a:rPr lang="en-US" smtClean="0"/>
              <a:t>29</a:t>
            </a:fld>
            <a:endParaRPr lang="en-US"/>
          </a:p>
        </p:txBody>
      </p:sp>
    </p:spTree>
    <p:extLst>
      <p:ext uri="{BB962C8B-B14F-4D97-AF65-F5344CB8AC3E}">
        <p14:creationId xmlns:p14="http://schemas.microsoft.com/office/powerpoint/2010/main" val="4064442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F8847856-F235-4A97-3710-A9647D68BF6A}"/>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BF2CB79E-6699-B5D6-E2B5-77A615CBCB64}"/>
              </a:ext>
            </a:extLst>
          </p:cNvPr>
          <p:cNvSpPr txBox="1">
            <a:spLocks noGrp="1"/>
          </p:cNvSpPr>
          <p:nvPr>
            <p:ph type="title"/>
          </p:nvPr>
        </p:nvSpPr>
        <p:spPr>
          <a:xfrm>
            <a:off x="0" y="1"/>
            <a:ext cx="9144000" cy="691664"/>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2800" b="1" dirty="0">
                <a:solidFill>
                  <a:srgbClr val="006600"/>
                </a:solidFill>
                <a:latin typeface="Bookman Old Style" panose="02050604050505020204" pitchFamily="18" charset="0"/>
                <a:cs typeface="Calibri" panose="020F0502020204030204"/>
                <a:sym typeface="Times New Roman" panose="02020603050405020304"/>
              </a:rPr>
              <a:t>Project Modules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sz="2800" b="1" dirty="0">
              <a:solidFill>
                <a:srgbClr val="006600"/>
              </a:solidFill>
              <a:latin typeface="Bookman Old Style" panose="02050604050505020204" pitchFamily="18" charset="0"/>
              <a:cs typeface="Calibri" panose="020F0502020204030204"/>
              <a:sym typeface="Arial" panose="020B0604020202020204"/>
            </a:endParaRPr>
          </a:p>
        </p:txBody>
      </p:sp>
      <p:cxnSp>
        <p:nvCxnSpPr>
          <p:cNvPr id="6" name="Google Shape;1249;p100">
            <a:extLst>
              <a:ext uri="{FF2B5EF4-FFF2-40B4-BE49-F238E27FC236}">
                <a16:creationId xmlns:a16="http://schemas.microsoft.com/office/drawing/2014/main" id="{09BCA728-1CB7-CDC1-4B66-063041A3125E}"/>
              </a:ext>
            </a:extLst>
          </p:cNvPr>
          <p:cNvCxnSpPr/>
          <p:nvPr/>
        </p:nvCxnSpPr>
        <p:spPr>
          <a:xfrm>
            <a:off x="0" y="694840"/>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12CDD3E2-6778-798D-E0E1-37F61B345ADE}"/>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5" name="Slide Number Placeholder 4">
            <a:extLst>
              <a:ext uri="{FF2B5EF4-FFF2-40B4-BE49-F238E27FC236}">
                <a16:creationId xmlns:a16="http://schemas.microsoft.com/office/drawing/2014/main" id="{F446A15F-9617-5411-9CB7-1A620F61EF23}"/>
              </a:ext>
            </a:extLst>
          </p:cNvPr>
          <p:cNvSpPr>
            <a:spLocks noGrp="1"/>
          </p:cNvSpPr>
          <p:nvPr>
            <p:ph type="sldNum" sz="quarter" idx="12"/>
          </p:nvPr>
        </p:nvSpPr>
        <p:spPr/>
        <p:txBody>
          <a:bodyPr/>
          <a:lstStyle/>
          <a:p>
            <a:fld id="{00000000-1234-1234-1234-123412341234}" type="slidenum">
              <a:rPr lang="en-US" smtClean="0"/>
              <a:t>30</a:t>
            </a:fld>
            <a:endParaRPr lang="en-US"/>
          </a:p>
        </p:txBody>
      </p:sp>
      <p:sp>
        <p:nvSpPr>
          <p:cNvPr id="4" name="TextBox 3">
            <a:extLst>
              <a:ext uri="{FF2B5EF4-FFF2-40B4-BE49-F238E27FC236}">
                <a16:creationId xmlns:a16="http://schemas.microsoft.com/office/drawing/2014/main" id="{85C3294E-E50F-A108-8C35-DC8C56D86313}"/>
              </a:ext>
            </a:extLst>
          </p:cNvPr>
          <p:cNvSpPr txBox="1"/>
          <p:nvPr/>
        </p:nvSpPr>
        <p:spPr>
          <a:xfrm>
            <a:off x="2426119" y="6536937"/>
            <a:ext cx="4539501"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Growth Progression Prediction Model Architecture</a:t>
            </a:r>
            <a:endParaRPr lang="en-US" sz="1200" dirty="0"/>
          </a:p>
        </p:txBody>
      </p:sp>
      <p:pic>
        <p:nvPicPr>
          <p:cNvPr id="11" name="Picture 10" descr="A diagram of a company">
            <a:extLst>
              <a:ext uri="{FF2B5EF4-FFF2-40B4-BE49-F238E27FC236}">
                <a16:creationId xmlns:a16="http://schemas.microsoft.com/office/drawing/2014/main" id="{8CB2E2AF-1A07-86DD-17A3-ED0EA9492401}"/>
              </a:ext>
            </a:extLst>
          </p:cNvPr>
          <p:cNvPicPr>
            <a:picLocks noChangeAspect="1"/>
          </p:cNvPicPr>
          <p:nvPr/>
        </p:nvPicPr>
        <p:blipFill>
          <a:blip r:embed="rId3"/>
          <a:stretch>
            <a:fillRect/>
          </a:stretch>
        </p:blipFill>
        <p:spPr>
          <a:xfrm>
            <a:off x="699544" y="752332"/>
            <a:ext cx="8039721" cy="5847636"/>
          </a:xfrm>
          <a:prstGeom prst="rect">
            <a:avLst/>
          </a:prstGeom>
        </p:spPr>
      </p:pic>
    </p:spTree>
    <p:extLst>
      <p:ext uri="{BB962C8B-B14F-4D97-AF65-F5344CB8AC3E}">
        <p14:creationId xmlns:p14="http://schemas.microsoft.com/office/powerpoint/2010/main" val="26395881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317F8620-6C81-FD2A-6FA7-0A7FA090FE48}"/>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76C92C87-9252-FD00-B806-3D7D5888BAAA}"/>
              </a:ext>
            </a:extLst>
          </p:cNvPr>
          <p:cNvSpPr txBox="1">
            <a:spLocks noGrp="1"/>
          </p:cNvSpPr>
          <p:nvPr>
            <p:ph type="title"/>
          </p:nvPr>
        </p:nvSpPr>
        <p:spPr>
          <a:xfrm>
            <a:off x="0" y="1"/>
            <a:ext cx="9144000" cy="691664"/>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2800" b="1" dirty="0">
                <a:solidFill>
                  <a:srgbClr val="006600"/>
                </a:solidFill>
                <a:latin typeface="Bookman Old Style" panose="02050604050505020204" pitchFamily="18" charset="0"/>
                <a:cs typeface="Calibri" panose="020F0502020204030204"/>
                <a:sym typeface="Times New Roman" panose="02020603050405020304"/>
              </a:rPr>
              <a:t>Project Modules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sz="2800" b="1" dirty="0">
              <a:solidFill>
                <a:srgbClr val="006600"/>
              </a:solidFill>
              <a:latin typeface="Bookman Old Style" panose="02050604050505020204" pitchFamily="18" charset="0"/>
              <a:cs typeface="Calibri" panose="020F0502020204030204"/>
              <a:sym typeface="Arial" panose="020B0604020202020204"/>
            </a:endParaRPr>
          </a:p>
        </p:txBody>
      </p:sp>
      <p:sp>
        <p:nvSpPr>
          <p:cNvPr id="1258" name="Google Shape;1258;p101">
            <a:extLst>
              <a:ext uri="{FF2B5EF4-FFF2-40B4-BE49-F238E27FC236}">
                <a16:creationId xmlns:a16="http://schemas.microsoft.com/office/drawing/2014/main" id="{CCB0F56D-638E-1CB7-1CF9-3D4589E15F24}"/>
              </a:ext>
            </a:extLst>
          </p:cNvPr>
          <p:cNvSpPr txBox="1">
            <a:spLocks noGrp="1"/>
          </p:cNvSpPr>
          <p:nvPr>
            <p:ph idx="1"/>
          </p:nvPr>
        </p:nvSpPr>
        <p:spPr>
          <a:xfrm>
            <a:off x="114300" y="700853"/>
            <a:ext cx="8915400" cy="2611974"/>
          </a:xfrm>
          <a:prstGeom prst="rect">
            <a:avLst/>
          </a:prstGeom>
          <a:noFill/>
          <a:ln>
            <a:noFill/>
          </a:ln>
        </p:spPr>
        <p:txBody>
          <a:bodyPr spcFirstLastPara="1" wrap="square" lIns="91425" tIns="45700" rIns="91425" bIns="45700" anchor="t" anchorCtr="0">
            <a:noAutofit/>
          </a:bodyPr>
          <a:lstStyle/>
          <a:p>
            <a:pPr marL="720725" lvl="2" indent="0" algn="ctr">
              <a:lnSpc>
                <a:spcPts val="2600"/>
              </a:lnSpc>
              <a:spcBef>
                <a:spcPts val="380"/>
              </a:spcBef>
              <a:buClr>
                <a:schemeClr val="dk1"/>
              </a:buClr>
              <a:buSzPts val="1900"/>
              <a:buNone/>
            </a:pPr>
            <a:r>
              <a:rPr lang="en-US" sz="2000" b="1" dirty="0">
                <a:latin typeface="Times New Roman" panose="02020603050405020304" pitchFamily="18" charset="0"/>
                <a:cs typeface="Times New Roman" panose="02020603050405020304" pitchFamily="18" charset="0"/>
                <a:sym typeface="Times New Roman" panose="02020603050405020304"/>
              </a:rPr>
              <a:t>Module – III: </a:t>
            </a:r>
            <a:r>
              <a:rPr lang="en-US" sz="2000" b="1" dirty="0">
                <a:latin typeface="Times New Roman" panose="02020603050405020304" pitchFamily="18" charset="0"/>
                <a:ea typeface="+mn-lt"/>
                <a:cs typeface="Times New Roman" panose="02020603050405020304" pitchFamily="18" charset="0"/>
                <a:sym typeface="Times New Roman" panose="02020603050405020304"/>
              </a:rPr>
              <a:t>Digital Twin Simulation and Intelligent Greenhouse Control  </a:t>
            </a:r>
            <a:endParaRPr lang="en-US" sz="2000" dirty="0">
              <a:latin typeface="Times New Roman" panose="02020603050405020304" pitchFamily="18" charset="0"/>
              <a:ea typeface="+mn-lt"/>
              <a:cs typeface="Times New Roman" panose="02020603050405020304" pitchFamily="18" charset="0"/>
            </a:endParaRPr>
          </a:p>
          <a:p>
            <a:pPr marL="342900" indent="-342900" algn="just">
              <a:buFont typeface="Wingdings" panose="020B0604020202020204" pitchFamily="34" charset="0"/>
              <a:buChar char="q"/>
            </a:pPr>
            <a:r>
              <a:rPr lang="en-US" sz="2000" dirty="0">
                <a:latin typeface="Times New Roman" panose="02020603050405020304" pitchFamily="18" charset="0"/>
                <a:ea typeface="Calibri"/>
                <a:cs typeface="Times New Roman" panose="02020603050405020304" pitchFamily="18" charset="0"/>
              </a:rPr>
              <a:t>This</a:t>
            </a:r>
            <a:r>
              <a:rPr lang="en-US" sz="2000" dirty="0">
                <a:latin typeface="Times New Roman" panose="02020603050405020304" pitchFamily="18" charset="0"/>
                <a:ea typeface="+mn-lt"/>
                <a:cs typeface="Times New Roman" panose="02020603050405020304" pitchFamily="18" charset="0"/>
              </a:rPr>
              <a:t> module creates a </a:t>
            </a:r>
            <a:r>
              <a:rPr lang="en-US" sz="2000" dirty="0">
                <a:latin typeface="Times New Roman" panose="02020603050405020304" pitchFamily="18" charset="0"/>
                <a:cs typeface="Times New Roman" panose="02020603050405020304" pitchFamily="18" charset="0"/>
              </a:rPr>
              <a:t>digital twin closed-loop simulation continuously predicts greenhouse states, while a Model Predictive Control (MPC) framework generates optimal actuator decisions to maintain ideal crop conditions.</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The system includes a backend API, frontend dashboard, and 3D visualization for real-time monitoring and interaction.</a:t>
            </a:r>
            <a:r>
              <a:rPr lang="en-US" sz="2000" dirty="0">
                <a:latin typeface="Times New Roman" panose="02020603050405020304" pitchFamily="18" charset="0"/>
                <a:ea typeface="Calibri"/>
                <a:cs typeface="Times New Roman" panose="02020603050405020304" pitchFamily="18" charset="0"/>
              </a:rPr>
              <a:t> </a:t>
            </a:r>
          </a:p>
        </p:txBody>
      </p:sp>
      <p:cxnSp>
        <p:nvCxnSpPr>
          <p:cNvPr id="6" name="Google Shape;1249;p100">
            <a:extLst>
              <a:ext uri="{FF2B5EF4-FFF2-40B4-BE49-F238E27FC236}">
                <a16:creationId xmlns:a16="http://schemas.microsoft.com/office/drawing/2014/main" id="{5078BDF8-DC50-8178-43C8-E29F804CE9F5}"/>
              </a:ext>
            </a:extLst>
          </p:cNvPr>
          <p:cNvCxnSpPr/>
          <p:nvPr/>
        </p:nvCxnSpPr>
        <p:spPr>
          <a:xfrm>
            <a:off x="0" y="694840"/>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71D3D0C8-DFCB-5695-7963-6E62BA392301}"/>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5" name="Slide Number Placeholder 4">
            <a:extLst>
              <a:ext uri="{FF2B5EF4-FFF2-40B4-BE49-F238E27FC236}">
                <a16:creationId xmlns:a16="http://schemas.microsoft.com/office/drawing/2014/main" id="{2F93B907-BB6A-9D9E-82DC-BFB905483174}"/>
              </a:ext>
            </a:extLst>
          </p:cNvPr>
          <p:cNvSpPr>
            <a:spLocks noGrp="1"/>
          </p:cNvSpPr>
          <p:nvPr>
            <p:ph type="sldNum" sz="quarter" idx="12"/>
          </p:nvPr>
        </p:nvSpPr>
        <p:spPr/>
        <p:txBody>
          <a:bodyPr/>
          <a:lstStyle/>
          <a:p>
            <a:fld id="{00000000-1234-1234-1234-123412341234}" type="slidenum">
              <a:rPr lang="en-US" smtClean="0"/>
              <a:t>31</a:t>
            </a:fld>
            <a:endParaRPr lang="en-US"/>
          </a:p>
        </p:txBody>
      </p:sp>
      <p:sp>
        <p:nvSpPr>
          <p:cNvPr id="7" name="TextBox 6">
            <a:extLst>
              <a:ext uri="{FF2B5EF4-FFF2-40B4-BE49-F238E27FC236}">
                <a16:creationId xmlns:a16="http://schemas.microsoft.com/office/drawing/2014/main" id="{DD51ADAE-325E-5069-AAC6-1F62A3B19A45}"/>
              </a:ext>
            </a:extLst>
          </p:cNvPr>
          <p:cNvSpPr txBox="1"/>
          <p:nvPr/>
        </p:nvSpPr>
        <p:spPr>
          <a:xfrm>
            <a:off x="1567631" y="6458791"/>
            <a:ext cx="6407136" cy="276999"/>
          </a:xfrm>
          <a:prstGeom prst="rect">
            <a:avLst/>
          </a:prstGeom>
          <a:noFill/>
        </p:spPr>
        <p:txBody>
          <a:bodyPr wrap="square" rtlCol="0">
            <a:spAutoFit/>
          </a:bodyPr>
          <a:lstStyle/>
          <a:p>
            <a:r>
              <a:rPr lang="en-IN" sz="1200" dirty="0">
                <a:latin typeface="Times New Roman" panose="02020603050405020304" pitchFamily="18" charset="0"/>
                <a:cs typeface="Times New Roman" panose="02020603050405020304" pitchFamily="18" charset="0"/>
              </a:rPr>
              <a:t>Fig. Task-Level Architecture of Digital Twin Simulation and Intelligent Greenhouse Control Module</a:t>
            </a:r>
          </a:p>
        </p:txBody>
      </p:sp>
      <p:pic>
        <p:nvPicPr>
          <p:cNvPr id="10" name="Picture 9">
            <a:extLst>
              <a:ext uri="{FF2B5EF4-FFF2-40B4-BE49-F238E27FC236}">
                <a16:creationId xmlns:a16="http://schemas.microsoft.com/office/drawing/2014/main" id="{4905D2BB-6E42-84B1-DB12-6EF9B6CC8436}"/>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953837" y="3006773"/>
            <a:ext cx="7634723" cy="3349578"/>
          </a:xfrm>
          <a:prstGeom prst="rect">
            <a:avLst/>
          </a:prstGeom>
          <a:noFill/>
          <a:ln>
            <a:noFill/>
          </a:ln>
        </p:spPr>
      </p:pic>
    </p:spTree>
    <p:extLst>
      <p:ext uri="{BB962C8B-B14F-4D97-AF65-F5344CB8AC3E}">
        <p14:creationId xmlns:p14="http://schemas.microsoft.com/office/powerpoint/2010/main" val="30673764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40F56C15-AC2B-36A8-0E95-364B9CBE1C3F}"/>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67255CA0-42FD-52CD-D8F7-BB48ED0186E4}"/>
              </a:ext>
            </a:extLst>
          </p:cNvPr>
          <p:cNvSpPr txBox="1">
            <a:spLocks noGrp="1"/>
          </p:cNvSpPr>
          <p:nvPr>
            <p:ph type="title"/>
          </p:nvPr>
        </p:nvSpPr>
        <p:spPr>
          <a:xfrm>
            <a:off x="0" y="1"/>
            <a:ext cx="9144000" cy="691664"/>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2800" b="1" dirty="0">
                <a:solidFill>
                  <a:srgbClr val="006600"/>
                </a:solidFill>
                <a:latin typeface="Bookman Old Style" panose="02050604050505020204" pitchFamily="18" charset="0"/>
                <a:cs typeface="Calibri" panose="020F0502020204030204"/>
                <a:sym typeface="Times New Roman" panose="02020603050405020304"/>
              </a:rPr>
              <a:t>Project Modules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sz="2800" b="1" dirty="0">
              <a:solidFill>
                <a:srgbClr val="006600"/>
              </a:solidFill>
              <a:latin typeface="Bookman Old Style" panose="02050604050505020204" pitchFamily="18" charset="0"/>
              <a:cs typeface="Calibri" panose="020F0502020204030204"/>
              <a:sym typeface="Arial" panose="020B0604020202020204"/>
            </a:endParaRPr>
          </a:p>
        </p:txBody>
      </p:sp>
      <p:sp>
        <p:nvSpPr>
          <p:cNvPr id="1258" name="Google Shape;1258;p101">
            <a:extLst>
              <a:ext uri="{FF2B5EF4-FFF2-40B4-BE49-F238E27FC236}">
                <a16:creationId xmlns:a16="http://schemas.microsoft.com/office/drawing/2014/main" id="{2CB514BF-DCC3-6CF7-263A-3A6EF6136D21}"/>
              </a:ext>
            </a:extLst>
          </p:cNvPr>
          <p:cNvSpPr txBox="1">
            <a:spLocks noGrp="1"/>
          </p:cNvSpPr>
          <p:nvPr>
            <p:ph idx="1"/>
          </p:nvPr>
        </p:nvSpPr>
        <p:spPr>
          <a:xfrm>
            <a:off x="156053" y="1123462"/>
            <a:ext cx="8831893" cy="5364650"/>
          </a:xfrm>
          <a:prstGeom prst="rect">
            <a:avLst/>
          </a:prstGeom>
          <a:noFill/>
          <a:ln>
            <a:noFill/>
          </a:ln>
        </p:spPr>
        <p:txBody>
          <a:bodyPr spcFirstLastPara="1" wrap="square" lIns="91425" tIns="45700" rIns="91425" bIns="45700" anchor="t" anchorCtr="0">
            <a:noAutofit/>
          </a:bodyPr>
          <a:lstStyle/>
          <a:p>
            <a:pPr lvl="2" algn="ctr">
              <a:buNone/>
            </a:pPr>
            <a:r>
              <a:rPr lang="en-US" sz="2000" b="1" dirty="0">
                <a:latin typeface="Times New Roman" panose="02020603050405020304" pitchFamily="18" charset="0"/>
                <a:ea typeface="+mn-lt"/>
                <a:cs typeface="Times New Roman" panose="02020603050405020304" pitchFamily="18" charset="0"/>
                <a:sym typeface="Times New Roman" panose="02020603050405020304"/>
              </a:rPr>
              <a:t>Task 1 – Model Predictive Control</a:t>
            </a:r>
            <a:endParaRPr lang="en-US" sz="2000" b="1" dirty="0">
              <a:latin typeface="Times New Roman" panose="02020603050405020304" pitchFamily="18" charset="0"/>
              <a:cs typeface="Times New Roman" panose="02020603050405020304" pitchFamily="18" charset="0"/>
            </a:endParaRP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MPC acts as the core decision-making layer, integrating environmental forecasts, disease progression, crop growth stage, and greenhouse condition into a fused state for predictive greenhouse control.</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Greenhouse dynamics are modeled using an ARX (Auto-Regressive with </a:t>
            </a:r>
            <a:r>
              <a:rPr lang="en-US" sz="2000" dirty="0" err="1">
                <a:latin typeface="Times New Roman" panose="02020603050405020304" pitchFamily="18" charset="0"/>
                <a:cs typeface="Times New Roman" panose="02020603050405020304" pitchFamily="18" charset="0"/>
              </a:rPr>
              <a:t>eXogenous</a:t>
            </a:r>
            <a:r>
              <a:rPr lang="en-US" sz="2000" dirty="0">
                <a:latin typeface="Times New Roman" panose="02020603050405020304" pitchFamily="18" charset="0"/>
                <a:cs typeface="Times New Roman" panose="02020603050405020304" pitchFamily="18" charset="0"/>
              </a:rPr>
              <a:t> inputs) model, enabling efficient prediction of future states based on current conditions, control actions, and disturbances.</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MPC performs finite-horizon optimization, predicting future system behavior and computing optimal actuator actions to minimize deviation from desired crop-specific setpoints.</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The optimization incorporates operational constraints, ensuring actuator limits and maintaining environmental variables within agronomically safe ranges.</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The framework supports disease-aware and stage-specific control, allowing decisions to adapt based on crop growth phase and predicted disease risks.</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Overall, MPC combines predictive modeling, constrained optimization, and AI-driven insights to enable adaptive, efficient, and intelligent greenhouse control.</a:t>
            </a:r>
            <a:endParaRPr lang="en-US" sz="2000" dirty="0">
              <a:latin typeface="Times New Roman" panose="02020603050405020304" pitchFamily="18" charset="0"/>
              <a:ea typeface="Calibri"/>
              <a:cs typeface="Times New Roman" panose="02020603050405020304" pitchFamily="18" charset="0"/>
            </a:endParaRPr>
          </a:p>
          <a:p>
            <a:pPr marL="342900" indent="-342900" algn="just">
              <a:buFont typeface="Wingdings" panose="020B0604020202020204" pitchFamily="34" charset="0"/>
              <a:buChar char="q"/>
            </a:pPr>
            <a:endParaRPr lang="en-US" sz="2000" dirty="0">
              <a:latin typeface="Times New Roman" panose="02020603050405020304" pitchFamily="18" charset="0"/>
              <a:ea typeface="Calibri"/>
              <a:cs typeface="Times New Roman" panose="02020603050405020304" pitchFamily="18" charset="0"/>
            </a:endParaRPr>
          </a:p>
          <a:p>
            <a:pPr algn="just">
              <a:lnSpc>
                <a:spcPct val="100000"/>
              </a:lnSpc>
              <a:buFont typeface="Wingdings" panose="020B0604020202020204" pitchFamily="34" charset="0"/>
              <a:buChar char="q"/>
            </a:pPr>
            <a:endParaRPr lang="en-US" sz="2000" dirty="0">
              <a:latin typeface="Times New Roman" panose="02020603050405020304" pitchFamily="18" charset="0"/>
              <a:ea typeface="Calibri"/>
              <a:cs typeface="Times New Roman" panose="02020603050405020304" pitchFamily="18" charset="0"/>
            </a:endParaRPr>
          </a:p>
        </p:txBody>
      </p:sp>
      <p:cxnSp>
        <p:nvCxnSpPr>
          <p:cNvPr id="6" name="Google Shape;1249;p100">
            <a:extLst>
              <a:ext uri="{FF2B5EF4-FFF2-40B4-BE49-F238E27FC236}">
                <a16:creationId xmlns:a16="http://schemas.microsoft.com/office/drawing/2014/main" id="{8736B7B4-CEAF-DD07-02B8-2B7111ECD14C}"/>
              </a:ext>
            </a:extLst>
          </p:cNvPr>
          <p:cNvCxnSpPr/>
          <p:nvPr/>
        </p:nvCxnSpPr>
        <p:spPr>
          <a:xfrm>
            <a:off x="0" y="694840"/>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AD6BA1DD-29C6-0DCD-E842-112797AD9D54}"/>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dirty="0">
                <a:solidFill>
                  <a:srgbClr val="888888"/>
                </a:solidFill>
              </a:rPr>
              <a:t>17/03/2026</a:t>
            </a:r>
            <a:endParaRPr sz="1200" b="0" i="0" u="none" strike="noStrike" cap="none" dirty="0">
              <a:solidFill>
                <a:srgbClr val="888888"/>
              </a:solidFill>
              <a:latin typeface="Arial" panose="020B0604020202020204"/>
              <a:ea typeface="Arial" panose="020B0604020202020204"/>
              <a:cs typeface="Arial" panose="020B0604020202020204"/>
              <a:sym typeface="Arial" panose="020B0604020202020204"/>
            </a:endParaRPr>
          </a:p>
        </p:txBody>
      </p:sp>
      <p:sp>
        <p:nvSpPr>
          <p:cNvPr id="5" name="Slide Number Placeholder 4">
            <a:extLst>
              <a:ext uri="{FF2B5EF4-FFF2-40B4-BE49-F238E27FC236}">
                <a16:creationId xmlns:a16="http://schemas.microsoft.com/office/drawing/2014/main" id="{D85E9668-975B-B65E-508B-56F894863E9B}"/>
              </a:ext>
            </a:extLst>
          </p:cNvPr>
          <p:cNvSpPr>
            <a:spLocks noGrp="1"/>
          </p:cNvSpPr>
          <p:nvPr>
            <p:ph type="sldNum" sz="quarter" idx="12"/>
          </p:nvPr>
        </p:nvSpPr>
        <p:spPr/>
        <p:txBody>
          <a:bodyPr/>
          <a:lstStyle/>
          <a:p>
            <a:fld id="{00000000-1234-1234-1234-123412341234}" type="slidenum">
              <a:rPr lang="en-US" smtClean="0"/>
              <a:t>32</a:t>
            </a:fld>
            <a:endParaRPr lang="en-US"/>
          </a:p>
        </p:txBody>
      </p:sp>
    </p:spTree>
    <p:extLst>
      <p:ext uri="{BB962C8B-B14F-4D97-AF65-F5344CB8AC3E}">
        <p14:creationId xmlns:p14="http://schemas.microsoft.com/office/powerpoint/2010/main" val="39105752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55C47FDF-9645-4B56-D7E3-65E27EF95D5D}"/>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AA08BCB4-EBF1-2340-48C3-EBAC447C1CF5}"/>
              </a:ext>
            </a:extLst>
          </p:cNvPr>
          <p:cNvSpPr txBox="1">
            <a:spLocks noGrp="1"/>
          </p:cNvSpPr>
          <p:nvPr>
            <p:ph type="title"/>
          </p:nvPr>
        </p:nvSpPr>
        <p:spPr>
          <a:xfrm>
            <a:off x="0" y="1"/>
            <a:ext cx="9144000" cy="691664"/>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2800" b="1" dirty="0">
                <a:solidFill>
                  <a:srgbClr val="006600"/>
                </a:solidFill>
                <a:latin typeface="Bookman Old Style" panose="02050604050505020204" pitchFamily="18" charset="0"/>
                <a:cs typeface="Calibri" panose="020F0502020204030204"/>
                <a:sym typeface="Times New Roman" panose="02020603050405020304"/>
              </a:rPr>
              <a:t>Project Modules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sz="2800" b="1" dirty="0">
              <a:solidFill>
                <a:srgbClr val="006600"/>
              </a:solidFill>
              <a:latin typeface="Bookman Old Style" panose="02050604050505020204" pitchFamily="18" charset="0"/>
              <a:cs typeface="Calibri" panose="020F0502020204030204"/>
              <a:sym typeface="Arial" panose="020B0604020202020204"/>
            </a:endParaRPr>
          </a:p>
        </p:txBody>
      </p:sp>
      <p:sp>
        <p:nvSpPr>
          <p:cNvPr id="1258" name="Google Shape;1258;p101">
            <a:extLst>
              <a:ext uri="{FF2B5EF4-FFF2-40B4-BE49-F238E27FC236}">
                <a16:creationId xmlns:a16="http://schemas.microsoft.com/office/drawing/2014/main" id="{18B3F44C-0C70-C003-CAA9-0D9133838BEA}"/>
              </a:ext>
            </a:extLst>
          </p:cNvPr>
          <p:cNvSpPr txBox="1">
            <a:spLocks noGrp="1"/>
          </p:cNvSpPr>
          <p:nvPr>
            <p:ph idx="1"/>
          </p:nvPr>
        </p:nvSpPr>
        <p:spPr>
          <a:xfrm>
            <a:off x="176408" y="883619"/>
            <a:ext cx="8800578" cy="5466381"/>
          </a:xfrm>
          <a:prstGeom prst="rect">
            <a:avLst/>
          </a:prstGeom>
          <a:noFill/>
          <a:ln>
            <a:noFill/>
          </a:ln>
        </p:spPr>
        <p:txBody>
          <a:bodyPr spcFirstLastPara="1" wrap="square" lIns="91425" tIns="45700" rIns="91425" bIns="45700" anchor="t" anchorCtr="0">
            <a:noAutofit/>
          </a:bodyPr>
          <a:lstStyle/>
          <a:p>
            <a:pPr lvl="2" algn="ctr">
              <a:buNone/>
            </a:pPr>
            <a:r>
              <a:rPr lang="en-US" sz="2000" b="1" dirty="0">
                <a:latin typeface="Times New Roman" panose="02020603050405020304" pitchFamily="18" charset="0"/>
                <a:ea typeface="+mn-lt"/>
                <a:cs typeface="Times New Roman" panose="02020603050405020304" pitchFamily="18" charset="0"/>
                <a:sym typeface="Times New Roman" panose="02020603050405020304"/>
              </a:rPr>
              <a:t>Task 2 – Digital Twin Closed Loop Simulation</a:t>
            </a:r>
            <a:endParaRPr lang="en-US" sz="2000" b="1" dirty="0">
              <a:latin typeface="Times New Roman" panose="02020603050405020304" pitchFamily="18" charset="0"/>
              <a:cs typeface="Times New Roman" panose="02020603050405020304" pitchFamily="18" charset="0"/>
            </a:endParaRP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The DT loop acts as the execution backbone, maintaining a virtual greenhouse replica that predicts system evolution, evaluates actuator effects, and feeds results back into the control pipeline.</a:t>
            </a:r>
            <a:endParaRPr lang="en-US" sz="2000" dirty="0">
              <a:latin typeface="Times New Roman" panose="02020603050405020304" pitchFamily="18" charset="0"/>
              <a:ea typeface="+mn-lt"/>
              <a:cs typeface="Times New Roman" panose="02020603050405020304" pitchFamily="18" charset="0"/>
            </a:endParaRP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The system is structured into input (state, weather, disease, growth, images), simulation core (DT engine + MPC), and output (diagnostics, summaries, real-time updates) ensuring full pipeline integration.</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DT reuses the same ARX greenhouse model, ensuring mathematical consistency between simulation and real control decisions.</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Implements a multi-rate execution schedule: simulation every 5 min, MPC every 15 min, and image updates every 30 min, balancing responsiveness and computational efficiency.</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Includes automatic growth stage progression and event-triggered MPC re-optimization, enabling both scheduled control and reactive safety handling.</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Produces fully explainable outputs (energy, water, risk, errors, state deltas) and integrates with API, dashboard, and 3D visualization for real-time monitoring.</a:t>
            </a:r>
            <a:endParaRPr lang="en-US" sz="2000" dirty="0">
              <a:latin typeface="Times New Roman" panose="02020603050405020304" pitchFamily="18" charset="0"/>
              <a:ea typeface="Calibri"/>
              <a:cs typeface="Times New Roman" panose="02020603050405020304" pitchFamily="18" charset="0"/>
            </a:endParaRPr>
          </a:p>
          <a:p>
            <a:pPr marL="342900" indent="-342900" algn="just">
              <a:buFont typeface="Wingdings" panose="020B0604020202020204" pitchFamily="34" charset="0"/>
              <a:buChar char="q"/>
            </a:pPr>
            <a:endParaRPr lang="en-US" sz="2000" dirty="0">
              <a:latin typeface="Times New Roman" panose="02020603050405020304" pitchFamily="18" charset="0"/>
              <a:ea typeface="Calibri"/>
              <a:cs typeface="Times New Roman" panose="02020603050405020304" pitchFamily="18" charset="0"/>
            </a:endParaRPr>
          </a:p>
          <a:p>
            <a:pPr algn="just">
              <a:lnSpc>
                <a:spcPct val="100000"/>
              </a:lnSpc>
              <a:buFont typeface="Wingdings" panose="020B0604020202020204" pitchFamily="34" charset="0"/>
              <a:buChar char="q"/>
            </a:pPr>
            <a:endParaRPr lang="en-US" sz="2000" dirty="0">
              <a:latin typeface="Times New Roman" panose="02020603050405020304" pitchFamily="18" charset="0"/>
              <a:ea typeface="Calibri"/>
              <a:cs typeface="Times New Roman" panose="02020603050405020304" pitchFamily="18" charset="0"/>
            </a:endParaRPr>
          </a:p>
        </p:txBody>
      </p:sp>
      <p:cxnSp>
        <p:nvCxnSpPr>
          <p:cNvPr id="6" name="Google Shape;1249;p100">
            <a:extLst>
              <a:ext uri="{FF2B5EF4-FFF2-40B4-BE49-F238E27FC236}">
                <a16:creationId xmlns:a16="http://schemas.microsoft.com/office/drawing/2014/main" id="{BF8459FD-1B5D-C380-DED4-339D6065759E}"/>
              </a:ext>
            </a:extLst>
          </p:cNvPr>
          <p:cNvCxnSpPr/>
          <p:nvPr/>
        </p:nvCxnSpPr>
        <p:spPr>
          <a:xfrm>
            <a:off x="0" y="694840"/>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18EE34FE-CCCA-A598-6E2A-BC27C4DC88B0}"/>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5" name="Slide Number Placeholder 4">
            <a:extLst>
              <a:ext uri="{FF2B5EF4-FFF2-40B4-BE49-F238E27FC236}">
                <a16:creationId xmlns:a16="http://schemas.microsoft.com/office/drawing/2014/main" id="{DAC46ACF-2BDE-906C-D2AE-5AEDBDBB3418}"/>
              </a:ext>
            </a:extLst>
          </p:cNvPr>
          <p:cNvSpPr>
            <a:spLocks noGrp="1"/>
          </p:cNvSpPr>
          <p:nvPr>
            <p:ph type="sldNum" sz="quarter" idx="12"/>
          </p:nvPr>
        </p:nvSpPr>
        <p:spPr/>
        <p:txBody>
          <a:bodyPr/>
          <a:lstStyle/>
          <a:p>
            <a:fld id="{00000000-1234-1234-1234-123412341234}" type="slidenum">
              <a:rPr lang="en-US" smtClean="0"/>
              <a:t>33</a:t>
            </a:fld>
            <a:endParaRPr lang="en-US"/>
          </a:p>
        </p:txBody>
      </p:sp>
    </p:spTree>
    <p:extLst>
      <p:ext uri="{BB962C8B-B14F-4D97-AF65-F5344CB8AC3E}">
        <p14:creationId xmlns:p14="http://schemas.microsoft.com/office/powerpoint/2010/main" val="21072973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55C47FDF-9645-4B56-D7E3-65E27EF95D5D}"/>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AA08BCB4-EBF1-2340-48C3-EBAC447C1CF5}"/>
              </a:ext>
            </a:extLst>
          </p:cNvPr>
          <p:cNvSpPr txBox="1">
            <a:spLocks noGrp="1"/>
          </p:cNvSpPr>
          <p:nvPr>
            <p:ph type="title"/>
          </p:nvPr>
        </p:nvSpPr>
        <p:spPr>
          <a:xfrm>
            <a:off x="0" y="1"/>
            <a:ext cx="9144000" cy="691664"/>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2800" b="1" dirty="0">
                <a:solidFill>
                  <a:srgbClr val="006600"/>
                </a:solidFill>
                <a:latin typeface="Bookman Old Style" panose="02050604050505020204" pitchFamily="18" charset="0"/>
                <a:cs typeface="Calibri" panose="020F0502020204030204"/>
                <a:sym typeface="Times New Roman" panose="02020603050405020304"/>
              </a:rPr>
              <a:t>Project Modules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sz="2800" b="1" dirty="0">
              <a:solidFill>
                <a:srgbClr val="006600"/>
              </a:solidFill>
              <a:latin typeface="Bookman Old Style" panose="02050604050505020204" pitchFamily="18" charset="0"/>
              <a:cs typeface="Calibri" panose="020F0502020204030204"/>
              <a:sym typeface="Arial" panose="020B0604020202020204"/>
            </a:endParaRPr>
          </a:p>
        </p:txBody>
      </p:sp>
      <p:sp>
        <p:nvSpPr>
          <p:cNvPr id="1258" name="Google Shape;1258;p101">
            <a:extLst>
              <a:ext uri="{FF2B5EF4-FFF2-40B4-BE49-F238E27FC236}">
                <a16:creationId xmlns:a16="http://schemas.microsoft.com/office/drawing/2014/main" id="{18B3F44C-0C70-C003-CAA9-0D9133838BEA}"/>
              </a:ext>
            </a:extLst>
          </p:cNvPr>
          <p:cNvSpPr txBox="1">
            <a:spLocks noGrp="1"/>
          </p:cNvSpPr>
          <p:nvPr>
            <p:ph idx="1"/>
          </p:nvPr>
        </p:nvSpPr>
        <p:spPr>
          <a:xfrm>
            <a:off x="171711" y="854414"/>
            <a:ext cx="8800578" cy="5466381"/>
          </a:xfrm>
          <a:prstGeom prst="rect">
            <a:avLst/>
          </a:prstGeom>
          <a:noFill/>
          <a:ln>
            <a:noFill/>
          </a:ln>
        </p:spPr>
        <p:txBody>
          <a:bodyPr spcFirstLastPara="1" wrap="square" lIns="91425" tIns="45700" rIns="91425" bIns="45700" anchor="t" anchorCtr="0">
            <a:noAutofit/>
          </a:bodyPr>
          <a:lstStyle/>
          <a:p>
            <a:pPr lvl="2" algn="ctr">
              <a:buNone/>
            </a:pPr>
            <a:r>
              <a:rPr lang="en-US" sz="2000" b="1" dirty="0">
                <a:latin typeface="Times New Roman" panose="02020603050405020304" pitchFamily="18" charset="0"/>
                <a:ea typeface="+mn-lt"/>
                <a:cs typeface="Times New Roman" panose="02020603050405020304" pitchFamily="18" charset="0"/>
                <a:sym typeface="Times New Roman" panose="02020603050405020304"/>
              </a:rPr>
              <a:t>Task 3 – 3D Greenhouse Visualization</a:t>
            </a:r>
            <a:endParaRPr lang="en-US" sz="2000" b="1" dirty="0">
              <a:latin typeface="Times New Roman" panose="02020603050405020304" pitchFamily="18" charset="0"/>
              <a:cs typeface="Times New Roman" panose="02020603050405020304" pitchFamily="18" charset="0"/>
            </a:endParaRP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A real-time Unity-based 3D digital twin models the greenhouse environment with physics-based rendering, dynamic lighting, and scripted actuator interactions to reflect system behavior. </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Actuator-driven animations ensure vent opening, fan rotation, irrigation activation, and lighting intensity dynamically respond to control signals from the system.</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The model is deployed via Unity WebGL (</a:t>
            </a:r>
            <a:r>
              <a:rPr lang="en-US" sz="2000" dirty="0" err="1">
                <a:latin typeface="Times New Roman" panose="02020603050405020304" pitchFamily="18" charset="0"/>
                <a:cs typeface="Times New Roman" panose="02020603050405020304" pitchFamily="18" charset="0"/>
              </a:rPr>
              <a:t>WebAssembly</a:t>
            </a:r>
            <a:r>
              <a:rPr lang="en-US" sz="2000" dirty="0">
                <a:latin typeface="Times New Roman" panose="02020603050405020304" pitchFamily="18" charset="0"/>
                <a:cs typeface="Times New Roman" panose="02020603050405020304" pitchFamily="18" charset="0"/>
              </a:rPr>
              <a:t> + JavaScript), enabling browser-based access with optimized rendering, compression, and performance tuning. </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Crop growth visualization uses stage-based modeling with model switching or smooth transitions aligned with prediction outputs. </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Environmental realism is enhanced through time-of-day simulation (lighting variation), mist effects, and dynamic visual cues representing climate conditions. </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Integration with the backend uses API-based real-time data exchange, where Unity updates object states, animations, and environment using simulation outputs.</a:t>
            </a:r>
            <a:endParaRPr lang="en-US" sz="2000" dirty="0">
              <a:latin typeface="Times New Roman" panose="02020603050405020304" pitchFamily="18" charset="0"/>
              <a:ea typeface="Calibri"/>
              <a:cs typeface="Times New Roman" panose="02020603050405020304" pitchFamily="18" charset="0"/>
            </a:endParaRPr>
          </a:p>
          <a:p>
            <a:pPr algn="just">
              <a:lnSpc>
                <a:spcPct val="100000"/>
              </a:lnSpc>
              <a:buFont typeface="Wingdings" panose="020B0604020202020204" pitchFamily="34" charset="0"/>
              <a:buChar char="q"/>
            </a:pPr>
            <a:endParaRPr lang="en-US" sz="2000" dirty="0">
              <a:latin typeface="Times New Roman" panose="02020603050405020304" pitchFamily="18" charset="0"/>
              <a:ea typeface="Calibri"/>
              <a:cs typeface="Times New Roman" panose="02020603050405020304" pitchFamily="18" charset="0"/>
            </a:endParaRPr>
          </a:p>
        </p:txBody>
      </p:sp>
      <p:cxnSp>
        <p:nvCxnSpPr>
          <p:cNvPr id="6" name="Google Shape;1249;p100">
            <a:extLst>
              <a:ext uri="{FF2B5EF4-FFF2-40B4-BE49-F238E27FC236}">
                <a16:creationId xmlns:a16="http://schemas.microsoft.com/office/drawing/2014/main" id="{BF8459FD-1B5D-C380-DED4-339D6065759E}"/>
              </a:ext>
            </a:extLst>
          </p:cNvPr>
          <p:cNvCxnSpPr/>
          <p:nvPr/>
        </p:nvCxnSpPr>
        <p:spPr>
          <a:xfrm>
            <a:off x="0" y="694840"/>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18EE34FE-CCCA-A598-6E2A-BC27C4DC88B0}"/>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5" name="Slide Number Placeholder 4">
            <a:extLst>
              <a:ext uri="{FF2B5EF4-FFF2-40B4-BE49-F238E27FC236}">
                <a16:creationId xmlns:a16="http://schemas.microsoft.com/office/drawing/2014/main" id="{DAC46ACF-2BDE-906C-D2AE-5AEDBDBB3418}"/>
              </a:ext>
            </a:extLst>
          </p:cNvPr>
          <p:cNvSpPr>
            <a:spLocks noGrp="1"/>
          </p:cNvSpPr>
          <p:nvPr>
            <p:ph type="sldNum" sz="quarter" idx="12"/>
          </p:nvPr>
        </p:nvSpPr>
        <p:spPr/>
        <p:txBody>
          <a:bodyPr/>
          <a:lstStyle/>
          <a:p>
            <a:fld id="{00000000-1234-1234-1234-123412341234}" type="slidenum">
              <a:rPr lang="en-US" smtClean="0"/>
              <a:t>34</a:t>
            </a:fld>
            <a:endParaRPr lang="en-US"/>
          </a:p>
        </p:txBody>
      </p:sp>
    </p:spTree>
    <p:extLst>
      <p:ext uri="{BB962C8B-B14F-4D97-AF65-F5344CB8AC3E}">
        <p14:creationId xmlns:p14="http://schemas.microsoft.com/office/powerpoint/2010/main" val="32513482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55C47FDF-9645-4B56-D7E3-65E27EF95D5D}"/>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AA08BCB4-EBF1-2340-48C3-EBAC447C1CF5}"/>
              </a:ext>
            </a:extLst>
          </p:cNvPr>
          <p:cNvSpPr txBox="1">
            <a:spLocks noGrp="1"/>
          </p:cNvSpPr>
          <p:nvPr>
            <p:ph type="title"/>
          </p:nvPr>
        </p:nvSpPr>
        <p:spPr>
          <a:xfrm>
            <a:off x="0" y="1"/>
            <a:ext cx="9144000" cy="691664"/>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2800" b="1" dirty="0">
                <a:solidFill>
                  <a:srgbClr val="006600"/>
                </a:solidFill>
                <a:latin typeface="Bookman Old Style" panose="02050604050505020204" pitchFamily="18" charset="0"/>
                <a:cs typeface="Calibri" panose="020F0502020204030204"/>
                <a:sym typeface="Times New Roman" panose="02020603050405020304"/>
              </a:rPr>
              <a:t>Project Modules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sz="2800" b="1" dirty="0">
              <a:solidFill>
                <a:srgbClr val="006600"/>
              </a:solidFill>
              <a:latin typeface="Bookman Old Style" panose="02050604050505020204" pitchFamily="18" charset="0"/>
              <a:cs typeface="Calibri" panose="020F0502020204030204"/>
              <a:sym typeface="Arial" panose="020B0604020202020204"/>
            </a:endParaRPr>
          </a:p>
        </p:txBody>
      </p:sp>
      <p:sp>
        <p:nvSpPr>
          <p:cNvPr id="1258" name="Google Shape;1258;p101">
            <a:extLst>
              <a:ext uri="{FF2B5EF4-FFF2-40B4-BE49-F238E27FC236}">
                <a16:creationId xmlns:a16="http://schemas.microsoft.com/office/drawing/2014/main" id="{18B3F44C-0C70-C003-CAA9-0D9133838BEA}"/>
              </a:ext>
            </a:extLst>
          </p:cNvPr>
          <p:cNvSpPr txBox="1">
            <a:spLocks noGrp="1"/>
          </p:cNvSpPr>
          <p:nvPr>
            <p:ph idx="1"/>
          </p:nvPr>
        </p:nvSpPr>
        <p:spPr>
          <a:xfrm>
            <a:off x="171711" y="1209056"/>
            <a:ext cx="8800578" cy="4748399"/>
          </a:xfrm>
          <a:prstGeom prst="rect">
            <a:avLst/>
          </a:prstGeom>
          <a:noFill/>
          <a:ln>
            <a:noFill/>
          </a:ln>
        </p:spPr>
        <p:txBody>
          <a:bodyPr spcFirstLastPara="1" wrap="square" lIns="91425" tIns="45700" rIns="91425" bIns="45700" anchor="t" anchorCtr="0">
            <a:noAutofit/>
          </a:bodyPr>
          <a:lstStyle/>
          <a:p>
            <a:pPr lvl="2" algn="ctr">
              <a:buNone/>
            </a:pPr>
            <a:r>
              <a:rPr lang="en-US" sz="2000" b="1" dirty="0">
                <a:latin typeface="Times New Roman" panose="02020603050405020304" pitchFamily="18" charset="0"/>
                <a:ea typeface="+mn-lt"/>
                <a:cs typeface="Times New Roman" panose="02020603050405020304" pitchFamily="18" charset="0"/>
                <a:sym typeface="Times New Roman" panose="02020603050405020304"/>
              </a:rPr>
              <a:t>Task 4 – Frontend Interface &amp; System Integration</a:t>
            </a:r>
            <a:endParaRPr lang="en-US" sz="2000" b="1" dirty="0">
              <a:latin typeface="Times New Roman" panose="02020603050405020304" pitchFamily="18" charset="0"/>
              <a:cs typeface="Times New Roman" panose="02020603050405020304" pitchFamily="18" charset="0"/>
            </a:endParaRP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The frontend serves as the visualization and interaction layer, presenting real-time greenhouse state, crop stage, disease risk, and system health.</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It provides dashboard, detailed insights, and manual control panels, enabling monitoring of actuator states, resource usage, forecasts, and user-driven configuration for control.</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The </a:t>
            </a:r>
            <a:r>
              <a:rPr lang="en-US" sz="2000" dirty="0" err="1">
                <a:latin typeface="Times New Roman" panose="02020603050405020304" pitchFamily="18" charset="0"/>
                <a:cs typeface="Times New Roman" panose="02020603050405020304" pitchFamily="18" charset="0"/>
              </a:rPr>
              <a:t>FastAPI</a:t>
            </a:r>
            <a:r>
              <a:rPr lang="en-US" sz="2000" dirty="0">
                <a:latin typeface="Times New Roman" panose="02020603050405020304" pitchFamily="18" charset="0"/>
                <a:cs typeface="Times New Roman" panose="02020603050405020304" pitchFamily="18" charset="0"/>
              </a:rPr>
              <a:t> layer acts as a communication bridge between frontend, digital twin loop, MPC, and 3D visualization, exposing endpoints for state retrieval, control updates, and diagnostics. </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The API supports multi-level data exchange, including actuator configuration, system metrics, validation of inputs, and integration with external visualization systems.</a:t>
            </a:r>
          </a:p>
          <a:p>
            <a:pPr marL="342900" indent="-342900"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Overall, this layer enables real-time monitoring, user interaction, system integration, and long-term performance analytics, transforming the digital twin into a complete decision-support platform. </a:t>
            </a:r>
            <a:endParaRPr lang="en-US" sz="2000" dirty="0">
              <a:latin typeface="Times New Roman" panose="02020603050405020304" pitchFamily="18" charset="0"/>
              <a:ea typeface="Calibri"/>
              <a:cs typeface="Times New Roman" panose="02020603050405020304" pitchFamily="18" charset="0"/>
            </a:endParaRPr>
          </a:p>
        </p:txBody>
      </p:sp>
      <p:cxnSp>
        <p:nvCxnSpPr>
          <p:cNvPr id="6" name="Google Shape;1249;p100">
            <a:extLst>
              <a:ext uri="{FF2B5EF4-FFF2-40B4-BE49-F238E27FC236}">
                <a16:creationId xmlns:a16="http://schemas.microsoft.com/office/drawing/2014/main" id="{BF8459FD-1B5D-C380-DED4-339D6065759E}"/>
              </a:ext>
            </a:extLst>
          </p:cNvPr>
          <p:cNvCxnSpPr/>
          <p:nvPr/>
        </p:nvCxnSpPr>
        <p:spPr>
          <a:xfrm>
            <a:off x="0" y="694840"/>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18EE34FE-CCCA-A598-6E2A-BC27C4DC88B0}"/>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5" name="Slide Number Placeholder 4">
            <a:extLst>
              <a:ext uri="{FF2B5EF4-FFF2-40B4-BE49-F238E27FC236}">
                <a16:creationId xmlns:a16="http://schemas.microsoft.com/office/drawing/2014/main" id="{DAC46ACF-2BDE-906C-D2AE-5AEDBDBB3418}"/>
              </a:ext>
            </a:extLst>
          </p:cNvPr>
          <p:cNvSpPr>
            <a:spLocks noGrp="1"/>
          </p:cNvSpPr>
          <p:nvPr>
            <p:ph type="sldNum" sz="quarter" idx="12"/>
          </p:nvPr>
        </p:nvSpPr>
        <p:spPr/>
        <p:txBody>
          <a:bodyPr/>
          <a:lstStyle/>
          <a:p>
            <a:fld id="{00000000-1234-1234-1234-123412341234}" type="slidenum">
              <a:rPr lang="en-US" smtClean="0"/>
              <a:t>35</a:t>
            </a:fld>
            <a:endParaRPr lang="en-US"/>
          </a:p>
        </p:txBody>
      </p:sp>
    </p:spTree>
    <p:extLst>
      <p:ext uri="{BB962C8B-B14F-4D97-AF65-F5344CB8AC3E}">
        <p14:creationId xmlns:p14="http://schemas.microsoft.com/office/powerpoint/2010/main" val="23551660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9A8B837A-6056-0929-F528-F90B1F5AAD1B}"/>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703BE0D1-6719-685D-4C06-0AC3A368F964}"/>
              </a:ext>
            </a:extLst>
          </p:cNvPr>
          <p:cNvSpPr txBox="1">
            <a:spLocks noGrp="1"/>
          </p:cNvSpPr>
          <p:nvPr>
            <p:ph type="title"/>
          </p:nvPr>
        </p:nvSpPr>
        <p:spPr>
          <a:xfrm>
            <a:off x="482513" y="-292490"/>
            <a:ext cx="7886700" cy="1325563"/>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Times New Roman"/>
                <a:sym typeface="Times New Roman" panose="02020603050405020304"/>
              </a:rPr>
              <a:t>Results &amp; Performance</a:t>
            </a:r>
            <a:endParaRPr lang="en-US" b="1" dirty="0">
              <a:solidFill>
                <a:srgbClr val="006600"/>
              </a:solidFill>
              <a:latin typeface="Bookman Old Style"/>
              <a:cs typeface="Times New Roman"/>
            </a:endParaRPr>
          </a:p>
        </p:txBody>
      </p:sp>
      <p:sp>
        <p:nvSpPr>
          <p:cNvPr id="1258" name="Google Shape;1258;p101">
            <a:extLst>
              <a:ext uri="{FF2B5EF4-FFF2-40B4-BE49-F238E27FC236}">
                <a16:creationId xmlns:a16="http://schemas.microsoft.com/office/drawing/2014/main" id="{E587C84A-3956-E191-728B-1134DB1486FF}"/>
              </a:ext>
            </a:extLst>
          </p:cNvPr>
          <p:cNvSpPr txBox="1">
            <a:spLocks noGrp="1"/>
          </p:cNvSpPr>
          <p:nvPr>
            <p:ph idx="1"/>
          </p:nvPr>
        </p:nvSpPr>
        <p:spPr>
          <a:xfrm>
            <a:off x="643638" y="839259"/>
            <a:ext cx="7886700" cy="5269913"/>
          </a:xfrm>
          <a:prstGeom prst="rect">
            <a:avLst/>
          </a:prstGeom>
          <a:noFill/>
          <a:ln>
            <a:noFill/>
          </a:ln>
        </p:spPr>
        <p:txBody>
          <a:bodyPr spcFirstLastPara="1" wrap="square" lIns="91425" tIns="45700" rIns="91425" bIns="45700" anchor="t" anchorCtr="0">
            <a:noAutofit/>
          </a:bodyPr>
          <a:lstStyle/>
          <a:p>
            <a:pPr marL="0" indent="0" algn="ctr">
              <a:buNone/>
            </a:pPr>
            <a:r>
              <a:rPr lang="en-US" sz="2000" b="1" dirty="0">
                <a:latin typeface="Times New Roman"/>
                <a:ea typeface="+mn-lt"/>
                <a:cs typeface="Times New Roman"/>
              </a:rPr>
              <a:t>Input Image Samples</a:t>
            </a:r>
          </a:p>
          <a:p>
            <a:pPr marL="0" indent="0" algn="ctr">
              <a:buNone/>
            </a:pPr>
            <a:endParaRPr lang="en-US" sz="2200" b="1" dirty="0">
              <a:latin typeface="Times New Roman"/>
              <a:ea typeface="Calibri"/>
              <a:cs typeface="Times New Roman"/>
            </a:endParaRPr>
          </a:p>
        </p:txBody>
      </p:sp>
      <p:sp>
        <p:nvSpPr>
          <p:cNvPr id="2" name="Google Shape;167;p1">
            <a:extLst>
              <a:ext uri="{FF2B5EF4-FFF2-40B4-BE49-F238E27FC236}">
                <a16:creationId xmlns:a16="http://schemas.microsoft.com/office/drawing/2014/main" id="{C1D6204D-0B0D-99F7-C7CD-65FA435BFDE3}"/>
              </a:ext>
            </a:extLst>
          </p:cNvPr>
          <p:cNvSpPr txBox="1">
            <a:spLocks noGrp="1"/>
          </p:cNvSpPr>
          <p:nvPr>
            <p:ph type="dt" sz="half" idx="10"/>
          </p:nvPr>
        </p:nvSpPr>
        <p:spPr>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6CAA71E3-A0F0-ECC5-25BD-6D988EAA8705}"/>
              </a:ext>
            </a:extLst>
          </p:cNvPr>
          <p:cNvSpPr>
            <a:spLocks noGrp="1"/>
          </p:cNvSpPr>
          <p:nvPr>
            <p:ph type="sldNum" sz="quarter" idx="12"/>
          </p:nvPr>
        </p:nvSpPr>
        <p:spPr/>
        <p:txBody>
          <a:bodyPr/>
          <a:lstStyle/>
          <a:p>
            <a:fld id="{00000000-1234-1234-1234-123412341234}" type="slidenum">
              <a:rPr lang="en-US" smtClean="0"/>
              <a:t>36</a:t>
            </a:fld>
            <a:endParaRPr lang="en-US"/>
          </a:p>
        </p:txBody>
      </p:sp>
      <p:cxnSp>
        <p:nvCxnSpPr>
          <p:cNvPr id="6" name="Google Shape;1249;p100">
            <a:extLst>
              <a:ext uri="{FF2B5EF4-FFF2-40B4-BE49-F238E27FC236}">
                <a16:creationId xmlns:a16="http://schemas.microsoft.com/office/drawing/2014/main" id="{708D665A-B17B-C44C-5E28-5D78787BDCB0}"/>
              </a:ext>
            </a:extLst>
          </p:cNvPr>
          <p:cNvCxnSpPr/>
          <p:nvPr/>
        </p:nvCxnSpPr>
        <p:spPr>
          <a:xfrm>
            <a:off x="0" y="675647"/>
            <a:ext cx="9144000" cy="1588"/>
          </a:xfrm>
          <a:prstGeom prst="straightConnector1">
            <a:avLst/>
          </a:prstGeom>
          <a:noFill/>
          <a:ln w="25400" cap="flat" cmpd="sng">
            <a:solidFill>
              <a:srgbClr val="800000"/>
            </a:solidFill>
            <a:prstDash val="solid"/>
            <a:round/>
            <a:headEnd type="none" w="sm" len="sm"/>
            <a:tailEnd type="none" w="sm" len="sm"/>
          </a:ln>
        </p:spPr>
      </p:cxnSp>
      <p:pic>
        <p:nvPicPr>
          <p:cNvPr id="10" name="Picture 9" descr="A collage of different types of leaves&#10;&#10;AI-generated content may be incorrect.">
            <a:extLst>
              <a:ext uri="{FF2B5EF4-FFF2-40B4-BE49-F238E27FC236}">
                <a16:creationId xmlns:a16="http://schemas.microsoft.com/office/drawing/2014/main" id="{7FFBC00F-6445-B435-FF72-621F90F96495}"/>
              </a:ext>
            </a:extLst>
          </p:cNvPr>
          <p:cNvPicPr>
            <a:picLocks noChangeAspect="1"/>
          </p:cNvPicPr>
          <p:nvPr/>
        </p:nvPicPr>
        <p:blipFill>
          <a:blip r:embed="rId3"/>
          <a:stretch>
            <a:fillRect/>
          </a:stretch>
        </p:blipFill>
        <p:spPr>
          <a:xfrm>
            <a:off x="5032788" y="1339371"/>
            <a:ext cx="3848753" cy="4314958"/>
          </a:xfrm>
          <a:prstGeom prst="rect">
            <a:avLst/>
          </a:prstGeom>
        </p:spPr>
      </p:pic>
      <p:sp>
        <p:nvSpPr>
          <p:cNvPr id="11" name="TextBox 10">
            <a:extLst>
              <a:ext uri="{FF2B5EF4-FFF2-40B4-BE49-F238E27FC236}">
                <a16:creationId xmlns:a16="http://schemas.microsoft.com/office/drawing/2014/main" id="{94F994D4-7597-51ED-029D-87EE7BD79C2A}"/>
              </a:ext>
            </a:extLst>
          </p:cNvPr>
          <p:cNvSpPr txBox="1"/>
          <p:nvPr/>
        </p:nvSpPr>
        <p:spPr>
          <a:xfrm>
            <a:off x="613662" y="5781346"/>
            <a:ext cx="3746571"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dirty="0">
                <a:latin typeface="Times New Roman"/>
                <a:cs typeface="Times New Roman"/>
              </a:rPr>
              <a:t>Fig.  </a:t>
            </a:r>
            <a:r>
              <a:rPr lang="en-US" sz="1200" dirty="0">
                <a:effectLst/>
                <a:latin typeface="Times New Roman" panose="02020603050405020304" pitchFamily="18" charset="0"/>
                <a:ea typeface="Times New Roman" panose="02020603050405020304" pitchFamily="18" charset="0"/>
              </a:rPr>
              <a:t>Tomato Crop Growth Stages Dataset Samples</a:t>
            </a:r>
            <a:endParaRPr lang="en-US" sz="1200" dirty="0"/>
          </a:p>
        </p:txBody>
      </p:sp>
      <p:sp>
        <p:nvSpPr>
          <p:cNvPr id="12" name="TextBox 11">
            <a:extLst>
              <a:ext uri="{FF2B5EF4-FFF2-40B4-BE49-F238E27FC236}">
                <a16:creationId xmlns:a16="http://schemas.microsoft.com/office/drawing/2014/main" id="{652D4212-D795-8610-E25E-5237F5BC2036}"/>
              </a:ext>
            </a:extLst>
          </p:cNvPr>
          <p:cNvSpPr txBox="1"/>
          <p:nvPr/>
        </p:nvSpPr>
        <p:spPr>
          <a:xfrm>
            <a:off x="5133469" y="5781345"/>
            <a:ext cx="3746571"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dirty="0">
                <a:latin typeface="Times New Roman"/>
                <a:cs typeface="Times New Roman"/>
              </a:rPr>
              <a:t>Fig.  Tomato Leaf Disease Classification Dataset Samples</a:t>
            </a:r>
            <a:endParaRPr lang="en-US" sz="1200" dirty="0"/>
          </a:p>
        </p:txBody>
      </p:sp>
      <p:pic>
        <p:nvPicPr>
          <p:cNvPr id="4" name="Picture 3" descr="A collage of different plants&#10;&#10;AI-generated content may be incorrect.">
            <a:extLst>
              <a:ext uri="{FF2B5EF4-FFF2-40B4-BE49-F238E27FC236}">
                <a16:creationId xmlns:a16="http://schemas.microsoft.com/office/drawing/2014/main" id="{40B00943-5415-670A-8A49-F464DD6AA99E}"/>
              </a:ext>
            </a:extLst>
          </p:cNvPr>
          <p:cNvPicPr>
            <a:picLocks noChangeAspect="1"/>
          </p:cNvPicPr>
          <p:nvPr/>
        </p:nvPicPr>
        <p:blipFill>
          <a:blip r:embed="rId4"/>
          <a:stretch>
            <a:fillRect/>
          </a:stretch>
        </p:blipFill>
        <p:spPr>
          <a:xfrm>
            <a:off x="235776" y="1346156"/>
            <a:ext cx="4611928" cy="4207440"/>
          </a:xfrm>
          <a:prstGeom prst="rect">
            <a:avLst/>
          </a:prstGeom>
        </p:spPr>
      </p:pic>
    </p:spTree>
    <p:extLst>
      <p:ext uri="{BB962C8B-B14F-4D97-AF65-F5344CB8AC3E}">
        <p14:creationId xmlns:p14="http://schemas.microsoft.com/office/powerpoint/2010/main" val="13913838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9A8B837A-6056-0929-F528-F90B1F5AAD1B}"/>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703BE0D1-6719-685D-4C06-0AC3A368F964}"/>
              </a:ext>
            </a:extLst>
          </p:cNvPr>
          <p:cNvSpPr txBox="1">
            <a:spLocks noGrp="1"/>
          </p:cNvSpPr>
          <p:nvPr>
            <p:ph type="title"/>
          </p:nvPr>
        </p:nvSpPr>
        <p:spPr>
          <a:xfrm>
            <a:off x="482513" y="-292490"/>
            <a:ext cx="7886700" cy="1325563"/>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Times New Roman"/>
                <a:sym typeface="Times New Roman" panose="02020603050405020304"/>
              </a:rPr>
              <a:t>Results &amp; Performance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lang="en-US" sz="2800" b="1" dirty="0">
              <a:solidFill>
                <a:srgbClr val="006600"/>
              </a:solidFill>
              <a:latin typeface="Bookman Old Style"/>
              <a:cs typeface="Times New Roman"/>
            </a:endParaRPr>
          </a:p>
        </p:txBody>
      </p:sp>
      <p:sp>
        <p:nvSpPr>
          <p:cNvPr id="1258" name="Google Shape;1258;p101">
            <a:extLst>
              <a:ext uri="{FF2B5EF4-FFF2-40B4-BE49-F238E27FC236}">
                <a16:creationId xmlns:a16="http://schemas.microsoft.com/office/drawing/2014/main" id="{E587C84A-3956-E191-728B-1134DB1486FF}"/>
              </a:ext>
            </a:extLst>
          </p:cNvPr>
          <p:cNvSpPr txBox="1">
            <a:spLocks noGrp="1"/>
          </p:cNvSpPr>
          <p:nvPr>
            <p:ph idx="1"/>
          </p:nvPr>
        </p:nvSpPr>
        <p:spPr>
          <a:xfrm>
            <a:off x="628650" y="907050"/>
            <a:ext cx="7886700" cy="5269913"/>
          </a:xfrm>
          <a:prstGeom prst="rect">
            <a:avLst/>
          </a:prstGeom>
          <a:noFill/>
          <a:ln>
            <a:noFill/>
          </a:ln>
        </p:spPr>
        <p:txBody>
          <a:bodyPr spcFirstLastPara="1" wrap="square" lIns="91425" tIns="45700" rIns="91425" bIns="45700" anchor="t" anchorCtr="0">
            <a:noAutofit/>
          </a:bodyPr>
          <a:lstStyle/>
          <a:p>
            <a:pPr marL="457200" lvl="1" indent="0" algn="ctr">
              <a:spcBef>
                <a:spcPts val="600"/>
              </a:spcBef>
              <a:spcAft>
                <a:spcPts val="300"/>
              </a:spcAft>
              <a:buNone/>
            </a:pPr>
            <a:r>
              <a:rPr lang="en-US" sz="2000" b="1" dirty="0">
                <a:effectLst/>
                <a:latin typeface="Times New Roman" panose="02020603050405020304" pitchFamily="18" charset="0"/>
                <a:ea typeface="PMingLiU" panose="02020500000000000000" pitchFamily="18" charset="-120"/>
              </a:rPr>
              <a:t>Results of Crop Growth Stage Classification Model</a:t>
            </a:r>
            <a:endParaRPr lang="en-IN" sz="2000" b="1" dirty="0">
              <a:effectLst/>
              <a:latin typeface="Times New Roman" panose="02020603050405020304" pitchFamily="18" charset="0"/>
              <a:ea typeface="PMingLiU" panose="02020500000000000000" pitchFamily="18" charset="-120"/>
            </a:endParaRPr>
          </a:p>
          <a:p>
            <a:pPr marL="0" indent="0" algn="ctr">
              <a:buNone/>
            </a:pPr>
            <a:endParaRPr lang="en-US" sz="2200" b="1" dirty="0">
              <a:latin typeface="Times New Roman"/>
              <a:ea typeface="Calibri"/>
              <a:cs typeface="Times New Roman"/>
            </a:endParaRPr>
          </a:p>
        </p:txBody>
      </p:sp>
      <p:sp>
        <p:nvSpPr>
          <p:cNvPr id="2" name="Google Shape;167;p1">
            <a:extLst>
              <a:ext uri="{FF2B5EF4-FFF2-40B4-BE49-F238E27FC236}">
                <a16:creationId xmlns:a16="http://schemas.microsoft.com/office/drawing/2014/main" id="{C1D6204D-0B0D-99F7-C7CD-65FA435BFDE3}"/>
              </a:ext>
            </a:extLst>
          </p:cNvPr>
          <p:cNvSpPr txBox="1">
            <a:spLocks noGrp="1"/>
          </p:cNvSpPr>
          <p:nvPr>
            <p:ph type="dt" sz="half" idx="10"/>
          </p:nvPr>
        </p:nvSpPr>
        <p:spPr>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6CAA71E3-A0F0-ECC5-25BD-6D988EAA8705}"/>
              </a:ext>
            </a:extLst>
          </p:cNvPr>
          <p:cNvSpPr>
            <a:spLocks noGrp="1"/>
          </p:cNvSpPr>
          <p:nvPr>
            <p:ph type="sldNum" sz="quarter" idx="12"/>
          </p:nvPr>
        </p:nvSpPr>
        <p:spPr/>
        <p:txBody>
          <a:bodyPr/>
          <a:lstStyle/>
          <a:p>
            <a:fld id="{00000000-1234-1234-1234-123412341234}" type="slidenum">
              <a:rPr lang="en-US" smtClean="0"/>
              <a:t>37</a:t>
            </a:fld>
            <a:endParaRPr lang="en-US"/>
          </a:p>
        </p:txBody>
      </p:sp>
      <p:cxnSp>
        <p:nvCxnSpPr>
          <p:cNvPr id="6" name="Google Shape;1249;p100">
            <a:extLst>
              <a:ext uri="{FF2B5EF4-FFF2-40B4-BE49-F238E27FC236}">
                <a16:creationId xmlns:a16="http://schemas.microsoft.com/office/drawing/2014/main" id="{708D665A-B17B-C44C-5E28-5D78787BDCB0}"/>
              </a:ext>
            </a:extLst>
          </p:cNvPr>
          <p:cNvCxnSpPr/>
          <p:nvPr/>
        </p:nvCxnSpPr>
        <p:spPr>
          <a:xfrm>
            <a:off x="0" y="675647"/>
            <a:ext cx="9144000" cy="1588"/>
          </a:xfrm>
          <a:prstGeom prst="straightConnector1">
            <a:avLst/>
          </a:prstGeom>
          <a:noFill/>
          <a:ln w="25400" cap="flat" cmpd="sng">
            <a:solidFill>
              <a:srgbClr val="800000"/>
            </a:solidFill>
            <a:prstDash val="solid"/>
            <a:round/>
            <a:headEnd type="none" w="sm" len="sm"/>
            <a:tailEnd type="none" w="sm" len="sm"/>
          </a:ln>
        </p:spPr>
      </p:cxnSp>
      <p:sp>
        <p:nvSpPr>
          <p:cNvPr id="11" name="TextBox 10">
            <a:extLst>
              <a:ext uri="{FF2B5EF4-FFF2-40B4-BE49-F238E27FC236}">
                <a16:creationId xmlns:a16="http://schemas.microsoft.com/office/drawing/2014/main" id="{94F994D4-7597-51ED-029D-87EE7BD79C2A}"/>
              </a:ext>
            </a:extLst>
          </p:cNvPr>
          <p:cNvSpPr txBox="1"/>
          <p:nvPr/>
        </p:nvSpPr>
        <p:spPr>
          <a:xfrm>
            <a:off x="0" y="5781346"/>
            <a:ext cx="4753274"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a:t>
            </a:r>
            <a:r>
              <a:rPr lang="en-US" sz="1200" dirty="0">
                <a:effectLst/>
                <a:latin typeface="Times New Roman" panose="02020603050405020304" pitchFamily="18" charset="0"/>
                <a:ea typeface="Times New Roman" panose="02020603050405020304" pitchFamily="18" charset="0"/>
              </a:rPr>
              <a:t>Confusion Matrix of Tomato Growth Stage Classification Model</a:t>
            </a:r>
            <a:endParaRPr lang="en-US" sz="1200" dirty="0"/>
          </a:p>
        </p:txBody>
      </p:sp>
      <p:sp>
        <p:nvSpPr>
          <p:cNvPr id="12" name="TextBox 11">
            <a:extLst>
              <a:ext uri="{FF2B5EF4-FFF2-40B4-BE49-F238E27FC236}">
                <a16:creationId xmlns:a16="http://schemas.microsoft.com/office/drawing/2014/main" id="{652D4212-D795-8610-E25E-5237F5BC2036}"/>
              </a:ext>
            </a:extLst>
          </p:cNvPr>
          <p:cNvSpPr txBox="1"/>
          <p:nvPr/>
        </p:nvSpPr>
        <p:spPr>
          <a:xfrm>
            <a:off x="4631796" y="5754043"/>
            <a:ext cx="4515858"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a:t>
            </a:r>
            <a:r>
              <a:rPr lang="en-US" sz="1200" dirty="0">
                <a:effectLst/>
                <a:latin typeface="Times New Roman" panose="02020603050405020304" pitchFamily="18" charset="0"/>
                <a:ea typeface="Times New Roman" panose="02020603050405020304" pitchFamily="18" charset="0"/>
              </a:rPr>
              <a:t>Training Accuracy of the Growth Stage Classification Model</a:t>
            </a:r>
            <a:endParaRPr lang="en-US" sz="1200" dirty="0"/>
          </a:p>
        </p:txBody>
      </p:sp>
      <p:pic>
        <p:nvPicPr>
          <p:cNvPr id="5" name="Picture 4">
            <a:extLst>
              <a:ext uri="{FF2B5EF4-FFF2-40B4-BE49-F238E27FC236}">
                <a16:creationId xmlns:a16="http://schemas.microsoft.com/office/drawing/2014/main" id="{9DA15123-2462-FD33-C2A0-2A75447C190C}"/>
              </a:ext>
            </a:extLst>
          </p:cNvPr>
          <p:cNvPicPr>
            <a:picLocks noChangeAspect="1"/>
          </p:cNvPicPr>
          <p:nvPr/>
        </p:nvPicPr>
        <p:blipFill rotWithShape="1">
          <a:blip r:embed="rId3">
            <a:extLst>
              <a:ext uri="{BEBA8EAE-BF5A-486C-A8C5-ECC9F3942E4B}">
                <a14:imgProps xmlns:a14="http://schemas.microsoft.com/office/drawing/2010/main">
                  <a14:imgLayer r:embed="rId4">
                    <a14:imgEffect>
                      <a14:sharpenSoften amount="25000"/>
                    </a14:imgEffect>
                    <a14:imgEffect>
                      <a14:brightnessContrast contrast="20000"/>
                    </a14:imgEffect>
                  </a14:imgLayer>
                </a14:imgProps>
              </a:ext>
            </a:extLst>
          </a:blip>
          <a:srcRect l="-3" t="12709" r="53536" b="1452"/>
          <a:stretch/>
        </p:blipFill>
        <p:spPr bwMode="auto">
          <a:xfrm>
            <a:off x="0" y="1412527"/>
            <a:ext cx="4753274" cy="4341515"/>
          </a:xfrm>
          <a:prstGeom prst="rect">
            <a:avLst/>
          </a:prstGeom>
          <a:ln>
            <a:noFill/>
          </a:ln>
          <a:extLst>
            <a:ext uri="{53640926-AAD7-44D8-BBD7-CCE9431645EC}">
              <a14:shadowObscured xmlns:a14="http://schemas.microsoft.com/office/drawing/2010/main"/>
            </a:ext>
          </a:extLst>
        </p:spPr>
      </p:pic>
      <p:pic>
        <p:nvPicPr>
          <p:cNvPr id="7" name="Picture 6">
            <a:extLst>
              <a:ext uri="{FF2B5EF4-FFF2-40B4-BE49-F238E27FC236}">
                <a16:creationId xmlns:a16="http://schemas.microsoft.com/office/drawing/2014/main" id="{A81DC89C-EDB6-5AD2-8EB3-80E735E00308}"/>
              </a:ext>
            </a:extLst>
          </p:cNvPr>
          <p:cNvPicPr>
            <a:picLocks noChangeAspect="1"/>
          </p:cNvPicPr>
          <p:nvPr/>
        </p:nvPicPr>
        <p:blipFill rotWithShape="1">
          <a:blip r:embed="rId5">
            <a:extLst>
              <a:ext uri="{BEBA8EAE-BF5A-486C-A8C5-ECC9F3942E4B}">
                <a14:imgProps xmlns:a14="http://schemas.microsoft.com/office/drawing/2010/main">
                  <a14:imgLayer r:embed="rId6">
                    <a14:imgEffect>
                      <a14:sharpenSoften amount="50000"/>
                    </a14:imgEffect>
                    <a14:imgEffect>
                      <a14:brightnessContrast contrast="20000"/>
                    </a14:imgEffect>
                  </a14:imgLayer>
                </a14:imgProps>
              </a:ext>
            </a:extLst>
          </a:blip>
          <a:srcRect l="49902" t="7265"/>
          <a:stretch/>
        </p:blipFill>
        <p:spPr bwMode="auto">
          <a:xfrm>
            <a:off x="4899411" y="1494298"/>
            <a:ext cx="3980629" cy="3699800"/>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40429134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9A8B837A-6056-0929-F528-F90B1F5AAD1B}"/>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703BE0D1-6719-685D-4C06-0AC3A368F964}"/>
              </a:ext>
            </a:extLst>
          </p:cNvPr>
          <p:cNvSpPr txBox="1">
            <a:spLocks noGrp="1"/>
          </p:cNvSpPr>
          <p:nvPr>
            <p:ph type="title"/>
          </p:nvPr>
        </p:nvSpPr>
        <p:spPr>
          <a:xfrm>
            <a:off x="482513" y="-292490"/>
            <a:ext cx="7886700" cy="1325563"/>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Times New Roman"/>
                <a:sym typeface="Times New Roman" panose="02020603050405020304"/>
              </a:rPr>
              <a:t>Results &amp; Performance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lang="en-US" sz="2800" b="1" dirty="0">
              <a:solidFill>
                <a:srgbClr val="006600"/>
              </a:solidFill>
              <a:latin typeface="Bookman Old Style"/>
              <a:cs typeface="Times New Roman"/>
            </a:endParaRPr>
          </a:p>
        </p:txBody>
      </p:sp>
      <p:sp>
        <p:nvSpPr>
          <p:cNvPr id="1258" name="Google Shape;1258;p101">
            <a:extLst>
              <a:ext uri="{FF2B5EF4-FFF2-40B4-BE49-F238E27FC236}">
                <a16:creationId xmlns:a16="http://schemas.microsoft.com/office/drawing/2014/main" id="{E587C84A-3956-E191-728B-1134DB1486FF}"/>
              </a:ext>
            </a:extLst>
          </p:cNvPr>
          <p:cNvSpPr txBox="1">
            <a:spLocks noGrp="1"/>
          </p:cNvSpPr>
          <p:nvPr>
            <p:ph idx="1"/>
          </p:nvPr>
        </p:nvSpPr>
        <p:spPr>
          <a:xfrm>
            <a:off x="628650" y="907050"/>
            <a:ext cx="7886700" cy="5269913"/>
          </a:xfrm>
          <a:prstGeom prst="rect">
            <a:avLst/>
          </a:prstGeom>
          <a:noFill/>
          <a:ln>
            <a:noFill/>
          </a:ln>
        </p:spPr>
        <p:txBody>
          <a:bodyPr spcFirstLastPara="1" wrap="square" lIns="91425" tIns="45700" rIns="91425" bIns="45700" anchor="t" anchorCtr="0">
            <a:noAutofit/>
          </a:bodyPr>
          <a:lstStyle/>
          <a:p>
            <a:pPr marL="457200" lvl="1" indent="0" algn="ctr">
              <a:spcBef>
                <a:spcPts val="600"/>
              </a:spcBef>
              <a:spcAft>
                <a:spcPts val="300"/>
              </a:spcAft>
              <a:buNone/>
            </a:pPr>
            <a:r>
              <a:rPr lang="en-US" sz="2000" b="1" dirty="0">
                <a:effectLst/>
                <a:latin typeface="Times New Roman" panose="02020603050405020304" pitchFamily="18" charset="0"/>
                <a:ea typeface="PMingLiU" panose="02020500000000000000" pitchFamily="18" charset="-120"/>
              </a:rPr>
              <a:t>Results of Plant Disease Detection Model</a:t>
            </a:r>
            <a:endParaRPr lang="en-IN" sz="2000" b="1" dirty="0">
              <a:effectLst/>
              <a:latin typeface="Times New Roman" panose="02020603050405020304" pitchFamily="18" charset="0"/>
              <a:ea typeface="PMingLiU" panose="02020500000000000000" pitchFamily="18" charset="-120"/>
            </a:endParaRPr>
          </a:p>
          <a:p>
            <a:pPr marL="0" indent="0" algn="ctr">
              <a:buNone/>
            </a:pPr>
            <a:endParaRPr lang="en-US" sz="2200" b="1" dirty="0">
              <a:latin typeface="Times New Roman"/>
              <a:ea typeface="Calibri"/>
              <a:cs typeface="Times New Roman"/>
            </a:endParaRPr>
          </a:p>
        </p:txBody>
      </p:sp>
      <p:sp>
        <p:nvSpPr>
          <p:cNvPr id="2" name="Google Shape;167;p1">
            <a:extLst>
              <a:ext uri="{FF2B5EF4-FFF2-40B4-BE49-F238E27FC236}">
                <a16:creationId xmlns:a16="http://schemas.microsoft.com/office/drawing/2014/main" id="{C1D6204D-0B0D-99F7-C7CD-65FA435BFDE3}"/>
              </a:ext>
            </a:extLst>
          </p:cNvPr>
          <p:cNvSpPr txBox="1">
            <a:spLocks noGrp="1"/>
          </p:cNvSpPr>
          <p:nvPr>
            <p:ph type="dt" sz="half" idx="10"/>
          </p:nvPr>
        </p:nvSpPr>
        <p:spPr>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6CAA71E3-A0F0-ECC5-25BD-6D988EAA8705}"/>
              </a:ext>
            </a:extLst>
          </p:cNvPr>
          <p:cNvSpPr>
            <a:spLocks noGrp="1"/>
          </p:cNvSpPr>
          <p:nvPr>
            <p:ph type="sldNum" sz="quarter" idx="12"/>
          </p:nvPr>
        </p:nvSpPr>
        <p:spPr/>
        <p:txBody>
          <a:bodyPr/>
          <a:lstStyle/>
          <a:p>
            <a:fld id="{00000000-1234-1234-1234-123412341234}" type="slidenum">
              <a:rPr lang="en-US" smtClean="0"/>
              <a:t>38</a:t>
            </a:fld>
            <a:endParaRPr lang="en-US"/>
          </a:p>
        </p:txBody>
      </p:sp>
      <p:cxnSp>
        <p:nvCxnSpPr>
          <p:cNvPr id="6" name="Google Shape;1249;p100">
            <a:extLst>
              <a:ext uri="{FF2B5EF4-FFF2-40B4-BE49-F238E27FC236}">
                <a16:creationId xmlns:a16="http://schemas.microsoft.com/office/drawing/2014/main" id="{708D665A-B17B-C44C-5E28-5D78787BDCB0}"/>
              </a:ext>
            </a:extLst>
          </p:cNvPr>
          <p:cNvCxnSpPr/>
          <p:nvPr/>
        </p:nvCxnSpPr>
        <p:spPr>
          <a:xfrm>
            <a:off x="0" y="675647"/>
            <a:ext cx="9144000" cy="1588"/>
          </a:xfrm>
          <a:prstGeom prst="straightConnector1">
            <a:avLst/>
          </a:prstGeom>
          <a:noFill/>
          <a:ln w="25400" cap="flat" cmpd="sng">
            <a:solidFill>
              <a:srgbClr val="800000"/>
            </a:solidFill>
            <a:prstDash val="solid"/>
            <a:round/>
            <a:headEnd type="none" w="sm" len="sm"/>
            <a:tailEnd type="none" w="sm" len="sm"/>
          </a:ln>
        </p:spPr>
      </p:cxnSp>
      <p:sp>
        <p:nvSpPr>
          <p:cNvPr id="11" name="TextBox 10">
            <a:extLst>
              <a:ext uri="{FF2B5EF4-FFF2-40B4-BE49-F238E27FC236}">
                <a16:creationId xmlns:a16="http://schemas.microsoft.com/office/drawing/2014/main" id="{94F994D4-7597-51ED-029D-87EE7BD79C2A}"/>
              </a:ext>
            </a:extLst>
          </p:cNvPr>
          <p:cNvSpPr txBox="1"/>
          <p:nvPr/>
        </p:nvSpPr>
        <p:spPr>
          <a:xfrm>
            <a:off x="0" y="5781346"/>
            <a:ext cx="4753274"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a:t>
            </a:r>
            <a:r>
              <a:rPr lang="en-US" sz="1200" dirty="0">
                <a:effectLst/>
                <a:latin typeface="Times New Roman" panose="02020603050405020304" pitchFamily="18" charset="0"/>
                <a:ea typeface="Times New Roman" panose="02020603050405020304" pitchFamily="18" charset="0"/>
              </a:rPr>
              <a:t>Confusion Matrix of Tomato Disease Detection Model</a:t>
            </a:r>
            <a:endParaRPr lang="en-US" sz="1200" dirty="0"/>
          </a:p>
        </p:txBody>
      </p:sp>
      <p:sp>
        <p:nvSpPr>
          <p:cNvPr id="12" name="TextBox 11">
            <a:extLst>
              <a:ext uri="{FF2B5EF4-FFF2-40B4-BE49-F238E27FC236}">
                <a16:creationId xmlns:a16="http://schemas.microsoft.com/office/drawing/2014/main" id="{652D4212-D795-8610-E25E-5237F5BC2036}"/>
              </a:ext>
            </a:extLst>
          </p:cNvPr>
          <p:cNvSpPr txBox="1"/>
          <p:nvPr/>
        </p:nvSpPr>
        <p:spPr>
          <a:xfrm>
            <a:off x="4631796" y="5754043"/>
            <a:ext cx="4515858"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a:t>
            </a:r>
            <a:r>
              <a:rPr lang="en-US" sz="1200" dirty="0">
                <a:effectLst/>
                <a:latin typeface="Times New Roman" panose="02020603050405020304" pitchFamily="18" charset="0"/>
                <a:ea typeface="Times New Roman" panose="02020603050405020304" pitchFamily="18" charset="0"/>
              </a:rPr>
              <a:t>Training Accuracy of the Disease Detection Model</a:t>
            </a:r>
            <a:endParaRPr lang="en-US" sz="1200" dirty="0"/>
          </a:p>
        </p:txBody>
      </p:sp>
      <p:pic>
        <p:nvPicPr>
          <p:cNvPr id="4" name="Picture 3">
            <a:extLst>
              <a:ext uri="{FF2B5EF4-FFF2-40B4-BE49-F238E27FC236}">
                <a16:creationId xmlns:a16="http://schemas.microsoft.com/office/drawing/2014/main" id="{210C1D30-C112-6CE0-7CBB-1BC9D4E30733}"/>
              </a:ext>
            </a:extLst>
          </p:cNvPr>
          <p:cNvPicPr>
            <a:picLocks noChangeAspect="1"/>
          </p:cNvPicPr>
          <p:nvPr/>
        </p:nvPicPr>
        <p:blipFill rotWithShape="1">
          <a:blip r:embed="rId3">
            <a:extLst>
              <a:ext uri="{BEBA8EAE-BF5A-486C-A8C5-ECC9F3942E4B}">
                <a14:imgProps xmlns:a14="http://schemas.microsoft.com/office/drawing/2010/main">
                  <a14:imgLayer r:embed="rId4">
                    <a14:imgEffect>
                      <a14:sharpenSoften amount="25000"/>
                    </a14:imgEffect>
                    <a14:imgEffect>
                      <a14:brightnessContrast contrast="20000"/>
                    </a14:imgEffect>
                  </a14:imgLayer>
                </a14:imgProps>
              </a:ext>
            </a:extLst>
          </a:blip>
          <a:srcRect l="1" t="4180" r="48807" b="1186"/>
          <a:stretch/>
        </p:blipFill>
        <p:spPr bwMode="auto">
          <a:xfrm>
            <a:off x="-1" y="1371600"/>
            <a:ext cx="4733721" cy="4382443"/>
          </a:xfrm>
          <a:prstGeom prst="rect">
            <a:avLst/>
          </a:prstGeom>
          <a:ln>
            <a:noFill/>
          </a:ln>
          <a:extLst>
            <a:ext uri="{53640926-AAD7-44D8-BBD7-CCE9431645EC}">
              <a14:shadowObscured xmlns:a14="http://schemas.microsoft.com/office/drawing/2010/main"/>
            </a:ext>
          </a:extLst>
        </p:spPr>
      </p:pic>
      <p:pic>
        <p:nvPicPr>
          <p:cNvPr id="8" name="Picture 7">
            <a:extLst>
              <a:ext uri="{FF2B5EF4-FFF2-40B4-BE49-F238E27FC236}">
                <a16:creationId xmlns:a16="http://schemas.microsoft.com/office/drawing/2014/main" id="{309AD626-83D2-AA93-40DB-BEECC24BDB46}"/>
              </a:ext>
            </a:extLst>
          </p:cNvPr>
          <p:cNvPicPr>
            <a:picLocks noChangeAspect="1"/>
          </p:cNvPicPr>
          <p:nvPr/>
        </p:nvPicPr>
        <p:blipFill rotWithShape="1">
          <a:blip r:embed="rId5">
            <a:extLst>
              <a:ext uri="{BEBA8EAE-BF5A-486C-A8C5-ECC9F3942E4B}">
                <a14:imgProps xmlns:a14="http://schemas.microsoft.com/office/drawing/2010/main">
                  <a14:imgLayer r:embed="rId6">
                    <a14:imgEffect>
                      <a14:sharpenSoften amount="50000"/>
                    </a14:imgEffect>
                    <a14:imgEffect>
                      <a14:brightnessContrast contrast="20000"/>
                    </a14:imgEffect>
                  </a14:imgLayer>
                </a14:imgProps>
              </a:ext>
            </a:extLst>
          </a:blip>
          <a:srcRect l="49717" t="7265"/>
          <a:stretch/>
        </p:blipFill>
        <p:spPr bwMode="auto">
          <a:xfrm>
            <a:off x="4733720" y="1341410"/>
            <a:ext cx="4313298" cy="4321318"/>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5770119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9A8B837A-6056-0929-F528-F90B1F5AAD1B}"/>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703BE0D1-6719-685D-4C06-0AC3A368F964}"/>
              </a:ext>
            </a:extLst>
          </p:cNvPr>
          <p:cNvSpPr txBox="1">
            <a:spLocks noGrp="1"/>
          </p:cNvSpPr>
          <p:nvPr>
            <p:ph type="title"/>
          </p:nvPr>
        </p:nvSpPr>
        <p:spPr>
          <a:xfrm>
            <a:off x="482513" y="-292490"/>
            <a:ext cx="7886700" cy="1325563"/>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Times New Roman"/>
                <a:sym typeface="Times New Roman" panose="02020603050405020304"/>
              </a:rPr>
              <a:t>Results &amp; Performance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lang="en-US" sz="2800" b="1" dirty="0">
              <a:solidFill>
                <a:srgbClr val="006600"/>
              </a:solidFill>
              <a:latin typeface="Bookman Old Style"/>
              <a:cs typeface="Times New Roman"/>
            </a:endParaRPr>
          </a:p>
        </p:txBody>
      </p:sp>
      <p:sp>
        <p:nvSpPr>
          <p:cNvPr id="1258" name="Google Shape;1258;p101">
            <a:extLst>
              <a:ext uri="{FF2B5EF4-FFF2-40B4-BE49-F238E27FC236}">
                <a16:creationId xmlns:a16="http://schemas.microsoft.com/office/drawing/2014/main" id="{E587C84A-3956-E191-728B-1134DB1486FF}"/>
              </a:ext>
            </a:extLst>
          </p:cNvPr>
          <p:cNvSpPr txBox="1">
            <a:spLocks noGrp="1"/>
          </p:cNvSpPr>
          <p:nvPr>
            <p:ph idx="1"/>
          </p:nvPr>
        </p:nvSpPr>
        <p:spPr>
          <a:xfrm>
            <a:off x="628650" y="907050"/>
            <a:ext cx="7886700" cy="5269913"/>
          </a:xfrm>
          <a:prstGeom prst="rect">
            <a:avLst/>
          </a:prstGeom>
          <a:noFill/>
          <a:ln>
            <a:noFill/>
          </a:ln>
        </p:spPr>
        <p:txBody>
          <a:bodyPr spcFirstLastPara="1" wrap="square" lIns="91425" tIns="45700" rIns="91425" bIns="45700" anchor="t" anchorCtr="0">
            <a:noAutofit/>
          </a:bodyPr>
          <a:lstStyle/>
          <a:p>
            <a:pPr marL="457200" lvl="1" indent="0" algn="ctr">
              <a:spcBef>
                <a:spcPts val="600"/>
              </a:spcBef>
              <a:spcAft>
                <a:spcPts val="300"/>
              </a:spcAft>
              <a:buNone/>
            </a:pPr>
            <a:r>
              <a:rPr lang="en-US" sz="2000" b="1" dirty="0">
                <a:effectLst/>
                <a:latin typeface="Times New Roman" panose="02020603050405020304" pitchFamily="18" charset="0"/>
                <a:ea typeface="PMingLiU" panose="02020500000000000000" pitchFamily="18" charset="-120"/>
              </a:rPr>
              <a:t>Results of Weather Forecasting Model</a:t>
            </a:r>
            <a:endParaRPr lang="en-IN" sz="2000" b="1" dirty="0">
              <a:effectLst/>
              <a:latin typeface="Times New Roman" panose="02020603050405020304" pitchFamily="18" charset="0"/>
              <a:ea typeface="PMingLiU" panose="02020500000000000000" pitchFamily="18" charset="-120"/>
            </a:endParaRPr>
          </a:p>
          <a:p>
            <a:pPr marL="0" indent="0" algn="ctr">
              <a:buNone/>
            </a:pPr>
            <a:endParaRPr lang="en-US" sz="2200" b="1" dirty="0">
              <a:latin typeface="Times New Roman"/>
              <a:ea typeface="Calibri"/>
              <a:cs typeface="Times New Roman"/>
            </a:endParaRPr>
          </a:p>
        </p:txBody>
      </p:sp>
      <p:sp>
        <p:nvSpPr>
          <p:cNvPr id="2" name="Google Shape;167;p1">
            <a:extLst>
              <a:ext uri="{FF2B5EF4-FFF2-40B4-BE49-F238E27FC236}">
                <a16:creationId xmlns:a16="http://schemas.microsoft.com/office/drawing/2014/main" id="{C1D6204D-0B0D-99F7-C7CD-65FA435BFDE3}"/>
              </a:ext>
            </a:extLst>
          </p:cNvPr>
          <p:cNvSpPr txBox="1">
            <a:spLocks noGrp="1"/>
          </p:cNvSpPr>
          <p:nvPr>
            <p:ph type="dt" sz="half" idx="10"/>
          </p:nvPr>
        </p:nvSpPr>
        <p:spPr>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6CAA71E3-A0F0-ECC5-25BD-6D988EAA8705}"/>
              </a:ext>
            </a:extLst>
          </p:cNvPr>
          <p:cNvSpPr>
            <a:spLocks noGrp="1"/>
          </p:cNvSpPr>
          <p:nvPr>
            <p:ph type="sldNum" sz="quarter" idx="12"/>
          </p:nvPr>
        </p:nvSpPr>
        <p:spPr/>
        <p:txBody>
          <a:bodyPr/>
          <a:lstStyle/>
          <a:p>
            <a:fld id="{00000000-1234-1234-1234-123412341234}" type="slidenum">
              <a:rPr lang="en-US" smtClean="0"/>
              <a:t>39</a:t>
            </a:fld>
            <a:endParaRPr lang="en-US"/>
          </a:p>
        </p:txBody>
      </p:sp>
      <p:cxnSp>
        <p:nvCxnSpPr>
          <p:cNvPr id="6" name="Google Shape;1249;p100">
            <a:extLst>
              <a:ext uri="{FF2B5EF4-FFF2-40B4-BE49-F238E27FC236}">
                <a16:creationId xmlns:a16="http://schemas.microsoft.com/office/drawing/2014/main" id="{708D665A-B17B-C44C-5E28-5D78787BDCB0}"/>
              </a:ext>
            </a:extLst>
          </p:cNvPr>
          <p:cNvCxnSpPr/>
          <p:nvPr/>
        </p:nvCxnSpPr>
        <p:spPr>
          <a:xfrm>
            <a:off x="0" y="675647"/>
            <a:ext cx="9144000" cy="1588"/>
          </a:xfrm>
          <a:prstGeom prst="straightConnector1">
            <a:avLst/>
          </a:prstGeom>
          <a:noFill/>
          <a:ln w="25400" cap="flat" cmpd="sng">
            <a:solidFill>
              <a:srgbClr val="800000"/>
            </a:solidFill>
            <a:prstDash val="solid"/>
            <a:round/>
            <a:headEnd type="none" w="sm" len="sm"/>
            <a:tailEnd type="none" w="sm" len="sm"/>
          </a:ln>
        </p:spPr>
      </p:cxnSp>
      <p:sp>
        <p:nvSpPr>
          <p:cNvPr id="11" name="TextBox 10">
            <a:extLst>
              <a:ext uri="{FF2B5EF4-FFF2-40B4-BE49-F238E27FC236}">
                <a16:creationId xmlns:a16="http://schemas.microsoft.com/office/drawing/2014/main" id="{94F994D4-7597-51ED-029D-87EE7BD79C2A}"/>
              </a:ext>
            </a:extLst>
          </p:cNvPr>
          <p:cNvSpPr txBox="1"/>
          <p:nvPr/>
        </p:nvSpPr>
        <p:spPr>
          <a:xfrm>
            <a:off x="0" y="5781346"/>
            <a:ext cx="4753274"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a:t>
            </a:r>
            <a:r>
              <a:rPr lang="en-US" sz="1200" dirty="0">
                <a:effectLst/>
                <a:latin typeface="Times New Roman" panose="02020603050405020304" pitchFamily="18" charset="0"/>
                <a:ea typeface="Times New Roman" panose="02020603050405020304" pitchFamily="18" charset="0"/>
              </a:rPr>
              <a:t>Chronos Model Training Curve</a:t>
            </a:r>
            <a:endParaRPr lang="en-US" sz="1200" dirty="0"/>
          </a:p>
        </p:txBody>
      </p:sp>
      <p:sp>
        <p:nvSpPr>
          <p:cNvPr id="12" name="TextBox 11">
            <a:extLst>
              <a:ext uri="{FF2B5EF4-FFF2-40B4-BE49-F238E27FC236}">
                <a16:creationId xmlns:a16="http://schemas.microsoft.com/office/drawing/2014/main" id="{652D4212-D795-8610-E25E-5237F5BC2036}"/>
              </a:ext>
            </a:extLst>
          </p:cNvPr>
          <p:cNvSpPr txBox="1"/>
          <p:nvPr/>
        </p:nvSpPr>
        <p:spPr>
          <a:xfrm>
            <a:off x="4631796" y="5754043"/>
            <a:ext cx="4515858"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a:t>
            </a:r>
            <a:r>
              <a:rPr lang="en-US" sz="1200" dirty="0">
                <a:effectLst/>
                <a:latin typeface="Times New Roman" panose="02020603050405020304" pitchFamily="18" charset="0"/>
                <a:ea typeface="Times New Roman" panose="02020603050405020304" pitchFamily="18" charset="0"/>
              </a:rPr>
              <a:t>Chronos Model Validation Accuracy after Fine-Tuning</a:t>
            </a:r>
            <a:endParaRPr lang="en-US" sz="1200" dirty="0"/>
          </a:p>
        </p:txBody>
      </p:sp>
      <p:pic>
        <p:nvPicPr>
          <p:cNvPr id="5" name="Picture 4">
            <a:extLst>
              <a:ext uri="{FF2B5EF4-FFF2-40B4-BE49-F238E27FC236}">
                <a16:creationId xmlns:a16="http://schemas.microsoft.com/office/drawing/2014/main" id="{F8141698-84EB-C8D2-D9EE-7A2A2157817D}"/>
              </a:ext>
            </a:extLst>
          </p:cNvPr>
          <p:cNvPicPr>
            <a:picLocks noChangeAspect="1"/>
          </p:cNvPicPr>
          <p:nvPr/>
        </p:nvPicPr>
        <p:blipFill rotWithShape="1">
          <a:blip r:embed="rId3">
            <a:extLst>
              <a:ext uri="{BEBA8EAE-BF5A-486C-A8C5-ECC9F3942E4B}">
                <a14:imgProps xmlns:a14="http://schemas.microsoft.com/office/drawing/2010/main">
                  <a14:imgLayer r:embed="rId4">
                    <a14:imgEffect>
                      <a14:sharpenSoften amount="50000"/>
                    </a14:imgEffect>
                    <a14:imgEffect>
                      <a14:brightnessContrast contrast="20000"/>
                    </a14:imgEffect>
                  </a14:imgLayer>
                </a14:imgProps>
              </a:ext>
            </a:extLst>
          </a:blip>
          <a:srcRect r="48299"/>
          <a:stretch/>
        </p:blipFill>
        <p:spPr bwMode="auto">
          <a:xfrm>
            <a:off x="181119" y="1382423"/>
            <a:ext cx="4753274" cy="4497643"/>
          </a:xfrm>
          <a:prstGeom prst="rect">
            <a:avLst/>
          </a:prstGeom>
          <a:ln>
            <a:noFill/>
          </a:ln>
          <a:extLst>
            <a:ext uri="{53640926-AAD7-44D8-BBD7-CCE9431645EC}">
              <a14:shadowObscured xmlns:a14="http://schemas.microsoft.com/office/drawing/2010/main"/>
            </a:ext>
          </a:extLst>
        </p:spPr>
      </p:pic>
      <p:pic>
        <p:nvPicPr>
          <p:cNvPr id="7" name="Picture 6">
            <a:extLst>
              <a:ext uri="{FF2B5EF4-FFF2-40B4-BE49-F238E27FC236}">
                <a16:creationId xmlns:a16="http://schemas.microsoft.com/office/drawing/2014/main" id="{766B2D2B-A435-8397-DBEA-600648715A59}"/>
              </a:ext>
            </a:extLst>
          </p:cNvPr>
          <p:cNvPicPr>
            <a:picLocks noChangeAspect="1"/>
          </p:cNvPicPr>
          <p:nvPr/>
        </p:nvPicPr>
        <p:blipFill rotWithShape="1">
          <a:blip r:embed="rId3">
            <a:extLst>
              <a:ext uri="{BEBA8EAE-BF5A-486C-A8C5-ECC9F3942E4B}">
                <a14:imgProps xmlns:a14="http://schemas.microsoft.com/office/drawing/2010/main">
                  <a14:imgLayer r:embed="rId4">
                    <a14:imgEffect>
                      <a14:sharpenSoften amount="50000"/>
                    </a14:imgEffect>
                    <a14:imgEffect>
                      <a14:brightnessContrast contrast="20000"/>
                    </a14:imgEffect>
                  </a14:imgLayer>
                </a14:imgProps>
              </a:ext>
            </a:extLst>
          </a:blip>
          <a:srcRect l="51979" b="6068"/>
          <a:stretch/>
        </p:blipFill>
        <p:spPr bwMode="auto">
          <a:xfrm>
            <a:off x="5080529" y="1382424"/>
            <a:ext cx="3882351" cy="4344316"/>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3903181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9A8B837A-6056-0929-F528-F90B1F5AAD1B}"/>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703BE0D1-6719-685D-4C06-0AC3A368F964}"/>
              </a:ext>
            </a:extLst>
          </p:cNvPr>
          <p:cNvSpPr txBox="1">
            <a:spLocks noGrp="1"/>
          </p:cNvSpPr>
          <p:nvPr>
            <p:ph type="title"/>
          </p:nvPr>
        </p:nvSpPr>
        <p:spPr>
          <a:xfrm>
            <a:off x="482513" y="-292490"/>
            <a:ext cx="7886700" cy="1325563"/>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Times New Roman"/>
                <a:sym typeface="Times New Roman" panose="02020603050405020304"/>
              </a:rPr>
              <a:t>Results &amp; Performance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lang="en-US" sz="2800" b="1" dirty="0">
              <a:solidFill>
                <a:srgbClr val="006600"/>
              </a:solidFill>
              <a:latin typeface="Bookman Old Style"/>
              <a:cs typeface="Times New Roman"/>
            </a:endParaRPr>
          </a:p>
        </p:txBody>
      </p:sp>
      <p:sp>
        <p:nvSpPr>
          <p:cNvPr id="2" name="Google Shape;167;p1">
            <a:extLst>
              <a:ext uri="{FF2B5EF4-FFF2-40B4-BE49-F238E27FC236}">
                <a16:creationId xmlns:a16="http://schemas.microsoft.com/office/drawing/2014/main" id="{C1D6204D-0B0D-99F7-C7CD-65FA435BFDE3}"/>
              </a:ext>
            </a:extLst>
          </p:cNvPr>
          <p:cNvSpPr txBox="1">
            <a:spLocks noGrp="1"/>
          </p:cNvSpPr>
          <p:nvPr>
            <p:ph type="dt" sz="half" idx="10"/>
          </p:nvPr>
        </p:nvSpPr>
        <p:spPr>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6CAA71E3-A0F0-ECC5-25BD-6D988EAA8705}"/>
              </a:ext>
            </a:extLst>
          </p:cNvPr>
          <p:cNvSpPr>
            <a:spLocks noGrp="1"/>
          </p:cNvSpPr>
          <p:nvPr>
            <p:ph type="sldNum" sz="quarter" idx="12"/>
          </p:nvPr>
        </p:nvSpPr>
        <p:spPr/>
        <p:txBody>
          <a:bodyPr/>
          <a:lstStyle/>
          <a:p>
            <a:fld id="{00000000-1234-1234-1234-123412341234}" type="slidenum">
              <a:rPr lang="en-US" smtClean="0"/>
              <a:t>40</a:t>
            </a:fld>
            <a:endParaRPr lang="en-US"/>
          </a:p>
        </p:txBody>
      </p:sp>
      <p:cxnSp>
        <p:nvCxnSpPr>
          <p:cNvPr id="6" name="Google Shape;1249;p100">
            <a:extLst>
              <a:ext uri="{FF2B5EF4-FFF2-40B4-BE49-F238E27FC236}">
                <a16:creationId xmlns:a16="http://schemas.microsoft.com/office/drawing/2014/main" id="{708D665A-B17B-C44C-5E28-5D78787BDCB0}"/>
              </a:ext>
            </a:extLst>
          </p:cNvPr>
          <p:cNvCxnSpPr/>
          <p:nvPr/>
        </p:nvCxnSpPr>
        <p:spPr>
          <a:xfrm>
            <a:off x="0" y="675647"/>
            <a:ext cx="9144000" cy="1588"/>
          </a:xfrm>
          <a:prstGeom prst="straightConnector1">
            <a:avLst/>
          </a:prstGeom>
          <a:noFill/>
          <a:ln w="25400" cap="flat" cmpd="sng">
            <a:solidFill>
              <a:srgbClr val="800000"/>
            </a:solidFill>
            <a:prstDash val="solid"/>
            <a:round/>
            <a:headEnd type="none" w="sm" len="sm"/>
            <a:tailEnd type="none" w="sm" len="sm"/>
          </a:ln>
        </p:spPr>
      </p:cxnSp>
      <p:sp>
        <p:nvSpPr>
          <p:cNvPr id="12" name="TextBox 11">
            <a:extLst>
              <a:ext uri="{FF2B5EF4-FFF2-40B4-BE49-F238E27FC236}">
                <a16:creationId xmlns:a16="http://schemas.microsoft.com/office/drawing/2014/main" id="{652D4212-D795-8610-E25E-5237F5BC2036}"/>
              </a:ext>
            </a:extLst>
          </p:cNvPr>
          <p:cNvSpPr txBox="1"/>
          <p:nvPr/>
        </p:nvSpPr>
        <p:spPr>
          <a:xfrm>
            <a:off x="2686050" y="6444477"/>
            <a:ext cx="4515858"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panose="02020603050405020304" pitchFamily="18" charset="0"/>
                <a:cs typeface="Times New Roman" panose="02020603050405020304" pitchFamily="18" charset="0"/>
              </a:rPr>
              <a:t>Fig.  </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Ensemble Weather Forecast Prediction versus Actual Values</a:t>
            </a:r>
            <a:endParaRPr lang="en-IN" sz="1200" dirty="0">
              <a:effectLst/>
              <a:latin typeface="Times New Roman" panose="02020603050405020304" pitchFamily="18" charset="0"/>
              <a:ea typeface="Calibri" panose="020F0502020204030204" pitchFamily="34" charset="0"/>
              <a:cs typeface="Times New Roman" panose="02020603050405020304" pitchFamily="18" charset="0"/>
            </a:endParaRPr>
          </a:p>
          <a:p>
            <a:pPr algn="ctr"/>
            <a:endParaRPr lang="en-US" sz="1200"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C993C578-46A3-243F-4D18-0C58F7AC1D3A}"/>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50000"/>
                    </a14:imgEffect>
                    <a14:imgEffect>
                      <a14:brightnessContrast contrast="-40000"/>
                    </a14:imgEffect>
                  </a14:imgLayer>
                </a14:imgProps>
              </a:ext>
            </a:extLst>
          </a:blip>
          <a:stretch>
            <a:fillRect/>
          </a:stretch>
        </p:blipFill>
        <p:spPr>
          <a:xfrm>
            <a:off x="212739" y="765361"/>
            <a:ext cx="8718521" cy="5529392"/>
          </a:xfrm>
          <a:prstGeom prst="rect">
            <a:avLst/>
          </a:prstGeom>
        </p:spPr>
      </p:pic>
    </p:spTree>
    <p:extLst>
      <p:ext uri="{BB962C8B-B14F-4D97-AF65-F5344CB8AC3E}">
        <p14:creationId xmlns:p14="http://schemas.microsoft.com/office/powerpoint/2010/main" val="2006862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9A8B837A-6056-0929-F528-F90B1F5AAD1B}"/>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703BE0D1-6719-685D-4C06-0AC3A368F964}"/>
              </a:ext>
            </a:extLst>
          </p:cNvPr>
          <p:cNvSpPr txBox="1">
            <a:spLocks noGrp="1"/>
          </p:cNvSpPr>
          <p:nvPr>
            <p:ph type="title"/>
          </p:nvPr>
        </p:nvSpPr>
        <p:spPr>
          <a:xfrm>
            <a:off x="482513" y="-292490"/>
            <a:ext cx="7886700" cy="1325563"/>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Times New Roman"/>
                <a:sym typeface="Times New Roman" panose="02020603050405020304"/>
              </a:rPr>
              <a:t>Results &amp; Performance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lang="en-US" sz="2800" b="1" dirty="0">
              <a:solidFill>
                <a:srgbClr val="006600"/>
              </a:solidFill>
              <a:latin typeface="Bookman Old Style"/>
              <a:cs typeface="Times New Roman"/>
            </a:endParaRPr>
          </a:p>
        </p:txBody>
      </p:sp>
      <p:sp>
        <p:nvSpPr>
          <p:cNvPr id="1258" name="Google Shape;1258;p101">
            <a:extLst>
              <a:ext uri="{FF2B5EF4-FFF2-40B4-BE49-F238E27FC236}">
                <a16:creationId xmlns:a16="http://schemas.microsoft.com/office/drawing/2014/main" id="{E587C84A-3956-E191-728B-1134DB1486FF}"/>
              </a:ext>
            </a:extLst>
          </p:cNvPr>
          <p:cNvSpPr txBox="1">
            <a:spLocks noGrp="1"/>
          </p:cNvSpPr>
          <p:nvPr>
            <p:ph idx="1"/>
          </p:nvPr>
        </p:nvSpPr>
        <p:spPr>
          <a:xfrm>
            <a:off x="628650" y="907050"/>
            <a:ext cx="7886700" cy="5269913"/>
          </a:xfrm>
          <a:prstGeom prst="rect">
            <a:avLst/>
          </a:prstGeom>
          <a:noFill/>
          <a:ln>
            <a:noFill/>
          </a:ln>
        </p:spPr>
        <p:txBody>
          <a:bodyPr spcFirstLastPara="1" wrap="square" lIns="91425" tIns="45700" rIns="91425" bIns="45700" anchor="t" anchorCtr="0">
            <a:noAutofit/>
          </a:bodyPr>
          <a:lstStyle/>
          <a:p>
            <a:pPr marL="457200" lvl="1" indent="0" algn="ctr">
              <a:spcBef>
                <a:spcPts val="600"/>
              </a:spcBef>
              <a:spcAft>
                <a:spcPts val="300"/>
              </a:spcAft>
              <a:buNone/>
            </a:pPr>
            <a:r>
              <a:rPr lang="en-US" sz="1800" b="1" dirty="0">
                <a:effectLst/>
                <a:latin typeface="Times New Roman" panose="02020603050405020304" pitchFamily="18" charset="0"/>
                <a:ea typeface="PMingLiU" panose="02020500000000000000" pitchFamily="18" charset="-120"/>
              </a:rPr>
              <a:t>Results of Disease Progression Model</a:t>
            </a:r>
            <a:endParaRPr lang="en-IN" sz="1800" b="1" dirty="0">
              <a:effectLst/>
              <a:latin typeface="Times New Roman" panose="02020603050405020304" pitchFamily="18" charset="0"/>
              <a:ea typeface="PMingLiU" panose="02020500000000000000" pitchFamily="18" charset="-120"/>
            </a:endParaRPr>
          </a:p>
        </p:txBody>
      </p:sp>
      <p:sp>
        <p:nvSpPr>
          <p:cNvPr id="2" name="Google Shape;167;p1">
            <a:extLst>
              <a:ext uri="{FF2B5EF4-FFF2-40B4-BE49-F238E27FC236}">
                <a16:creationId xmlns:a16="http://schemas.microsoft.com/office/drawing/2014/main" id="{C1D6204D-0B0D-99F7-C7CD-65FA435BFDE3}"/>
              </a:ext>
            </a:extLst>
          </p:cNvPr>
          <p:cNvSpPr txBox="1">
            <a:spLocks noGrp="1"/>
          </p:cNvSpPr>
          <p:nvPr>
            <p:ph type="dt" sz="half" idx="10"/>
          </p:nvPr>
        </p:nvSpPr>
        <p:spPr>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6CAA71E3-A0F0-ECC5-25BD-6D988EAA8705}"/>
              </a:ext>
            </a:extLst>
          </p:cNvPr>
          <p:cNvSpPr>
            <a:spLocks noGrp="1"/>
          </p:cNvSpPr>
          <p:nvPr>
            <p:ph type="sldNum" sz="quarter" idx="12"/>
          </p:nvPr>
        </p:nvSpPr>
        <p:spPr/>
        <p:txBody>
          <a:bodyPr/>
          <a:lstStyle/>
          <a:p>
            <a:fld id="{00000000-1234-1234-1234-123412341234}" type="slidenum">
              <a:rPr lang="en-US" smtClean="0"/>
              <a:t>41</a:t>
            </a:fld>
            <a:endParaRPr lang="en-US"/>
          </a:p>
        </p:txBody>
      </p:sp>
      <p:cxnSp>
        <p:nvCxnSpPr>
          <p:cNvPr id="6" name="Google Shape;1249;p100">
            <a:extLst>
              <a:ext uri="{FF2B5EF4-FFF2-40B4-BE49-F238E27FC236}">
                <a16:creationId xmlns:a16="http://schemas.microsoft.com/office/drawing/2014/main" id="{708D665A-B17B-C44C-5E28-5D78787BDCB0}"/>
              </a:ext>
            </a:extLst>
          </p:cNvPr>
          <p:cNvCxnSpPr/>
          <p:nvPr/>
        </p:nvCxnSpPr>
        <p:spPr>
          <a:xfrm>
            <a:off x="0" y="675647"/>
            <a:ext cx="9144000" cy="1588"/>
          </a:xfrm>
          <a:prstGeom prst="straightConnector1">
            <a:avLst/>
          </a:prstGeom>
          <a:noFill/>
          <a:ln w="25400" cap="flat" cmpd="sng">
            <a:solidFill>
              <a:srgbClr val="800000"/>
            </a:solidFill>
            <a:prstDash val="solid"/>
            <a:round/>
            <a:headEnd type="none" w="sm" len="sm"/>
            <a:tailEnd type="none" w="sm" len="sm"/>
          </a:ln>
        </p:spPr>
      </p:cxnSp>
      <p:sp>
        <p:nvSpPr>
          <p:cNvPr id="11" name="TextBox 10">
            <a:extLst>
              <a:ext uri="{FF2B5EF4-FFF2-40B4-BE49-F238E27FC236}">
                <a16:creationId xmlns:a16="http://schemas.microsoft.com/office/drawing/2014/main" id="{94F994D4-7597-51ED-029D-87EE7BD79C2A}"/>
              </a:ext>
            </a:extLst>
          </p:cNvPr>
          <p:cNvSpPr txBox="1"/>
          <p:nvPr/>
        </p:nvSpPr>
        <p:spPr>
          <a:xfrm>
            <a:off x="0" y="5781346"/>
            <a:ext cx="4753274"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a:t>
            </a:r>
            <a:r>
              <a:rPr lang="en-US" sz="1200" dirty="0">
                <a:effectLst/>
                <a:latin typeface="Times New Roman" panose="02020603050405020304" pitchFamily="18" charset="0"/>
                <a:ea typeface="Times New Roman" panose="02020603050405020304" pitchFamily="18" charset="0"/>
              </a:rPr>
              <a:t>LSTM Training Loss Curve for Disease Progression Model</a:t>
            </a:r>
            <a:endParaRPr lang="en-US" sz="1200" dirty="0"/>
          </a:p>
        </p:txBody>
      </p:sp>
      <p:sp>
        <p:nvSpPr>
          <p:cNvPr id="12" name="TextBox 11">
            <a:extLst>
              <a:ext uri="{FF2B5EF4-FFF2-40B4-BE49-F238E27FC236}">
                <a16:creationId xmlns:a16="http://schemas.microsoft.com/office/drawing/2014/main" id="{652D4212-D795-8610-E25E-5237F5BC2036}"/>
              </a:ext>
            </a:extLst>
          </p:cNvPr>
          <p:cNvSpPr txBox="1"/>
          <p:nvPr/>
        </p:nvSpPr>
        <p:spPr>
          <a:xfrm>
            <a:off x="4631796" y="5754043"/>
            <a:ext cx="4515858"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a:t>
            </a:r>
            <a:r>
              <a:rPr lang="en-US" sz="1200" dirty="0">
                <a:effectLst/>
                <a:latin typeface="Times New Roman" panose="02020603050405020304" pitchFamily="18" charset="0"/>
                <a:ea typeface="Times New Roman" panose="02020603050405020304" pitchFamily="18" charset="0"/>
              </a:rPr>
              <a:t>GRU Training Loss Curve for Disease Progression Model</a:t>
            </a:r>
            <a:endParaRPr lang="en-US" sz="1200" dirty="0"/>
          </a:p>
        </p:txBody>
      </p:sp>
      <p:pic>
        <p:nvPicPr>
          <p:cNvPr id="4" name="Picture 3">
            <a:extLst>
              <a:ext uri="{FF2B5EF4-FFF2-40B4-BE49-F238E27FC236}">
                <a16:creationId xmlns:a16="http://schemas.microsoft.com/office/drawing/2014/main" id="{D90054D9-F1E6-1BC5-22DD-A6B6E24E94F9}"/>
              </a:ext>
            </a:extLst>
          </p:cNvPr>
          <p:cNvPicPr>
            <a:picLocks noChangeAspect="1"/>
          </p:cNvPicPr>
          <p:nvPr/>
        </p:nvPicPr>
        <p:blipFill rotWithShape="1">
          <a:blip r:embed="rId3">
            <a:extLst>
              <a:ext uri="{BEBA8EAE-BF5A-486C-A8C5-ECC9F3942E4B}">
                <a14:imgProps xmlns:a14="http://schemas.microsoft.com/office/drawing/2010/main">
                  <a14:imgLayer r:embed="rId4">
                    <a14:imgEffect>
                      <a14:sharpenSoften amount="50000"/>
                    </a14:imgEffect>
                    <a14:imgEffect>
                      <a14:brightnessContrast contrast="-40000"/>
                    </a14:imgEffect>
                  </a14:imgLayer>
                </a14:imgProps>
              </a:ext>
            </a:extLst>
          </a:blip>
          <a:srcRect r="49965" b="50078"/>
          <a:stretch/>
        </p:blipFill>
        <p:spPr bwMode="auto">
          <a:xfrm>
            <a:off x="0" y="1509280"/>
            <a:ext cx="4631796" cy="4153448"/>
          </a:xfrm>
          <a:prstGeom prst="rect">
            <a:avLst/>
          </a:prstGeom>
          <a:ln>
            <a:noFill/>
          </a:ln>
          <a:extLst>
            <a:ext uri="{53640926-AAD7-44D8-BBD7-CCE9431645EC}">
              <a14:shadowObscured xmlns:a14="http://schemas.microsoft.com/office/drawing/2010/main"/>
            </a:ext>
          </a:extLst>
        </p:spPr>
      </p:pic>
      <p:pic>
        <p:nvPicPr>
          <p:cNvPr id="8" name="Picture 7">
            <a:extLst>
              <a:ext uri="{FF2B5EF4-FFF2-40B4-BE49-F238E27FC236}">
                <a16:creationId xmlns:a16="http://schemas.microsoft.com/office/drawing/2014/main" id="{EEDEB552-3C86-A540-AF44-2EF17AB307C8}"/>
              </a:ext>
            </a:extLst>
          </p:cNvPr>
          <p:cNvPicPr>
            <a:picLocks noChangeAspect="1"/>
          </p:cNvPicPr>
          <p:nvPr/>
        </p:nvPicPr>
        <p:blipFill rotWithShape="1">
          <a:blip r:embed="rId5">
            <a:extLst>
              <a:ext uri="{BEBA8EAE-BF5A-486C-A8C5-ECC9F3942E4B}">
                <a14:imgProps xmlns:a14="http://schemas.microsoft.com/office/drawing/2010/main">
                  <a14:imgLayer r:embed="rId6">
                    <a14:imgEffect>
                      <a14:sharpenSoften amount="50000"/>
                    </a14:imgEffect>
                    <a14:imgEffect>
                      <a14:brightnessContrast contrast="-40000"/>
                    </a14:imgEffect>
                  </a14:imgLayer>
                </a14:imgProps>
              </a:ext>
            </a:extLst>
          </a:blip>
          <a:srcRect r="49416" b="51173"/>
          <a:stretch/>
        </p:blipFill>
        <p:spPr bwMode="auto">
          <a:xfrm>
            <a:off x="4753274" y="1509280"/>
            <a:ext cx="4390726" cy="4013359"/>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479928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9A8B837A-6056-0929-F528-F90B1F5AAD1B}"/>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703BE0D1-6719-685D-4C06-0AC3A368F964}"/>
              </a:ext>
            </a:extLst>
          </p:cNvPr>
          <p:cNvSpPr txBox="1">
            <a:spLocks noGrp="1"/>
          </p:cNvSpPr>
          <p:nvPr>
            <p:ph type="title"/>
          </p:nvPr>
        </p:nvSpPr>
        <p:spPr>
          <a:xfrm>
            <a:off x="482513" y="-292490"/>
            <a:ext cx="7886700" cy="1325563"/>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Times New Roman"/>
                <a:sym typeface="Times New Roman" panose="02020603050405020304"/>
              </a:rPr>
              <a:t>Results &amp; Performance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lang="en-US" sz="2800" b="1" dirty="0">
              <a:solidFill>
                <a:srgbClr val="006600"/>
              </a:solidFill>
              <a:latin typeface="Bookman Old Style"/>
              <a:cs typeface="Times New Roman"/>
            </a:endParaRPr>
          </a:p>
        </p:txBody>
      </p:sp>
      <p:sp>
        <p:nvSpPr>
          <p:cNvPr id="2" name="Google Shape;167;p1">
            <a:extLst>
              <a:ext uri="{FF2B5EF4-FFF2-40B4-BE49-F238E27FC236}">
                <a16:creationId xmlns:a16="http://schemas.microsoft.com/office/drawing/2014/main" id="{C1D6204D-0B0D-99F7-C7CD-65FA435BFDE3}"/>
              </a:ext>
            </a:extLst>
          </p:cNvPr>
          <p:cNvSpPr txBox="1">
            <a:spLocks noGrp="1"/>
          </p:cNvSpPr>
          <p:nvPr>
            <p:ph type="dt" sz="half" idx="10"/>
          </p:nvPr>
        </p:nvSpPr>
        <p:spPr>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6CAA71E3-A0F0-ECC5-25BD-6D988EAA8705}"/>
              </a:ext>
            </a:extLst>
          </p:cNvPr>
          <p:cNvSpPr>
            <a:spLocks noGrp="1"/>
          </p:cNvSpPr>
          <p:nvPr>
            <p:ph type="sldNum" sz="quarter" idx="12"/>
          </p:nvPr>
        </p:nvSpPr>
        <p:spPr/>
        <p:txBody>
          <a:bodyPr/>
          <a:lstStyle/>
          <a:p>
            <a:fld id="{00000000-1234-1234-1234-123412341234}" type="slidenum">
              <a:rPr lang="en-US" smtClean="0"/>
              <a:t>42</a:t>
            </a:fld>
            <a:endParaRPr lang="en-US"/>
          </a:p>
        </p:txBody>
      </p:sp>
      <p:cxnSp>
        <p:nvCxnSpPr>
          <p:cNvPr id="6" name="Google Shape;1249;p100">
            <a:extLst>
              <a:ext uri="{FF2B5EF4-FFF2-40B4-BE49-F238E27FC236}">
                <a16:creationId xmlns:a16="http://schemas.microsoft.com/office/drawing/2014/main" id="{708D665A-B17B-C44C-5E28-5D78787BDCB0}"/>
              </a:ext>
            </a:extLst>
          </p:cNvPr>
          <p:cNvCxnSpPr/>
          <p:nvPr/>
        </p:nvCxnSpPr>
        <p:spPr>
          <a:xfrm>
            <a:off x="0" y="675647"/>
            <a:ext cx="9144000" cy="1588"/>
          </a:xfrm>
          <a:prstGeom prst="straightConnector1">
            <a:avLst/>
          </a:prstGeom>
          <a:noFill/>
          <a:ln w="25400" cap="flat" cmpd="sng">
            <a:solidFill>
              <a:srgbClr val="800000"/>
            </a:solidFill>
            <a:prstDash val="solid"/>
            <a:round/>
            <a:headEnd type="none" w="sm" len="sm"/>
            <a:tailEnd type="none" w="sm" len="sm"/>
          </a:ln>
        </p:spPr>
      </p:cxnSp>
      <p:sp>
        <p:nvSpPr>
          <p:cNvPr id="11" name="TextBox 10">
            <a:extLst>
              <a:ext uri="{FF2B5EF4-FFF2-40B4-BE49-F238E27FC236}">
                <a16:creationId xmlns:a16="http://schemas.microsoft.com/office/drawing/2014/main" id="{94F994D4-7597-51ED-029D-87EE7BD79C2A}"/>
              </a:ext>
            </a:extLst>
          </p:cNvPr>
          <p:cNvSpPr txBox="1"/>
          <p:nvPr/>
        </p:nvSpPr>
        <p:spPr>
          <a:xfrm>
            <a:off x="47129" y="1398613"/>
            <a:ext cx="4753274"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Table. </a:t>
            </a:r>
            <a:r>
              <a:rPr lang="en-US" sz="1200" dirty="0">
                <a:effectLst/>
                <a:latin typeface="Times New Roman" panose="02020603050405020304" pitchFamily="18" charset="0"/>
                <a:ea typeface="Calibri" panose="020F0502020204030204" pitchFamily="34" charset="0"/>
              </a:rPr>
              <a:t>Performance Metrics for Disease Presence Classification Model</a:t>
            </a:r>
            <a:endParaRPr lang="en-US" sz="1200" dirty="0"/>
          </a:p>
        </p:txBody>
      </p:sp>
      <p:graphicFrame>
        <p:nvGraphicFramePr>
          <p:cNvPr id="9" name="Table 8">
            <a:extLst>
              <a:ext uri="{FF2B5EF4-FFF2-40B4-BE49-F238E27FC236}">
                <a16:creationId xmlns:a16="http://schemas.microsoft.com/office/drawing/2014/main" id="{7BDB56B7-3168-35AE-12CE-2DA41490E441}"/>
              </a:ext>
            </a:extLst>
          </p:cNvPr>
          <p:cNvGraphicFramePr>
            <a:graphicFrameLocks noGrp="1"/>
          </p:cNvGraphicFramePr>
          <p:nvPr>
            <p:extLst>
              <p:ext uri="{D42A27DB-BD31-4B8C-83A1-F6EECF244321}">
                <p14:modId xmlns:p14="http://schemas.microsoft.com/office/powerpoint/2010/main" val="4245138902"/>
              </p:ext>
            </p:extLst>
          </p:nvPr>
        </p:nvGraphicFramePr>
        <p:xfrm>
          <a:off x="275532" y="1723922"/>
          <a:ext cx="4296468" cy="3759418"/>
        </p:xfrm>
        <a:graphic>
          <a:graphicData uri="http://schemas.openxmlformats.org/drawingml/2006/table">
            <a:tbl>
              <a:tblPr firstRow="1" firstCol="1" bandRow="1">
                <a:tableStyleId>{5C22544A-7EE6-4342-B048-85BDC9FD1C3A}</a:tableStyleId>
              </a:tblPr>
              <a:tblGrid>
                <a:gridCol w="2148234">
                  <a:extLst>
                    <a:ext uri="{9D8B030D-6E8A-4147-A177-3AD203B41FA5}">
                      <a16:colId xmlns:a16="http://schemas.microsoft.com/office/drawing/2014/main" val="983330026"/>
                    </a:ext>
                  </a:extLst>
                </a:gridCol>
                <a:gridCol w="2148234">
                  <a:extLst>
                    <a:ext uri="{9D8B030D-6E8A-4147-A177-3AD203B41FA5}">
                      <a16:colId xmlns:a16="http://schemas.microsoft.com/office/drawing/2014/main" val="1135201883"/>
                    </a:ext>
                  </a:extLst>
                </a:gridCol>
              </a:tblGrid>
              <a:tr h="955681">
                <a:tc>
                  <a:txBody>
                    <a:bodyPr/>
                    <a:lstStyle/>
                    <a:p>
                      <a:pPr algn="ctr">
                        <a:lnSpc>
                          <a:spcPct val="115000"/>
                        </a:lnSpc>
                        <a:spcAft>
                          <a:spcPts val="1000"/>
                        </a:spcAft>
                      </a:pPr>
                      <a:r>
                        <a:rPr lang="en-IN" sz="2000" dirty="0">
                          <a:effectLst/>
                          <a:latin typeface="Times New Roman" panose="02020603050405020304" pitchFamily="18" charset="0"/>
                          <a:cs typeface="Times New Roman" panose="02020603050405020304" pitchFamily="18" charset="0"/>
                        </a:rPr>
                        <a:t>Metric</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algn="ctr">
                        <a:lnSpc>
                          <a:spcPct val="115000"/>
                        </a:lnSpc>
                        <a:spcAft>
                          <a:spcPts val="1000"/>
                        </a:spcAft>
                      </a:pPr>
                      <a:r>
                        <a:rPr lang="en-IN" sz="2000">
                          <a:effectLst/>
                          <a:latin typeface="Times New Roman" panose="02020603050405020304" pitchFamily="18" charset="0"/>
                          <a:cs typeface="Times New Roman" panose="02020603050405020304" pitchFamily="18" charset="0"/>
                        </a:rPr>
                        <a:t>Value</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552581357"/>
                  </a:ext>
                </a:extLst>
              </a:tr>
              <a:tr h="924028">
                <a:tc>
                  <a:txBody>
                    <a:bodyPr/>
                    <a:lstStyle/>
                    <a:p>
                      <a:pPr algn="ctr">
                        <a:lnSpc>
                          <a:spcPct val="115000"/>
                        </a:lnSpc>
                        <a:spcAft>
                          <a:spcPts val="1000"/>
                        </a:spcAft>
                      </a:pPr>
                      <a:r>
                        <a:rPr lang="en-IN" sz="2000">
                          <a:effectLst/>
                          <a:latin typeface="Times New Roman" panose="02020603050405020304" pitchFamily="18" charset="0"/>
                          <a:cs typeface="Times New Roman" panose="02020603050405020304" pitchFamily="18" charset="0"/>
                        </a:rPr>
                        <a:t>Micro F1 Score</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algn="ctr">
                        <a:lnSpc>
                          <a:spcPct val="115000"/>
                        </a:lnSpc>
                        <a:spcAft>
                          <a:spcPts val="1000"/>
                        </a:spcAft>
                      </a:pPr>
                      <a:r>
                        <a:rPr lang="en-IN" sz="2000">
                          <a:effectLst/>
                          <a:latin typeface="Times New Roman" panose="02020603050405020304" pitchFamily="18" charset="0"/>
                          <a:cs typeface="Times New Roman" panose="02020603050405020304" pitchFamily="18" charset="0"/>
                        </a:rPr>
                        <a:t>0.800</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99217317"/>
                  </a:ext>
                </a:extLst>
              </a:tr>
              <a:tr h="955681">
                <a:tc>
                  <a:txBody>
                    <a:bodyPr/>
                    <a:lstStyle/>
                    <a:p>
                      <a:pPr algn="ctr">
                        <a:lnSpc>
                          <a:spcPct val="115000"/>
                        </a:lnSpc>
                        <a:spcAft>
                          <a:spcPts val="1000"/>
                        </a:spcAft>
                      </a:pPr>
                      <a:r>
                        <a:rPr lang="en-IN" sz="2000">
                          <a:effectLst/>
                          <a:latin typeface="Times New Roman" panose="02020603050405020304" pitchFamily="18" charset="0"/>
                          <a:cs typeface="Times New Roman" panose="02020603050405020304" pitchFamily="18" charset="0"/>
                        </a:rPr>
                        <a:t>Macro F1 Score</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algn="ctr">
                        <a:lnSpc>
                          <a:spcPct val="115000"/>
                        </a:lnSpc>
                        <a:spcAft>
                          <a:spcPts val="1000"/>
                        </a:spcAft>
                      </a:pPr>
                      <a:r>
                        <a:rPr lang="en-IN" sz="2000">
                          <a:effectLst/>
                          <a:latin typeface="Times New Roman" panose="02020603050405020304" pitchFamily="18" charset="0"/>
                          <a:cs typeface="Times New Roman" panose="02020603050405020304" pitchFamily="18" charset="0"/>
                        </a:rPr>
                        <a:t>0.801</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546694751"/>
                  </a:ext>
                </a:extLst>
              </a:tr>
              <a:tr h="924028">
                <a:tc>
                  <a:txBody>
                    <a:bodyPr/>
                    <a:lstStyle/>
                    <a:p>
                      <a:pPr algn="ctr">
                        <a:lnSpc>
                          <a:spcPct val="115000"/>
                        </a:lnSpc>
                        <a:spcAft>
                          <a:spcPts val="1000"/>
                        </a:spcAft>
                      </a:pPr>
                      <a:r>
                        <a:rPr lang="en-IN" sz="2000">
                          <a:effectLst/>
                          <a:latin typeface="Times New Roman" panose="02020603050405020304" pitchFamily="18" charset="0"/>
                          <a:cs typeface="Times New Roman" panose="02020603050405020304" pitchFamily="18" charset="0"/>
                        </a:rPr>
                        <a:t>Accuracy</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algn="ctr">
                        <a:lnSpc>
                          <a:spcPct val="115000"/>
                        </a:lnSpc>
                        <a:spcAft>
                          <a:spcPts val="1000"/>
                        </a:spcAft>
                      </a:pPr>
                      <a:r>
                        <a:rPr lang="en-IN" sz="2000" dirty="0">
                          <a:effectLst/>
                          <a:latin typeface="Times New Roman" panose="02020603050405020304" pitchFamily="18" charset="0"/>
                          <a:cs typeface="Times New Roman" panose="02020603050405020304" pitchFamily="18" charset="0"/>
                        </a:rPr>
                        <a:t>0.907</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273214881"/>
                  </a:ext>
                </a:extLst>
              </a:tr>
            </a:tbl>
          </a:graphicData>
        </a:graphic>
      </p:graphicFrame>
      <p:sp>
        <p:nvSpPr>
          <p:cNvPr id="10" name="TextBox 9">
            <a:extLst>
              <a:ext uri="{FF2B5EF4-FFF2-40B4-BE49-F238E27FC236}">
                <a16:creationId xmlns:a16="http://schemas.microsoft.com/office/drawing/2014/main" id="{95EF9846-6DCD-BC15-8F32-10A452C39814}"/>
              </a:ext>
            </a:extLst>
          </p:cNvPr>
          <p:cNvSpPr txBox="1"/>
          <p:nvPr/>
        </p:nvSpPr>
        <p:spPr>
          <a:xfrm>
            <a:off x="4513088" y="1391503"/>
            <a:ext cx="4753274"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Table. </a:t>
            </a:r>
            <a:r>
              <a:rPr lang="en-US" sz="1200" dirty="0">
                <a:effectLst/>
                <a:latin typeface="Times New Roman" panose="02020603050405020304" pitchFamily="18" charset="0"/>
                <a:ea typeface="Calibri" panose="020F0502020204030204" pitchFamily="34" charset="0"/>
              </a:rPr>
              <a:t>Performance Metrics for Disease Severity Prediction</a:t>
            </a:r>
            <a:endParaRPr lang="en-US" sz="1200" dirty="0"/>
          </a:p>
        </p:txBody>
      </p:sp>
      <p:graphicFrame>
        <p:nvGraphicFramePr>
          <p:cNvPr id="13" name="Table 12">
            <a:extLst>
              <a:ext uri="{FF2B5EF4-FFF2-40B4-BE49-F238E27FC236}">
                <a16:creationId xmlns:a16="http://schemas.microsoft.com/office/drawing/2014/main" id="{66A4D4BD-A6E5-9581-F373-3AB2BE9CE35C}"/>
              </a:ext>
            </a:extLst>
          </p:cNvPr>
          <p:cNvGraphicFramePr>
            <a:graphicFrameLocks noGrp="1"/>
          </p:cNvGraphicFramePr>
          <p:nvPr>
            <p:extLst>
              <p:ext uri="{D42A27DB-BD31-4B8C-83A1-F6EECF244321}">
                <p14:modId xmlns:p14="http://schemas.microsoft.com/office/powerpoint/2010/main" val="2910331315"/>
              </p:ext>
            </p:extLst>
          </p:nvPr>
        </p:nvGraphicFramePr>
        <p:xfrm>
          <a:off x="4800402" y="1723922"/>
          <a:ext cx="4191198" cy="3844343"/>
        </p:xfrm>
        <a:graphic>
          <a:graphicData uri="http://schemas.openxmlformats.org/drawingml/2006/table">
            <a:tbl>
              <a:tblPr firstRow="1" firstCol="1" bandRow="1">
                <a:tableStyleId>{5C22544A-7EE6-4342-B048-85BDC9FD1C3A}</a:tableStyleId>
              </a:tblPr>
              <a:tblGrid>
                <a:gridCol w="2095599">
                  <a:extLst>
                    <a:ext uri="{9D8B030D-6E8A-4147-A177-3AD203B41FA5}">
                      <a16:colId xmlns:a16="http://schemas.microsoft.com/office/drawing/2014/main" val="2554369048"/>
                    </a:ext>
                  </a:extLst>
                </a:gridCol>
                <a:gridCol w="2095599">
                  <a:extLst>
                    <a:ext uri="{9D8B030D-6E8A-4147-A177-3AD203B41FA5}">
                      <a16:colId xmlns:a16="http://schemas.microsoft.com/office/drawing/2014/main" val="595704143"/>
                    </a:ext>
                  </a:extLst>
                </a:gridCol>
              </a:tblGrid>
              <a:tr h="950450">
                <a:tc>
                  <a:txBody>
                    <a:bodyPr/>
                    <a:lstStyle/>
                    <a:p>
                      <a:pPr algn="ctr">
                        <a:lnSpc>
                          <a:spcPct val="115000"/>
                        </a:lnSpc>
                        <a:spcBef>
                          <a:spcPts val="1200"/>
                        </a:spcBef>
                        <a:spcAft>
                          <a:spcPts val="1000"/>
                        </a:spcAft>
                      </a:pPr>
                      <a:r>
                        <a:rPr lang="en-IN" sz="2000" dirty="0">
                          <a:effectLst/>
                          <a:latin typeface="Times New Roman" panose="02020603050405020304" pitchFamily="18" charset="0"/>
                          <a:cs typeface="Times New Roman" panose="02020603050405020304" pitchFamily="18" charset="0"/>
                        </a:rPr>
                        <a:t>Metric</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algn="ctr">
                        <a:lnSpc>
                          <a:spcPct val="115000"/>
                        </a:lnSpc>
                        <a:spcBef>
                          <a:spcPts val="1200"/>
                        </a:spcBef>
                        <a:spcAft>
                          <a:spcPts val="1000"/>
                        </a:spcAft>
                      </a:pPr>
                      <a:r>
                        <a:rPr lang="en-IN" sz="2000" dirty="0">
                          <a:effectLst/>
                          <a:latin typeface="Times New Roman" panose="02020603050405020304" pitchFamily="18" charset="0"/>
                          <a:cs typeface="Times New Roman" panose="02020603050405020304" pitchFamily="18" charset="0"/>
                        </a:rPr>
                        <a:t>Value</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520670059"/>
                  </a:ext>
                </a:extLst>
              </a:tr>
              <a:tr h="928719">
                <a:tc>
                  <a:txBody>
                    <a:bodyPr/>
                    <a:lstStyle/>
                    <a:p>
                      <a:pPr algn="ctr">
                        <a:lnSpc>
                          <a:spcPct val="115000"/>
                        </a:lnSpc>
                        <a:spcBef>
                          <a:spcPts val="1200"/>
                        </a:spcBef>
                        <a:spcAft>
                          <a:spcPts val="1000"/>
                        </a:spcAft>
                      </a:pPr>
                      <a:r>
                        <a:rPr lang="en-IN" sz="2000" dirty="0">
                          <a:effectLst/>
                          <a:latin typeface="Times New Roman" panose="02020603050405020304" pitchFamily="18" charset="0"/>
                          <a:cs typeface="Times New Roman" panose="02020603050405020304" pitchFamily="18" charset="0"/>
                        </a:rPr>
                        <a:t>Mean Absolute Error (MAE)</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algn="ctr">
                        <a:lnSpc>
                          <a:spcPct val="115000"/>
                        </a:lnSpc>
                        <a:spcBef>
                          <a:spcPts val="1200"/>
                        </a:spcBef>
                        <a:spcAft>
                          <a:spcPts val="1000"/>
                        </a:spcAft>
                      </a:pPr>
                      <a:r>
                        <a:rPr lang="en-IN" sz="2000" dirty="0">
                          <a:effectLst/>
                          <a:latin typeface="Times New Roman" panose="02020603050405020304" pitchFamily="18" charset="0"/>
                          <a:cs typeface="Times New Roman" panose="02020603050405020304" pitchFamily="18" charset="0"/>
                        </a:rPr>
                        <a:t>3.297</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9514418"/>
                  </a:ext>
                </a:extLst>
              </a:tr>
              <a:tr h="1036455">
                <a:tc>
                  <a:txBody>
                    <a:bodyPr/>
                    <a:lstStyle/>
                    <a:p>
                      <a:pPr algn="ctr">
                        <a:lnSpc>
                          <a:spcPct val="115000"/>
                        </a:lnSpc>
                        <a:spcBef>
                          <a:spcPts val="1200"/>
                        </a:spcBef>
                        <a:spcAft>
                          <a:spcPts val="1000"/>
                        </a:spcAft>
                      </a:pPr>
                      <a:r>
                        <a:rPr lang="en-IN" sz="2000">
                          <a:effectLst/>
                          <a:latin typeface="Times New Roman" panose="02020603050405020304" pitchFamily="18" charset="0"/>
                          <a:cs typeface="Times New Roman" panose="02020603050405020304" pitchFamily="18" charset="0"/>
                        </a:rPr>
                        <a:t>Root Mean Square Error (RMSE)</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algn="ctr">
                        <a:lnSpc>
                          <a:spcPct val="115000"/>
                        </a:lnSpc>
                        <a:spcBef>
                          <a:spcPts val="1200"/>
                        </a:spcBef>
                        <a:spcAft>
                          <a:spcPts val="1000"/>
                        </a:spcAft>
                      </a:pPr>
                      <a:r>
                        <a:rPr lang="en-IN" sz="2000" dirty="0">
                          <a:effectLst/>
                          <a:latin typeface="Times New Roman" panose="02020603050405020304" pitchFamily="18" charset="0"/>
                          <a:cs typeface="Times New Roman" panose="02020603050405020304" pitchFamily="18" charset="0"/>
                        </a:rPr>
                        <a:t>7.143</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785726756"/>
                  </a:ext>
                </a:extLst>
              </a:tr>
              <a:tr h="928719">
                <a:tc>
                  <a:txBody>
                    <a:bodyPr/>
                    <a:lstStyle/>
                    <a:p>
                      <a:pPr algn="ctr">
                        <a:lnSpc>
                          <a:spcPct val="115000"/>
                        </a:lnSpc>
                        <a:spcBef>
                          <a:spcPts val="1200"/>
                        </a:spcBef>
                        <a:spcAft>
                          <a:spcPts val="1000"/>
                        </a:spcAft>
                      </a:pPr>
                      <a:r>
                        <a:rPr lang="en-IN" sz="2000" dirty="0">
                          <a:effectLst/>
                          <a:latin typeface="Times New Roman" panose="02020603050405020304" pitchFamily="18" charset="0"/>
                          <a:cs typeface="Times New Roman" panose="02020603050405020304" pitchFamily="18" charset="0"/>
                        </a:rPr>
                        <a:t>R² Score</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algn="ctr">
                        <a:lnSpc>
                          <a:spcPct val="115000"/>
                        </a:lnSpc>
                        <a:spcBef>
                          <a:spcPts val="1200"/>
                        </a:spcBef>
                        <a:spcAft>
                          <a:spcPts val="1000"/>
                        </a:spcAft>
                      </a:pPr>
                      <a:r>
                        <a:rPr lang="en-IN" sz="2000" dirty="0">
                          <a:effectLst/>
                          <a:latin typeface="Times New Roman" panose="02020603050405020304" pitchFamily="18" charset="0"/>
                          <a:cs typeface="Times New Roman" panose="02020603050405020304" pitchFamily="18" charset="0"/>
                        </a:rPr>
                        <a:t>0.618</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263855550"/>
                  </a:ext>
                </a:extLst>
              </a:tr>
            </a:tbl>
          </a:graphicData>
        </a:graphic>
      </p:graphicFrame>
    </p:spTree>
    <p:extLst>
      <p:ext uri="{BB962C8B-B14F-4D97-AF65-F5344CB8AC3E}">
        <p14:creationId xmlns:p14="http://schemas.microsoft.com/office/powerpoint/2010/main" val="31642908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9A8B837A-6056-0929-F528-F90B1F5AAD1B}"/>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703BE0D1-6719-685D-4C06-0AC3A368F964}"/>
              </a:ext>
            </a:extLst>
          </p:cNvPr>
          <p:cNvSpPr txBox="1">
            <a:spLocks noGrp="1"/>
          </p:cNvSpPr>
          <p:nvPr>
            <p:ph type="title"/>
          </p:nvPr>
        </p:nvSpPr>
        <p:spPr>
          <a:xfrm>
            <a:off x="482513" y="-292490"/>
            <a:ext cx="7886700" cy="1325563"/>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Times New Roman"/>
                <a:sym typeface="Times New Roman" panose="02020603050405020304"/>
              </a:rPr>
              <a:t>Results &amp; Performance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lang="en-US" sz="2800" b="1" dirty="0">
              <a:solidFill>
                <a:srgbClr val="006600"/>
              </a:solidFill>
              <a:latin typeface="Bookman Old Style"/>
              <a:cs typeface="Times New Roman"/>
            </a:endParaRPr>
          </a:p>
        </p:txBody>
      </p:sp>
      <p:sp>
        <p:nvSpPr>
          <p:cNvPr id="1258" name="Google Shape;1258;p101">
            <a:extLst>
              <a:ext uri="{FF2B5EF4-FFF2-40B4-BE49-F238E27FC236}">
                <a16:creationId xmlns:a16="http://schemas.microsoft.com/office/drawing/2014/main" id="{E587C84A-3956-E191-728B-1134DB1486FF}"/>
              </a:ext>
            </a:extLst>
          </p:cNvPr>
          <p:cNvSpPr txBox="1">
            <a:spLocks noGrp="1"/>
          </p:cNvSpPr>
          <p:nvPr>
            <p:ph idx="1"/>
          </p:nvPr>
        </p:nvSpPr>
        <p:spPr>
          <a:xfrm>
            <a:off x="628650" y="907050"/>
            <a:ext cx="7886700" cy="5269913"/>
          </a:xfrm>
          <a:prstGeom prst="rect">
            <a:avLst/>
          </a:prstGeom>
          <a:noFill/>
          <a:ln>
            <a:noFill/>
          </a:ln>
        </p:spPr>
        <p:txBody>
          <a:bodyPr spcFirstLastPara="1" wrap="square" lIns="91425" tIns="45700" rIns="91425" bIns="45700" anchor="t" anchorCtr="0">
            <a:noAutofit/>
          </a:bodyPr>
          <a:lstStyle/>
          <a:p>
            <a:pPr marL="457200" lvl="1" indent="0" algn="ctr">
              <a:spcBef>
                <a:spcPts val="600"/>
              </a:spcBef>
              <a:spcAft>
                <a:spcPts val="300"/>
              </a:spcAft>
              <a:buNone/>
            </a:pPr>
            <a:r>
              <a:rPr lang="en-US" sz="2000" b="1" dirty="0">
                <a:effectLst/>
                <a:latin typeface="Times New Roman" panose="02020603050405020304" pitchFamily="18" charset="0"/>
                <a:ea typeface="PMingLiU" panose="02020500000000000000" pitchFamily="18" charset="-120"/>
              </a:rPr>
              <a:t>Results of Crop Growth Progression Model</a:t>
            </a:r>
            <a:endParaRPr lang="en-IN" sz="2000" b="1" dirty="0">
              <a:effectLst/>
              <a:latin typeface="Times New Roman" panose="02020603050405020304" pitchFamily="18" charset="0"/>
              <a:ea typeface="PMingLiU" panose="02020500000000000000" pitchFamily="18" charset="-120"/>
            </a:endParaRPr>
          </a:p>
        </p:txBody>
      </p:sp>
      <p:sp>
        <p:nvSpPr>
          <p:cNvPr id="2" name="Google Shape;167;p1">
            <a:extLst>
              <a:ext uri="{FF2B5EF4-FFF2-40B4-BE49-F238E27FC236}">
                <a16:creationId xmlns:a16="http://schemas.microsoft.com/office/drawing/2014/main" id="{C1D6204D-0B0D-99F7-C7CD-65FA435BFDE3}"/>
              </a:ext>
            </a:extLst>
          </p:cNvPr>
          <p:cNvSpPr txBox="1">
            <a:spLocks noGrp="1"/>
          </p:cNvSpPr>
          <p:nvPr>
            <p:ph type="dt" sz="half" idx="10"/>
          </p:nvPr>
        </p:nvSpPr>
        <p:spPr>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6CAA71E3-A0F0-ECC5-25BD-6D988EAA8705}"/>
              </a:ext>
            </a:extLst>
          </p:cNvPr>
          <p:cNvSpPr>
            <a:spLocks noGrp="1"/>
          </p:cNvSpPr>
          <p:nvPr>
            <p:ph type="sldNum" sz="quarter" idx="12"/>
          </p:nvPr>
        </p:nvSpPr>
        <p:spPr/>
        <p:txBody>
          <a:bodyPr/>
          <a:lstStyle/>
          <a:p>
            <a:fld id="{00000000-1234-1234-1234-123412341234}" type="slidenum">
              <a:rPr lang="en-US" smtClean="0"/>
              <a:t>43</a:t>
            </a:fld>
            <a:endParaRPr lang="en-US"/>
          </a:p>
        </p:txBody>
      </p:sp>
      <p:cxnSp>
        <p:nvCxnSpPr>
          <p:cNvPr id="6" name="Google Shape;1249;p100">
            <a:extLst>
              <a:ext uri="{FF2B5EF4-FFF2-40B4-BE49-F238E27FC236}">
                <a16:creationId xmlns:a16="http://schemas.microsoft.com/office/drawing/2014/main" id="{708D665A-B17B-C44C-5E28-5D78787BDCB0}"/>
              </a:ext>
            </a:extLst>
          </p:cNvPr>
          <p:cNvCxnSpPr/>
          <p:nvPr/>
        </p:nvCxnSpPr>
        <p:spPr>
          <a:xfrm>
            <a:off x="0" y="675647"/>
            <a:ext cx="9144000" cy="1588"/>
          </a:xfrm>
          <a:prstGeom prst="straightConnector1">
            <a:avLst/>
          </a:prstGeom>
          <a:noFill/>
          <a:ln w="25400" cap="flat" cmpd="sng">
            <a:solidFill>
              <a:srgbClr val="800000"/>
            </a:solidFill>
            <a:prstDash val="solid"/>
            <a:round/>
            <a:headEnd type="none" w="sm" len="sm"/>
            <a:tailEnd type="none" w="sm" len="sm"/>
          </a:ln>
        </p:spPr>
      </p:cxnSp>
      <p:sp>
        <p:nvSpPr>
          <p:cNvPr id="11" name="TextBox 10">
            <a:extLst>
              <a:ext uri="{FF2B5EF4-FFF2-40B4-BE49-F238E27FC236}">
                <a16:creationId xmlns:a16="http://schemas.microsoft.com/office/drawing/2014/main" id="{94F994D4-7597-51ED-029D-87EE7BD79C2A}"/>
              </a:ext>
            </a:extLst>
          </p:cNvPr>
          <p:cNvSpPr txBox="1"/>
          <p:nvPr/>
        </p:nvSpPr>
        <p:spPr>
          <a:xfrm>
            <a:off x="0" y="5781346"/>
            <a:ext cx="4753274"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a:t>
            </a:r>
            <a:r>
              <a:rPr lang="en-US" sz="1200" dirty="0">
                <a:effectLst/>
                <a:latin typeface="Times New Roman" panose="02020603050405020304" pitchFamily="18" charset="0"/>
                <a:ea typeface="Times New Roman" panose="02020603050405020304" pitchFamily="18" charset="0"/>
              </a:rPr>
              <a:t>Actual versus Predicted Hours to Next Growth Stage</a:t>
            </a:r>
            <a:endParaRPr lang="en-US" sz="1200" dirty="0"/>
          </a:p>
        </p:txBody>
      </p:sp>
      <p:sp>
        <p:nvSpPr>
          <p:cNvPr id="12" name="TextBox 11">
            <a:extLst>
              <a:ext uri="{FF2B5EF4-FFF2-40B4-BE49-F238E27FC236}">
                <a16:creationId xmlns:a16="http://schemas.microsoft.com/office/drawing/2014/main" id="{652D4212-D795-8610-E25E-5237F5BC2036}"/>
              </a:ext>
            </a:extLst>
          </p:cNvPr>
          <p:cNvSpPr txBox="1"/>
          <p:nvPr/>
        </p:nvSpPr>
        <p:spPr>
          <a:xfrm>
            <a:off x="4748079" y="5754043"/>
            <a:ext cx="4515858"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a:t>
            </a:r>
            <a:r>
              <a:rPr lang="en-US" sz="1200" dirty="0">
                <a:effectLst/>
                <a:latin typeface="Times New Roman" panose="02020603050405020304" pitchFamily="18" charset="0"/>
                <a:ea typeface="Times New Roman" panose="02020603050405020304" pitchFamily="18" charset="0"/>
              </a:rPr>
              <a:t>Confusion Matrix for 24-Hour Growth Stage Transition Prediction</a:t>
            </a:r>
            <a:endParaRPr lang="en-US" sz="1200" dirty="0"/>
          </a:p>
        </p:txBody>
      </p:sp>
      <p:pic>
        <p:nvPicPr>
          <p:cNvPr id="5" name="Picture 4">
            <a:extLst>
              <a:ext uri="{FF2B5EF4-FFF2-40B4-BE49-F238E27FC236}">
                <a16:creationId xmlns:a16="http://schemas.microsoft.com/office/drawing/2014/main" id="{80E9F724-2761-0648-6035-3699614FD1CC}"/>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50000"/>
                    </a14:imgEffect>
                    <a14:imgEffect>
                      <a14:brightnessContrast contrast="-40000"/>
                    </a14:imgEffect>
                  </a14:imgLayer>
                </a14:imgProps>
              </a:ext>
            </a:extLst>
          </a:blip>
          <a:stretch>
            <a:fillRect/>
          </a:stretch>
        </p:blipFill>
        <p:spPr>
          <a:xfrm>
            <a:off x="115570" y="1533525"/>
            <a:ext cx="4637704" cy="4220518"/>
          </a:xfrm>
          <a:prstGeom prst="rect">
            <a:avLst/>
          </a:prstGeom>
        </p:spPr>
      </p:pic>
      <p:pic>
        <p:nvPicPr>
          <p:cNvPr id="7" name="Picture 6">
            <a:extLst>
              <a:ext uri="{FF2B5EF4-FFF2-40B4-BE49-F238E27FC236}">
                <a16:creationId xmlns:a16="http://schemas.microsoft.com/office/drawing/2014/main" id="{C59BA892-8B39-24B6-A8A9-EB4C51641406}"/>
              </a:ext>
            </a:extLst>
          </p:cNvPr>
          <p:cNvPicPr>
            <a:picLocks noChangeAspect="1"/>
          </p:cNvPicPr>
          <p:nvPr/>
        </p:nvPicPr>
        <p:blipFill>
          <a:blip r:embed="rId5"/>
          <a:stretch>
            <a:fillRect/>
          </a:stretch>
        </p:blipFill>
        <p:spPr>
          <a:xfrm>
            <a:off x="5062873" y="1645372"/>
            <a:ext cx="3653704" cy="3929283"/>
          </a:xfrm>
          <a:prstGeom prst="rect">
            <a:avLst/>
          </a:prstGeom>
        </p:spPr>
      </p:pic>
    </p:spTree>
    <p:extLst>
      <p:ext uri="{BB962C8B-B14F-4D97-AF65-F5344CB8AC3E}">
        <p14:creationId xmlns:p14="http://schemas.microsoft.com/office/powerpoint/2010/main" val="874740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9A8B837A-6056-0929-F528-F90B1F5AAD1B}"/>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703BE0D1-6719-685D-4C06-0AC3A368F964}"/>
              </a:ext>
            </a:extLst>
          </p:cNvPr>
          <p:cNvSpPr txBox="1">
            <a:spLocks noGrp="1"/>
          </p:cNvSpPr>
          <p:nvPr>
            <p:ph type="title"/>
          </p:nvPr>
        </p:nvSpPr>
        <p:spPr>
          <a:xfrm>
            <a:off x="482513" y="-292490"/>
            <a:ext cx="7886700" cy="1325563"/>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Times New Roman"/>
                <a:sym typeface="Times New Roman" panose="02020603050405020304"/>
              </a:rPr>
              <a:t>Results &amp; Performance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lang="en-US" sz="2800" b="1" dirty="0">
              <a:solidFill>
                <a:srgbClr val="006600"/>
              </a:solidFill>
              <a:latin typeface="Bookman Old Style"/>
              <a:cs typeface="Times New Roman"/>
            </a:endParaRPr>
          </a:p>
        </p:txBody>
      </p:sp>
      <p:sp>
        <p:nvSpPr>
          <p:cNvPr id="2" name="Google Shape;167;p1">
            <a:extLst>
              <a:ext uri="{FF2B5EF4-FFF2-40B4-BE49-F238E27FC236}">
                <a16:creationId xmlns:a16="http://schemas.microsoft.com/office/drawing/2014/main" id="{C1D6204D-0B0D-99F7-C7CD-65FA435BFDE3}"/>
              </a:ext>
            </a:extLst>
          </p:cNvPr>
          <p:cNvSpPr txBox="1">
            <a:spLocks noGrp="1"/>
          </p:cNvSpPr>
          <p:nvPr>
            <p:ph type="dt" sz="half" idx="10"/>
          </p:nvPr>
        </p:nvSpPr>
        <p:spPr>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6CAA71E3-A0F0-ECC5-25BD-6D988EAA8705}"/>
              </a:ext>
            </a:extLst>
          </p:cNvPr>
          <p:cNvSpPr>
            <a:spLocks noGrp="1"/>
          </p:cNvSpPr>
          <p:nvPr>
            <p:ph type="sldNum" sz="quarter" idx="12"/>
          </p:nvPr>
        </p:nvSpPr>
        <p:spPr/>
        <p:txBody>
          <a:bodyPr/>
          <a:lstStyle/>
          <a:p>
            <a:fld id="{00000000-1234-1234-1234-123412341234}" type="slidenum">
              <a:rPr lang="en-US" smtClean="0"/>
              <a:t>44</a:t>
            </a:fld>
            <a:endParaRPr lang="en-US"/>
          </a:p>
        </p:txBody>
      </p:sp>
      <p:cxnSp>
        <p:nvCxnSpPr>
          <p:cNvPr id="6" name="Google Shape;1249;p100">
            <a:extLst>
              <a:ext uri="{FF2B5EF4-FFF2-40B4-BE49-F238E27FC236}">
                <a16:creationId xmlns:a16="http://schemas.microsoft.com/office/drawing/2014/main" id="{708D665A-B17B-C44C-5E28-5D78787BDCB0}"/>
              </a:ext>
            </a:extLst>
          </p:cNvPr>
          <p:cNvCxnSpPr/>
          <p:nvPr/>
        </p:nvCxnSpPr>
        <p:spPr>
          <a:xfrm>
            <a:off x="0" y="675647"/>
            <a:ext cx="9144000" cy="1588"/>
          </a:xfrm>
          <a:prstGeom prst="straightConnector1">
            <a:avLst/>
          </a:prstGeom>
          <a:noFill/>
          <a:ln w="25400" cap="flat" cmpd="sng">
            <a:solidFill>
              <a:srgbClr val="800000"/>
            </a:solidFill>
            <a:prstDash val="solid"/>
            <a:round/>
            <a:headEnd type="none" w="sm" len="sm"/>
            <a:tailEnd type="none" w="sm" len="sm"/>
          </a:ln>
        </p:spPr>
      </p:cxnSp>
      <p:sp>
        <p:nvSpPr>
          <p:cNvPr id="11" name="TextBox 10">
            <a:extLst>
              <a:ext uri="{FF2B5EF4-FFF2-40B4-BE49-F238E27FC236}">
                <a16:creationId xmlns:a16="http://schemas.microsoft.com/office/drawing/2014/main" id="{94F994D4-7597-51ED-029D-87EE7BD79C2A}"/>
              </a:ext>
            </a:extLst>
          </p:cNvPr>
          <p:cNvSpPr txBox="1"/>
          <p:nvPr/>
        </p:nvSpPr>
        <p:spPr>
          <a:xfrm>
            <a:off x="47129" y="1398613"/>
            <a:ext cx="4753274"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Table. </a:t>
            </a:r>
            <a:r>
              <a:rPr lang="en-US" sz="1200" dirty="0">
                <a:effectLst/>
                <a:latin typeface="Times New Roman" panose="02020603050405020304" pitchFamily="18" charset="0"/>
                <a:ea typeface="Calibri" panose="020F0502020204030204" pitchFamily="34" charset="0"/>
              </a:rPr>
              <a:t>Performance Metrics for Growth Stage Classification Model</a:t>
            </a:r>
            <a:endParaRPr lang="en-US" sz="1200" dirty="0"/>
          </a:p>
        </p:txBody>
      </p:sp>
      <p:sp>
        <p:nvSpPr>
          <p:cNvPr id="10" name="TextBox 9">
            <a:extLst>
              <a:ext uri="{FF2B5EF4-FFF2-40B4-BE49-F238E27FC236}">
                <a16:creationId xmlns:a16="http://schemas.microsoft.com/office/drawing/2014/main" id="{95EF9846-6DCD-BC15-8F32-10A452C39814}"/>
              </a:ext>
            </a:extLst>
          </p:cNvPr>
          <p:cNvSpPr txBox="1"/>
          <p:nvPr/>
        </p:nvSpPr>
        <p:spPr>
          <a:xfrm>
            <a:off x="4513088" y="1391503"/>
            <a:ext cx="4753274"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Table. </a:t>
            </a:r>
            <a:r>
              <a:rPr lang="en-US" sz="1200" dirty="0">
                <a:effectLst/>
                <a:latin typeface="Times New Roman" panose="02020603050405020304" pitchFamily="18" charset="0"/>
                <a:ea typeface="Calibri" panose="020F0502020204030204" pitchFamily="34" charset="0"/>
              </a:rPr>
              <a:t>Performance Metrics for Growth Stage Transition Prediction</a:t>
            </a:r>
            <a:endParaRPr lang="en-US" sz="1200" dirty="0"/>
          </a:p>
        </p:txBody>
      </p:sp>
      <p:graphicFrame>
        <p:nvGraphicFramePr>
          <p:cNvPr id="4" name="Table 3">
            <a:extLst>
              <a:ext uri="{FF2B5EF4-FFF2-40B4-BE49-F238E27FC236}">
                <a16:creationId xmlns:a16="http://schemas.microsoft.com/office/drawing/2014/main" id="{263D12A6-BC46-BB2C-29C5-64D62E090CB7}"/>
              </a:ext>
            </a:extLst>
          </p:cNvPr>
          <p:cNvGraphicFramePr>
            <a:graphicFrameLocks noGrp="1"/>
          </p:cNvGraphicFramePr>
          <p:nvPr>
            <p:extLst>
              <p:ext uri="{D42A27DB-BD31-4B8C-83A1-F6EECF244321}">
                <p14:modId xmlns:p14="http://schemas.microsoft.com/office/powerpoint/2010/main" val="1403438054"/>
              </p:ext>
            </p:extLst>
          </p:nvPr>
        </p:nvGraphicFramePr>
        <p:xfrm>
          <a:off x="211312" y="1754451"/>
          <a:ext cx="4360688" cy="4158185"/>
        </p:xfrm>
        <a:graphic>
          <a:graphicData uri="http://schemas.openxmlformats.org/drawingml/2006/table">
            <a:tbl>
              <a:tblPr firstRow="1" firstCol="1" bandRow="1">
                <a:tableStyleId>{56D51072-94E4-4FC1-8697-D52FD32A7993}</a:tableStyleId>
              </a:tblPr>
              <a:tblGrid>
                <a:gridCol w="2180344">
                  <a:extLst>
                    <a:ext uri="{9D8B030D-6E8A-4147-A177-3AD203B41FA5}">
                      <a16:colId xmlns:a16="http://schemas.microsoft.com/office/drawing/2014/main" val="1916125745"/>
                    </a:ext>
                  </a:extLst>
                </a:gridCol>
                <a:gridCol w="2180344">
                  <a:extLst>
                    <a:ext uri="{9D8B030D-6E8A-4147-A177-3AD203B41FA5}">
                      <a16:colId xmlns:a16="http://schemas.microsoft.com/office/drawing/2014/main" val="2909127214"/>
                    </a:ext>
                  </a:extLst>
                </a:gridCol>
              </a:tblGrid>
              <a:tr h="831637">
                <a:tc>
                  <a:txBody>
                    <a:bodyPr/>
                    <a:lstStyle/>
                    <a:p>
                      <a:pPr algn="ctr">
                        <a:lnSpc>
                          <a:spcPct val="115000"/>
                        </a:lnSpc>
                        <a:spcBef>
                          <a:spcPts val="1200"/>
                        </a:spcBef>
                        <a:spcAft>
                          <a:spcPts val="1000"/>
                        </a:spcAft>
                      </a:pPr>
                      <a:r>
                        <a:rPr lang="en-IN" sz="2000" dirty="0">
                          <a:effectLst/>
                          <a:latin typeface="Times New Roman" panose="02020603050405020304" pitchFamily="18" charset="0"/>
                          <a:cs typeface="Times New Roman" panose="02020603050405020304" pitchFamily="18" charset="0"/>
                        </a:rPr>
                        <a:t>Metric</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algn="ctr">
                        <a:lnSpc>
                          <a:spcPct val="115000"/>
                        </a:lnSpc>
                        <a:spcBef>
                          <a:spcPts val="1200"/>
                        </a:spcBef>
                        <a:spcAft>
                          <a:spcPts val="1000"/>
                        </a:spcAft>
                      </a:pPr>
                      <a:r>
                        <a:rPr lang="en-IN" sz="2000" dirty="0">
                          <a:effectLst/>
                          <a:latin typeface="Times New Roman" panose="02020603050405020304" pitchFamily="18" charset="0"/>
                          <a:cs typeface="Times New Roman" panose="02020603050405020304" pitchFamily="18" charset="0"/>
                        </a:rPr>
                        <a:t>Value</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583422528"/>
                  </a:ext>
                </a:extLst>
              </a:tr>
              <a:tr h="831637">
                <a:tc>
                  <a:txBody>
                    <a:bodyPr/>
                    <a:lstStyle/>
                    <a:p>
                      <a:pPr algn="ctr">
                        <a:lnSpc>
                          <a:spcPct val="115000"/>
                        </a:lnSpc>
                        <a:spcBef>
                          <a:spcPts val="1200"/>
                        </a:spcBef>
                        <a:spcAft>
                          <a:spcPts val="1000"/>
                        </a:spcAft>
                      </a:pPr>
                      <a:r>
                        <a:rPr lang="en-IN" sz="2000" dirty="0">
                          <a:effectLst/>
                          <a:latin typeface="Times New Roman" panose="02020603050405020304" pitchFamily="18" charset="0"/>
                          <a:cs typeface="Times New Roman" panose="02020603050405020304" pitchFamily="18" charset="0"/>
                        </a:rPr>
                        <a:t>Accuracy</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algn="ctr">
                        <a:lnSpc>
                          <a:spcPct val="115000"/>
                        </a:lnSpc>
                        <a:spcBef>
                          <a:spcPts val="1200"/>
                        </a:spcBef>
                        <a:spcAft>
                          <a:spcPts val="1000"/>
                        </a:spcAft>
                      </a:pPr>
                      <a:r>
                        <a:rPr lang="en-IN" sz="2000">
                          <a:effectLst/>
                          <a:latin typeface="Times New Roman" panose="02020603050405020304" pitchFamily="18" charset="0"/>
                          <a:cs typeface="Times New Roman" panose="02020603050405020304" pitchFamily="18" charset="0"/>
                        </a:rPr>
                        <a:t>0.97</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634778946"/>
                  </a:ext>
                </a:extLst>
              </a:tr>
              <a:tr h="831637">
                <a:tc>
                  <a:txBody>
                    <a:bodyPr/>
                    <a:lstStyle/>
                    <a:p>
                      <a:pPr algn="ctr">
                        <a:lnSpc>
                          <a:spcPct val="115000"/>
                        </a:lnSpc>
                        <a:spcBef>
                          <a:spcPts val="1200"/>
                        </a:spcBef>
                        <a:spcAft>
                          <a:spcPts val="1000"/>
                        </a:spcAft>
                      </a:pPr>
                      <a:r>
                        <a:rPr lang="en-IN" sz="2000" dirty="0">
                          <a:effectLst/>
                          <a:latin typeface="Times New Roman" panose="02020603050405020304" pitchFamily="18" charset="0"/>
                          <a:cs typeface="Times New Roman" panose="02020603050405020304" pitchFamily="18" charset="0"/>
                        </a:rPr>
                        <a:t>Precision (Macro)</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algn="ctr">
                        <a:lnSpc>
                          <a:spcPct val="115000"/>
                        </a:lnSpc>
                        <a:spcBef>
                          <a:spcPts val="1200"/>
                        </a:spcBef>
                        <a:spcAft>
                          <a:spcPts val="1000"/>
                        </a:spcAft>
                      </a:pPr>
                      <a:r>
                        <a:rPr lang="en-IN" sz="2000">
                          <a:effectLst/>
                          <a:latin typeface="Times New Roman" panose="02020603050405020304" pitchFamily="18" charset="0"/>
                          <a:cs typeface="Times New Roman" panose="02020603050405020304" pitchFamily="18" charset="0"/>
                        </a:rPr>
                        <a:t>0.97</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750451933"/>
                  </a:ext>
                </a:extLst>
              </a:tr>
              <a:tr h="831637">
                <a:tc>
                  <a:txBody>
                    <a:bodyPr/>
                    <a:lstStyle/>
                    <a:p>
                      <a:pPr algn="ctr">
                        <a:lnSpc>
                          <a:spcPct val="115000"/>
                        </a:lnSpc>
                        <a:spcBef>
                          <a:spcPts val="1200"/>
                        </a:spcBef>
                        <a:spcAft>
                          <a:spcPts val="1000"/>
                        </a:spcAft>
                      </a:pPr>
                      <a:r>
                        <a:rPr lang="en-IN" sz="2000">
                          <a:effectLst/>
                          <a:latin typeface="Times New Roman" panose="02020603050405020304" pitchFamily="18" charset="0"/>
                          <a:cs typeface="Times New Roman" panose="02020603050405020304" pitchFamily="18" charset="0"/>
                        </a:rPr>
                        <a:t>Recall (Macro)</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algn="ctr">
                        <a:lnSpc>
                          <a:spcPct val="115000"/>
                        </a:lnSpc>
                        <a:spcBef>
                          <a:spcPts val="1200"/>
                        </a:spcBef>
                        <a:spcAft>
                          <a:spcPts val="1000"/>
                        </a:spcAft>
                      </a:pPr>
                      <a:r>
                        <a:rPr lang="en-IN" sz="2000">
                          <a:effectLst/>
                          <a:latin typeface="Times New Roman" panose="02020603050405020304" pitchFamily="18" charset="0"/>
                          <a:cs typeface="Times New Roman" panose="02020603050405020304" pitchFamily="18" charset="0"/>
                        </a:rPr>
                        <a:t>0.95</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4262938186"/>
                  </a:ext>
                </a:extLst>
              </a:tr>
              <a:tr h="831637">
                <a:tc>
                  <a:txBody>
                    <a:bodyPr/>
                    <a:lstStyle/>
                    <a:p>
                      <a:pPr algn="ctr">
                        <a:lnSpc>
                          <a:spcPct val="115000"/>
                        </a:lnSpc>
                        <a:spcBef>
                          <a:spcPts val="1200"/>
                        </a:spcBef>
                        <a:spcAft>
                          <a:spcPts val="1000"/>
                        </a:spcAft>
                      </a:pPr>
                      <a:r>
                        <a:rPr lang="en-IN" sz="2000">
                          <a:effectLst/>
                          <a:latin typeface="Times New Roman" panose="02020603050405020304" pitchFamily="18" charset="0"/>
                          <a:cs typeface="Times New Roman" panose="02020603050405020304" pitchFamily="18" charset="0"/>
                        </a:rPr>
                        <a:t>F1 Score (Macro)</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algn="ctr">
                        <a:lnSpc>
                          <a:spcPct val="115000"/>
                        </a:lnSpc>
                        <a:spcBef>
                          <a:spcPts val="1200"/>
                        </a:spcBef>
                        <a:spcAft>
                          <a:spcPts val="1000"/>
                        </a:spcAft>
                      </a:pPr>
                      <a:r>
                        <a:rPr lang="en-IN" sz="2000" dirty="0">
                          <a:effectLst/>
                          <a:latin typeface="Times New Roman" panose="02020603050405020304" pitchFamily="18" charset="0"/>
                          <a:cs typeface="Times New Roman" panose="02020603050405020304" pitchFamily="18" charset="0"/>
                        </a:rPr>
                        <a:t>0.96</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534353314"/>
                  </a:ext>
                </a:extLst>
              </a:tr>
            </a:tbl>
          </a:graphicData>
        </a:graphic>
      </p:graphicFrame>
      <p:graphicFrame>
        <p:nvGraphicFramePr>
          <p:cNvPr id="5" name="Table 4">
            <a:extLst>
              <a:ext uri="{FF2B5EF4-FFF2-40B4-BE49-F238E27FC236}">
                <a16:creationId xmlns:a16="http://schemas.microsoft.com/office/drawing/2014/main" id="{A2E513F4-1D8D-C4DC-46E5-9A5B00E4C6DB}"/>
              </a:ext>
            </a:extLst>
          </p:cNvPr>
          <p:cNvGraphicFramePr>
            <a:graphicFrameLocks noGrp="1"/>
          </p:cNvGraphicFramePr>
          <p:nvPr>
            <p:extLst>
              <p:ext uri="{D42A27DB-BD31-4B8C-83A1-F6EECF244321}">
                <p14:modId xmlns:p14="http://schemas.microsoft.com/office/powerpoint/2010/main" val="3224582481"/>
              </p:ext>
            </p:extLst>
          </p:nvPr>
        </p:nvGraphicFramePr>
        <p:xfrm>
          <a:off x="4995861" y="1758670"/>
          <a:ext cx="3774066" cy="3962251"/>
        </p:xfrm>
        <a:graphic>
          <a:graphicData uri="http://schemas.openxmlformats.org/drawingml/2006/table">
            <a:tbl>
              <a:tblPr firstRow="1" firstCol="1" bandRow="1">
                <a:tableStyleId>{5C22544A-7EE6-4342-B048-85BDC9FD1C3A}</a:tableStyleId>
              </a:tblPr>
              <a:tblGrid>
                <a:gridCol w="1887033">
                  <a:extLst>
                    <a:ext uri="{9D8B030D-6E8A-4147-A177-3AD203B41FA5}">
                      <a16:colId xmlns:a16="http://schemas.microsoft.com/office/drawing/2014/main" val="3415158845"/>
                    </a:ext>
                  </a:extLst>
                </a:gridCol>
                <a:gridCol w="1887033">
                  <a:extLst>
                    <a:ext uri="{9D8B030D-6E8A-4147-A177-3AD203B41FA5}">
                      <a16:colId xmlns:a16="http://schemas.microsoft.com/office/drawing/2014/main" val="3277415348"/>
                    </a:ext>
                  </a:extLst>
                </a:gridCol>
              </a:tblGrid>
              <a:tr h="802703">
                <a:tc>
                  <a:txBody>
                    <a:bodyPr/>
                    <a:lstStyle/>
                    <a:p>
                      <a:pPr algn="ctr">
                        <a:lnSpc>
                          <a:spcPct val="115000"/>
                        </a:lnSpc>
                        <a:spcAft>
                          <a:spcPts val="1000"/>
                        </a:spcAft>
                      </a:pPr>
                      <a:r>
                        <a:rPr lang="en-IN" sz="2000" dirty="0">
                          <a:effectLst/>
                          <a:latin typeface="Times New Roman" panose="02020603050405020304" pitchFamily="18" charset="0"/>
                          <a:cs typeface="Times New Roman" panose="02020603050405020304" pitchFamily="18" charset="0"/>
                        </a:rPr>
                        <a:t>Metric</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algn="ctr">
                        <a:lnSpc>
                          <a:spcPct val="115000"/>
                        </a:lnSpc>
                        <a:spcAft>
                          <a:spcPts val="1000"/>
                        </a:spcAft>
                      </a:pPr>
                      <a:r>
                        <a:rPr lang="en-IN" sz="2000">
                          <a:effectLst/>
                          <a:latin typeface="Times New Roman" panose="02020603050405020304" pitchFamily="18" charset="0"/>
                          <a:cs typeface="Times New Roman" panose="02020603050405020304" pitchFamily="18" charset="0"/>
                        </a:rPr>
                        <a:t>24-Hour</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24394026"/>
                  </a:ext>
                </a:extLst>
              </a:tr>
              <a:tr h="777071">
                <a:tc>
                  <a:txBody>
                    <a:bodyPr/>
                    <a:lstStyle/>
                    <a:p>
                      <a:pPr algn="ctr">
                        <a:lnSpc>
                          <a:spcPct val="115000"/>
                        </a:lnSpc>
                        <a:spcAft>
                          <a:spcPts val="1000"/>
                        </a:spcAft>
                      </a:pPr>
                      <a:r>
                        <a:rPr lang="en-IN" sz="2000">
                          <a:effectLst/>
                          <a:latin typeface="Times New Roman" panose="02020603050405020304" pitchFamily="18" charset="0"/>
                          <a:cs typeface="Times New Roman" panose="02020603050405020304" pitchFamily="18" charset="0"/>
                        </a:rPr>
                        <a:t>Accuracy</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algn="ctr">
                        <a:lnSpc>
                          <a:spcPct val="115000"/>
                        </a:lnSpc>
                        <a:spcAft>
                          <a:spcPts val="1000"/>
                        </a:spcAft>
                      </a:pPr>
                      <a:r>
                        <a:rPr lang="en-IN" sz="2000">
                          <a:effectLst/>
                          <a:latin typeface="Times New Roman" panose="02020603050405020304" pitchFamily="18" charset="0"/>
                          <a:cs typeface="Times New Roman" panose="02020603050405020304" pitchFamily="18" charset="0"/>
                        </a:rPr>
                        <a:t>0.97</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235945594"/>
                  </a:ext>
                </a:extLst>
              </a:tr>
              <a:tr h="802703">
                <a:tc>
                  <a:txBody>
                    <a:bodyPr/>
                    <a:lstStyle/>
                    <a:p>
                      <a:pPr algn="ctr">
                        <a:lnSpc>
                          <a:spcPct val="115000"/>
                        </a:lnSpc>
                        <a:spcAft>
                          <a:spcPts val="1000"/>
                        </a:spcAft>
                      </a:pPr>
                      <a:r>
                        <a:rPr lang="en-IN" sz="2000" dirty="0">
                          <a:effectLst/>
                          <a:latin typeface="Times New Roman" panose="02020603050405020304" pitchFamily="18" charset="0"/>
                          <a:cs typeface="Times New Roman" panose="02020603050405020304" pitchFamily="18" charset="0"/>
                        </a:rPr>
                        <a:t>Precision (Macro)</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algn="ctr">
                        <a:lnSpc>
                          <a:spcPct val="115000"/>
                        </a:lnSpc>
                        <a:spcAft>
                          <a:spcPts val="1000"/>
                        </a:spcAft>
                      </a:pPr>
                      <a:r>
                        <a:rPr lang="en-IN" sz="2000">
                          <a:effectLst/>
                          <a:latin typeface="Times New Roman" panose="02020603050405020304" pitchFamily="18" charset="0"/>
                          <a:cs typeface="Times New Roman" panose="02020603050405020304" pitchFamily="18" charset="0"/>
                        </a:rPr>
                        <a:t>0.97</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192966655"/>
                  </a:ext>
                </a:extLst>
              </a:tr>
              <a:tr h="802703">
                <a:tc>
                  <a:txBody>
                    <a:bodyPr/>
                    <a:lstStyle/>
                    <a:p>
                      <a:pPr algn="ctr">
                        <a:lnSpc>
                          <a:spcPct val="115000"/>
                        </a:lnSpc>
                        <a:spcAft>
                          <a:spcPts val="1000"/>
                        </a:spcAft>
                      </a:pPr>
                      <a:r>
                        <a:rPr lang="en-IN" sz="2000">
                          <a:effectLst/>
                          <a:latin typeface="Times New Roman" panose="02020603050405020304" pitchFamily="18" charset="0"/>
                          <a:cs typeface="Times New Roman" panose="02020603050405020304" pitchFamily="18" charset="0"/>
                        </a:rPr>
                        <a:t>Recall (Macro)</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algn="ctr">
                        <a:lnSpc>
                          <a:spcPct val="115000"/>
                        </a:lnSpc>
                        <a:spcAft>
                          <a:spcPts val="1000"/>
                        </a:spcAft>
                      </a:pPr>
                      <a:r>
                        <a:rPr lang="en-IN" sz="2000">
                          <a:effectLst/>
                          <a:latin typeface="Times New Roman" panose="02020603050405020304" pitchFamily="18" charset="0"/>
                          <a:cs typeface="Times New Roman" panose="02020603050405020304" pitchFamily="18" charset="0"/>
                        </a:rPr>
                        <a:t>0.96</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770715963"/>
                  </a:ext>
                </a:extLst>
              </a:tr>
              <a:tr h="777071">
                <a:tc>
                  <a:txBody>
                    <a:bodyPr/>
                    <a:lstStyle/>
                    <a:p>
                      <a:pPr algn="ctr">
                        <a:lnSpc>
                          <a:spcPct val="115000"/>
                        </a:lnSpc>
                        <a:spcAft>
                          <a:spcPts val="1000"/>
                        </a:spcAft>
                      </a:pPr>
                      <a:r>
                        <a:rPr lang="en-IN" sz="2000">
                          <a:effectLst/>
                          <a:latin typeface="Times New Roman" panose="02020603050405020304" pitchFamily="18" charset="0"/>
                          <a:cs typeface="Times New Roman" panose="02020603050405020304" pitchFamily="18" charset="0"/>
                        </a:rPr>
                        <a:t>F1 Score (Macro)</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algn="ctr">
                        <a:lnSpc>
                          <a:spcPct val="115000"/>
                        </a:lnSpc>
                        <a:spcAft>
                          <a:spcPts val="1000"/>
                        </a:spcAft>
                      </a:pPr>
                      <a:r>
                        <a:rPr lang="en-IN" sz="2000" dirty="0">
                          <a:effectLst/>
                          <a:latin typeface="Times New Roman" panose="02020603050405020304" pitchFamily="18" charset="0"/>
                          <a:cs typeface="Times New Roman" panose="02020603050405020304" pitchFamily="18" charset="0"/>
                        </a:rPr>
                        <a:t>0.96</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497187599"/>
                  </a:ext>
                </a:extLst>
              </a:tr>
            </a:tbl>
          </a:graphicData>
        </a:graphic>
      </p:graphicFrame>
    </p:spTree>
    <p:extLst>
      <p:ext uri="{BB962C8B-B14F-4D97-AF65-F5344CB8AC3E}">
        <p14:creationId xmlns:p14="http://schemas.microsoft.com/office/powerpoint/2010/main" val="26707222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C27FC597-9B5C-3147-394C-08059C98ACAA}"/>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0A7671A9-9EB5-C5DE-9416-247C65F55FB5}"/>
              </a:ext>
            </a:extLst>
          </p:cNvPr>
          <p:cNvSpPr txBox="1">
            <a:spLocks noGrp="1"/>
          </p:cNvSpPr>
          <p:nvPr>
            <p:ph type="title"/>
          </p:nvPr>
        </p:nvSpPr>
        <p:spPr>
          <a:xfrm>
            <a:off x="482513" y="-292490"/>
            <a:ext cx="7886700" cy="1325563"/>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Times New Roman"/>
                <a:sym typeface="Times New Roman" panose="02020603050405020304"/>
              </a:rPr>
              <a:t>Results &amp; Performance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lang="en-US" sz="2800" b="1" dirty="0">
              <a:solidFill>
                <a:srgbClr val="006600"/>
              </a:solidFill>
              <a:latin typeface="Bookman Old Style"/>
              <a:cs typeface="Times New Roman"/>
            </a:endParaRPr>
          </a:p>
        </p:txBody>
      </p:sp>
      <p:sp>
        <p:nvSpPr>
          <p:cNvPr id="1258" name="Google Shape;1258;p101">
            <a:extLst>
              <a:ext uri="{FF2B5EF4-FFF2-40B4-BE49-F238E27FC236}">
                <a16:creationId xmlns:a16="http://schemas.microsoft.com/office/drawing/2014/main" id="{A5C074AE-CAEF-54D7-0B7E-3D709BAFF758}"/>
              </a:ext>
            </a:extLst>
          </p:cNvPr>
          <p:cNvSpPr txBox="1">
            <a:spLocks noGrp="1"/>
          </p:cNvSpPr>
          <p:nvPr>
            <p:ph idx="1"/>
          </p:nvPr>
        </p:nvSpPr>
        <p:spPr>
          <a:xfrm>
            <a:off x="628650" y="907050"/>
            <a:ext cx="7886700" cy="5269913"/>
          </a:xfrm>
          <a:prstGeom prst="rect">
            <a:avLst/>
          </a:prstGeom>
          <a:noFill/>
          <a:ln>
            <a:noFill/>
          </a:ln>
        </p:spPr>
        <p:txBody>
          <a:bodyPr spcFirstLastPara="1" wrap="square" lIns="91425" tIns="45700" rIns="91425" bIns="45700" anchor="t" anchorCtr="0">
            <a:noAutofit/>
          </a:bodyPr>
          <a:lstStyle/>
          <a:p>
            <a:pPr marL="457200" lvl="1" indent="0" algn="ctr">
              <a:spcBef>
                <a:spcPts val="600"/>
              </a:spcBef>
              <a:spcAft>
                <a:spcPts val="300"/>
              </a:spcAft>
              <a:buNone/>
            </a:pPr>
            <a:r>
              <a:rPr lang="en-US" sz="2000" b="1" dirty="0">
                <a:effectLst/>
                <a:latin typeface="Times New Roman" panose="02020603050405020304" pitchFamily="18" charset="0"/>
                <a:ea typeface="PMingLiU" panose="02020500000000000000" pitchFamily="18" charset="-120"/>
              </a:rPr>
              <a:t>System Interface and Execution Logs</a:t>
            </a:r>
            <a:endParaRPr lang="en-IN" sz="2000" b="1" dirty="0">
              <a:effectLst/>
              <a:latin typeface="Times New Roman" panose="02020603050405020304" pitchFamily="18" charset="0"/>
              <a:ea typeface="PMingLiU" panose="02020500000000000000" pitchFamily="18" charset="-120"/>
            </a:endParaRPr>
          </a:p>
        </p:txBody>
      </p:sp>
      <p:sp>
        <p:nvSpPr>
          <p:cNvPr id="2" name="Google Shape;167;p1">
            <a:extLst>
              <a:ext uri="{FF2B5EF4-FFF2-40B4-BE49-F238E27FC236}">
                <a16:creationId xmlns:a16="http://schemas.microsoft.com/office/drawing/2014/main" id="{6A9FD988-748A-C274-FC2E-AA9E86738EB3}"/>
              </a:ext>
            </a:extLst>
          </p:cNvPr>
          <p:cNvSpPr txBox="1">
            <a:spLocks noGrp="1"/>
          </p:cNvSpPr>
          <p:nvPr>
            <p:ph type="dt" sz="half" idx="10"/>
          </p:nvPr>
        </p:nvSpPr>
        <p:spPr>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A66C9966-AD7B-3544-1569-F0B95BDD50D1}"/>
              </a:ext>
            </a:extLst>
          </p:cNvPr>
          <p:cNvSpPr>
            <a:spLocks noGrp="1"/>
          </p:cNvSpPr>
          <p:nvPr>
            <p:ph type="sldNum" sz="quarter" idx="12"/>
          </p:nvPr>
        </p:nvSpPr>
        <p:spPr/>
        <p:txBody>
          <a:bodyPr/>
          <a:lstStyle/>
          <a:p>
            <a:fld id="{00000000-1234-1234-1234-123412341234}" type="slidenum">
              <a:rPr lang="en-US" smtClean="0"/>
              <a:t>45</a:t>
            </a:fld>
            <a:endParaRPr lang="en-US"/>
          </a:p>
        </p:txBody>
      </p:sp>
      <p:cxnSp>
        <p:nvCxnSpPr>
          <p:cNvPr id="6" name="Google Shape;1249;p100">
            <a:extLst>
              <a:ext uri="{FF2B5EF4-FFF2-40B4-BE49-F238E27FC236}">
                <a16:creationId xmlns:a16="http://schemas.microsoft.com/office/drawing/2014/main" id="{EC45A9B2-1434-08C9-11E6-F55A429DC3E0}"/>
              </a:ext>
            </a:extLst>
          </p:cNvPr>
          <p:cNvCxnSpPr/>
          <p:nvPr/>
        </p:nvCxnSpPr>
        <p:spPr>
          <a:xfrm>
            <a:off x="0" y="675647"/>
            <a:ext cx="9144000" cy="1588"/>
          </a:xfrm>
          <a:prstGeom prst="straightConnector1">
            <a:avLst/>
          </a:prstGeom>
          <a:noFill/>
          <a:ln w="25400" cap="flat" cmpd="sng">
            <a:solidFill>
              <a:srgbClr val="800000"/>
            </a:solidFill>
            <a:prstDash val="solid"/>
            <a:round/>
            <a:headEnd type="none" w="sm" len="sm"/>
            <a:tailEnd type="none" w="sm" len="sm"/>
          </a:ln>
        </p:spPr>
      </p:cxnSp>
      <p:sp>
        <p:nvSpPr>
          <p:cNvPr id="11" name="TextBox 10">
            <a:extLst>
              <a:ext uri="{FF2B5EF4-FFF2-40B4-BE49-F238E27FC236}">
                <a16:creationId xmlns:a16="http://schemas.microsoft.com/office/drawing/2014/main" id="{25F77C41-9C7A-56A8-E234-073CBC67BAFB}"/>
              </a:ext>
            </a:extLst>
          </p:cNvPr>
          <p:cNvSpPr txBox="1"/>
          <p:nvPr/>
        </p:nvSpPr>
        <p:spPr>
          <a:xfrm>
            <a:off x="646193" y="5950950"/>
            <a:ext cx="3746571"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dirty="0">
                <a:latin typeface="Times New Roman"/>
                <a:cs typeface="Times New Roman"/>
              </a:rPr>
              <a:t>Fig.  Greenhouse Dashboard Interface in Dark Mode</a:t>
            </a:r>
            <a:endParaRPr lang="en-US" sz="1200" dirty="0"/>
          </a:p>
        </p:txBody>
      </p:sp>
      <p:sp>
        <p:nvSpPr>
          <p:cNvPr id="12" name="TextBox 11">
            <a:extLst>
              <a:ext uri="{FF2B5EF4-FFF2-40B4-BE49-F238E27FC236}">
                <a16:creationId xmlns:a16="http://schemas.microsoft.com/office/drawing/2014/main" id="{ED963605-D604-B171-BBFC-A0C7D768B0EF}"/>
              </a:ext>
            </a:extLst>
          </p:cNvPr>
          <p:cNvSpPr txBox="1"/>
          <p:nvPr/>
        </p:nvSpPr>
        <p:spPr>
          <a:xfrm>
            <a:off x="4775435" y="5950950"/>
            <a:ext cx="3986652"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panose="02020603050405020304" pitchFamily="18" charset="0"/>
                <a:cs typeface="Times New Roman" panose="02020603050405020304" pitchFamily="18" charset="0"/>
              </a:rPr>
              <a:t>Fig. </a:t>
            </a:r>
            <a:r>
              <a:rPr lang="en-US" sz="1200" dirty="0">
                <a:latin typeface="Times New Roman" panose="02020603050405020304" pitchFamily="18" charset="0"/>
                <a:ea typeface="Calibri"/>
                <a:cs typeface="Times New Roman" panose="02020603050405020304" pitchFamily="18" charset="0"/>
              </a:rPr>
              <a:t>Greenhouse Dashboard Interface in Light Mode</a:t>
            </a:r>
            <a:endParaRPr lang="en-US" sz="1200" dirty="0">
              <a:latin typeface="Times New Roman" panose="02020603050405020304" pitchFamily="18" charset="0"/>
              <a:cs typeface="Times New Roman" panose="02020603050405020304" pitchFamily="18" charset="0"/>
            </a:endParaRPr>
          </a:p>
        </p:txBody>
      </p:sp>
      <p:pic>
        <p:nvPicPr>
          <p:cNvPr id="7" name="Picture 6" descr="A screenshot of a computer&#10;&#10;AI-generated content may be incorrect.">
            <a:extLst>
              <a:ext uri="{FF2B5EF4-FFF2-40B4-BE49-F238E27FC236}">
                <a16:creationId xmlns:a16="http://schemas.microsoft.com/office/drawing/2014/main" id="{6EE68ACC-A44B-7F15-C377-C35CE35D42D9}"/>
              </a:ext>
            </a:extLst>
          </p:cNvPr>
          <p:cNvPicPr>
            <a:picLocks noChangeAspect="1"/>
          </p:cNvPicPr>
          <p:nvPr/>
        </p:nvPicPr>
        <p:blipFill>
          <a:blip r:embed="rId3"/>
          <a:stretch>
            <a:fillRect/>
          </a:stretch>
        </p:blipFill>
        <p:spPr>
          <a:xfrm>
            <a:off x="277530" y="1708629"/>
            <a:ext cx="4163078" cy="4113537"/>
          </a:xfrm>
          <a:prstGeom prst="rect">
            <a:avLst/>
          </a:prstGeom>
        </p:spPr>
      </p:pic>
      <p:pic>
        <p:nvPicPr>
          <p:cNvPr id="8" name="Picture 7" descr="A screenshot of a green and white dashboard&#10;&#10;AI-generated content may be incorrect.">
            <a:extLst>
              <a:ext uri="{FF2B5EF4-FFF2-40B4-BE49-F238E27FC236}">
                <a16:creationId xmlns:a16="http://schemas.microsoft.com/office/drawing/2014/main" id="{64D65F46-38FC-1805-3699-A5033E1A23CC}"/>
              </a:ext>
            </a:extLst>
          </p:cNvPr>
          <p:cNvPicPr>
            <a:picLocks noChangeAspect="1"/>
          </p:cNvPicPr>
          <p:nvPr/>
        </p:nvPicPr>
        <p:blipFill>
          <a:blip r:embed="rId4"/>
          <a:stretch>
            <a:fillRect/>
          </a:stretch>
        </p:blipFill>
        <p:spPr>
          <a:xfrm>
            <a:off x="4672078" y="1723439"/>
            <a:ext cx="4090009" cy="3978114"/>
          </a:xfrm>
          <a:prstGeom prst="rect">
            <a:avLst/>
          </a:prstGeom>
        </p:spPr>
      </p:pic>
    </p:spTree>
    <p:extLst>
      <p:ext uri="{BB962C8B-B14F-4D97-AF65-F5344CB8AC3E}">
        <p14:creationId xmlns:p14="http://schemas.microsoft.com/office/powerpoint/2010/main" val="8385807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2F7E2C7F-CACD-A6AB-922C-A96BE62C5312}"/>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3822585C-95EA-71F3-87C5-49C53E9D73DB}"/>
              </a:ext>
            </a:extLst>
          </p:cNvPr>
          <p:cNvSpPr txBox="1">
            <a:spLocks noGrp="1"/>
          </p:cNvSpPr>
          <p:nvPr>
            <p:ph type="title"/>
          </p:nvPr>
        </p:nvSpPr>
        <p:spPr>
          <a:xfrm>
            <a:off x="482513" y="-292490"/>
            <a:ext cx="7886700" cy="1325563"/>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Times New Roman"/>
                <a:sym typeface="Times New Roman" panose="02020603050405020304"/>
              </a:rPr>
              <a:t>Results &amp; Performance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lang="en-US" sz="2800" b="1" dirty="0">
              <a:solidFill>
                <a:srgbClr val="006600"/>
              </a:solidFill>
              <a:latin typeface="Bookman Old Style"/>
              <a:cs typeface="Times New Roman"/>
            </a:endParaRPr>
          </a:p>
        </p:txBody>
      </p:sp>
      <p:sp>
        <p:nvSpPr>
          <p:cNvPr id="2" name="Google Shape;167;p1">
            <a:extLst>
              <a:ext uri="{FF2B5EF4-FFF2-40B4-BE49-F238E27FC236}">
                <a16:creationId xmlns:a16="http://schemas.microsoft.com/office/drawing/2014/main" id="{36D923ED-7DA8-5E58-4BF9-D17F85E55EB8}"/>
              </a:ext>
            </a:extLst>
          </p:cNvPr>
          <p:cNvSpPr txBox="1">
            <a:spLocks noGrp="1"/>
          </p:cNvSpPr>
          <p:nvPr>
            <p:ph type="dt" sz="half" idx="10"/>
          </p:nvPr>
        </p:nvSpPr>
        <p:spPr>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84498D39-E4D1-79E9-8BAF-7D2F65EEC394}"/>
              </a:ext>
            </a:extLst>
          </p:cNvPr>
          <p:cNvSpPr>
            <a:spLocks noGrp="1"/>
          </p:cNvSpPr>
          <p:nvPr>
            <p:ph type="sldNum" sz="quarter" idx="12"/>
          </p:nvPr>
        </p:nvSpPr>
        <p:spPr/>
        <p:txBody>
          <a:bodyPr/>
          <a:lstStyle/>
          <a:p>
            <a:fld id="{00000000-1234-1234-1234-123412341234}" type="slidenum">
              <a:rPr lang="en-US" smtClean="0"/>
              <a:t>46</a:t>
            </a:fld>
            <a:endParaRPr lang="en-US"/>
          </a:p>
        </p:txBody>
      </p:sp>
      <p:cxnSp>
        <p:nvCxnSpPr>
          <p:cNvPr id="6" name="Google Shape;1249;p100">
            <a:extLst>
              <a:ext uri="{FF2B5EF4-FFF2-40B4-BE49-F238E27FC236}">
                <a16:creationId xmlns:a16="http://schemas.microsoft.com/office/drawing/2014/main" id="{58A69BB7-3568-1FB9-F56C-8DCCA42E481C}"/>
              </a:ext>
            </a:extLst>
          </p:cNvPr>
          <p:cNvCxnSpPr/>
          <p:nvPr/>
        </p:nvCxnSpPr>
        <p:spPr>
          <a:xfrm>
            <a:off x="0" y="675647"/>
            <a:ext cx="9144000" cy="1588"/>
          </a:xfrm>
          <a:prstGeom prst="straightConnector1">
            <a:avLst/>
          </a:prstGeom>
          <a:noFill/>
          <a:ln w="25400" cap="flat" cmpd="sng">
            <a:solidFill>
              <a:srgbClr val="800000"/>
            </a:solidFill>
            <a:prstDash val="solid"/>
            <a:round/>
            <a:headEnd type="none" w="sm" len="sm"/>
            <a:tailEnd type="none" w="sm" len="sm"/>
          </a:ln>
        </p:spPr>
      </p:cxnSp>
      <p:sp>
        <p:nvSpPr>
          <p:cNvPr id="11" name="TextBox 10">
            <a:extLst>
              <a:ext uri="{FF2B5EF4-FFF2-40B4-BE49-F238E27FC236}">
                <a16:creationId xmlns:a16="http://schemas.microsoft.com/office/drawing/2014/main" id="{05ECEA06-B1A0-6127-2687-94580310CD27}"/>
              </a:ext>
            </a:extLst>
          </p:cNvPr>
          <p:cNvSpPr txBox="1"/>
          <p:nvPr/>
        </p:nvSpPr>
        <p:spPr>
          <a:xfrm>
            <a:off x="105788" y="5670951"/>
            <a:ext cx="4391549"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a:t>
            </a:r>
            <a:r>
              <a:rPr lang="en-US" sz="1200" dirty="0">
                <a:latin typeface="Times New Roman"/>
                <a:ea typeface="Calibri"/>
                <a:cs typeface="Times New Roman"/>
              </a:rPr>
              <a:t>Growth Intelligence Section in Detailed Insights Interface</a:t>
            </a:r>
          </a:p>
        </p:txBody>
      </p:sp>
      <p:sp>
        <p:nvSpPr>
          <p:cNvPr id="12" name="TextBox 11">
            <a:extLst>
              <a:ext uri="{FF2B5EF4-FFF2-40B4-BE49-F238E27FC236}">
                <a16:creationId xmlns:a16="http://schemas.microsoft.com/office/drawing/2014/main" id="{70FAE1BC-90BF-3A9F-C7E6-7D6008C4F95B}"/>
              </a:ext>
            </a:extLst>
          </p:cNvPr>
          <p:cNvSpPr txBox="1"/>
          <p:nvPr/>
        </p:nvSpPr>
        <p:spPr>
          <a:xfrm>
            <a:off x="4675208" y="5693086"/>
            <a:ext cx="4225708"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Disease </a:t>
            </a:r>
            <a:r>
              <a:rPr lang="en-US" sz="1200" dirty="0">
                <a:latin typeface="Times New Roman"/>
                <a:ea typeface="Calibri"/>
                <a:cs typeface="Times New Roman"/>
              </a:rPr>
              <a:t>Intelligence Section in Detailed Insights Interface</a:t>
            </a:r>
          </a:p>
        </p:txBody>
      </p:sp>
      <p:pic>
        <p:nvPicPr>
          <p:cNvPr id="4" name="Picture 3" descr="A screenshot of a computer&#10;&#10;AI-generated content may be incorrect.">
            <a:extLst>
              <a:ext uri="{FF2B5EF4-FFF2-40B4-BE49-F238E27FC236}">
                <a16:creationId xmlns:a16="http://schemas.microsoft.com/office/drawing/2014/main" id="{F4B30BE2-1FC4-F126-0746-832E1D2283D5}"/>
              </a:ext>
            </a:extLst>
          </p:cNvPr>
          <p:cNvPicPr>
            <a:picLocks noChangeAspect="1"/>
          </p:cNvPicPr>
          <p:nvPr/>
        </p:nvPicPr>
        <p:blipFill>
          <a:blip r:embed="rId3"/>
          <a:stretch>
            <a:fillRect/>
          </a:stretch>
        </p:blipFill>
        <p:spPr>
          <a:xfrm>
            <a:off x="235776" y="1473576"/>
            <a:ext cx="4204831" cy="4035508"/>
          </a:xfrm>
          <a:prstGeom prst="rect">
            <a:avLst/>
          </a:prstGeom>
        </p:spPr>
      </p:pic>
      <p:pic>
        <p:nvPicPr>
          <p:cNvPr id="5" name="Picture 4" descr="A screenshot of a computer&#10;&#10;AI-generated content may be incorrect.">
            <a:extLst>
              <a:ext uri="{FF2B5EF4-FFF2-40B4-BE49-F238E27FC236}">
                <a16:creationId xmlns:a16="http://schemas.microsoft.com/office/drawing/2014/main" id="{CA192611-740B-E061-6B4F-22309DEDB1FD}"/>
              </a:ext>
            </a:extLst>
          </p:cNvPr>
          <p:cNvPicPr>
            <a:picLocks noChangeAspect="1"/>
          </p:cNvPicPr>
          <p:nvPr/>
        </p:nvPicPr>
        <p:blipFill>
          <a:blip r:embed="rId4"/>
          <a:stretch>
            <a:fillRect/>
          </a:stretch>
        </p:blipFill>
        <p:spPr>
          <a:xfrm>
            <a:off x="4682516" y="1476316"/>
            <a:ext cx="4225708" cy="4031181"/>
          </a:xfrm>
          <a:prstGeom prst="rect">
            <a:avLst/>
          </a:prstGeom>
        </p:spPr>
      </p:pic>
    </p:spTree>
    <p:extLst>
      <p:ext uri="{BB962C8B-B14F-4D97-AF65-F5344CB8AC3E}">
        <p14:creationId xmlns:p14="http://schemas.microsoft.com/office/powerpoint/2010/main" val="20330191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F4C87E83-3385-89E6-37BD-5013DE479A59}"/>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A7EAB8EB-BCD1-4475-F2E1-F8988B70F7C1}"/>
              </a:ext>
            </a:extLst>
          </p:cNvPr>
          <p:cNvSpPr txBox="1">
            <a:spLocks noGrp="1"/>
          </p:cNvSpPr>
          <p:nvPr>
            <p:ph type="title"/>
          </p:nvPr>
        </p:nvSpPr>
        <p:spPr>
          <a:xfrm>
            <a:off x="482513" y="-292490"/>
            <a:ext cx="7886700" cy="1325563"/>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Times New Roman"/>
                <a:sym typeface="Times New Roman" panose="02020603050405020304"/>
              </a:rPr>
              <a:t>Results &amp; Performance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lang="en-US" sz="2800" b="1" dirty="0">
              <a:solidFill>
                <a:srgbClr val="006600"/>
              </a:solidFill>
              <a:latin typeface="Bookman Old Style"/>
              <a:cs typeface="Times New Roman"/>
            </a:endParaRPr>
          </a:p>
        </p:txBody>
      </p:sp>
      <p:sp>
        <p:nvSpPr>
          <p:cNvPr id="2" name="Google Shape;167;p1">
            <a:extLst>
              <a:ext uri="{FF2B5EF4-FFF2-40B4-BE49-F238E27FC236}">
                <a16:creationId xmlns:a16="http://schemas.microsoft.com/office/drawing/2014/main" id="{8F5D2D9B-959B-6F3F-6EA7-25417EE9B18A}"/>
              </a:ext>
            </a:extLst>
          </p:cNvPr>
          <p:cNvSpPr txBox="1">
            <a:spLocks noGrp="1"/>
          </p:cNvSpPr>
          <p:nvPr>
            <p:ph type="dt" sz="half" idx="10"/>
          </p:nvPr>
        </p:nvSpPr>
        <p:spPr>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7E19A348-AF04-5243-F343-BED07F01876F}"/>
              </a:ext>
            </a:extLst>
          </p:cNvPr>
          <p:cNvSpPr>
            <a:spLocks noGrp="1"/>
          </p:cNvSpPr>
          <p:nvPr>
            <p:ph type="sldNum" sz="quarter" idx="12"/>
          </p:nvPr>
        </p:nvSpPr>
        <p:spPr/>
        <p:txBody>
          <a:bodyPr/>
          <a:lstStyle/>
          <a:p>
            <a:fld id="{00000000-1234-1234-1234-123412341234}" type="slidenum">
              <a:rPr lang="en-US" smtClean="0"/>
              <a:t>47</a:t>
            </a:fld>
            <a:endParaRPr lang="en-US"/>
          </a:p>
        </p:txBody>
      </p:sp>
      <p:cxnSp>
        <p:nvCxnSpPr>
          <p:cNvPr id="6" name="Google Shape;1249;p100">
            <a:extLst>
              <a:ext uri="{FF2B5EF4-FFF2-40B4-BE49-F238E27FC236}">
                <a16:creationId xmlns:a16="http://schemas.microsoft.com/office/drawing/2014/main" id="{A334E2DA-8D88-1B6B-FB17-0E388EBA746A}"/>
              </a:ext>
            </a:extLst>
          </p:cNvPr>
          <p:cNvCxnSpPr/>
          <p:nvPr/>
        </p:nvCxnSpPr>
        <p:spPr>
          <a:xfrm>
            <a:off x="0" y="675647"/>
            <a:ext cx="9144000" cy="1588"/>
          </a:xfrm>
          <a:prstGeom prst="straightConnector1">
            <a:avLst/>
          </a:prstGeom>
          <a:noFill/>
          <a:ln w="25400" cap="flat" cmpd="sng">
            <a:solidFill>
              <a:srgbClr val="800000"/>
            </a:solidFill>
            <a:prstDash val="solid"/>
            <a:round/>
            <a:headEnd type="none" w="sm" len="sm"/>
            <a:tailEnd type="none" w="sm" len="sm"/>
          </a:ln>
        </p:spPr>
      </p:cxnSp>
      <p:sp>
        <p:nvSpPr>
          <p:cNvPr id="11" name="TextBox 10">
            <a:extLst>
              <a:ext uri="{FF2B5EF4-FFF2-40B4-BE49-F238E27FC236}">
                <a16:creationId xmlns:a16="http://schemas.microsoft.com/office/drawing/2014/main" id="{7B74F2D1-92E0-D4AB-5DDD-054D3D64634D}"/>
              </a:ext>
            </a:extLst>
          </p:cNvPr>
          <p:cNvSpPr txBox="1"/>
          <p:nvPr/>
        </p:nvSpPr>
        <p:spPr>
          <a:xfrm>
            <a:off x="246215" y="5279841"/>
            <a:ext cx="397621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a:t>
            </a:r>
            <a:r>
              <a:rPr lang="en-US" sz="1200" dirty="0">
                <a:latin typeface="Times New Roman"/>
                <a:ea typeface="Calibri"/>
                <a:cs typeface="Times New Roman"/>
              </a:rPr>
              <a:t>Environmental Monitoring Section Showing Outdoor and Indoor Conditions</a:t>
            </a:r>
          </a:p>
        </p:txBody>
      </p:sp>
      <p:sp>
        <p:nvSpPr>
          <p:cNvPr id="12" name="TextBox 11">
            <a:extLst>
              <a:ext uri="{FF2B5EF4-FFF2-40B4-BE49-F238E27FC236}">
                <a16:creationId xmlns:a16="http://schemas.microsoft.com/office/drawing/2014/main" id="{AB7DCEC5-0041-F0FA-7A24-73F7B5F3FAAA}"/>
              </a:ext>
            </a:extLst>
          </p:cNvPr>
          <p:cNvSpPr txBox="1"/>
          <p:nvPr/>
        </p:nvSpPr>
        <p:spPr>
          <a:xfrm>
            <a:off x="4572000" y="5279841"/>
            <a:ext cx="3986652"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Manual </a:t>
            </a:r>
            <a:r>
              <a:rPr lang="en-US" sz="1200" dirty="0">
                <a:latin typeface="Times New Roman"/>
                <a:ea typeface="Calibri"/>
                <a:cs typeface="Times New Roman"/>
              </a:rPr>
              <a:t>Override Interface for Growth Stage and Actuator Control</a:t>
            </a:r>
          </a:p>
        </p:txBody>
      </p:sp>
      <p:pic>
        <p:nvPicPr>
          <p:cNvPr id="7" name="Picture 6" descr="A screenshot of a weather forecast&#10;&#10;AI-generated content may be incorrect.">
            <a:extLst>
              <a:ext uri="{FF2B5EF4-FFF2-40B4-BE49-F238E27FC236}">
                <a16:creationId xmlns:a16="http://schemas.microsoft.com/office/drawing/2014/main" id="{48BB58A9-20A3-570F-B27D-E4BE4B024255}"/>
              </a:ext>
            </a:extLst>
          </p:cNvPr>
          <p:cNvPicPr>
            <a:picLocks noChangeAspect="1"/>
          </p:cNvPicPr>
          <p:nvPr/>
        </p:nvPicPr>
        <p:blipFill>
          <a:blip r:embed="rId3"/>
          <a:stretch>
            <a:fillRect/>
          </a:stretch>
        </p:blipFill>
        <p:spPr>
          <a:xfrm>
            <a:off x="246215" y="1516443"/>
            <a:ext cx="4194393" cy="3673057"/>
          </a:xfrm>
          <a:prstGeom prst="rect">
            <a:avLst/>
          </a:prstGeom>
        </p:spPr>
      </p:pic>
      <p:pic>
        <p:nvPicPr>
          <p:cNvPr id="8" name="Picture 7" descr="A screenshot of a computer&#10;&#10;AI-generated content may be incorrect.">
            <a:extLst>
              <a:ext uri="{FF2B5EF4-FFF2-40B4-BE49-F238E27FC236}">
                <a16:creationId xmlns:a16="http://schemas.microsoft.com/office/drawing/2014/main" id="{4EDE6674-54A8-F667-F093-2CF8E94DC50E}"/>
              </a:ext>
            </a:extLst>
          </p:cNvPr>
          <p:cNvPicPr>
            <a:picLocks noChangeAspect="1"/>
          </p:cNvPicPr>
          <p:nvPr/>
        </p:nvPicPr>
        <p:blipFill>
          <a:blip r:embed="rId4"/>
          <a:stretch>
            <a:fillRect/>
          </a:stretch>
        </p:blipFill>
        <p:spPr>
          <a:xfrm>
            <a:off x="4578132" y="1514422"/>
            <a:ext cx="4330092" cy="3673057"/>
          </a:xfrm>
          <a:prstGeom prst="rect">
            <a:avLst/>
          </a:prstGeom>
        </p:spPr>
      </p:pic>
    </p:spTree>
    <p:extLst>
      <p:ext uri="{BB962C8B-B14F-4D97-AF65-F5344CB8AC3E}">
        <p14:creationId xmlns:p14="http://schemas.microsoft.com/office/powerpoint/2010/main" val="3300939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4DCDD625-BB5E-22F5-7A19-E2DF37DDD547}"/>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800C6D85-9BE4-3D8B-5C39-5B5DCCC7FF02}"/>
              </a:ext>
            </a:extLst>
          </p:cNvPr>
          <p:cNvSpPr txBox="1">
            <a:spLocks noGrp="1"/>
          </p:cNvSpPr>
          <p:nvPr>
            <p:ph type="title"/>
          </p:nvPr>
        </p:nvSpPr>
        <p:spPr>
          <a:xfrm>
            <a:off x="482513" y="-292490"/>
            <a:ext cx="7886700" cy="1325563"/>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Times New Roman"/>
                <a:sym typeface="Times New Roman" panose="02020603050405020304"/>
              </a:rPr>
              <a:t>Results &amp; Performance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lang="en-US" sz="2800" b="1" dirty="0">
              <a:solidFill>
                <a:srgbClr val="006600"/>
              </a:solidFill>
              <a:latin typeface="Bookman Old Style"/>
              <a:cs typeface="Times New Roman"/>
            </a:endParaRPr>
          </a:p>
        </p:txBody>
      </p:sp>
      <p:sp>
        <p:nvSpPr>
          <p:cNvPr id="2" name="Google Shape;167;p1">
            <a:extLst>
              <a:ext uri="{FF2B5EF4-FFF2-40B4-BE49-F238E27FC236}">
                <a16:creationId xmlns:a16="http://schemas.microsoft.com/office/drawing/2014/main" id="{5E862C94-A726-A6A8-A07D-40A95F16E609}"/>
              </a:ext>
            </a:extLst>
          </p:cNvPr>
          <p:cNvSpPr txBox="1">
            <a:spLocks noGrp="1"/>
          </p:cNvSpPr>
          <p:nvPr>
            <p:ph type="dt" sz="half" idx="10"/>
          </p:nvPr>
        </p:nvSpPr>
        <p:spPr>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62E1B448-C4E1-C8F9-5840-6B6B0A0C6105}"/>
              </a:ext>
            </a:extLst>
          </p:cNvPr>
          <p:cNvSpPr>
            <a:spLocks noGrp="1"/>
          </p:cNvSpPr>
          <p:nvPr>
            <p:ph type="sldNum" sz="quarter" idx="12"/>
          </p:nvPr>
        </p:nvSpPr>
        <p:spPr/>
        <p:txBody>
          <a:bodyPr/>
          <a:lstStyle/>
          <a:p>
            <a:fld id="{00000000-1234-1234-1234-123412341234}" type="slidenum">
              <a:rPr lang="en-US" smtClean="0"/>
              <a:t>48</a:t>
            </a:fld>
            <a:endParaRPr lang="en-US"/>
          </a:p>
        </p:txBody>
      </p:sp>
      <p:cxnSp>
        <p:nvCxnSpPr>
          <p:cNvPr id="6" name="Google Shape;1249;p100">
            <a:extLst>
              <a:ext uri="{FF2B5EF4-FFF2-40B4-BE49-F238E27FC236}">
                <a16:creationId xmlns:a16="http://schemas.microsoft.com/office/drawing/2014/main" id="{3AEDDB39-AADF-AD9B-8BB9-CCEB58D2DB21}"/>
              </a:ext>
            </a:extLst>
          </p:cNvPr>
          <p:cNvCxnSpPr/>
          <p:nvPr/>
        </p:nvCxnSpPr>
        <p:spPr>
          <a:xfrm>
            <a:off x="0" y="675647"/>
            <a:ext cx="9144000" cy="1588"/>
          </a:xfrm>
          <a:prstGeom prst="straightConnector1">
            <a:avLst/>
          </a:prstGeom>
          <a:noFill/>
          <a:ln w="25400" cap="flat" cmpd="sng">
            <a:solidFill>
              <a:srgbClr val="800000"/>
            </a:solidFill>
            <a:prstDash val="solid"/>
            <a:round/>
            <a:headEnd type="none" w="sm" len="sm"/>
            <a:tailEnd type="none" w="sm" len="sm"/>
          </a:ln>
        </p:spPr>
      </p:cxnSp>
      <p:sp>
        <p:nvSpPr>
          <p:cNvPr id="12" name="TextBox 11">
            <a:extLst>
              <a:ext uri="{FF2B5EF4-FFF2-40B4-BE49-F238E27FC236}">
                <a16:creationId xmlns:a16="http://schemas.microsoft.com/office/drawing/2014/main" id="{C8E1137E-BEB6-06D3-7F94-A7E2F18A292C}"/>
              </a:ext>
            </a:extLst>
          </p:cNvPr>
          <p:cNvSpPr txBox="1"/>
          <p:nvPr/>
        </p:nvSpPr>
        <p:spPr>
          <a:xfrm>
            <a:off x="2578674" y="6247580"/>
            <a:ext cx="3986652"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Digital Twin Closed Loop Execution Log</a:t>
            </a:r>
            <a:endParaRPr lang="en-IN" sz="1200" dirty="0">
              <a:effectLst/>
              <a:latin typeface="Calibri" panose="020F0502020204030204" pitchFamily="34" charset="0"/>
              <a:ea typeface="Calibri" panose="020F0502020204030204" pitchFamily="34" charset="0"/>
              <a:cs typeface="Arial" panose="020B0604020202020204" pitchFamily="34" charset="0"/>
            </a:endParaRPr>
          </a:p>
          <a:p>
            <a:pPr algn="ctr"/>
            <a:endParaRPr lang="en-US" sz="1200" dirty="0">
              <a:latin typeface="Times New Roman"/>
              <a:ea typeface="Calibri"/>
              <a:cs typeface="Times New Roman"/>
            </a:endParaRPr>
          </a:p>
        </p:txBody>
      </p:sp>
      <p:pic>
        <p:nvPicPr>
          <p:cNvPr id="10" name="Picture 9">
            <a:extLst>
              <a:ext uri="{FF2B5EF4-FFF2-40B4-BE49-F238E27FC236}">
                <a16:creationId xmlns:a16="http://schemas.microsoft.com/office/drawing/2014/main" id="{8F218D16-169A-E25D-8731-041CF5C8A3CF}"/>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50000"/>
                    </a14:imgEffect>
                    <a14:imgEffect>
                      <a14:brightnessContrast bright="20000"/>
                    </a14:imgEffect>
                  </a14:imgLayer>
                </a14:imgProps>
              </a:ext>
              <a:ext uri="{28A0092B-C50C-407E-A947-70E740481C1C}">
                <a14:useLocalDpi xmlns:a14="http://schemas.microsoft.com/office/drawing/2010/main" val="0"/>
              </a:ext>
            </a:extLst>
          </a:blip>
          <a:srcRect/>
          <a:stretch>
            <a:fillRect/>
          </a:stretch>
        </p:blipFill>
        <p:spPr bwMode="auto">
          <a:xfrm>
            <a:off x="628649" y="1033073"/>
            <a:ext cx="7740563" cy="5143110"/>
          </a:xfrm>
          <a:prstGeom prst="rect">
            <a:avLst/>
          </a:prstGeom>
          <a:noFill/>
          <a:ln>
            <a:noFill/>
          </a:ln>
        </p:spPr>
      </p:pic>
    </p:spTree>
    <p:extLst>
      <p:ext uri="{BB962C8B-B14F-4D97-AF65-F5344CB8AC3E}">
        <p14:creationId xmlns:p14="http://schemas.microsoft.com/office/powerpoint/2010/main" val="6156304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AF0E7D6B-B76E-990B-C03D-2A57501F3F66}"/>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48BCE826-B082-1498-C366-10BFC24CDD9C}"/>
              </a:ext>
            </a:extLst>
          </p:cNvPr>
          <p:cNvSpPr txBox="1">
            <a:spLocks noGrp="1"/>
          </p:cNvSpPr>
          <p:nvPr>
            <p:ph type="title"/>
          </p:nvPr>
        </p:nvSpPr>
        <p:spPr>
          <a:xfrm>
            <a:off x="482513" y="-292490"/>
            <a:ext cx="7886700" cy="1325563"/>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Times New Roman"/>
                <a:sym typeface="Times New Roman" panose="02020603050405020304"/>
              </a:rPr>
              <a:t>Results &amp; Performance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lang="en-US" sz="2800" b="1" dirty="0">
              <a:solidFill>
                <a:srgbClr val="006600"/>
              </a:solidFill>
              <a:latin typeface="Bookman Old Style"/>
              <a:cs typeface="Times New Roman"/>
            </a:endParaRPr>
          </a:p>
        </p:txBody>
      </p:sp>
      <p:sp>
        <p:nvSpPr>
          <p:cNvPr id="2" name="Google Shape;167;p1">
            <a:extLst>
              <a:ext uri="{FF2B5EF4-FFF2-40B4-BE49-F238E27FC236}">
                <a16:creationId xmlns:a16="http://schemas.microsoft.com/office/drawing/2014/main" id="{30F77DAA-B8DE-4D0B-0613-B322B3639A25}"/>
              </a:ext>
            </a:extLst>
          </p:cNvPr>
          <p:cNvSpPr txBox="1">
            <a:spLocks noGrp="1"/>
          </p:cNvSpPr>
          <p:nvPr>
            <p:ph type="dt" sz="half" idx="10"/>
          </p:nvPr>
        </p:nvSpPr>
        <p:spPr>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F3BB2B60-F9FC-90E7-1D5F-5DBA9661182B}"/>
              </a:ext>
            </a:extLst>
          </p:cNvPr>
          <p:cNvSpPr>
            <a:spLocks noGrp="1"/>
          </p:cNvSpPr>
          <p:nvPr>
            <p:ph type="sldNum" sz="quarter" idx="12"/>
          </p:nvPr>
        </p:nvSpPr>
        <p:spPr/>
        <p:txBody>
          <a:bodyPr/>
          <a:lstStyle/>
          <a:p>
            <a:fld id="{00000000-1234-1234-1234-123412341234}" type="slidenum">
              <a:rPr lang="en-US" smtClean="0"/>
              <a:t>49</a:t>
            </a:fld>
            <a:endParaRPr lang="en-US"/>
          </a:p>
        </p:txBody>
      </p:sp>
      <p:cxnSp>
        <p:nvCxnSpPr>
          <p:cNvPr id="6" name="Google Shape;1249;p100">
            <a:extLst>
              <a:ext uri="{FF2B5EF4-FFF2-40B4-BE49-F238E27FC236}">
                <a16:creationId xmlns:a16="http://schemas.microsoft.com/office/drawing/2014/main" id="{4897B782-A15A-1310-8CBD-C7D05A4B33C6}"/>
              </a:ext>
            </a:extLst>
          </p:cNvPr>
          <p:cNvCxnSpPr/>
          <p:nvPr/>
        </p:nvCxnSpPr>
        <p:spPr>
          <a:xfrm>
            <a:off x="0" y="675647"/>
            <a:ext cx="9144000" cy="1588"/>
          </a:xfrm>
          <a:prstGeom prst="straightConnector1">
            <a:avLst/>
          </a:prstGeom>
          <a:noFill/>
          <a:ln w="25400" cap="flat" cmpd="sng">
            <a:solidFill>
              <a:srgbClr val="800000"/>
            </a:solidFill>
            <a:prstDash val="solid"/>
            <a:round/>
            <a:headEnd type="none" w="sm" len="sm"/>
            <a:tailEnd type="none" w="sm" len="sm"/>
          </a:ln>
        </p:spPr>
      </p:cxnSp>
      <p:sp>
        <p:nvSpPr>
          <p:cNvPr id="11" name="TextBox 10">
            <a:extLst>
              <a:ext uri="{FF2B5EF4-FFF2-40B4-BE49-F238E27FC236}">
                <a16:creationId xmlns:a16="http://schemas.microsoft.com/office/drawing/2014/main" id="{177D0B1F-2E02-6F6A-0F70-1AE682B30FA8}"/>
              </a:ext>
            </a:extLst>
          </p:cNvPr>
          <p:cNvSpPr txBox="1"/>
          <p:nvPr/>
        </p:nvSpPr>
        <p:spPr>
          <a:xfrm>
            <a:off x="446649" y="6011743"/>
            <a:ext cx="3976215"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Front View of 3D Greenhouse Environment</a:t>
            </a:r>
            <a:endParaRPr lang="en-US" sz="1200" dirty="0">
              <a:latin typeface="Times New Roman"/>
              <a:ea typeface="Calibri"/>
              <a:cs typeface="Times New Roman"/>
            </a:endParaRPr>
          </a:p>
        </p:txBody>
      </p:sp>
      <p:sp>
        <p:nvSpPr>
          <p:cNvPr id="15" name="TextBox 14">
            <a:extLst>
              <a:ext uri="{FF2B5EF4-FFF2-40B4-BE49-F238E27FC236}">
                <a16:creationId xmlns:a16="http://schemas.microsoft.com/office/drawing/2014/main" id="{A77BF002-90C9-B777-94B1-9BA01BA86037}"/>
              </a:ext>
            </a:extLst>
          </p:cNvPr>
          <p:cNvSpPr txBox="1"/>
          <p:nvPr/>
        </p:nvSpPr>
        <p:spPr>
          <a:xfrm>
            <a:off x="2265123" y="935802"/>
            <a:ext cx="4333572"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457200" lvl="1" algn="ctr">
              <a:spcBef>
                <a:spcPts val="600"/>
              </a:spcBef>
              <a:spcAft>
                <a:spcPts val="300"/>
              </a:spcAft>
            </a:pPr>
            <a:r>
              <a:rPr lang="en-US" sz="2000" b="1" dirty="0">
                <a:effectLst/>
                <a:latin typeface="Times New Roman" panose="02020603050405020304" pitchFamily="18" charset="0"/>
                <a:ea typeface="PMingLiU" panose="02020500000000000000" pitchFamily="18" charset="-120"/>
              </a:rPr>
              <a:t>3D Greenhouse Visualization</a:t>
            </a:r>
            <a:endParaRPr lang="en-IN" sz="2000" b="1" dirty="0">
              <a:effectLst/>
              <a:latin typeface="Times New Roman" panose="02020603050405020304" pitchFamily="18" charset="0"/>
              <a:ea typeface="PMingLiU" panose="02020500000000000000" pitchFamily="18" charset="-120"/>
            </a:endParaRPr>
          </a:p>
        </p:txBody>
      </p:sp>
      <p:sp>
        <p:nvSpPr>
          <p:cNvPr id="9" name="TextBox 8">
            <a:extLst>
              <a:ext uri="{FF2B5EF4-FFF2-40B4-BE49-F238E27FC236}">
                <a16:creationId xmlns:a16="http://schemas.microsoft.com/office/drawing/2014/main" id="{5460AE87-15F2-4FA4-D445-59AFFD8EDADC}"/>
              </a:ext>
            </a:extLst>
          </p:cNvPr>
          <p:cNvSpPr txBox="1"/>
          <p:nvPr/>
        </p:nvSpPr>
        <p:spPr>
          <a:xfrm>
            <a:off x="4710699" y="6011743"/>
            <a:ext cx="3986652"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Internal</a:t>
            </a:r>
            <a:r>
              <a:rPr lang="en-US" sz="1200" dirty="0">
                <a:latin typeface="Times New Roman"/>
                <a:ea typeface="Calibri"/>
                <a:cs typeface="Times New Roman"/>
              </a:rPr>
              <a:t> Right-Side View of Greenhouse in Active State</a:t>
            </a:r>
          </a:p>
        </p:txBody>
      </p:sp>
      <p:pic>
        <p:nvPicPr>
          <p:cNvPr id="10" name="Picture 9" descr="A blue building with windows&#10;&#10;AI-generated content may be incorrect.">
            <a:extLst>
              <a:ext uri="{FF2B5EF4-FFF2-40B4-BE49-F238E27FC236}">
                <a16:creationId xmlns:a16="http://schemas.microsoft.com/office/drawing/2014/main" id="{E973888A-4978-5457-E9E9-8419316A95D5}"/>
              </a:ext>
            </a:extLst>
          </p:cNvPr>
          <p:cNvPicPr>
            <a:picLocks noChangeAspect="1"/>
          </p:cNvPicPr>
          <p:nvPr/>
        </p:nvPicPr>
        <p:blipFill>
          <a:blip r:embed="rId3"/>
          <a:stretch>
            <a:fillRect/>
          </a:stretch>
        </p:blipFill>
        <p:spPr>
          <a:xfrm>
            <a:off x="254548" y="1578251"/>
            <a:ext cx="3975187" cy="4339744"/>
          </a:xfrm>
          <a:prstGeom prst="rect">
            <a:avLst/>
          </a:prstGeom>
        </p:spPr>
      </p:pic>
      <p:pic>
        <p:nvPicPr>
          <p:cNvPr id="13" name="Picture 12" descr="A room with plants in it&#10;&#10;AI-generated content may be incorrect.">
            <a:extLst>
              <a:ext uri="{FF2B5EF4-FFF2-40B4-BE49-F238E27FC236}">
                <a16:creationId xmlns:a16="http://schemas.microsoft.com/office/drawing/2014/main" id="{E95CA5BB-C227-0AB3-2B46-522F5843193B}"/>
              </a:ext>
            </a:extLst>
          </p:cNvPr>
          <p:cNvPicPr>
            <a:picLocks noChangeAspect="1"/>
          </p:cNvPicPr>
          <p:nvPr/>
        </p:nvPicPr>
        <p:blipFill>
          <a:blip r:embed="rId4"/>
          <a:stretch>
            <a:fillRect/>
          </a:stretch>
        </p:blipFill>
        <p:spPr>
          <a:xfrm>
            <a:off x="4534273" y="1583340"/>
            <a:ext cx="4163078" cy="4350445"/>
          </a:xfrm>
          <a:prstGeom prst="rect">
            <a:avLst/>
          </a:prstGeom>
        </p:spPr>
      </p:pic>
    </p:spTree>
    <p:extLst>
      <p:ext uri="{BB962C8B-B14F-4D97-AF65-F5344CB8AC3E}">
        <p14:creationId xmlns:p14="http://schemas.microsoft.com/office/powerpoint/2010/main" val="4244898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B379BDF1-4E39-BFF0-541B-CCB70FC49998}"/>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6FD8D30D-F15D-D480-ECF2-03F71CEDDFE3}"/>
              </a:ext>
            </a:extLst>
          </p:cNvPr>
          <p:cNvSpPr txBox="1">
            <a:spLocks noGrp="1"/>
          </p:cNvSpPr>
          <p:nvPr>
            <p:ph type="title"/>
          </p:nvPr>
        </p:nvSpPr>
        <p:spPr>
          <a:xfrm>
            <a:off x="482513" y="-292490"/>
            <a:ext cx="7886700" cy="1325563"/>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Times New Roman"/>
                <a:sym typeface="Times New Roman" panose="02020603050405020304"/>
              </a:rPr>
              <a:t>Results &amp; Performance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lang="en-US" sz="2800" b="1" dirty="0">
              <a:solidFill>
                <a:srgbClr val="006600"/>
              </a:solidFill>
              <a:latin typeface="Bookman Old Style"/>
              <a:cs typeface="Times New Roman"/>
            </a:endParaRPr>
          </a:p>
        </p:txBody>
      </p:sp>
      <p:sp>
        <p:nvSpPr>
          <p:cNvPr id="2" name="Google Shape;167;p1">
            <a:extLst>
              <a:ext uri="{FF2B5EF4-FFF2-40B4-BE49-F238E27FC236}">
                <a16:creationId xmlns:a16="http://schemas.microsoft.com/office/drawing/2014/main" id="{325F0369-0722-2BEA-A28B-29104FFEF1A2}"/>
              </a:ext>
            </a:extLst>
          </p:cNvPr>
          <p:cNvSpPr txBox="1">
            <a:spLocks noGrp="1"/>
          </p:cNvSpPr>
          <p:nvPr>
            <p:ph type="dt" sz="half" idx="10"/>
          </p:nvPr>
        </p:nvSpPr>
        <p:spPr>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55079CDD-89D8-ECF3-D6D0-74DCAF611B8E}"/>
              </a:ext>
            </a:extLst>
          </p:cNvPr>
          <p:cNvSpPr>
            <a:spLocks noGrp="1"/>
          </p:cNvSpPr>
          <p:nvPr>
            <p:ph type="sldNum" sz="quarter" idx="12"/>
          </p:nvPr>
        </p:nvSpPr>
        <p:spPr/>
        <p:txBody>
          <a:bodyPr/>
          <a:lstStyle/>
          <a:p>
            <a:fld id="{00000000-1234-1234-1234-123412341234}" type="slidenum">
              <a:rPr lang="en-US" smtClean="0"/>
              <a:t>50</a:t>
            </a:fld>
            <a:endParaRPr lang="en-US"/>
          </a:p>
        </p:txBody>
      </p:sp>
      <p:cxnSp>
        <p:nvCxnSpPr>
          <p:cNvPr id="6" name="Google Shape;1249;p100">
            <a:extLst>
              <a:ext uri="{FF2B5EF4-FFF2-40B4-BE49-F238E27FC236}">
                <a16:creationId xmlns:a16="http://schemas.microsoft.com/office/drawing/2014/main" id="{469BB23C-F27B-879C-E40F-A4D3E1962A29}"/>
              </a:ext>
            </a:extLst>
          </p:cNvPr>
          <p:cNvCxnSpPr/>
          <p:nvPr/>
        </p:nvCxnSpPr>
        <p:spPr>
          <a:xfrm>
            <a:off x="0" y="675647"/>
            <a:ext cx="9144000" cy="1588"/>
          </a:xfrm>
          <a:prstGeom prst="straightConnector1">
            <a:avLst/>
          </a:prstGeom>
          <a:noFill/>
          <a:ln w="25400" cap="flat" cmpd="sng">
            <a:solidFill>
              <a:srgbClr val="800000"/>
            </a:solidFill>
            <a:prstDash val="solid"/>
            <a:round/>
            <a:headEnd type="none" w="sm" len="sm"/>
            <a:tailEnd type="none" w="sm" len="sm"/>
          </a:ln>
        </p:spPr>
      </p:cxnSp>
      <p:sp>
        <p:nvSpPr>
          <p:cNvPr id="11" name="TextBox 10">
            <a:extLst>
              <a:ext uri="{FF2B5EF4-FFF2-40B4-BE49-F238E27FC236}">
                <a16:creationId xmlns:a16="http://schemas.microsoft.com/office/drawing/2014/main" id="{5FB6CE35-BEAA-D924-DA37-D77925EA24E5}"/>
              </a:ext>
            </a:extLst>
          </p:cNvPr>
          <p:cNvSpPr txBox="1"/>
          <p:nvPr/>
        </p:nvSpPr>
        <p:spPr>
          <a:xfrm>
            <a:off x="446649" y="5845488"/>
            <a:ext cx="397621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Top-Left Perspective View of Greenhouse in Active State</a:t>
            </a:r>
            <a:endParaRPr lang="en-US" sz="1200" dirty="0">
              <a:latin typeface="Times New Roman"/>
              <a:ea typeface="Calibri"/>
              <a:cs typeface="Times New Roman"/>
            </a:endParaRPr>
          </a:p>
        </p:txBody>
      </p:sp>
      <p:sp>
        <p:nvSpPr>
          <p:cNvPr id="12" name="TextBox 11">
            <a:extLst>
              <a:ext uri="{FF2B5EF4-FFF2-40B4-BE49-F238E27FC236}">
                <a16:creationId xmlns:a16="http://schemas.microsoft.com/office/drawing/2014/main" id="{CF0D6B9D-845F-5BE3-DFEE-1507C2239CF0}"/>
              </a:ext>
            </a:extLst>
          </p:cNvPr>
          <p:cNvSpPr txBox="1"/>
          <p:nvPr/>
        </p:nvSpPr>
        <p:spPr>
          <a:xfrm>
            <a:off x="4671564" y="5845488"/>
            <a:ext cx="3986652"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Fig. Ripe </a:t>
            </a:r>
            <a:r>
              <a:rPr lang="en-US" sz="1200" dirty="0">
                <a:latin typeface="Times New Roman"/>
                <a:ea typeface="Calibri"/>
                <a:cs typeface="Times New Roman"/>
              </a:rPr>
              <a:t>Growth Stage Visualization inside 3D Greenhouse</a:t>
            </a:r>
          </a:p>
        </p:txBody>
      </p:sp>
      <p:pic>
        <p:nvPicPr>
          <p:cNvPr id="9" name="Picture 8" descr="A screenshot of a video game&#10;&#10;AI-generated content may be incorrect.">
            <a:extLst>
              <a:ext uri="{FF2B5EF4-FFF2-40B4-BE49-F238E27FC236}">
                <a16:creationId xmlns:a16="http://schemas.microsoft.com/office/drawing/2014/main" id="{178579DA-D311-04CE-D53E-3671BE9616A3}"/>
              </a:ext>
            </a:extLst>
          </p:cNvPr>
          <p:cNvPicPr>
            <a:picLocks noChangeAspect="1"/>
          </p:cNvPicPr>
          <p:nvPr/>
        </p:nvPicPr>
        <p:blipFill>
          <a:blip r:embed="rId3"/>
          <a:stretch>
            <a:fillRect/>
          </a:stretch>
        </p:blipFill>
        <p:spPr>
          <a:xfrm>
            <a:off x="387263" y="1435939"/>
            <a:ext cx="3964749" cy="4327741"/>
          </a:xfrm>
          <a:prstGeom prst="rect">
            <a:avLst/>
          </a:prstGeom>
        </p:spPr>
      </p:pic>
      <p:pic>
        <p:nvPicPr>
          <p:cNvPr id="10" name="Picture 9" descr="A computer generated image of a plant growing in a room&#10;&#10;AI-generated content may be incorrect.">
            <a:extLst>
              <a:ext uri="{FF2B5EF4-FFF2-40B4-BE49-F238E27FC236}">
                <a16:creationId xmlns:a16="http://schemas.microsoft.com/office/drawing/2014/main" id="{0B2DCF2C-2B8F-6E68-4924-070E53683730}"/>
              </a:ext>
            </a:extLst>
          </p:cNvPr>
          <p:cNvPicPr>
            <a:picLocks noChangeAspect="1"/>
          </p:cNvPicPr>
          <p:nvPr/>
        </p:nvPicPr>
        <p:blipFill>
          <a:blip r:embed="rId4"/>
          <a:stretch>
            <a:fillRect/>
          </a:stretch>
        </p:blipFill>
        <p:spPr>
          <a:xfrm>
            <a:off x="4656550" y="1432284"/>
            <a:ext cx="4173516" cy="4314172"/>
          </a:xfrm>
          <a:prstGeom prst="rect">
            <a:avLst/>
          </a:prstGeom>
        </p:spPr>
      </p:pic>
    </p:spTree>
    <p:extLst>
      <p:ext uri="{BB962C8B-B14F-4D97-AF65-F5344CB8AC3E}">
        <p14:creationId xmlns:p14="http://schemas.microsoft.com/office/powerpoint/2010/main" val="29186825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256"/>
        <p:cNvGrpSpPr/>
        <p:nvPr/>
      </p:nvGrpSpPr>
      <p:grpSpPr>
        <a:xfrm>
          <a:off x="0" y="0"/>
          <a:ext cx="0" cy="0"/>
          <a:chOff x="0" y="0"/>
          <a:chExt cx="0" cy="0"/>
        </a:xfrm>
      </p:grpSpPr>
      <p:sp>
        <p:nvSpPr>
          <p:cNvPr id="1257" name="Google Shape;1257;p101"/>
          <p:cNvSpPr txBox="1">
            <a:spLocks noGrp="1"/>
          </p:cNvSpPr>
          <p:nvPr>
            <p:ph type="title"/>
          </p:nvPr>
        </p:nvSpPr>
        <p:spPr>
          <a:xfrm>
            <a:off x="0" y="0"/>
            <a:ext cx="9144000" cy="691664"/>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mj-lt"/>
                <a:sym typeface="Times New Roman" panose="02020603050405020304"/>
              </a:rPr>
              <a:t>Comparison with Existing Systems</a:t>
            </a:r>
            <a:endParaRPr lang="en-US" sz="2800" b="1" dirty="0">
              <a:solidFill>
                <a:srgbClr val="006600"/>
              </a:solidFill>
              <a:latin typeface="Bookman Old Style"/>
            </a:endParaRPr>
          </a:p>
        </p:txBody>
      </p:sp>
      <p:cxnSp>
        <p:nvCxnSpPr>
          <p:cNvPr id="6" name="Google Shape;1249;p100"/>
          <p:cNvCxnSpPr/>
          <p:nvPr/>
        </p:nvCxnSpPr>
        <p:spPr>
          <a:xfrm>
            <a:off x="0" y="694839"/>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0A56B0C5-58E0-9753-7EDD-007A20B9BC88}"/>
              </a:ext>
            </a:extLst>
          </p:cNvPr>
          <p:cNvSpPr txBox="1">
            <a:spLocks noGrp="1"/>
          </p:cNvSpPr>
          <p:nvPr>
            <p:ph type="dt" sz="half" idx="10"/>
          </p:nvPr>
        </p:nvSpPr>
        <p:spPr>
          <a:xfrm>
            <a:off x="0" y="6492874"/>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7F5C1010-B5FF-4944-B8BA-99AD114E5AE5}"/>
              </a:ext>
            </a:extLst>
          </p:cNvPr>
          <p:cNvSpPr>
            <a:spLocks noGrp="1"/>
          </p:cNvSpPr>
          <p:nvPr>
            <p:ph type="sldNum" sz="quarter" idx="12"/>
          </p:nvPr>
        </p:nvSpPr>
        <p:spPr>
          <a:xfrm>
            <a:off x="6457950" y="6356350"/>
            <a:ext cx="2057400" cy="365125"/>
          </a:xfrm>
        </p:spPr>
        <p:txBody>
          <a:bodyPr/>
          <a:lstStyle/>
          <a:p>
            <a:fld id="{00000000-1234-1234-1234-123412341234}" type="slidenum">
              <a:rPr lang="en-US" smtClean="0"/>
              <a:t>51</a:t>
            </a:fld>
            <a:endParaRPr lang="en-US"/>
          </a:p>
        </p:txBody>
      </p:sp>
      <p:sp>
        <p:nvSpPr>
          <p:cNvPr id="24" name="TextBox 23">
            <a:extLst>
              <a:ext uri="{FF2B5EF4-FFF2-40B4-BE49-F238E27FC236}">
                <a16:creationId xmlns:a16="http://schemas.microsoft.com/office/drawing/2014/main" id="{745992E0-17E8-0BDC-8340-0B05AD17886E}"/>
              </a:ext>
            </a:extLst>
          </p:cNvPr>
          <p:cNvSpPr txBox="1"/>
          <p:nvPr/>
        </p:nvSpPr>
        <p:spPr>
          <a:xfrm>
            <a:off x="973667" y="744257"/>
            <a:ext cx="7786255"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panose="02020603050405020304" pitchFamily="18" charset="0"/>
                <a:cs typeface="Times New Roman" panose="02020603050405020304" pitchFamily="18" charset="0"/>
              </a:rPr>
              <a:t>Table. Comparative Analysis of Proposed Growth Stage and Disease Classification Models with Existing Approaches</a:t>
            </a:r>
          </a:p>
        </p:txBody>
      </p:sp>
      <p:graphicFrame>
        <p:nvGraphicFramePr>
          <p:cNvPr id="8" name="Table 7">
            <a:extLst>
              <a:ext uri="{FF2B5EF4-FFF2-40B4-BE49-F238E27FC236}">
                <a16:creationId xmlns:a16="http://schemas.microsoft.com/office/drawing/2014/main" id="{D18DA22C-D079-EC90-D26D-1413A58ADB76}"/>
              </a:ext>
            </a:extLst>
          </p:cNvPr>
          <p:cNvGraphicFramePr>
            <a:graphicFrameLocks noGrp="1"/>
          </p:cNvGraphicFramePr>
          <p:nvPr>
            <p:extLst>
              <p:ext uri="{D42A27DB-BD31-4B8C-83A1-F6EECF244321}">
                <p14:modId xmlns:p14="http://schemas.microsoft.com/office/powerpoint/2010/main" val="2798105938"/>
              </p:ext>
            </p:extLst>
          </p:nvPr>
        </p:nvGraphicFramePr>
        <p:xfrm>
          <a:off x="180110" y="999577"/>
          <a:ext cx="8880763" cy="5442138"/>
        </p:xfrm>
        <a:graphic>
          <a:graphicData uri="http://schemas.openxmlformats.org/drawingml/2006/table">
            <a:tbl>
              <a:tblPr firstRow="1" firstCol="1" bandRow="1">
                <a:tableStyleId>{56D51072-94E4-4FC1-8697-D52FD32A7993}</a:tableStyleId>
              </a:tblPr>
              <a:tblGrid>
                <a:gridCol w="1756756">
                  <a:extLst>
                    <a:ext uri="{9D8B030D-6E8A-4147-A177-3AD203B41FA5}">
                      <a16:colId xmlns:a16="http://schemas.microsoft.com/office/drawing/2014/main" val="347032839"/>
                    </a:ext>
                  </a:extLst>
                </a:gridCol>
                <a:gridCol w="1756756">
                  <a:extLst>
                    <a:ext uri="{9D8B030D-6E8A-4147-A177-3AD203B41FA5}">
                      <a16:colId xmlns:a16="http://schemas.microsoft.com/office/drawing/2014/main" val="1955030758"/>
                    </a:ext>
                  </a:extLst>
                </a:gridCol>
                <a:gridCol w="1756756">
                  <a:extLst>
                    <a:ext uri="{9D8B030D-6E8A-4147-A177-3AD203B41FA5}">
                      <a16:colId xmlns:a16="http://schemas.microsoft.com/office/drawing/2014/main" val="1517340054"/>
                    </a:ext>
                  </a:extLst>
                </a:gridCol>
                <a:gridCol w="1756756">
                  <a:extLst>
                    <a:ext uri="{9D8B030D-6E8A-4147-A177-3AD203B41FA5}">
                      <a16:colId xmlns:a16="http://schemas.microsoft.com/office/drawing/2014/main" val="1621392897"/>
                    </a:ext>
                  </a:extLst>
                </a:gridCol>
                <a:gridCol w="1853739">
                  <a:extLst>
                    <a:ext uri="{9D8B030D-6E8A-4147-A177-3AD203B41FA5}">
                      <a16:colId xmlns:a16="http://schemas.microsoft.com/office/drawing/2014/main" val="3624936177"/>
                    </a:ext>
                  </a:extLst>
                </a:gridCol>
              </a:tblGrid>
              <a:tr h="666658">
                <a:tc>
                  <a:txBody>
                    <a:bodyPr/>
                    <a:lstStyle/>
                    <a:p>
                      <a:pPr marL="228600" algn="just">
                        <a:lnSpc>
                          <a:spcPct val="115000"/>
                        </a:lnSpc>
                        <a:spcAft>
                          <a:spcPts val="1000"/>
                        </a:spcAft>
                      </a:pPr>
                      <a:r>
                        <a:rPr lang="en-IN" sz="2000" dirty="0">
                          <a:effectLst/>
                          <a:latin typeface="Times New Roman" panose="02020603050405020304" pitchFamily="18" charset="0"/>
                          <a:cs typeface="Times New Roman" panose="02020603050405020304" pitchFamily="18" charset="0"/>
                        </a:rPr>
                        <a:t>Task Type</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marL="228600" algn="just">
                        <a:lnSpc>
                          <a:spcPct val="115000"/>
                        </a:lnSpc>
                        <a:spcAft>
                          <a:spcPts val="1000"/>
                        </a:spcAft>
                      </a:pPr>
                      <a:r>
                        <a:rPr lang="en-IN" sz="2000">
                          <a:effectLst/>
                          <a:latin typeface="Times New Roman" panose="02020603050405020304" pitchFamily="18" charset="0"/>
                          <a:cs typeface="Times New Roman" panose="02020603050405020304" pitchFamily="18" charset="0"/>
                        </a:rPr>
                        <a:t>Model Approach</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marL="228600" algn="just">
                        <a:lnSpc>
                          <a:spcPct val="115000"/>
                        </a:lnSpc>
                        <a:spcAft>
                          <a:spcPts val="1000"/>
                        </a:spcAft>
                      </a:pPr>
                      <a:r>
                        <a:rPr lang="en-IN" sz="2000">
                          <a:effectLst/>
                          <a:latin typeface="Times New Roman" panose="02020603050405020304" pitchFamily="18" charset="0"/>
                          <a:cs typeface="Times New Roman" panose="02020603050405020304" pitchFamily="18" charset="0"/>
                        </a:rPr>
                        <a:t>Architecture</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marL="228600" algn="just">
                        <a:lnSpc>
                          <a:spcPct val="115000"/>
                        </a:lnSpc>
                        <a:spcAft>
                          <a:spcPts val="1000"/>
                        </a:spcAft>
                      </a:pPr>
                      <a:r>
                        <a:rPr lang="en-IN" sz="2000" dirty="0">
                          <a:effectLst/>
                          <a:latin typeface="Times New Roman" panose="02020603050405020304" pitchFamily="18" charset="0"/>
                          <a:cs typeface="Times New Roman" panose="02020603050405020304" pitchFamily="18" charset="0"/>
                        </a:rPr>
                        <a:t>Dataset</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marL="228600" algn="just">
                        <a:lnSpc>
                          <a:spcPct val="115000"/>
                        </a:lnSpc>
                        <a:spcAft>
                          <a:spcPts val="1000"/>
                        </a:spcAft>
                      </a:pPr>
                      <a:r>
                        <a:rPr lang="en-IN" sz="2000" dirty="0">
                          <a:effectLst/>
                          <a:latin typeface="Times New Roman" panose="02020603050405020304" pitchFamily="18" charset="0"/>
                          <a:cs typeface="Times New Roman" panose="02020603050405020304" pitchFamily="18" charset="0"/>
                        </a:rPr>
                        <a:t>Accuracy(%)</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246484665"/>
                  </a:ext>
                </a:extLst>
              </a:tr>
              <a:tr h="1361184">
                <a:tc>
                  <a:txBody>
                    <a:bodyPr/>
                    <a:lstStyle/>
                    <a:p>
                      <a:pPr marL="228600" algn="just">
                        <a:lnSpc>
                          <a:spcPct val="115000"/>
                        </a:lnSpc>
                        <a:spcAft>
                          <a:spcPts val="1000"/>
                        </a:spcAft>
                      </a:pPr>
                      <a:r>
                        <a:rPr lang="en-IN" sz="2000">
                          <a:effectLst/>
                          <a:latin typeface="Times New Roman" panose="02020603050405020304" pitchFamily="18" charset="0"/>
                          <a:cs typeface="Times New Roman" panose="02020603050405020304" pitchFamily="18" charset="0"/>
                        </a:rPr>
                        <a:t>Growth Stage (Existing)</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marL="228600" algn="just">
                        <a:lnSpc>
                          <a:spcPct val="115000"/>
                        </a:lnSpc>
                        <a:spcAft>
                          <a:spcPts val="1000"/>
                        </a:spcAft>
                      </a:pPr>
                      <a:r>
                        <a:rPr lang="en-IN" sz="2000">
                          <a:effectLst/>
                          <a:latin typeface="Times New Roman" panose="02020603050405020304" pitchFamily="18" charset="0"/>
                          <a:cs typeface="Times New Roman" panose="02020603050405020304" pitchFamily="18" charset="0"/>
                        </a:rPr>
                        <a:t>CNN / Transfer Learning</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marL="228600" algn="just">
                        <a:lnSpc>
                          <a:spcPct val="115000"/>
                        </a:lnSpc>
                        <a:spcAft>
                          <a:spcPts val="1000"/>
                        </a:spcAft>
                      </a:pPr>
                      <a:r>
                        <a:rPr lang="en-IN" sz="2000">
                          <a:effectLst/>
                          <a:latin typeface="Times New Roman" panose="02020603050405020304" pitchFamily="18" charset="0"/>
                          <a:cs typeface="Times New Roman" panose="02020603050405020304" pitchFamily="18" charset="0"/>
                        </a:rPr>
                        <a:t>ResNet / VGG / Custom CNN</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marL="228600" algn="just">
                        <a:lnSpc>
                          <a:spcPct val="115000"/>
                        </a:lnSpc>
                        <a:spcAft>
                          <a:spcPts val="1000"/>
                        </a:spcAft>
                      </a:pPr>
                      <a:r>
                        <a:rPr lang="en-IN" sz="2000">
                          <a:effectLst/>
                          <a:latin typeface="Times New Roman" panose="02020603050405020304" pitchFamily="18" charset="0"/>
                          <a:cs typeface="Times New Roman" panose="02020603050405020304" pitchFamily="18" charset="0"/>
                        </a:rPr>
                        <a:t>Plant Image Datasets</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marL="228600" algn="just">
                        <a:lnSpc>
                          <a:spcPct val="115000"/>
                        </a:lnSpc>
                        <a:spcAft>
                          <a:spcPts val="1000"/>
                        </a:spcAft>
                      </a:pPr>
                      <a:r>
                        <a:rPr lang="en-IN" sz="2000" dirty="0">
                          <a:effectLst/>
                          <a:latin typeface="Times New Roman" panose="02020603050405020304" pitchFamily="18" charset="0"/>
                          <a:cs typeface="Times New Roman" panose="02020603050405020304" pitchFamily="18" charset="0"/>
                        </a:rPr>
                        <a:t>~95</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006923885"/>
                  </a:ext>
                </a:extLst>
              </a:tr>
              <a:tr h="1361184">
                <a:tc>
                  <a:txBody>
                    <a:bodyPr/>
                    <a:lstStyle/>
                    <a:p>
                      <a:pPr marL="228600" algn="just">
                        <a:lnSpc>
                          <a:spcPct val="115000"/>
                        </a:lnSpc>
                        <a:spcAft>
                          <a:spcPts val="1000"/>
                        </a:spcAft>
                      </a:pPr>
                      <a:r>
                        <a:rPr lang="en-IN" sz="2000">
                          <a:effectLst/>
                          <a:latin typeface="Times New Roman" panose="02020603050405020304" pitchFamily="18" charset="0"/>
                          <a:cs typeface="Times New Roman" panose="02020603050405020304" pitchFamily="18" charset="0"/>
                        </a:rPr>
                        <a:t>Growth Stage (Proposed)</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marL="228600" algn="just">
                        <a:lnSpc>
                          <a:spcPct val="115000"/>
                        </a:lnSpc>
                        <a:spcAft>
                          <a:spcPts val="1000"/>
                        </a:spcAft>
                      </a:pPr>
                      <a:r>
                        <a:rPr lang="en-IN" sz="2000" dirty="0">
                          <a:effectLst/>
                          <a:latin typeface="Times New Roman" panose="02020603050405020304" pitchFamily="18" charset="0"/>
                          <a:cs typeface="Times New Roman" panose="02020603050405020304" pitchFamily="18" charset="0"/>
                        </a:rPr>
                        <a:t>Deep Learning</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marL="228600" algn="just">
                        <a:lnSpc>
                          <a:spcPct val="115000"/>
                        </a:lnSpc>
                        <a:spcAft>
                          <a:spcPts val="1000"/>
                        </a:spcAft>
                      </a:pPr>
                      <a:r>
                        <a:rPr lang="en-IN" sz="2000">
                          <a:effectLst/>
                          <a:latin typeface="Times New Roman" panose="02020603050405020304" pitchFamily="18" charset="0"/>
                          <a:cs typeface="Times New Roman" panose="02020603050405020304" pitchFamily="18" charset="0"/>
                        </a:rPr>
                        <a:t>EfficientNetB3</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marL="228600" algn="just">
                        <a:lnSpc>
                          <a:spcPct val="115000"/>
                        </a:lnSpc>
                        <a:spcAft>
                          <a:spcPts val="1000"/>
                        </a:spcAft>
                      </a:pPr>
                      <a:r>
                        <a:rPr lang="en-IN" sz="2000">
                          <a:effectLst/>
                          <a:latin typeface="Times New Roman" panose="02020603050405020304" pitchFamily="18" charset="0"/>
                          <a:cs typeface="Times New Roman" panose="02020603050405020304" pitchFamily="18" charset="0"/>
                        </a:rPr>
                        <a:t>Tomato Growth Stage Dataset</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marL="228600" algn="just">
                        <a:lnSpc>
                          <a:spcPct val="115000"/>
                        </a:lnSpc>
                        <a:spcAft>
                          <a:spcPts val="1000"/>
                        </a:spcAft>
                      </a:pPr>
                      <a:r>
                        <a:rPr lang="en-IN" sz="2000">
                          <a:effectLst/>
                          <a:latin typeface="Times New Roman" panose="02020603050405020304" pitchFamily="18" charset="0"/>
                          <a:cs typeface="Times New Roman" panose="02020603050405020304" pitchFamily="18" charset="0"/>
                        </a:rPr>
                        <a:t>98.61</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907330822"/>
                  </a:ext>
                </a:extLst>
              </a:tr>
              <a:tr h="1013921">
                <a:tc>
                  <a:txBody>
                    <a:bodyPr/>
                    <a:lstStyle/>
                    <a:p>
                      <a:pPr marL="228600" algn="just">
                        <a:lnSpc>
                          <a:spcPct val="115000"/>
                        </a:lnSpc>
                        <a:spcAft>
                          <a:spcPts val="1000"/>
                        </a:spcAft>
                      </a:pPr>
                      <a:r>
                        <a:rPr lang="en-IN" sz="2000">
                          <a:effectLst/>
                          <a:latin typeface="Times New Roman" panose="02020603050405020304" pitchFamily="18" charset="0"/>
                          <a:cs typeface="Times New Roman" panose="02020603050405020304" pitchFamily="18" charset="0"/>
                        </a:rPr>
                        <a:t>Disease Detection (Existing)</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marL="228600" algn="just">
                        <a:lnSpc>
                          <a:spcPct val="115000"/>
                        </a:lnSpc>
                        <a:spcAft>
                          <a:spcPts val="1000"/>
                        </a:spcAft>
                      </a:pPr>
                      <a:r>
                        <a:rPr lang="en-IN" sz="2000">
                          <a:effectLst/>
                          <a:latin typeface="Times New Roman" panose="02020603050405020304" pitchFamily="18" charset="0"/>
                          <a:cs typeface="Times New Roman" panose="02020603050405020304" pitchFamily="18" charset="0"/>
                        </a:rPr>
                        <a:t>CNN / Ensemble</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marL="228600" algn="just">
                        <a:lnSpc>
                          <a:spcPct val="115000"/>
                        </a:lnSpc>
                        <a:spcAft>
                          <a:spcPts val="1000"/>
                        </a:spcAft>
                      </a:pPr>
                      <a:r>
                        <a:rPr lang="en-IN" sz="2000">
                          <a:effectLst/>
                          <a:latin typeface="Times New Roman" panose="02020603050405020304" pitchFamily="18" charset="0"/>
                          <a:cs typeface="Times New Roman" panose="02020603050405020304" pitchFamily="18" charset="0"/>
                        </a:rPr>
                        <a:t>ResNet / DenseNet / Ensemble</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marL="228600" algn="just">
                        <a:lnSpc>
                          <a:spcPct val="115000"/>
                        </a:lnSpc>
                        <a:spcAft>
                          <a:spcPts val="1000"/>
                        </a:spcAft>
                      </a:pPr>
                      <a:r>
                        <a:rPr lang="en-IN" sz="2000">
                          <a:effectLst/>
                          <a:latin typeface="Times New Roman" panose="02020603050405020304" pitchFamily="18" charset="0"/>
                          <a:cs typeface="Times New Roman" panose="02020603050405020304" pitchFamily="18" charset="0"/>
                        </a:rPr>
                        <a:t>Leaf Disease Datasets</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marL="228600" algn="just">
                        <a:lnSpc>
                          <a:spcPct val="115000"/>
                        </a:lnSpc>
                        <a:spcAft>
                          <a:spcPts val="1000"/>
                        </a:spcAft>
                      </a:pPr>
                      <a:r>
                        <a:rPr lang="en-IN" sz="2000" dirty="0">
                          <a:effectLst/>
                          <a:latin typeface="Times New Roman" panose="02020603050405020304" pitchFamily="18" charset="0"/>
                          <a:cs typeface="Times New Roman" panose="02020603050405020304" pitchFamily="18" charset="0"/>
                        </a:rPr>
                        <a:t>~97</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721449204"/>
                  </a:ext>
                </a:extLst>
              </a:tr>
              <a:tr h="1013921">
                <a:tc>
                  <a:txBody>
                    <a:bodyPr/>
                    <a:lstStyle/>
                    <a:p>
                      <a:pPr marL="228600" algn="just">
                        <a:lnSpc>
                          <a:spcPct val="115000"/>
                        </a:lnSpc>
                        <a:spcAft>
                          <a:spcPts val="1000"/>
                        </a:spcAft>
                      </a:pPr>
                      <a:r>
                        <a:rPr lang="en-IN" sz="2000">
                          <a:effectLst/>
                          <a:latin typeface="Times New Roman" panose="02020603050405020304" pitchFamily="18" charset="0"/>
                          <a:cs typeface="Times New Roman" panose="02020603050405020304" pitchFamily="18" charset="0"/>
                        </a:rPr>
                        <a:t>Disease Detection (Proposed)</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marL="228600" algn="just">
                        <a:lnSpc>
                          <a:spcPct val="115000"/>
                        </a:lnSpc>
                        <a:spcAft>
                          <a:spcPts val="1000"/>
                        </a:spcAft>
                      </a:pPr>
                      <a:r>
                        <a:rPr lang="en-IN" sz="2000" dirty="0">
                          <a:effectLst/>
                          <a:latin typeface="Times New Roman" panose="02020603050405020304" pitchFamily="18" charset="0"/>
                          <a:cs typeface="Times New Roman" panose="02020603050405020304" pitchFamily="18" charset="0"/>
                        </a:rPr>
                        <a:t>Deep Learning</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marL="228600" algn="just">
                        <a:lnSpc>
                          <a:spcPct val="115000"/>
                        </a:lnSpc>
                        <a:spcAft>
                          <a:spcPts val="1000"/>
                        </a:spcAft>
                      </a:pPr>
                      <a:r>
                        <a:rPr lang="en-IN" sz="2000">
                          <a:effectLst/>
                          <a:latin typeface="Times New Roman" panose="02020603050405020304" pitchFamily="18" charset="0"/>
                          <a:cs typeface="Times New Roman" panose="02020603050405020304" pitchFamily="18" charset="0"/>
                        </a:rPr>
                        <a:t>EfficientNetB0</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marL="228600" algn="just">
                        <a:lnSpc>
                          <a:spcPct val="115000"/>
                        </a:lnSpc>
                        <a:spcAft>
                          <a:spcPts val="1000"/>
                        </a:spcAft>
                      </a:pPr>
                      <a:r>
                        <a:rPr lang="en-IN" sz="2000">
                          <a:effectLst/>
                          <a:latin typeface="Times New Roman" panose="02020603050405020304" pitchFamily="18" charset="0"/>
                          <a:cs typeface="Times New Roman" panose="02020603050405020304" pitchFamily="18" charset="0"/>
                        </a:rPr>
                        <a:t>Tomato Leaf Disease Dataset</a:t>
                      </a:r>
                      <a:endParaRPr lang="en-IN" sz="20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tc>
                  <a:txBody>
                    <a:bodyPr/>
                    <a:lstStyle/>
                    <a:p>
                      <a:pPr marL="228600" algn="just">
                        <a:lnSpc>
                          <a:spcPct val="115000"/>
                        </a:lnSpc>
                        <a:spcAft>
                          <a:spcPts val="1000"/>
                        </a:spcAft>
                      </a:pPr>
                      <a:r>
                        <a:rPr lang="en-IN" sz="2000" dirty="0">
                          <a:effectLst/>
                          <a:latin typeface="Times New Roman" panose="02020603050405020304" pitchFamily="18" charset="0"/>
                          <a:cs typeface="Times New Roman" panose="02020603050405020304" pitchFamily="18" charset="0"/>
                        </a:rPr>
                        <a:t>98.23</a:t>
                      </a:r>
                      <a:endParaRPr lang="en-IN" sz="20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597133967"/>
                  </a:ext>
                </a:extLst>
              </a:tr>
            </a:tbl>
          </a:graphicData>
        </a:graphic>
      </p:graphicFrame>
    </p:spTree>
    <p:extLst>
      <p:ext uri="{BB962C8B-B14F-4D97-AF65-F5344CB8AC3E}">
        <p14:creationId xmlns:p14="http://schemas.microsoft.com/office/powerpoint/2010/main" val="5587526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CB4FC6BC-196A-CDF2-54E7-4F7F7FE23468}"/>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7EE7FA81-DBBA-B207-9A2B-B46F9DD9671F}"/>
              </a:ext>
            </a:extLst>
          </p:cNvPr>
          <p:cNvSpPr txBox="1">
            <a:spLocks noGrp="1"/>
          </p:cNvSpPr>
          <p:nvPr>
            <p:ph type="title"/>
          </p:nvPr>
        </p:nvSpPr>
        <p:spPr>
          <a:xfrm>
            <a:off x="0" y="1"/>
            <a:ext cx="9144000" cy="691664"/>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mj-lt"/>
                <a:sym typeface="Times New Roman" panose="02020603050405020304"/>
              </a:rPr>
              <a:t>Comparison with Existing Systems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lang="en-US" sz="2800" b="1" dirty="0">
              <a:solidFill>
                <a:srgbClr val="006600"/>
              </a:solidFill>
              <a:latin typeface="Bookman Old Style"/>
            </a:endParaRPr>
          </a:p>
        </p:txBody>
      </p:sp>
      <p:cxnSp>
        <p:nvCxnSpPr>
          <p:cNvPr id="6" name="Google Shape;1249;p100">
            <a:extLst>
              <a:ext uri="{FF2B5EF4-FFF2-40B4-BE49-F238E27FC236}">
                <a16:creationId xmlns:a16="http://schemas.microsoft.com/office/drawing/2014/main" id="{E1DE5CDA-5C92-B1D4-9EA8-CB58DD99A747}"/>
              </a:ext>
            </a:extLst>
          </p:cNvPr>
          <p:cNvCxnSpPr/>
          <p:nvPr/>
        </p:nvCxnSpPr>
        <p:spPr>
          <a:xfrm>
            <a:off x="0" y="694840"/>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B59E92DE-2309-84BA-AC5B-1A952EA2A7DC}"/>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22035F01-6CEC-FD14-3474-347BC5FA8045}"/>
              </a:ext>
            </a:extLst>
          </p:cNvPr>
          <p:cNvSpPr>
            <a:spLocks noGrp="1"/>
          </p:cNvSpPr>
          <p:nvPr>
            <p:ph type="sldNum" sz="quarter" idx="12"/>
          </p:nvPr>
        </p:nvSpPr>
        <p:spPr/>
        <p:txBody>
          <a:bodyPr/>
          <a:lstStyle/>
          <a:p>
            <a:fld id="{00000000-1234-1234-1234-123412341234}" type="slidenum">
              <a:rPr lang="en-US" smtClean="0"/>
              <a:t>52</a:t>
            </a:fld>
            <a:endParaRPr lang="en-US"/>
          </a:p>
        </p:txBody>
      </p:sp>
      <p:graphicFrame>
        <p:nvGraphicFramePr>
          <p:cNvPr id="8" name="Content Placeholder 7">
            <a:extLst>
              <a:ext uri="{FF2B5EF4-FFF2-40B4-BE49-F238E27FC236}">
                <a16:creationId xmlns:a16="http://schemas.microsoft.com/office/drawing/2014/main" id="{72A05459-C16D-6055-7817-7958A26264F9}"/>
              </a:ext>
            </a:extLst>
          </p:cNvPr>
          <p:cNvGraphicFramePr>
            <a:graphicFrameLocks noGrp="1"/>
          </p:cNvGraphicFramePr>
          <p:nvPr>
            <p:ph idx="1"/>
            <p:extLst>
              <p:ext uri="{D42A27DB-BD31-4B8C-83A1-F6EECF244321}">
                <p14:modId xmlns:p14="http://schemas.microsoft.com/office/powerpoint/2010/main" val="1815385071"/>
              </p:ext>
            </p:extLst>
          </p:nvPr>
        </p:nvGraphicFramePr>
        <p:xfrm>
          <a:off x="180109" y="1029352"/>
          <a:ext cx="8783781" cy="5451280"/>
        </p:xfrm>
        <a:graphic>
          <a:graphicData uri="http://schemas.openxmlformats.org/drawingml/2006/table">
            <a:tbl>
              <a:tblPr firstRow="1" firstCol="1" bandRow="1">
                <a:tableStyleId>{5C22544A-7EE6-4342-B048-85BDC9FD1C3A}</a:tableStyleId>
              </a:tblPr>
              <a:tblGrid>
                <a:gridCol w="2858277">
                  <a:extLst>
                    <a:ext uri="{9D8B030D-6E8A-4147-A177-3AD203B41FA5}">
                      <a16:colId xmlns:a16="http://schemas.microsoft.com/office/drawing/2014/main" val="1884370410"/>
                    </a:ext>
                  </a:extLst>
                </a:gridCol>
                <a:gridCol w="2536218">
                  <a:extLst>
                    <a:ext uri="{9D8B030D-6E8A-4147-A177-3AD203B41FA5}">
                      <a16:colId xmlns:a16="http://schemas.microsoft.com/office/drawing/2014/main" val="1010943308"/>
                    </a:ext>
                  </a:extLst>
                </a:gridCol>
                <a:gridCol w="3389286">
                  <a:extLst>
                    <a:ext uri="{9D8B030D-6E8A-4147-A177-3AD203B41FA5}">
                      <a16:colId xmlns:a16="http://schemas.microsoft.com/office/drawing/2014/main" val="714607055"/>
                    </a:ext>
                  </a:extLst>
                </a:gridCol>
              </a:tblGrid>
              <a:tr h="287240">
                <a:tc>
                  <a:txBody>
                    <a:bodyPr/>
                    <a:lstStyle/>
                    <a:p>
                      <a:pPr algn="ctr">
                        <a:buNone/>
                      </a:pPr>
                      <a:r>
                        <a:rPr lang="en-US" sz="2000" b="1" dirty="0">
                          <a:solidFill>
                            <a:schemeClr val="bg1"/>
                          </a:solidFill>
                          <a:effectLst/>
                          <a:latin typeface="Times New Roman" panose="02020603050405020304" pitchFamily="18" charset="0"/>
                          <a:cs typeface="Times New Roman" panose="02020603050405020304" pitchFamily="18" charset="0"/>
                        </a:rPr>
                        <a:t>Parameter</a:t>
                      </a:r>
                      <a:endParaRPr lang="en-US" sz="2000" dirty="0">
                        <a:solidFill>
                          <a:schemeClr val="bg1"/>
                        </a:solidFill>
                        <a:effectLst/>
                        <a:latin typeface="Times New Roman" panose="02020603050405020304" pitchFamily="18" charset="0"/>
                        <a:cs typeface="Times New Roman" panose="02020603050405020304" pitchFamily="18" charset="0"/>
                      </a:endParaRPr>
                    </a:p>
                  </a:txBody>
                  <a:tcPr marL="68580" marR="68580" marT="0" marB="0" anchor="ctr"/>
                </a:tc>
                <a:tc>
                  <a:txBody>
                    <a:bodyPr/>
                    <a:lstStyle/>
                    <a:p>
                      <a:pPr algn="ctr">
                        <a:buNone/>
                      </a:pPr>
                      <a:r>
                        <a:rPr lang="en-US" sz="2000" b="1">
                          <a:solidFill>
                            <a:schemeClr val="bg1"/>
                          </a:solidFill>
                          <a:effectLst/>
                          <a:latin typeface="Times New Roman" panose="02020603050405020304" pitchFamily="18" charset="0"/>
                          <a:cs typeface="Times New Roman" panose="02020603050405020304" pitchFamily="18" charset="0"/>
                        </a:rPr>
                        <a:t>Existing Work</a:t>
                      </a:r>
                      <a:endParaRPr lang="en-US" sz="2000">
                        <a:solidFill>
                          <a:schemeClr val="bg1"/>
                        </a:solidFill>
                        <a:effectLst/>
                        <a:latin typeface="Times New Roman" panose="02020603050405020304" pitchFamily="18" charset="0"/>
                        <a:cs typeface="Times New Roman" panose="02020603050405020304" pitchFamily="18" charset="0"/>
                      </a:endParaRPr>
                    </a:p>
                  </a:txBody>
                  <a:tcPr marL="68580" marR="68580" marT="0" marB="0" anchor="ctr"/>
                </a:tc>
                <a:tc>
                  <a:txBody>
                    <a:bodyPr/>
                    <a:lstStyle/>
                    <a:p>
                      <a:pPr algn="ctr">
                        <a:buNone/>
                      </a:pPr>
                      <a:r>
                        <a:rPr lang="en-US" sz="2000" b="1" dirty="0">
                          <a:solidFill>
                            <a:schemeClr val="bg1"/>
                          </a:solidFill>
                          <a:effectLst/>
                          <a:latin typeface="Times New Roman" panose="02020603050405020304" pitchFamily="18" charset="0"/>
                          <a:cs typeface="Times New Roman" panose="02020603050405020304" pitchFamily="18" charset="0"/>
                        </a:rPr>
                        <a:t>Proposed Work</a:t>
                      </a:r>
                      <a:endParaRPr lang="en-US" sz="2000" dirty="0">
                        <a:solidFill>
                          <a:schemeClr val="bg1"/>
                        </a:solidFill>
                        <a:effectLst/>
                        <a:latin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val="536478892"/>
                  </a:ext>
                </a:extLst>
              </a:tr>
              <a:tr h="1148960">
                <a:tc>
                  <a:txBody>
                    <a:bodyPr/>
                    <a:lstStyle/>
                    <a:p>
                      <a:pPr algn="ctr">
                        <a:buNone/>
                      </a:pPr>
                      <a:r>
                        <a:rPr lang="en-US" sz="2000" dirty="0">
                          <a:solidFill>
                            <a:schemeClr val="bg1"/>
                          </a:solidFill>
                          <a:effectLst/>
                          <a:latin typeface="Times New Roman" panose="02020603050405020304" pitchFamily="18" charset="0"/>
                          <a:cs typeface="Times New Roman" panose="02020603050405020304" pitchFamily="18" charset="0"/>
                        </a:rPr>
                        <a:t>Model Type</a:t>
                      </a:r>
                    </a:p>
                  </a:txBody>
                  <a:tcPr marL="68580" marR="68580" marT="0" marB="0" anchor="ctr"/>
                </a:tc>
                <a:tc>
                  <a:txBody>
                    <a:bodyPr/>
                    <a:lstStyle/>
                    <a:p>
                      <a:pPr algn="ctr">
                        <a:buNone/>
                      </a:pPr>
                      <a:r>
                        <a:rPr lang="en-US" sz="2000" dirty="0">
                          <a:solidFill>
                            <a:schemeClr val="tx1"/>
                          </a:solidFill>
                          <a:effectLst/>
                          <a:latin typeface="Times New Roman" panose="02020603050405020304" pitchFamily="18" charset="0"/>
                          <a:cs typeface="Times New Roman" panose="02020603050405020304" pitchFamily="18" charset="0"/>
                        </a:rPr>
                        <a:t>Numerical Weather Model (MM5)</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Chronos + GRU-based Deep Learning Model</a:t>
                      </a:r>
                      <a:br>
                        <a:rPr lang="en-US" sz="2000" dirty="0">
                          <a:solidFill>
                            <a:schemeClr val="tx1"/>
                          </a:solidFill>
                          <a:effectLst/>
                          <a:latin typeface="Times New Roman" panose="02020603050405020304" pitchFamily="18" charset="0"/>
                          <a:cs typeface="Times New Roman" panose="02020603050405020304" pitchFamily="18" charset="0"/>
                        </a:rPr>
                      </a:br>
                      <a:r>
                        <a:rPr lang="en-US" sz="2000">
                          <a:solidFill>
                            <a:schemeClr val="tx1"/>
                          </a:solidFill>
                          <a:effectLst/>
                          <a:latin typeface="Times New Roman" panose="02020603050405020304" pitchFamily="18" charset="0"/>
                          <a:cs typeface="Times New Roman" panose="02020603050405020304" pitchFamily="18" charset="0"/>
                        </a:rPr>
                        <a:t>&amp; Random Forest Classification Model</a:t>
                      </a:r>
                    </a:p>
                  </a:txBody>
                  <a:tcPr marL="68580" marR="68580" marT="0" marB="0" anchor="ctr"/>
                </a:tc>
                <a:extLst>
                  <a:ext uri="{0D108BD9-81ED-4DB2-BD59-A6C34878D82A}">
                    <a16:rowId xmlns:a16="http://schemas.microsoft.com/office/drawing/2014/main" val="3107302408"/>
                  </a:ext>
                </a:extLst>
              </a:tr>
              <a:tr h="287240">
                <a:tc>
                  <a:txBody>
                    <a:bodyPr/>
                    <a:lstStyle/>
                    <a:p>
                      <a:pPr algn="ctr">
                        <a:buNone/>
                      </a:pPr>
                      <a:r>
                        <a:rPr lang="en-US" sz="2000">
                          <a:solidFill>
                            <a:schemeClr val="bg1"/>
                          </a:solidFill>
                          <a:effectLst/>
                          <a:latin typeface="Times New Roman" panose="02020603050405020304" pitchFamily="18" charset="0"/>
                          <a:cs typeface="Times New Roman" panose="02020603050405020304" pitchFamily="18" charset="0"/>
                        </a:rPr>
                        <a:t>Forecast Horizon</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3 Days</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2 Days</a:t>
                      </a:r>
                    </a:p>
                  </a:txBody>
                  <a:tcPr marL="68580" marR="68580" marT="0" marB="0" anchor="ctr"/>
                </a:tc>
                <a:extLst>
                  <a:ext uri="{0D108BD9-81ED-4DB2-BD59-A6C34878D82A}">
                    <a16:rowId xmlns:a16="http://schemas.microsoft.com/office/drawing/2014/main" val="3565708738"/>
                  </a:ext>
                </a:extLst>
              </a:tr>
              <a:tr h="861720">
                <a:tc>
                  <a:txBody>
                    <a:bodyPr/>
                    <a:lstStyle/>
                    <a:p>
                      <a:pPr algn="ctr">
                        <a:buNone/>
                      </a:pPr>
                      <a:r>
                        <a:rPr lang="en-US" sz="2000" dirty="0">
                          <a:solidFill>
                            <a:schemeClr val="bg1"/>
                          </a:solidFill>
                          <a:effectLst/>
                          <a:latin typeface="Times New Roman" panose="02020603050405020304" pitchFamily="18" charset="0"/>
                          <a:cs typeface="Times New Roman" panose="02020603050405020304" pitchFamily="18" charset="0"/>
                        </a:rPr>
                        <a:t>Variables Predicted</a:t>
                      </a:r>
                    </a:p>
                  </a:txBody>
                  <a:tcPr marL="68580" marR="68580" marT="0" marB="0" anchor="ctr"/>
                </a:tc>
                <a:tc>
                  <a:txBody>
                    <a:bodyPr/>
                    <a:lstStyle/>
                    <a:p>
                      <a:pPr algn="ctr">
                        <a:buNone/>
                      </a:pPr>
                      <a:r>
                        <a:rPr lang="en-US" sz="2000" dirty="0">
                          <a:solidFill>
                            <a:schemeClr val="tx1"/>
                          </a:solidFill>
                          <a:effectLst/>
                          <a:latin typeface="Times New Roman" panose="02020603050405020304" pitchFamily="18" charset="0"/>
                          <a:cs typeface="Times New Roman" panose="02020603050405020304" pitchFamily="18" charset="0"/>
                        </a:rPr>
                        <a:t>Solar Radiation, Temperature, Wind Speed, Humidity</a:t>
                      </a:r>
                    </a:p>
                  </a:txBody>
                  <a:tcPr marL="68580" marR="68580" marT="0" marB="0" anchor="ctr"/>
                </a:tc>
                <a:tc>
                  <a:txBody>
                    <a:bodyPr/>
                    <a:lstStyle/>
                    <a:p>
                      <a:pPr algn="ctr">
                        <a:buNone/>
                      </a:pPr>
                      <a:r>
                        <a:rPr lang="en-US" sz="2000" dirty="0">
                          <a:solidFill>
                            <a:schemeClr val="tx1"/>
                          </a:solidFill>
                          <a:effectLst/>
                          <a:latin typeface="Times New Roman" panose="02020603050405020304" pitchFamily="18" charset="0"/>
                          <a:cs typeface="Times New Roman" panose="02020603050405020304" pitchFamily="18" charset="0"/>
                        </a:rPr>
                        <a:t>Temperature, Wind Speed, Humidity, Solar Radiation, Weather Condition</a:t>
                      </a:r>
                    </a:p>
                  </a:txBody>
                  <a:tcPr marL="68580" marR="68580" marT="0" marB="0" anchor="ctr"/>
                </a:tc>
                <a:extLst>
                  <a:ext uri="{0D108BD9-81ED-4DB2-BD59-A6C34878D82A}">
                    <a16:rowId xmlns:a16="http://schemas.microsoft.com/office/drawing/2014/main" val="715652093"/>
                  </a:ext>
                </a:extLst>
              </a:tr>
              <a:tr h="574480">
                <a:tc>
                  <a:txBody>
                    <a:bodyPr/>
                    <a:lstStyle/>
                    <a:p>
                      <a:pPr algn="ctr">
                        <a:buNone/>
                      </a:pPr>
                      <a:r>
                        <a:rPr lang="en-US" sz="2000" dirty="0">
                          <a:solidFill>
                            <a:schemeClr val="bg1"/>
                          </a:solidFill>
                          <a:effectLst/>
                          <a:latin typeface="Times New Roman" panose="02020603050405020304" pitchFamily="18" charset="0"/>
                          <a:cs typeface="Times New Roman" panose="02020603050405020304" pitchFamily="18" charset="0"/>
                        </a:rPr>
                        <a:t>MAE (Solar Radiation)</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45.365</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35.13</a:t>
                      </a:r>
                    </a:p>
                  </a:txBody>
                  <a:tcPr marL="68580" marR="68580" marT="0" marB="0" anchor="ctr"/>
                </a:tc>
                <a:extLst>
                  <a:ext uri="{0D108BD9-81ED-4DB2-BD59-A6C34878D82A}">
                    <a16:rowId xmlns:a16="http://schemas.microsoft.com/office/drawing/2014/main" val="1740818036"/>
                  </a:ext>
                </a:extLst>
              </a:tr>
              <a:tr h="287240">
                <a:tc>
                  <a:txBody>
                    <a:bodyPr/>
                    <a:lstStyle/>
                    <a:p>
                      <a:pPr algn="ctr">
                        <a:buNone/>
                      </a:pPr>
                      <a:r>
                        <a:rPr lang="en-US" sz="2000">
                          <a:solidFill>
                            <a:schemeClr val="bg1"/>
                          </a:solidFill>
                          <a:effectLst/>
                          <a:latin typeface="Times New Roman" panose="02020603050405020304" pitchFamily="18" charset="0"/>
                          <a:cs typeface="Times New Roman" panose="02020603050405020304" pitchFamily="18" charset="0"/>
                        </a:rPr>
                        <a:t>R² (Solar Radiation)</a:t>
                      </a:r>
                    </a:p>
                  </a:txBody>
                  <a:tcPr marL="68580" marR="68580" marT="0" marB="0" anchor="ctr"/>
                </a:tc>
                <a:tc>
                  <a:txBody>
                    <a:bodyPr/>
                    <a:lstStyle/>
                    <a:p>
                      <a:pPr algn="ctr">
                        <a:buNone/>
                      </a:pPr>
                      <a:r>
                        <a:rPr lang="en-US" sz="2000" dirty="0">
                          <a:solidFill>
                            <a:schemeClr val="tx1"/>
                          </a:solidFill>
                          <a:effectLst/>
                          <a:latin typeface="Times New Roman" panose="02020603050405020304" pitchFamily="18" charset="0"/>
                          <a:cs typeface="Times New Roman" panose="02020603050405020304" pitchFamily="18" charset="0"/>
                        </a:rPr>
                        <a:t>0.867</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0.886</a:t>
                      </a:r>
                    </a:p>
                  </a:txBody>
                  <a:tcPr marL="68580" marR="68580" marT="0" marB="0" anchor="ctr"/>
                </a:tc>
                <a:extLst>
                  <a:ext uri="{0D108BD9-81ED-4DB2-BD59-A6C34878D82A}">
                    <a16:rowId xmlns:a16="http://schemas.microsoft.com/office/drawing/2014/main" val="3783883973"/>
                  </a:ext>
                </a:extLst>
              </a:tr>
              <a:tr h="287240">
                <a:tc>
                  <a:txBody>
                    <a:bodyPr/>
                    <a:lstStyle/>
                    <a:p>
                      <a:pPr algn="ctr">
                        <a:buNone/>
                      </a:pPr>
                      <a:r>
                        <a:rPr lang="en-US" sz="2000">
                          <a:solidFill>
                            <a:schemeClr val="bg1"/>
                          </a:solidFill>
                          <a:effectLst/>
                          <a:latin typeface="Times New Roman" panose="02020603050405020304" pitchFamily="18" charset="0"/>
                          <a:cs typeface="Times New Roman" panose="02020603050405020304" pitchFamily="18" charset="0"/>
                        </a:rPr>
                        <a:t>MAE (Temperature)</a:t>
                      </a:r>
                    </a:p>
                  </a:txBody>
                  <a:tcPr marL="68580" marR="68580" marT="0" marB="0" anchor="ctr"/>
                </a:tc>
                <a:tc>
                  <a:txBody>
                    <a:bodyPr/>
                    <a:lstStyle/>
                    <a:p>
                      <a:pPr algn="ctr">
                        <a:buNone/>
                      </a:pPr>
                      <a:r>
                        <a:rPr lang="en-US" sz="2000" dirty="0">
                          <a:solidFill>
                            <a:schemeClr val="tx1"/>
                          </a:solidFill>
                          <a:effectLst/>
                          <a:latin typeface="Times New Roman" panose="02020603050405020304" pitchFamily="18" charset="0"/>
                          <a:cs typeface="Times New Roman" panose="02020603050405020304" pitchFamily="18" charset="0"/>
                        </a:rPr>
                        <a:t>32.361</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0.84</a:t>
                      </a:r>
                    </a:p>
                  </a:txBody>
                  <a:tcPr marL="68580" marR="68580" marT="0" marB="0" anchor="ctr"/>
                </a:tc>
                <a:extLst>
                  <a:ext uri="{0D108BD9-81ED-4DB2-BD59-A6C34878D82A}">
                    <a16:rowId xmlns:a16="http://schemas.microsoft.com/office/drawing/2014/main" val="2576974137"/>
                  </a:ext>
                </a:extLst>
              </a:tr>
              <a:tr h="287240">
                <a:tc>
                  <a:txBody>
                    <a:bodyPr/>
                    <a:lstStyle/>
                    <a:p>
                      <a:pPr algn="ctr">
                        <a:buNone/>
                      </a:pPr>
                      <a:r>
                        <a:rPr lang="en-US" sz="2000">
                          <a:solidFill>
                            <a:schemeClr val="bg1"/>
                          </a:solidFill>
                          <a:effectLst/>
                          <a:latin typeface="Times New Roman" panose="02020603050405020304" pitchFamily="18" charset="0"/>
                          <a:cs typeface="Times New Roman" panose="02020603050405020304" pitchFamily="18" charset="0"/>
                        </a:rPr>
                        <a:t>R² (Temperature)</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0.844</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0.943</a:t>
                      </a:r>
                    </a:p>
                  </a:txBody>
                  <a:tcPr marL="68580" marR="68580" marT="0" marB="0" anchor="ctr"/>
                </a:tc>
                <a:extLst>
                  <a:ext uri="{0D108BD9-81ED-4DB2-BD59-A6C34878D82A}">
                    <a16:rowId xmlns:a16="http://schemas.microsoft.com/office/drawing/2014/main" val="2803550765"/>
                  </a:ext>
                </a:extLst>
              </a:tr>
              <a:tr h="287240">
                <a:tc>
                  <a:txBody>
                    <a:bodyPr/>
                    <a:lstStyle/>
                    <a:p>
                      <a:pPr algn="ctr">
                        <a:buNone/>
                      </a:pPr>
                      <a:r>
                        <a:rPr lang="en-US" sz="2000">
                          <a:solidFill>
                            <a:schemeClr val="bg1"/>
                          </a:solidFill>
                          <a:effectLst/>
                          <a:latin typeface="Times New Roman" panose="02020603050405020304" pitchFamily="18" charset="0"/>
                          <a:cs typeface="Times New Roman" panose="02020603050405020304" pitchFamily="18" charset="0"/>
                        </a:rPr>
                        <a:t>MAE (Wind Speed)</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170.598</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4.68</a:t>
                      </a:r>
                    </a:p>
                  </a:txBody>
                  <a:tcPr marL="68580" marR="68580" marT="0" marB="0" anchor="ctr"/>
                </a:tc>
                <a:extLst>
                  <a:ext uri="{0D108BD9-81ED-4DB2-BD59-A6C34878D82A}">
                    <a16:rowId xmlns:a16="http://schemas.microsoft.com/office/drawing/2014/main" val="1704985438"/>
                  </a:ext>
                </a:extLst>
              </a:tr>
              <a:tr h="287240">
                <a:tc>
                  <a:txBody>
                    <a:bodyPr/>
                    <a:lstStyle/>
                    <a:p>
                      <a:pPr algn="ctr">
                        <a:buNone/>
                      </a:pPr>
                      <a:r>
                        <a:rPr lang="en-US" sz="2000">
                          <a:solidFill>
                            <a:schemeClr val="bg1"/>
                          </a:solidFill>
                          <a:effectLst/>
                          <a:latin typeface="Times New Roman" panose="02020603050405020304" pitchFamily="18" charset="0"/>
                          <a:cs typeface="Times New Roman" panose="02020603050405020304" pitchFamily="18" charset="0"/>
                        </a:rPr>
                        <a:t>R² (Wind Speed)</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0.867</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0.885</a:t>
                      </a:r>
                    </a:p>
                  </a:txBody>
                  <a:tcPr marL="68580" marR="68580" marT="0" marB="0" anchor="ctr"/>
                </a:tc>
                <a:extLst>
                  <a:ext uri="{0D108BD9-81ED-4DB2-BD59-A6C34878D82A}">
                    <a16:rowId xmlns:a16="http://schemas.microsoft.com/office/drawing/2014/main" val="3060381659"/>
                  </a:ext>
                </a:extLst>
              </a:tr>
              <a:tr h="287240">
                <a:tc>
                  <a:txBody>
                    <a:bodyPr/>
                    <a:lstStyle/>
                    <a:p>
                      <a:pPr algn="ctr">
                        <a:buNone/>
                      </a:pPr>
                      <a:r>
                        <a:rPr lang="en-US" sz="2000" dirty="0">
                          <a:solidFill>
                            <a:schemeClr val="bg1"/>
                          </a:solidFill>
                          <a:effectLst/>
                          <a:latin typeface="Times New Roman" panose="02020603050405020304" pitchFamily="18" charset="0"/>
                          <a:cs typeface="Times New Roman" panose="02020603050405020304" pitchFamily="18" charset="0"/>
                        </a:rPr>
                        <a:t>MAE (Humidity)</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10.715</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6.078</a:t>
                      </a:r>
                    </a:p>
                  </a:txBody>
                  <a:tcPr marL="68580" marR="68580" marT="0" marB="0" anchor="ctr"/>
                </a:tc>
                <a:extLst>
                  <a:ext uri="{0D108BD9-81ED-4DB2-BD59-A6C34878D82A}">
                    <a16:rowId xmlns:a16="http://schemas.microsoft.com/office/drawing/2014/main" val="131660126"/>
                  </a:ext>
                </a:extLst>
              </a:tr>
              <a:tr h="287240">
                <a:tc>
                  <a:txBody>
                    <a:bodyPr/>
                    <a:lstStyle/>
                    <a:p>
                      <a:pPr algn="ctr">
                        <a:buNone/>
                      </a:pPr>
                      <a:r>
                        <a:rPr lang="en-US" sz="2000" dirty="0">
                          <a:solidFill>
                            <a:schemeClr val="bg1"/>
                          </a:solidFill>
                          <a:effectLst/>
                          <a:latin typeface="Times New Roman" panose="02020603050405020304" pitchFamily="18" charset="0"/>
                          <a:cs typeface="Times New Roman" panose="02020603050405020304" pitchFamily="18" charset="0"/>
                        </a:rPr>
                        <a:t>R² (Humidity)</a:t>
                      </a:r>
                    </a:p>
                  </a:txBody>
                  <a:tcPr marL="68580" marR="68580" marT="0" marB="0" anchor="ctr"/>
                </a:tc>
                <a:tc>
                  <a:txBody>
                    <a:bodyPr/>
                    <a:lstStyle/>
                    <a:p>
                      <a:pPr algn="ctr">
                        <a:buNone/>
                      </a:pPr>
                      <a:r>
                        <a:rPr lang="en-US" sz="2000" dirty="0">
                          <a:solidFill>
                            <a:schemeClr val="tx1"/>
                          </a:solidFill>
                          <a:effectLst/>
                          <a:latin typeface="Times New Roman" panose="02020603050405020304" pitchFamily="18" charset="0"/>
                          <a:cs typeface="Times New Roman" panose="02020603050405020304" pitchFamily="18" charset="0"/>
                        </a:rPr>
                        <a:t>0.581</a:t>
                      </a:r>
                    </a:p>
                  </a:txBody>
                  <a:tcPr marL="68580" marR="68580" marT="0" marB="0" anchor="ctr"/>
                </a:tc>
                <a:tc>
                  <a:txBody>
                    <a:bodyPr/>
                    <a:lstStyle/>
                    <a:p>
                      <a:pPr algn="ctr">
                        <a:buNone/>
                      </a:pPr>
                      <a:r>
                        <a:rPr lang="en-US" sz="2000" dirty="0">
                          <a:solidFill>
                            <a:schemeClr val="tx1"/>
                          </a:solidFill>
                          <a:effectLst/>
                          <a:latin typeface="Times New Roman" panose="02020603050405020304" pitchFamily="18" charset="0"/>
                          <a:cs typeface="Times New Roman" panose="02020603050405020304" pitchFamily="18" charset="0"/>
                        </a:rPr>
                        <a:t>0.629</a:t>
                      </a:r>
                    </a:p>
                  </a:txBody>
                  <a:tcPr marL="68580" marR="68580" marT="0" marB="0" anchor="ctr"/>
                </a:tc>
                <a:extLst>
                  <a:ext uri="{0D108BD9-81ED-4DB2-BD59-A6C34878D82A}">
                    <a16:rowId xmlns:a16="http://schemas.microsoft.com/office/drawing/2014/main" val="3311707212"/>
                  </a:ext>
                </a:extLst>
              </a:tr>
            </a:tbl>
          </a:graphicData>
        </a:graphic>
      </p:graphicFrame>
      <p:sp>
        <p:nvSpPr>
          <p:cNvPr id="4" name="TextBox 3">
            <a:extLst>
              <a:ext uri="{FF2B5EF4-FFF2-40B4-BE49-F238E27FC236}">
                <a16:creationId xmlns:a16="http://schemas.microsoft.com/office/drawing/2014/main" id="{9E5306A4-8567-A799-E854-A7C353466BB5}"/>
              </a:ext>
            </a:extLst>
          </p:cNvPr>
          <p:cNvSpPr txBox="1"/>
          <p:nvPr/>
        </p:nvSpPr>
        <p:spPr>
          <a:xfrm>
            <a:off x="729095" y="740110"/>
            <a:ext cx="7786255"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panose="02020603050405020304" pitchFamily="18" charset="0"/>
                <a:cs typeface="Times New Roman" panose="02020603050405020304" pitchFamily="18" charset="0"/>
              </a:rPr>
              <a:t>Table. </a:t>
            </a:r>
            <a:r>
              <a:rPr lang="en-US" sz="1200" dirty="0">
                <a:effectLst/>
                <a:latin typeface="Times New Roman" panose="02020603050405020304" pitchFamily="18" charset="0"/>
                <a:ea typeface="Calibri" panose="020F0502020204030204" pitchFamily="34" charset="0"/>
              </a:rPr>
              <a:t>Performance Comparison of Weather Forecasting Models</a:t>
            </a:r>
            <a:endParaRPr lang="en-US" sz="1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18846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CB4FC6BC-196A-CDF2-54E7-4F7F7FE23468}"/>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7EE7FA81-DBBA-B207-9A2B-B46F9DD9671F}"/>
              </a:ext>
            </a:extLst>
          </p:cNvPr>
          <p:cNvSpPr txBox="1">
            <a:spLocks noGrp="1"/>
          </p:cNvSpPr>
          <p:nvPr>
            <p:ph type="title"/>
          </p:nvPr>
        </p:nvSpPr>
        <p:spPr>
          <a:xfrm>
            <a:off x="0" y="1"/>
            <a:ext cx="9144000" cy="691664"/>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mj-lt"/>
                <a:sym typeface="Times New Roman" panose="02020603050405020304"/>
              </a:rPr>
              <a:t>Comparison with Existing Systems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lang="en-US" sz="2800" b="1" dirty="0">
              <a:solidFill>
                <a:srgbClr val="006600"/>
              </a:solidFill>
              <a:latin typeface="Bookman Old Style"/>
            </a:endParaRPr>
          </a:p>
        </p:txBody>
      </p:sp>
      <p:cxnSp>
        <p:nvCxnSpPr>
          <p:cNvPr id="6" name="Google Shape;1249;p100">
            <a:extLst>
              <a:ext uri="{FF2B5EF4-FFF2-40B4-BE49-F238E27FC236}">
                <a16:creationId xmlns:a16="http://schemas.microsoft.com/office/drawing/2014/main" id="{E1DE5CDA-5C92-B1D4-9EA8-CB58DD99A747}"/>
              </a:ext>
            </a:extLst>
          </p:cNvPr>
          <p:cNvCxnSpPr/>
          <p:nvPr/>
        </p:nvCxnSpPr>
        <p:spPr>
          <a:xfrm>
            <a:off x="0" y="694840"/>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B59E92DE-2309-84BA-AC5B-1A952EA2A7DC}"/>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22035F01-6CEC-FD14-3474-347BC5FA8045}"/>
              </a:ext>
            </a:extLst>
          </p:cNvPr>
          <p:cNvSpPr>
            <a:spLocks noGrp="1"/>
          </p:cNvSpPr>
          <p:nvPr>
            <p:ph type="sldNum" sz="quarter" idx="12"/>
          </p:nvPr>
        </p:nvSpPr>
        <p:spPr/>
        <p:txBody>
          <a:bodyPr/>
          <a:lstStyle/>
          <a:p>
            <a:fld id="{00000000-1234-1234-1234-123412341234}" type="slidenum">
              <a:rPr lang="en-US" smtClean="0"/>
              <a:t>53</a:t>
            </a:fld>
            <a:endParaRPr lang="en-US"/>
          </a:p>
        </p:txBody>
      </p:sp>
      <p:sp>
        <p:nvSpPr>
          <p:cNvPr id="25" name="TextBox 24">
            <a:extLst>
              <a:ext uri="{FF2B5EF4-FFF2-40B4-BE49-F238E27FC236}">
                <a16:creationId xmlns:a16="http://schemas.microsoft.com/office/drawing/2014/main" id="{2BB2C0B8-9F73-DBD3-D285-FEE431EFB9F6}"/>
              </a:ext>
            </a:extLst>
          </p:cNvPr>
          <p:cNvSpPr txBox="1"/>
          <p:nvPr/>
        </p:nvSpPr>
        <p:spPr>
          <a:xfrm>
            <a:off x="1194641" y="1021961"/>
            <a:ext cx="639765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dirty="0">
                <a:latin typeface="Times New Roman"/>
                <a:cs typeface="Times New Roman"/>
              </a:rPr>
              <a:t>Table. Comparative Analysis of Existing Systems and Proposed </a:t>
            </a:r>
            <a:r>
              <a:rPr lang="en-US" sz="1200" dirty="0" err="1">
                <a:latin typeface="Times New Roman"/>
                <a:cs typeface="Times New Roman"/>
              </a:rPr>
              <a:t>AgriTwin</a:t>
            </a:r>
            <a:r>
              <a:rPr lang="en-US" sz="1200" dirty="0">
                <a:latin typeface="Times New Roman"/>
                <a:cs typeface="Times New Roman"/>
              </a:rPr>
              <a:t>-GH Framework</a:t>
            </a:r>
          </a:p>
        </p:txBody>
      </p:sp>
      <p:graphicFrame>
        <p:nvGraphicFramePr>
          <p:cNvPr id="10" name="Table 9">
            <a:extLst>
              <a:ext uri="{FF2B5EF4-FFF2-40B4-BE49-F238E27FC236}">
                <a16:creationId xmlns:a16="http://schemas.microsoft.com/office/drawing/2014/main" id="{02F07EBC-A5B3-A2B5-F714-2A4AA259BEBA}"/>
              </a:ext>
            </a:extLst>
          </p:cNvPr>
          <p:cNvGraphicFramePr>
            <a:graphicFrameLocks noGrp="1"/>
          </p:cNvGraphicFramePr>
          <p:nvPr>
            <p:extLst>
              <p:ext uri="{D42A27DB-BD31-4B8C-83A1-F6EECF244321}">
                <p14:modId xmlns:p14="http://schemas.microsoft.com/office/powerpoint/2010/main" val="160900640"/>
              </p:ext>
            </p:extLst>
          </p:nvPr>
        </p:nvGraphicFramePr>
        <p:xfrm>
          <a:off x="337838" y="1395556"/>
          <a:ext cx="8111256" cy="4767604"/>
        </p:xfrm>
        <a:graphic>
          <a:graphicData uri="http://schemas.openxmlformats.org/drawingml/2006/table">
            <a:tbl>
              <a:tblPr firstRow="1" firstCol="1" bandRow="1">
                <a:tableStyleId>{5C22544A-7EE6-4342-B048-85BDC9FD1C3A}</a:tableStyleId>
              </a:tblPr>
              <a:tblGrid>
                <a:gridCol w="2027814">
                  <a:extLst>
                    <a:ext uri="{9D8B030D-6E8A-4147-A177-3AD203B41FA5}">
                      <a16:colId xmlns:a16="http://schemas.microsoft.com/office/drawing/2014/main" val="1406541076"/>
                    </a:ext>
                  </a:extLst>
                </a:gridCol>
                <a:gridCol w="2027814">
                  <a:extLst>
                    <a:ext uri="{9D8B030D-6E8A-4147-A177-3AD203B41FA5}">
                      <a16:colId xmlns:a16="http://schemas.microsoft.com/office/drawing/2014/main" val="3911796161"/>
                    </a:ext>
                  </a:extLst>
                </a:gridCol>
                <a:gridCol w="2027814">
                  <a:extLst>
                    <a:ext uri="{9D8B030D-6E8A-4147-A177-3AD203B41FA5}">
                      <a16:colId xmlns:a16="http://schemas.microsoft.com/office/drawing/2014/main" val="25155913"/>
                    </a:ext>
                  </a:extLst>
                </a:gridCol>
                <a:gridCol w="2027814">
                  <a:extLst>
                    <a:ext uri="{9D8B030D-6E8A-4147-A177-3AD203B41FA5}">
                      <a16:colId xmlns:a16="http://schemas.microsoft.com/office/drawing/2014/main" val="4216966919"/>
                    </a:ext>
                  </a:extLst>
                </a:gridCol>
              </a:tblGrid>
              <a:tr h="707402">
                <a:tc>
                  <a:txBody>
                    <a:bodyPr/>
                    <a:lstStyle/>
                    <a:p>
                      <a:pPr algn="ctr">
                        <a:buNone/>
                      </a:pPr>
                      <a:r>
                        <a:rPr lang="en-US" sz="2000" b="1" dirty="0">
                          <a:solidFill>
                            <a:schemeClr val="bg1"/>
                          </a:solidFill>
                          <a:effectLst/>
                          <a:latin typeface="Times New Roman" panose="02020603050405020304" pitchFamily="18" charset="0"/>
                          <a:cs typeface="Times New Roman" panose="02020603050405020304" pitchFamily="18" charset="0"/>
                        </a:rPr>
                        <a:t>Criteria</a:t>
                      </a:r>
                      <a:endParaRPr lang="en-US" sz="2000" dirty="0">
                        <a:solidFill>
                          <a:schemeClr val="bg1"/>
                        </a:solidFill>
                        <a:effectLst/>
                        <a:latin typeface="Times New Roman" panose="02020603050405020304" pitchFamily="18" charset="0"/>
                        <a:cs typeface="Times New Roman" panose="02020603050405020304" pitchFamily="18" charset="0"/>
                      </a:endParaRPr>
                    </a:p>
                  </a:txBody>
                  <a:tcPr marL="68580" marR="68580" marT="0" marB="0" anchor="ctr"/>
                </a:tc>
                <a:tc>
                  <a:txBody>
                    <a:bodyPr/>
                    <a:lstStyle/>
                    <a:p>
                      <a:pPr algn="ctr">
                        <a:buNone/>
                      </a:pPr>
                      <a:r>
                        <a:rPr lang="en-US" sz="2000" b="1">
                          <a:solidFill>
                            <a:schemeClr val="bg1"/>
                          </a:solidFill>
                          <a:effectLst/>
                          <a:latin typeface="Times New Roman" panose="02020603050405020304" pitchFamily="18" charset="0"/>
                          <a:cs typeface="Times New Roman" panose="02020603050405020304" pitchFamily="18" charset="0"/>
                        </a:rPr>
                        <a:t>IoT-Based Systems</a:t>
                      </a:r>
                      <a:endParaRPr lang="en-US" sz="2000">
                        <a:solidFill>
                          <a:schemeClr val="bg1"/>
                        </a:solidFill>
                        <a:effectLst/>
                        <a:latin typeface="Times New Roman" panose="02020603050405020304" pitchFamily="18" charset="0"/>
                        <a:cs typeface="Times New Roman" panose="02020603050405020304" pitchFamily="18" charset="0"/>
                      </a:endParaRPr>
                    </a:p>
                  </a:txBody>
                  <a:tcPr marL="68580" marR="68580" marT="0" marB="0" anchor="ctr"/>
                </a:tc>
                <a:tc>
                  <a:txBody>
                    <a:bodyPr/>
                    <a:lstStyle/>
                    <a:p>
                      <a:pPr algn="ctr">
                        <a:buNone/>
                      </a:pPr>
                      <a:r>
                        <a:rPr lang="en-US" sz="2000" b="1">
                          <a:solidFill>
                            <a:schemeClr val="bg1"/>
                          </a:solidFill>
                          <a:effectLst/>
                          <a:latin typeface="Times New Roman" panose="02020603050405020304" pitchFamily="18" charset="0"/>
                          <a:cs typeface="Times New Roman" panose="02020603050405020304" pitchFamily="18" charset="0"/>
                        </a:rPr>
                        <a:t>Digital Twin Systems</a:t>
                      </a:r>
                      <a:endParaRPr lang="en-US" sz="2000">
                        <a:solidFill>
                          <a:schemeClr val="bg1"/>
                        </a:solidFill>
                        <a:effectLst/>
                        <a:latin typeface="Times New Roman" panose="02020603050405020304" pitchFamily="18" charset="0"/>
                        <a:cs typeface="Times New Roman" panose="02020603050405020304" pitchFamily="18" charset="0"/>
                      </a:endParaRPr>
                    </a:p>
                  </a:txBody>
                  <a:tcPr marL="68580" marR="68580" marT="0" marB="0" anchor="ctr"/>
                </a:tc>
                <a:tc>
                  <a:txBody>
                    <a:bodyPr/>
                    <a:lstStyle/>
                    <a:p>
                      <a:pPr algn="ctr">
                        <a:buNone/>
                      </a:pPr>
                      <a:r>
                        <a:rPr lang="en-US" sz="2000" b="1" dirty="0" err="1">
                          <a:solidFill>
                            <a:schemeClr val="bg1"/>
                          </a:solidFill>
                          <a:effectLst/>
                          <a:latin typeface="Times New Roman" panose="02020603050405020304" pitchFamily="18" charset="0"/>
                          <a:cs typeface="Times New Roman" panose="02020603050405020304" pitchFamily="18" charset="0"/>
                        </a:rPr>
                        <a:t>AgriTwin</a:t>
                      </a:r>
                      <a:r>
                        <a:rPr lang="en-US" sz="2000" b="1" dirty="0">
                          <a:solidFill>
                            <a:schemeClr val="bg1"/>
                          </a:solidFill>
                          <a:effectLst/>
                          <a:latin typeface="Times New Roman" panose="02020603050405020304" pitchFamily="18" charset="0"/>
                          <a:cs typeface="Times New Roman" panose="02020603050405020304" pitchFamily="18" charset="0"/>
                        </a:rPr>
                        <a:t>-GH (Proposed)</a:t>
                      </a:r>
                      <a:endParaRPr lang="en-US" sz="2000" dirty="0">
                        <a:solidFill>
                          <a:schemeClr val="bg1"/>
                        </a:solidFill>
                        <a:effectLst/>
                        <a:latin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val="2455692523"/>
                  </a:ext>
                </a:extLst>
              </a:tr>
              <a:tr h="707402">
                <a:tc>
                  <a:txBody>
                    <a:bodyPr/>
                    <a:lstStyle/>
                    <a:p>
                      <a:pPr algn="ctr">
                        <a:buNone/>
                      </a:pPr>
                      <a:r>
                        <a:rPr lang="en-US" sz="2000" dirty="0">
                          <a:solidFill>
                            <a:schemeClr val="bg1"/>
                          </a:solidFill>
                          <a:effectLst/>
                          <a:latin typeface="Times New Roman" panose="02020603050405020304" pitchFamily="18" charset="0"/>
                          <a:cs typeface="Times New Roman" panose="02020603050405020304" pitchFamily="18" charset="0"/>
                        </a:rPr>
                        <a:t>Monitoring Capability</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Real-time sensor-based monitoring</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Real-time + virtual monitoring</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Multi-source intelligent monitoring</a:t>
                      </a:r>
                    </a:p>
                  </a:txBody>
                  <a:tcPr marL="68580" marR="68580" marT="0" marB="0" anchor="ctr"/>
                </a:tc>
                <a:extLst>
                  <a:ext uri="{0D108BD9-81ED-4DB2-BD59-A6C34878D82A}">
                    <a16:rowId xmlns:a16="http://schemas.microsoft.com/office/drawing/2014/main" val="3782946808"/>
                  </a:ext>
                </a:extLst>
              </a:tr>
              <a:tr h="581081">
                <a:tc>
                  <a:txBody>
                    <a:bodyPr/>
                    <a:lstStyle/>
                    <a:p>
                      <a:pPr algn="ctr">
                        <a:buNone/>
                      </a:pPr>
                      <a:r>
                        <a:rPr lang="en-US" sz="2000" dirty="0">
                          <a:solidFill>
                            <a:schemeClr val="bg1"/>
                          </a:solidFill>
                          <a:effectLst/>
                          <a:latin typeface="Times New Roman" panose="02020603050405020304" pitchFamily="18" charset="0"/>
                          <a:cs typeface="Times New Roman" panose="02020603050405020304" pitchFamily="18" charset="0"/>
                        </a:rPr>
                        <a:t>Disease Detection</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Not supported</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Limited</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Integrated AI-based detection</a:t>
                      </a:r>
                    </a:p>
                  </a:txBody>
                  <a:tcPr marL="68580" marR="68580" marT="0" marB="0" anchor="ctr"/>
                </a:tc>
                <a:extLst>
                  <a:ext uri="{0D108BD9-81ED-4DB2-BD59-A6C34878D82A}">
                    <a16:rowId xmlns:a16="http://schemas.microsoft.com/office/drawing/2014/main" val="4120229267"/>
                  </a:ext>
                </a:extLst>
              </a:tr>
              <a:tr h="884253">
                <a:tc>
                  <a:txBody>
                    <a:bodyPr/>
                    <a:lstStyle/>
                    <a:p>
                      <a:pPr algn="ctr">
                        <a:buNone/>
                      </a:pPr>
                      <a:r>
                        <a:rPr lang="en-US" sz="2000" dirty="0">
                          <a:solidFill>
                            <a:schemeClr val="bg1"/>
                          </a:solidFill>
                          <a:effectLst/>
                          <a:latin typeface="Times New Roman" panose="02020603050405020304" pitchFamily="18" charset="0"/>
                          <a:cs typeface="Times New Roman" panose="02020603050405020304" pitchFamily="18" charset="0"/>
                        </a:rPr>
                        <a:t>Control Strategy</a:t>
                      </a:r>
                    </a:p>
                  </a:txBody>
                  <a:tcPr marL="68580" marR="68580" marT="0" marB="0" anchor="ctr"/>
                </a:tc>
                <a:tc>
                  <a:txBody>
                    <a:bodyPr/>
                    <a:lstStyle/>
                    <a:p>
                      <a:pPr algn="ctr">
                        <a:buNone/>
                      </a:pPr>
                      <a:r>
                        <a:rPr lang="en-US" sz="2000" dirty="0">
                          <a:solidFill>
                            <a:schemeClr val="tx1"/>
                          </a:solidFill>
                          <a:effectLst/>
                          <a:latin typeface="Times New Roman" panose="02020603050405020304" pitchFamily="18" charset="0"/>
                          <a:cs typeface="Times New Roman" panose="02020603050405020304" pitchFamily="18" charset="0"/>
                        </a:rPr>
                        <a:t>Semi-automated</a:t>
                      </a:r>
                    </a:p>
                  </a:txBody>
                  <a:tcPr marL="68580" marR="68580" marT="0" marB="0" anchor="ctr"/>
                </a:tc>
                <a:tc>
                  <a:txBody>
                    <a:bodyPr/>
                    <a:lstStyle/>
                    <a:p>
                      <a:pPr algn="ctr">
                        <a:buNone/>
                      </a:pPr>
                      <a:r>
                        <a:rPr lang="en-US" sz="2000" dirty="0">
                          <a:solidFill>
                            <a:schemeClr val="tx1"/>
                          </a:solidFill>
                          <a:effectLst/>
                          <a:latin typeface="Times New Roman" panose="02020603050405020304" pitchFamily="18" charset="0"/>
                          <a:cs typeface="Times New Roman" panose="02020603050405020304" pitchFamily="18" charset="0"/>
                        </a:rPr>
                        <a:t>Predictive (MPC-based)</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Predictive + MPC &amp; Simulation-based control</a:t>
                      </a:r>
                    </a:p>
                  </a:txBody>
                  <a:tcPr marL="68580" marR="68580" marT="0" marB="0" anchor="ctr"/>
                </a:tc>
                <a:extLst>
                  <a:ext uri="{0D108BD9-81ED-4DB2-BD59-A6C34878D82A}">
                    <a16:rowId xmlns:a16="http://schemas.microsoft.com/office/drawing/2014/main" val="2036502704"/>
                  </a:ext>
                </a:extLst>
              </a:tr>
              <a:tr h="707402">
                <a:tc>
                  <a:txBody>
                    <a:bodyPr/>
                    <a:lstStyle/>
                    <a:p>
                      <a:pPr algn="ctr">
                        <a:buNone/>
                      </a:pPr>
                      <a:r>
                        <a:rPr lang="en-US" sz="2000" dirty="0">
                          <a:solidFill>
                            <a:schemeClr val="bg1"/>
                          </a:solidFill>
                          <a:effectLst/>
                          <a:latin typeface="Times New Roman" panose="02020603050405020304" pitchFamily="18" charset="0"/>
                          <a:cs typeface="Times New Roman" panose="02020603050405020304" pitchFamily="18" charset="0"/>
                        </a:rPr>
                        <a:t>AI/ML Integration</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Minimal</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Moderate</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Fully integrated AI framework</a:t>
                      </a:r>
                    </a:p>
                  </a:txBody>
                  <a:tcPr marL="68580" marR="68580" marT="0" marB="0" anchor="ctr"/>
                </a:tc>
                <a:extLst>
                  <a:ext uri="{0D108BD9-81ED-4DB2-BD59-A6C34878D82A}">
                    <a16:rowId xmlns:a16="http://schemas.microsoft.com/office/drawing/2014/main" val="1984839642"/>
                  </a:ext>
                </a:extLst>
              </a:tr>
              <a:tr h="707402">
                <a:tc>
                  <a:txBody>
                    <a:bodyPr/>
                    <a:lstStyle/>
                    <a:p>
                      <a:pPr algn="ctr">
                        <a:buNone/>
                      </a:pPr>
                      <a:r>
                        <a:rPr lang="en-US" sz="2000" dirty="0">
                          <a:solidFill>
                            <a:schemeClr val="bg1"/>
                          </a:solidFill>
                          <a:effectLst/>
                          <a:latin typeface="Times New Roman" panose="02020603050405020304" pitchFamily="18" charset="0"/>
                          <a:cs typeface="Times New Roman" panose="02020603050405020304" pitchFamily="18" charset="0"/>
                        </a:rPr>
                        <a:t>Decision Support</a:t>
                      </a:r>
                    </a:p>
                  </a:txBody>
                  <a:tcPr marL="68580" marR="68580" marT="0" marB="0" anchor="ctr"/>
                </a:tc>
                <a:tc>
                  <a:txBody>
                    <a:bodyPr/>
                    <a:lstStyle/>
                    <a:p>
                      <a:pPr algn="ctr">
                        <a:buNone/>
                      </a:pPr>
                      <a:r>
                        <a:rPr lang="en-US" sz="2000" dirty="0">
                          <a:solidFill>
                            <a:schemeClr val="tx1"/>
                          </a:solidFill>
                          <a:effectLst/>
                          <a:latin typeface="Times New Roman" panose="02020603050405020304" pitchFamily="18" charset="0"/>
                          <a:cs typeface="Times New Roman" panose="02020603050405020304" pitchFamily="18" charset="0"/>
                        </a:rPr>
                        <a:t>Limited</a:t>
                      </a:r>
                    </a:p>
                  </a:txBody>
                  <a:tcPr marL="68580" marR="68580" marT="0" marB="0" anchor="ctr"/>
                </a:tc>
                <a:tc>
                  <a:txBody>
                    <a:bodyPr/>
                    <a:lstStyle/>
                    <a:p>
                      <a:pPr algn="ctr">
                        <a:buNone/>
                      </a:pPr>
                      <a:r>
                        <a:rPr lang="en-US" sz="2000">
                          <a:solidFill>
                            <a:schemeClr val="tx1"/>
                          </a:solidFill>
                          <a:effectLst/>
                          <a:latin typeface="Times New Roman" panose="02020603050405020304" pitchFamily="18" charset="0"/>
                          <a:cs typeface="Times New Roman" panose="02020603050405020304" pitchFamily="18" charset="0"/>
                        </a:rPr>
                        <a:t>High</a:t>
                      </a:r>
                    </a:p>
                  </a:txBody>
                  <a:tcPr marL="68580" marR="68580" marT="0" marB="0" anchor="ctr"/>
                </a:tc>
                <a:tc>
                  <a:txBody>
                    <a:bodyPr/>
                    <a:lstStyle/>
                    <a:p>
                      <a:pPr algn="ctr">
                        <a:buNone/>
                      </a:pPr>
                      <a:r>
                        <a:rPr lang="en-US" sz="2000" dirty="0">
                          <a:solidFill>
                            <a:schemeClr val="tx1"/>
                          </a:solidFill>
                          <a:effectLst/>
                          <a:latin typeface="Times New Roman" panose="02020603050405020304" pitchFamily="18" charset="0"/>
                          <a:cs typeface="Times New Roman" panose="02020603050405020304" pitchFamily="18" charset="0"/>
                        </a:rPr>
                        <a:t>Intelligent decision-support system</a:t>
                      </a:r>
                    </a:p>
                  </a:txBody>
                  <a:tcPr marL="68580" marR="68580" marT="0" marB="0" anchor="ctr"/>
                </a:tc>
                <a:extLst>
                  <a:ext uri="{0D108BD9-81ED-4DB2-BD59-A6C34878D82A}">
                    <a16:rowId xmlns:a16="http://schemas.microsoft.com/office/drawing/2014/main" val="4090435569"/>
                  </a:ext>
                </a:extLst>
              </a:tr>
            </a:tbl>
          </a:graphicData>
        </a:graphic>
      </p:graphicFrame>
    </p:spTree>
    <p:extLst>
      <p:ext uri="{BB962C8B-B14F-4D97-AF65-F5344CB8AC3E}">
        <p14:creationId xmlns:p14="http://schemas.microsoft.com/office/powerpoint/2010/main" val="15103280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256">
          <a:extLst>
            <a:ext uri="{FF2B5EF4-FFF2-40B4-BE49-F238E27FC236}">
              <a16:creationId xmlns:a16="http://schemas.microsoft.com/office/drawing/2014/main" id="{E2CFF97D-7B34-24AA-E9A7-98FF0DE6B5AA}"/>
            </a:ext>
          </a:extLst>
        </p:cNvPr>
        <p:cNvGrpSpPr/>
        <p:nvPr/>
      </p:nvGrpSpPr>
      <p:grpSpPr>
        <a:xfrm>
          <a:off x="0" y="0"/>
          <a:ext cx="0" cy="0"/>
          <a:chOff x="0" y="0"/>
          <a:chExt cx="0" cy="0"/>
        </a:xfrm>
      </p:grpSpPr>
      <p:sp>
        <p:nvSpPr>
          <p:cNvPr id="1257" name="Google Shape;1257;p101">
            <a:extLst>
              <a:ext uri="{FF2B5EF4-FFF2-40B4-BE49-F238E27FC236}">
                <a16:creationId xmlns:a16="http://schemas.microsoft.com/office/drawing/2014/main" id="{19CC8038-64CA-52C0-5432-B4B373079C07}"/>
              </a:ext>
            </a:extLst>
          </p:cNvPr>
          <p:cNvSpPr txBox="1">
            <a:spLocks noGrp="1"/>
          </p:cNvSpPr>
          <p:nvPr>
            <p:ph type="title"/>
          </p:nvPr>
        </p:nvSpPr>
        <p:spPr>
          <a:xfrm>
            <a:off x="0" y="1"/>
            <a:ext cx="9144000" cy="691664"/>
          </a:xfrm>
          <a:prstGeom prst="rect">
            <a:avLst/>
          </a:prstGeom>
          <a:noFill/>
          <a:ln>
            <a:noFill/>
          </a:ln>
        </p:spPr>
        <p:txBody>
          <a:bodyPr spcFirstLastPara="1" wrap="square" lIns="91425" tIns="45700" rIns="91425" bIns="45700" anchor="ctr" anchorCtr="0">
            <a:noAutofit/>
          </a:bodyPr>
          <a:lstStyle/>
          <a:p>
            <a:pPr algn="ctr">
              <a:spcBef>
                <a:spcPts val="0"/>
              </a:spcBef>
            </a:pPr>
            <a:r>
              <a:rPr lang="en-US" sz="2800" b="1" dirty="0">
                <a:solidFill>
                  <a:srgbClr val="006600"/>
                </a:solidFill>
                <a:latin typeface="Bookman Old Style"/>
                <a:ea typeface="+mj-lt"/>
                <a:cs typeface="+mj-lt"/>
                <a:sym typeface="Times New Roman" panose="02020603050405020304"/>
              </a:rPr>
              <a:t>Conclusion with Future Work</a:t>
            </a:r>
            <a:endParaRPr lang="en-US" dirty="0">
              <a:solidFill>
                <a:srgbClr val="006600"/>
              </a:solidFill>
              <a:latin typeface="Bookman Old Style"/>
            </a:endParaRPr>
          </a:p>
        </p:txBody>
      </p:sp>
      <p:sp>
        <p:nvSpPr>
          <p:cNvPr id="1258" name="Google Shape;1258;p101">
            <a:extLst>
              <a:ext uri="{FF2B5EF4-FFF2-40B4-BE49-F238E27FC236}">
                <a16:creationId xmlns:a16="http://schemas.microsoft.com/office/drawing/2014/main" id="{DB72DF46-D742-6E5E-9767-4AD1B096F969}"/>
              </a:ext>
            </a:extLst>
          </p:cNvPr>
          <p:cNvSpPr txBox="1">
            <a:spLocks noGrp="1"/>
          </p:cNvSpPr>
          <p:nvPr>
            <p:ph idx="1"/>
          </p:nvPr>
        </p:nvSpPr>
        <p:spPr>
          <a:xfrm>
            <a:off x="114300" y="649039"/>
            <a:ext cx="8915400" cy="5831659"/>
          </a:xfrm>
          <a:prstGeom prst="rect">
            <a:avLst/>
          </a:prstGeom>
          <a:noFill/>
          <a:ln>
            <a:noFill/>
          </a:ln>
        </p:spPr>
        <p:txBody>
          <a:bodyPr spcFirstLastPara="1" wrap="square" lIns="91425" tIns="45700" rIns="91425" bIns="45700" anchor="t" anchorCtr="0">
            <a:noAutofit/>
          </a:bodyPr>
          <a:lstStyle/>
          <a:p>
            <a:pPr algn="just">
              <a:buFont typeface="Wingdings" panose="020B0604020202020204" pitchFamily="34" charset="0"/>
              <a:buChar char="q"/>
            </a:pPr>
            <a:r>
              <a:rPr lang="en-US" sz="2000" dirty="0">
                <a:latin typeface="Times New Roman" panose="02020603050405020304" pitchFamily="18" charset="0"/>
                <a:ea typeface="+mn-lt"/>
                <a:cs typeface="Times New Roman" panose="02020603050405020304" pitchFamily="18" charset="0"/>
              </a:rPr>
              <a:t> </a:t>
            </a:r>
            <a:r>
              <a:rPr lang="en-IN" sz="2000" dirty="0">
                <a:latin typeface="Times New Roman" panose="02020603050405020304" pitchFamily="18" charset="0"/>
                <a:cs typeface="Times New Roman" panose="02020603050405020304" pitchFamily="18" charset="0"/>
              </a:rPr>
              <a:t>This work presented </a:t>
            </a:r>
            <a:r>
              <a:rPr lang="en-IN" sz="2000" dirty="0" err="1">
                <a:latin typeface="Times New Roman" panose="02020603050405020304" pitchFamily="18" charset="0"/>
                <a:cs typeface="Times New Roman" panose="02020603050405020304" pitchFamily="18" charset="0"/>
              </a:rPr>
              <a:t>AgriTwin</a:t>
            </a:r>
            <a:r>
              <a:rPr lang="en-IN" sz="2000" dirty="0">
                <a:latin typeface="Times New Roman" panose="02020603050405020304" pitchFamily="18" charset="0"/>
                <a:cs typeface="Times New Roman" panose="02020603050405020304" pitchFamily="18" charset="0"/>
              </a:rPr>
              <a:t>-GH, an AI-driven digital twin framework that integrates environmental data, plant intelligence, predictive analytics, and MPC for intelligent greenhouse management.</a:t>
            </a:r>
          </a:p>
          <a:p>
            <a:pPr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 The system enables predictive and proactive decision-making, continuously analyzing environmental and plant data to detect early stress/disease, forecast crop development, and validate control strategies in a virtual greenhouse.</a:t>
            </a:r>
            <a:endParaRPr lang="en-US" sz="2000" dirty="0">
              <a:latin typeface="Times New Roman" panose="02020603050405020304" pitchFamily="18" charset="0"/>
              <a:ea typeface="+mn-lt"/>
              <a:cs typeface="Times New Roman" panose="02020603050405020304" pitchFamily="18" charset="0"/>
            </a:endParaRPr>
          </a:p>
          <a:p>
            <a:pPr algn="just">
              <a:buFont typeface="Wingdings" panose="020B0604020202020204" pitchFamily="34" charset="0"/>
              <a:buChar char="q"/>
            </a:pPr>
            <a:r>
              <a:rPr lang="en-US" sz="2000" dirty="0">
                <a:latin typeface="Times New Roman" panose="02020603050405020304" pitchFamily="18" charset="0"/>
                <a:ea typeface="+mn-lt"/>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A key contribution is the sensor-independent digital twin, where processed datasets act as virtual sensors, reducing infrastructure requirements while maintaining reliable system behavior.</a:t>
            </a:r>
            <a:endParaRPr lang="en-US" sz="2000" dirty="0">
              <a:latin typeface="Times New Roman" panose="02020603050405020304" pitchFamily="18" charset="0"/>
              <a:ea typeface="+mn-lt"/>
              <a:cs typeface="Times New Roman" panose="02020603050405020304" pitchFamily="18" charset="0"/>
            </a:endParaRPr>
          </a:p>
          <a:p>
            <a:pPr algn="just">
              <a:buFont typeface="Wingdings" panose="020B0604020202020204" pitchFamily="34" charset="0"/>
              <a:buChar char="q"/>
            </a:pPr>
            <a:r>
              <a:rPr lang="en-US" sz="2000" dirty="0">
                <a:latin typeface="Times New Roman" panose="02020603050405020304" pitchFamily="18" charset="0"/>
                <a:ea typeface="+mn-lt"/>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The framework improves crop health, resource efficiency, and operational reliability, providing a scalable and cost-effective solution for climate-resilient and precision agriculture.</a:t>
            </a:r>
          </a:p>
          <a:p>
            <a:pPr algn="just">
              <a:buFont typeface="Wingdings" panose="020B0604020202020204" pitchFamily="34" charset="0"/>
              <a:buChar char="q"/>
            </a:pPr>
            <a:r>
              <a:rPr lang="en-US" sz="2000" dirty="0">
                <a:latin typeface="Times New Roman" panose="02020603050405020304" pitchFamily="18" charset="0"/>
                <a:ea typeface="+mn-lt"/>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Future work includes integration of real-time IoT sensors for full synchronization between physical greenhouse and digital twin. The system will be extended to multi-crop and multi-disease support.</a:t>
            </a:r>
          </a:p>
          <a:p>
            <a:pPr algn="just">
              <a:buFont typeface="Wingdings" panose="020B0604020202020204" pitchFamily="34" charset="0"/>
              <a:buChar char="q"/>
            </a:pPr>
            <a:r>
              <a:rPr lang="en-US" sz="2000" dirty="0">
                <a:latin typeface="Times New Roman" panose="02020603050405020304" pitchFamily="18" charset="0"/>
                <a:cs typeface="Times New Roman" panose="02020603050405020304" pitchFamily="18" charset="0"/>
              </a:rPr>
              <a:t> Reinforcement learning-based control will be introduced to enable adaptive, self-improving decision strategies based on historical and real-time data. Further enhancements include edge AI deployment, scalability across greenhouse setups, and evaluation of resource efficiency, carbon reduction, and sustainability metrics.</a:t>
            </a:r>
            <a:endParaRPr lang="en-US" sz="2000" dirty="0">
              <a:latin typeface="Times New Roman" panose="02020603050405020304" pitchFamily="18" charset="0"/>
              <a:ea typeface="+mn-lt"/>
              <a:cs typeface="Times New Roman" panose="02020603050405020304" pitchFamily="18" charset="0"/>
            </a:endParaRPr>
          </a:p>
        </p:txBody>
      </p:sp>
      <p:cxnSp>
        <p:nvCxnSpPr>
          <p:cNvPr id="6" name="Google Shape;1249;p100">
            <a:extLst>
              <a:ext uri="{FF2B5EF4-FFF2-40B4-BE49-F238E27FC236}">
                <a16:creationId xmlns:a16="http://schemas.microsoft.com/office/drawing/2014/main" id="{4071E811-5C00-8831-F546-850E02BF6162}"/>
              </a:ext>
            </a:extLst>
          </p:cNvPr>
          <p:cNvCxnSpPr/>
          <p:nvPr/>
        </p:nvCxnSpPr>
        <p:spPr>
          <a:xfrm>
            <a:off x="0" y="639420"/>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0D595B51-C3DB-9D49-CB57-C65277920B55}"/>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E3CDE522-16DE-0058-BA63-404D10043BB5}"/>
              </a:ext>
            </a:extLst>
          </p:cNvPr>
          <p:cNvSpPr>
            <a:spLocks noGrp="1"/>
          </p:cNvSpPr>
          <p:nvPr>
            <p:ph type="sldNum" sz="quarter" idx="12"/>
          </p:nvPr>
        </p:nvSpPr>
        <p:spPr/>
        <p:txBody>
          <a:bodyPr/>
          <a:lstStyle/>
          <a:p>
            <a:fld id="{00000000-1234-1234-1234-123412341234}" type="slidenum">
              <a:rPr lang="en-US" smtClean="0"/>
              <a:t>54</a:t>
            </a:fld>
            <a:endParaRPr lang="en-US"/>
          </a:p>
        </p:txBody>
      </p:sp>
    </p:spTree>
    <p:extLst>
      <p:ext uri="{BB962C8B-B14F-4D97-AF65-F5344CB8AC3E}">
        <p14:creationId xmlns:p14="http://schemas.microsoft.com/office/powerpoint/2010/main" val="34008905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256"/>
        <p:cNvGrpSpPr/>
        <p:nvPr/>
      </p:nvGrpSpPr>
      <p:grpSpPr>
        <a:xfrm>
          <a:off x="0" y="0"/>
          <a:ext cx="0" cy="0"/>
          <a:chOff x="0" y="0"/>
          <a:chExt cx="0" cy="0"/>
        </a:xfrm>
      </p:grpSpPr>
      <p:sp>
        <p:nvSpPr>
          <p:cNvPr id="1257" name="Google Shape;1257;p101"/>
          <p:cNvSpPr txBox="1">
            <a:spLocks noGrp="1"/>
          </p:cNvSpPr>
          <p:nvPr>
            <p:ph type="title"/>
          </p:nvPr>
        </p:nvSpPr>
        <p:spPr>
          <a:xfrm>
            <a:off x="0" y="1"/>
            <a:ext cx="9144000" cy="691664"/>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IN" sz="2800" b="1" dirty="0">
                <a:solidFill>
                  <a:srgbClr val="006600"/>
                </a:solidFill>
                <a:latin typeface="Bookman Old Style" panose="02050604050505020204" pitchFamily="18" charset="0"/>
                <a:cs typeface="Calibri" panose="020F0502020204030204"/>
                <a:sym typeface="Arial" panose="020B0604020202020204"/>
              </a:rPr>
              <a:t>Datasets Used</a:t>
            </a:r>
            <a:endParaRPr sz="2800" b="1" dirty="0">
              <a:solidFill>
                <a:srgbClr val="006600"/>
              </a:solidFill>
              <a:latin typeface="Bookman Old Style" panose="02050604050505020204" pitchFamily="18" charset="0"/>
              <a:cs typeface="Calibri" panose="020F0502020204030204"/>
              <a:sym typeface="Arial" panose="020B0604020202020204"/>
            </a:endParaRPr>
          </a:p>
        </p:txBody>
      </p:sp>
      <p:cxnSp>
        <p:nvCxnSpPr>
          <p:cNvPr id="6" name="Google Shape;1249;p100"/>
          <p:cNvCxnSpPr/>
          <p:nvPr/>
        </p:nvCxnSpPr>
        <p:spPr>
          <a:xfrm>
            <a:off x="0" y="694840"/>
            <a:ext cx="9144000" cy="1588"/>
          </a:xfrm>
          <a:prstGeom prst="straightConnector1">
            <a:avLst/>
          </a:prstGeom>
          <a:noFill/>
          <a:ln w="25400" cap="flat" cmpd="sng">
            <a:solidFill>
              <a:srgbClr val="800000"/>
            </a:solidFill>
            <a:prstDash val="solid"/>
            <a:round/>
            <a:headEnd type="none" w="sm" len="sm"/>
            <a:tailEnd type="none" w="sm" len="sm"/>
          </a:ln>
        </p:spPr>
      </p:cxnSp>
      <p:sp>
        <p:nvSpPr>
          <p:cNvPr id="2" name="Google Shape;167;p1">
            <a:extLst>
              <a:ext uri="{FF2B5EF4-FFF2-40B4-BE49-F238E27FC236}">
                <a16:creationId xmlns:a16="http://schemas.microsoft.com/office/drawing/2014/main" id="{0A56B0C5-58E0-9753-7EDD-007A20B9BC88}"/>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CBBB0B50-4177-DCC6-9040-55EB23E1A254}"/>
              </a:ext>
            </a:extLst>
          </p:cNvPr>
          <p:cNvSpPr>
            <a:spLocks noGrp="1"/>
          </p:cNvSpPr>
          <p:nvPr>
            <p:ph type="sldNum" sz="quarter" idx="12"/>
          </p:nvPr>
        </p:nvSpPr>
        <p:spPr/>
        <p:txBody>
          <a:bodyPr/>
          <a:lstStyle/>
          <a:p>
            <a:fld id="{00000000-1234-1234-1234-123412341234}" type="slidenum">
              <a:rPr lang="en-US" smtClean="0"/>
              <a:t>55</a:t>
            </a:fld>
            <a:endParaRPr lang="en-US"/>
          </a:p>
        </p:txBody>
      </p:sp>
      <p:sp>
        <p:nvSpPr>
          <p:cNvPr id="8" name="Google Shape;1258;p101">
            <a:extLst>
              <a:ext uri="{FF2B5EF4-FFF2-40B4-BE49-F238E27FC236}">
                <a16:creationId xmlns:a16="http://schemas.microsoft.com/office/drawing/2014/main" id="{AD8A2687-E40E-CDF2-6BB0-2A6655BE68A2}"/>
              </a:ext>
            </a:extLst>
          </p:cNvPr>
          <p:cNvSpPr txBox="1">
            <a:spLocks noGrp="1"/>
          </p:cNvSpPr>
          <p:nvPr>
            <p:ph idx="1"/>
          </p:nvPr>
        </p:nvSpPr>
        <p:spPr>
          <a:xfrm>
            <a:off x="289497" y="1055817"/>
            <a:ext cx="8565005" cy="5107343"/>
          </a:xfrm>
          <a:prstGeom prst="rect">
            <a:avLst/>
          </a:prstGeom>
          <a:noFill/>
          <a:ln>
            <a:noFill/>
          </a:ln>
        </p:spPr>
        <p:txBody>
          <a:bodyPr spcFirstLastPara="1" wrap="square" lIns="91425" tIns="45700" rIns="91425" bIns="45700" anchor="t" anchorCtr="0">
            <a:noAutofit/>
          </a:bodyPr>
          <a:lstStyle/>
          <a:p>
            <a:pPr algn="just">
              <a:buClr>
                <a:srgbClr val="000000"/>
              </a:buClr>
              <a:buSzPct val="100000"/>
              <a:buFont typeface="Wingdings" panose="05000000000000000000" pitchFamily="2" charset="2"/>
              <a:buChar char="q"/>
            </a:pPr>
            <a:r>
              <a:rPr lang="en-US" sz="2000" dirty="0" err="1">
                <a:latin typeface="Times New Roman"/>
                <a:ea typeface="+mn-lt"/>
                <a:cs typeface="Times New Roman"/>
              </a:rPr>
              <a:t>PlantVillage</a:t>
            </a:r>
            <a:r>
              <a:rPr lang="en-US" sz="2000" dirty="0">
                <a:latin typeface="Times New Roman"/>
                <a:ea typeface="+mn-lt"/>
                <a:cs typeface="Times New Roman"/>
              </a:rPr>
              <a:t> Dataset – Kaggle</a:t>
            </a:r>
          </a:p>
          <a:p>
            <a:pPr lvl="1" algn="just">
              <a:buClr>
                <a:srgbClr val="000000"/>
              </a:buClr>
              <a:buSzPct val="100000"/>
              <a:buFont typeface="Arial" panose="05000000000000000000" pitchFamily="2" charset="2"/>
              <a:buChar char="•"/>
            </a:pPr>
            <a:r>
              <a:rPr lang="en-US" sz="2000" dirty="0">
                <a:latin typeface="Times New Roman"/>
                <a:ea typeface="+mn-lt"/>
                <a:cs typeface="Times New Roman"/>
              </a:rPr>
              <a:t>URL: </a:t>
            </a:r>
            <a:r>
              <a:rPr lang="en-US" sz="2000" dirty="0">
                <a:latin typeface="Times New Roman"/>
                <a:ea typeface="+mn-lt"/>
                <a:cs typeface="Times New Roman"/>
                <a:hlinkClick r:id="rId3"/>
              </a:rPr>
              <a:t>https://www.kaggle.com/datasets/arjuntejaswi/plant-village</a:t>
            </a:r>
            <a:endParaRPr lang="en-US" sz="2000" dirty="0">
              <a:latin typeface="Times New Roman"/>
              <a:ea typeface="Calibri"/>
              <a:cs typeface="Times New Roman"/>
            </a:endParaRPr>
          </a:p>
          <a:p>
            <a:pPr algn="just">
              <a:buClr>
                <a:srgbClr val="000000"/>
              </a:buClr>
              <a:buSzPct val="100000"/>
              <a:buFont typeface="Wingdings" panose="05000000000000000000" pitchFamily="2" charset="2"/>
              <a:buChar char="q"/>
            </a:pPr>
            <a:r>
              <a:rPr lang="en-US" sz="2000" dirty="0">
                <a:latin typeface="Times New Roman"/>
                <a:ea typeface="+mn-lt"/>
                <a:cs typeface="Times New Roman"/>
              </a:rPr>
              <a:t>Ripe and Unripe Tomatoes Dataset – Kaggle</a:t>
            </a:r>
            <a:endParaRPr lang="en-US" sz="2000" dirty="0">
              <a:latin typeface="Times New Roman"/>
              <a:ea typeface="Calibri"/>
              <a:cs typeface="Times New Roman"/>
            </a:endParaRPr>
          </a:p>
          <a:p>
            <a:pPr lvl="1" algn="just">
              <a:buClr>
                <a:srgbClr val="000000"/>
              </a:buClr>
              <a:buSzPct val="100000"/>
              <a:buFont typeface="Arial" panose="05000000000000000000" pitchFamily="2" charset="2"/>
              <a:buChar char="•"/>
            </a:pPr>
            <a:r>
              <a:rPr lang="en-US" sz="2000" dirty="0">
                <a:latin typeface="Times New Roman"/>
                <a:ea typeface="+mn-lt"/>
                <a:cs typeface="Times New Roman"/>
              </a:rPr>
              <a:t>URL: </a:t>
            </a:r>
            <a:r>
              <a:rPr lang="en-US" sz="2000" dirty="0">
                <a:latin typeface="Times New Roman"/>
                <a:ea typeface="+mn-lt"/>
                <a:cs typeface="Times New Roman"/>
                <a:hlinkClick r:id="rId4"/>
              </a:rPr>
              <a:t>https://www.kaggle.com/datasets/adilshamim8/greenhouse-plant-growth-metrics</a:t>
            </a:r>
            <a:endParaRPr lang="en-US" sz="2000" dirty="0">
              <a:latin typeface="Times New Roman"/>
              <a:ea typeface="+mn-lt"/>
              <a:cs typeface="Times New Roman"/>
            </a:endParaRPr>
          </a:p>
          <a:p>
            <a:pPr algn="just">
              <a:buClr>
                <a:srgbClr val="000000"/>
              </a:buClr>
              <a:buSzPct val="100000"/>
              <a:buFont typeface="Wingdings" panose="05000000000000000000" pitchFamily="2" charset="2"/>
              <a:buChar char="q"/>
            </a:pPr>
            <a:r>
              <a:rPr lang="en-US" sz="2000" dirty="0">
                <a:latin typeface="Times New Roman"/>
                <a:ea typeface="+mn-lt"/>
                <a:cs typeface="Times New Roman"/>
              </a:rPr>
              <a:t>Tomato Disease Dataset – Mendeley Data</a:t>
            </a:r>
          </a:p>
          <a:p>
            <a:pPr lvl="1" algn="just">
              <a:buClr>
                <a:srgbClr val="000000"/>
              </a:buClr>
              <a:buSzPct val="100000"/>
              <a:buFont typeface="Arial" panose="05000000000000000000" pitchFamily="2" charset="2"/>
              <a:buChar char="•"/>
            </a:pPr>
            <a:r>
              <a:rPr lang="en-US" sz="2000" dirty="0">
                <a:latin typeface="Times New Roman"/>
                <a:ea typeface="+mn-lt"/>
                <a:cs typeface="Times New Roman"/>
              </a:rPr>
              <a:t>URL: </a:t>
            </a:r>
            <a:r>
              <a:rPr lang="en-US" sz="2000" dirty="0">
                <a:latin typeface="Times New Roman"/>
                <a:ea typeface="+mn-lt"/>
                <a:cs typeface="Times New Roman"/>
                <a:hlinkClick r:id="rId5"/>
              </a:rPr>
              <a:t>https://data.mendeley.com/datasets/c2x8rynybg/1</a:t>
            </a:r>
            <a:endParaRPr lang="en-US" sz="2000" dirty="0">
              <a:latin typeface="Times New Roman"/>
              <a:ea typeface="+mn-lt"/>
              <a:cs typeface="Times New Roman"/>
            </a:endParaRPr>
          </a:p>
          <a:p>
            <a:pPr algn="just">
              <a:buClr>
                <a:srgbClr val="000000"/>
              </a:buClr>
              <a:buSzPct val="100000"/>
              <a:buFont typeface="Wingdings" panose="05000000000000000000" pitchFamily="2" charset="2"/>
              <a:buChar char="q"/>
            </a:pPr>
            <a:r>
              <a:rPr lang="en-US" sz="2000" dirty="0">
                <a:latin typeface="Times New Roman"/>
                <a:ea typeface="+mn-lt"/>
                <a:cs typeface="Times New Roman"/>
              </a:rPr>
              <a:t>Tomato-flower-3-class Dataset – Kaggle</a:t>
            </a:r>
          </a:p>
          <a:p>
            <a:pPr lvl="1" algn="just">
              <a:buClr>
                <a:srgbClr val="000000"/>
              </a:buClr>
              <a:buSzPct val="100000"/>
              <a:buFont typeface="Arial" panose="05000000000000000000" pitchFamily="2" charset="2"/>
              <a:buChar char="•"/>
            </a:pPr>
            <a:r>
              <a:rPr lang="en-US" sz="2000" dirty="0">
                <a:latin typeface="Times New Roman"/>
                <a:ea typeface="+mn-lt"/>
                <a:cs typeface="Times New Roman"/>
              </a:rPr>
              <a:t>URL: </a:t>
            </a:r>
            <a:r>
              <a:rPr lang="en-US" sz="2000" dirty="0">
                <a:latin typeface="Times New Roman"/>
                <a:ea typeface="+mn-lt"/>
                <a:cs typeface="Times New Roman"/>
                <a:hlinkClick r:id="rId6"/>
              </a:rPr>
              <a:t>https://www.kaggle.com/datasets/jawadulkarim117/tomato-flower-3-class</a:t>
            </a:r>
            <a:endParaRPr lang="en-US" sz="2000" dirty="0">
              <a:latin typeface="Times New Roman"/>
              <a:ea typeface="+mn-lt"/>
              <a:cs typeface="Times New Roman"/>
            </a:endParaRPr>
          </a:p>
          <a:p>
            <a:pPr algn="just">
              <a:buClr>
                <a:srgbClr val="000000"/>
              </a:buClr>
              <a:buSzPct val="100000"/>
              <a:buFont typeface="Wingdings" panose="05000000000000000000" pitchFamily="2" charset="2"/>
              <a:buChar char="q"/>
            </a:pPr>
            <a:r>
              <a:rPr lang="en-US" sz="2000" dirty="0" err="1">
                <a:latin typeface="Times New Roman"/>
                <a:ea typeface="+mn-lt"/>
                <a:cs typeface="Times New Roman"/>
              </a:rPr>
              <a:t>TomatoPlantfactoryDataset</a:t>
            </a:r>
            <a:r>
              <a:rPr lang="en-US" sz="2000" dirty="0">
                <a:latin typeface="Times New Roman"/>
                <a:ea typeface="+mn-lt"/>
                <a:cs typeface="Times New Roman"/>
              </a:rPr>
              <a:t> – Mendeley Data</a:t>
            </a:r>
          </a:p>
          <a:p>
            <a:pPr lvl="1" algn="just">
              <a:buClr>
                <a:srgbClr val="000000"/>
              </a:buClr>
              <a:buSzPct val="100000"/>
              <a:buFont typeface="Arial" panose="05000000000000000000" pitchFamily="2" charset="2"/>
              <a:buChar char="•"/>
            </a:pPr>
            <a:r>
              <a:rPr lang="en-US" sz="2000" dirty="0">
                <a:latin typeface="Times New Roman"/>
                <a:ea typeface="+mn-lt"/>
                <a:cs typeface="Times New Roman"/>
              </a:rPr>
              <a:t>URL: </a:t>
            </a:r>
            <a:r>
              <a:rPr lang="en-US" sz="2000" dirty="0">
                <a:latin typeface="Times New Roman"/>
                <a:ea typeface="+mn-lt"/>
                <a:cs typeface="Times New Roman"/>
                <a:hlinkClick r:id="rId7"/>
              </a:rPr>
              <a:t>https://data.mendeley.com/datasets/8h3s6jkyff/1</a:t>
            </a:r>
            <a:endParaRPr lang="en-US" sz="2000" dirty="0">
              <a:latin typeface="Times New Roman"/>
              <a:ea typeface="+mn-lt"/>
              <a:cs typeface="Times New Roman"/>
            </a:endParaRPr>
          </a:p>
          <a:p>
            <a:pPr algn="just">
              <a:buClr>
                <a:srgbClr val="000000"/>
              </a:buClr>
              <a:buSzPct val="100000"/>
              <a:buFont typeface="Wingdings" panose="05000000000000000000" pitchFamily="2" charset="2"/>
              <a:buChar char="q"/>
            </a:pPr>
            <a:r>
              <a:rPr lang="en-US" sz="2000" dirty="0">
                <a:latin typeface="Times New Roman"/>
                <a:ea typeface="+mn-lt"/>
                <a:cs typeface="Times New Roman"/>
              </a:rPr>
              <a:t>Tomato Plant Stages Dataset – Kaggle</a:t>
            </a:r>
          </a:p>
          <a:p>
            <a:pPr lvl="1" algn="just">
              <a:buClr>
                <a:srgbClr val="000000"/>
              </a:buClr>
              <a:buSzPct val="100000"/>
              <a:buFont typeface="Arial" panose="05000000000000000000" pitchFamily="2" charset="2"/>
              <a:buChar char="•"/>
            </a:pPr>
            <a:r>
              <a:rPr lang="en-US" sz="2000" dirty="0">
                <a:latin typeface="Times New Roman"/>
                <a:ea typeface="+mn-lt"/>
                <a:cs typeface="Times New Roman"/>
              </a:rPr>
              <a:t>URL: </a:t>
            </a:r>
            <a:r>
              <a:rPr lang="en-US" sz="2000" dirty="0">
                <a:latin typeface="Times New Roman"/>
                <a:ea typeface="+mn-lt"/>
                <a:cs typeface="Times New Roman"/>
                <a:hlinkClick r:id="rId8"/>
              </a:rPr>
              <a:t>https://www.kaggle.com/datasets/arjunsudheer326/tomato-plant-stages-dataset</a:t>
            </a:r>
            <a:endParaRPr lang="en-US" sz="2000" dirty="0">
              <a:latin typeface="Times New Roman"/>
              <a:ea typeface="+mn-lt"/>
              <a:cs typeface="Times New Roman"/>
            </a:endParaRPr>
          </a:p>
          <a:p>
            <a:pPr algn="just">
              <a:buClr>
                <a:srgbClr val="000000"/>
              </a:buClr>
              <a:buSzPct val="100000"/>
              <a:buFont typeface="Wingdings" panose="05000000000000000000" pitchFamily="2" charset="2"/>
              <a:buChar char="q"/>
            </a:pPr>
            <a:endParaRPr lang="en-US" sz="2000" dirty="0">
              <a:latin typeface="Times New Roman"/>
              <a:ea typeface="+mn-lt"/>
              <a:cs typeface="Times New Roman"/>
            </a:endParaRPr>
          </a:p>
          <a:p>
            <a:pPr lvl="1" algn="just">
              <a:buClr>
                <a:srgbClr val="000000"/>
              </a:buClr>
              <a:buSzPct val="100000"/>
              <a:buFont typeface="Arial" panose="05000000000000000000" pitchFamily="2" charset="2"/>
              <a:buChar char="•"/>
            </a:pPr>
            <a:endParaRPr lang="en-US" sz="2000" dirty="0">
              <a:latin typeface="Times New Roman"/>
              <a:ea typeface="Calibri"/>
              <a:cs typeface="Times New Roman"/>
            </a:endParaRPr>
          </a:p>
        </p:txBody>
      </p:sp>
    </p:spTree>
    <p:extLst>
      <p:ext uri="{BB962C8B-B14F-4D97-AF65-F5344CB8AC3E}">
        <p14:creationId xmlns:p14="http://schemas.microsoft.com/office/powerpoint/2010/main" val="40185965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272"/>
        <p:cNvGrpSpPr/>
        <p:nvPr/>
      </p:nvGrpSpPr>
      <p:grpSpPr>
        <a:xfrm>
          <a:off x="0" y="0"/>
          <a:ext cx="0" cy="0"/>
          <a:chOff x="0" y="0"/>
          <a:chExt cx="0" cy="0"/>
        </a:xfrm>
      </p:grpSpPr>
      <p:sp>
        <p:nvSpPr>
          <p:cNvPr id="1273" name="Google Shape;1273;p103"/>
          <p:cNvSpPr txBox="1">
            <a:spLocks noGrp="1"/>
          </p:cNvSpPr>
          <p:nvPr>
            <p:ph type="title"/>
          </p:nvPr>
        </p:nvSpPr>
        <p:spPr>
          <a:xfrm>
            <a:off x="0" y="0"/>
            <a:ext cx="9144000" cy="53309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2800" b="1" dirty="0">
                <a:solidFill>
                  <a:srgbClr val="006600"/>
                </a:solidFill>
                <a:latin typeface="Bookman Old Style" panose="02050604050505020204" pitchFamily="18" charset="0"/>
                <a:cs typeface="Calibri" panose="020F0502020204030204"/>
                <a:sym typeface="Times New Roman" panose="02020603050405020304"/>
              </a:rPr>
              <a:t>References</a:t>
            </a:r>
            <a:endParaRPr sz="2800" dirty="0">
              <a:solidFill>
                <a:srgbClr val="006600"/>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6" name="Google Shape;1249;p100"/>
          <p:cNvCxnSpPr/>
          <p:nvPr/>
        </p:nvCxnSpPr>
        <p:spPr>
          <a:xfrm>
            <a:off x="0" y="537855"/>
            <a:ext cx="9144000" cy="1588"/>
          </a:xfrm>
          <a:prstGeom prst="straightConnector1">
            <a:avLst/>
          </a:prstGeom>
          <a:noFill/>
          <a:ln w="25400" cap="flat" cmpd="sng">
            <a:solidFill>
              <a:srgbClr val="800000"/>
            </a:solidFill>
            <a:prstDash val="solid"/>
            <a:round/>
            <a:headEnd type="none" w="sm" len="sm"/>
            <a:tailEnd type="none" w="sm" len="sm"/>
          </a:ln>
        </p:spPr>
      </p:cxnSp>
      <p:sp>
        <p:nvSpPr>
          <p:cNvPr id="24" name="TextBox 23"/>
          <p:cNvSpPr txBox="1"/>
          <p:nvPr/>
        </p:nvSpPr>
        <p:spPr>
          <a:xfrm>
            <a:off x="208185" y="539443"/>
            <a:ext cx="8680981" cy="6015236"/>
          </a:xfrm>
          <a:prstGeom prst="rect">
            <a:avLst/>
          </a:prstGeom>
          <a:noFill/>
        </p:spPr>
        <p:txBody>
          <a:bodyPr wrap="square" lIns="91440" tIns="45720" rIns="91440" bIns="45720" anchor="t">
            <a:spAutoFit/>
          </a:bodyPr>
          <a:lstStyle/>
          <a:p>
            <a:pPr algn="just">
              <a:lnSpc>
                <a:spcPct val="107000"/>
              </a:lnSpc>
              <a:spcAft>
                <a:spcPts val="800"/>
              </a:spcAft>
            </a:pP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[1] L. </a:t>
            </a:r>
            <a:r>
              <a:rPr lang="en-IN" sz="1700" dirty="0" err="1">
                <a:effectLst/>
                <a:latin typeface="Times New Roman" panose="02020603050405020304" pitchFamily="18" charset="0"/>
                <a:ea typeface="Times New Roman" panose="02020603050405020304" pitchFamily="18" charset="0"/>
                <a:cs typeface="Times New Roman" panose="02020603050405020304" pitchFamily="18" charset="0"/>
              </a:rPr>
              <a:t>Caroprese</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M. </a:t>
            </a:r>
            <a:r>
              <a:rPr lang="en-IN" sz="1700" dirty="0" err="1">
                <a:effectLst/>
                <a:latin typeface="Times New Roman" panose="02020603050405020304" pitchFamily="18" charset="0"/>
                <a:ea typeface="Times New Roman" panose="02020603050405020304" pitchFamily="18" charset="0"/>
                <a:cs typeface="Times New Roman" panose="02020603050405020304" pitchFamily="18" charset="0"/>
              </a:rPr>
              <a:t>Pierantozzi</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C. Lops, and S. </a:t>
            </a:r>
            <a:r>
              <a:rPr lang="en-IN" sz="1700" dirty="0" err="1">
                <a:effectLst/>
                <a:latin typeface="Times New Roman" panose="02020603050405020304" pitchFamily="18" charset="0"/>
                <a:ea typeface="Times New Roman" panose="02020603050405020304" pitchFamily="18" charset="0"/>
                <a:cs typeface="Times New Roman" panose="02020603050405020304" pitchFamily="18" charset="0"/>
              </a:rPr>
              <a:t>Montelpare</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“DL2F: A deep learning model for the local forecasting of renewable sources,” </a:t>
            </a:r>
            <a:r>
              <a:rPr lang="en-IN" sz="1700" i="1" dirty="0">
                <a:effectLst/>
                <a:latin typeface="Times New Roman" panose="02020603050405020304" pitchFamily="18" charset="0"/>
                <a:ea typeface="Times New Roman" panose="02020603050405020304" pitchFamily="18" charset="0"/>
                <a:cs typeface="Times New Roman" panose="02020603050405020304" pitchFamily="18" charset="0"/>
              </a:rPr>
              <a:t>Computers &amp; Industrial Engineering</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vol. 187, 109785, 2024. </a:t>
            </a:r>
            <a:endParaRPr lang="en-IN" sz="1700" dirty="0">
              <a:effectLst/>
              <a:latin typeface="Times New Roman" panose="02020603050405020304" pitchFamily="18" charset="0"/>
              <a:ea typeface="Aptos" panose="020B0004020202020204" pitchFamily="34" charset="0"/>
              <a:cs typeface="Times New Roman" panose="02020603050405020304" pitchFamily="18" charset="0"/>
            </a:endParaRPr>
          </a:p>
          <a:p>
            <a:pPr algn="just">
              <a:lnSpc>
                <a:spcPct val="107000"/>
              </a:lnSpc>
              <a:spcAft>
                <a:spcPts val="800"/>
              </a:spcAft>
            </a:pP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[2] E. </a:t>
            </a:r>
            <a:r>
              <a:rPr lang="en-IN" sz="1700" dirty="0" err="1">
                <a:effectLst/>
                <a:latin typeface="Times New Roman" panose="02020603050405020304" pitchFamily="18" charset="0"/>
                <a:ea typeface="Times New Roman" panose="02020603050405020304" pitchFamily="18" charset="0"/>
                <a:cs typeface="Times New Roman" panose="02020603050405020304" pitchFamily="18" charset="0"/>
              </a:rPr>
              <a:t>Elbasi</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N. Mostafa, C. Zaki, Z. </a:t>
            </a:r>
            <a:r>
              <a:rPr lang="en-IN" sz="1700" dirty="0" err="1">
                <a:effectLst/>
                <a:latin typeface="Times New Roman" panose="02020603050405020304" pitchFamily="18" charset="0"/>
                <a:ea typeface="Times New Roman" panose="02020603050405020304" pitchFamily="18" charset="0"/>
                <a:cs typeface="Times New Roman" panose="02020603050405020304" pitchFamily="18" charset="0"/>
              </a:rPr>
              <a:t>AlArnaout</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A. E. </a:t>
            </a:r>
            <a:r>
              <a:rPr lang="en-IN" sz="1700" dirty="0" err="1">
                <a:effectLst/>
                <a:latin typeface="Times New Roman" panose="02020603050405020304" pitchFamily="18" charset="0"/>
                <a:ea typeface="Times New Roman" panose="02020603050405020304" pitchFamily="18" charset="0"/>
                <a:cs typeface="Times New Roman" panose="02020603050405020304" pitchFamily="18" charset="0"/>
              </a:rPr>
              <a:t>Topcu</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and L. Saker, “Optimizing agricultural data analysis techniques through AI-powered decision-making processes,” </a:t>
            </a:r>
            <a:r>
              <a:rPr lang="en-IN" sz="1700" i="1" dirty="0">
                <a:effectLst/>
                <a:latin typeface="Times New Roman" panose="02020603050405020304" pitchFamily="18" charset="0"/>
                <a:ea typeface="Times New Roman" panose="02020603050405020304" pitchFamily="18" charset="0"/>
                <a:cs typeface="Times New Roman" panose="02020603050405020304" pitchFamily="18" charset="0"/>
              </a:rPr>
              <a:t>Applied Sciences</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vol. 14, no. 8018, 2024.</a:t>
            </a:r>
            <a:endParaRPr lang="en-IN" sz="1700" dirty="0">
              <a:effectLst/>
              <a:latin typeface="Times New Roman" panose="02020603050405020304" pitchFamily="18" charset="0"/>
              <a:ea typeface="Aptos" panose="020B0004020202020204" pitchFamily="34" charset="0"/>
              <a:cs typeface="Times New Roman" panose="02020603050405020304" pitchFamily="18" charset="0"/>
            </a:endParaRPr>
          </a:p>
          <a:p>
            <a:pPr algn="just">
              <a:lnSpc>
                <a:spcPct val="107000"/>
              </a:lnSpc>
              <a:spcAft>
                <a:spcPts val="800"/>
              </a:spcAft>
            </a:pP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[3] M. </a:t>
            </a:r>
            <a:r>
              <a:rPr lang="en-IN" sz="1700" dirty="0" err="1">
                <a:effectLst/>
                <a:latin typeface="Times New Roman" panose="02020603050405020304" pitchFamily="18" charset="0"/>
                <a:ea typeface="Times New Roman" panose="02020603050405020304" pitchFamily="18" charset="0"/>
                <a:cs typeface="Times New Roman" panose="02020603050405020304" pitchFamily="18" charset="0"/>
              </a:rPr>
              <a:t>Ghiasi</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Z. Wang, M. </a:t>
            </a:r>
            <a:r>
              <a:rPr lang="en-IN" sz="1700" dirty="0" err="1">
                <a:effectLst/>
                <a:latin typeface="Times New Roman" panose="02020603050405020304" pitchFamily="18" charset="0"/>
                <a:ea typeface="Times New Roman" panose="02020603050405020304" pitchFamily="18" charset="0"/>
                <a:cs typeface="Times New Roman" panose="02020603050405020304" pitchFamily="18" charset="0"/>
              </a:rPr>
              <a:t>Mehrandezh</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and A. Mohammadi, “Optimal strategy for energy-efficient management of greenhouse climate control,” </a:t>
            </a:r>
            <a:r>
              <a:rPr lang="en-IN" sz="1700" i="1" dirty="0">
                <a:effectLst/>
                <a:latin typeface="Times New Roman" panose="02020603050405020304" pitchFamily="18" charset="0"/>
                <a:ea typeface="Times New Roman" panose="02020603050405020304" pitchFamily="18" charset="0"/>
                <a:cs typeface="Times New Roman" panose="02020603050405020304" pitchFamily="18" charset="0"/>
              </a:rPr>
              <a:t>IEEE Open Access Journal of Power and Energy</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vol. 12, pp. 1–14, Dec. 2025.</a:t>
            </a:r>
            <a:endParaRPr lang="en-IN" sz="1700" dirty="0">
              <a:effectLst/>
              <a:latin typeface="Times New Roman" panose="02020603050405020304" pitchFamily="18" charset="0"/>
              <a:ea typeface="Aptos" panose="020B0004020202020204" pitchFamily="34" charset="0"/>
              <a:cs typeface="Times New Roman" panose="02020603050405020304" pitchFamily="18" charset="0"/>
            </a:endParaRPr>
          </a:p>
          <a:p>
            <a:pPr algn="just">
              <a:lnSpc>
                <a:spcPct val="107000"/>
              </a:lnSpc>
              <a:spcAft>
                <a:spcPts val="800"/>
              </a:spcAft>
            </a:pP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[4] T. He, M. Li, and D. Jin, “Deep learning-based time series prediction for precision field crop protection,” </a:t>
            </a:r>
            <a:r>
              <a:rPr lang="en-IN" sz="1700" i="1" dirty="0">
                <a:effectLst/>
                <a:latin typeface="Times New Roman" panose="02020603050405020304" pitchFamily="18" charset="0"/>
                <a:ea typeface="Times New Roman" panose="02020603050405020304" pitchFamily="18" charset="0"/>
                <a:cs typeface="Times New Roman" panose="02020603050405020304" pitchFamily="18" charset="0"/>
              </a:rPr>
              <a:t>Frontiers in Plant Science</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vol. 16, 1575796, 2025. </a:t>
            </a:r>
            <a:endParaRPr lang="en-IN" sz="1700" dirty="0">
              <a:effectLst/>
              <a:latin typeface="Times New Roman" panose="02020603050405020304" pitchFamily="18" charset="0"/>
              <a:ea typeface="Aptos" panose="020B0004020202020204" pitchFamily="34" charset="0"/>
              <a:cs typeface="Times New Roman" panose="02020603050405020304" pitchFamily="18" charset="0"/>
            </a:endParaRPr>
          </a:p>
          <a:p>
            <a:pPr algn="just">
              <a:lnSpc>
                <a:spcPct val="107000"/>
              </a:lnSpc>
              <a:spcAft>
                <a:spcPts val="800"/>
              </a:spcAft>
            </a:pP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[5] D. A. Howard, Z. Ma, C. </a:t>
            </a:r>
            <a:r>
              <a:rPr lang="en-IN" sz="1700" dirty="0" err="1">
                <a:effectLst/>
                <a:latin typeface="Times New Roman" panose="02020603050405020304" pitchFamily="18" charset="0"/>
                <a:ea typeface="Times New Roman" panose="02020603050405020304" pitchFamily="18" charset="0"/>
                <a:cs typeface="Times New Roman" panose="02020603050405020304" pitchFamily="18" charset="0"/>
              </a:rPr>
              <a:t>Veje</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A. Clausen, J. M. </a:t>
            </a:r>
            <a:r>
              <a:rPr lang="en-IN" sz="1700" dirty="0" err="1">
                <a:effectLst/>
                <a:latin typeface="Times New Roman" panose="02020603050405020304" pitchFamily="18" charset="0"/>
                <a:ea typeface="Times New Roman" panose="02020603050405020304" pitchFamily="18" charset="0"/>
                <a:cs typeface="Times New Roman" panose="02020603050405020304" pitchFamily="18" charset="0"/>
              </a:rPr>
              <a:t>Aaslyng</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and B. N. </a:t>
            </a:r>
            <a:r>
              <a:rPr lang="en-IN" sz="1700" dirty="0" err="1">
                <a:effectLst/>
                <a:latin typeface="Times New Roman" panose="02020603050405020304" pitchFamily="18" charset="0"/>
                <a:ea typeface="Times New Roman" panose="02020603050405020304" pitchFamily="18" charset="0"/>
                <a:cs typeface="Times New Roman" panose="02020603050405020304" pitchFamily="18" charset="0"/>
              </a:rPr>
              <a:t>Jørgensen</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“Greenhouse industry 4.0 – digital twin technology for commercial greenhouses,” </a:t>
            </a:r>
            <a:r>
              <a:rPr lang="en-IN" sz="1700" i="1" dirty="0">
                <a:effectLst/>
                <a:latin typeface="Times New Roman" panose="02020603050405020304" pitchFamily="18" charset="0"/>
                <a:ea typeface="Times New Roman" panose="02020603050405020304" pitchFamily="18" charset="0"/>
                <a:cs typeface="Times New Roman" panose="02020603050405020304" pitchFamily="18" charset="0"/>
              </a:rPr>
              <a:t>Energy Informatics</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vol. 4, no. 1, pp. 1–20, May 2021.</a:t>
            </a:r>
            <a:endParaRPr lang="en-IN" sz="1700" dirty="0">
              <a:effectLst/>
              <a:latin typeface="Times New Roman" panose="02020603050405020304" pitchFamily="18" charset="0"/>
              <a:ea typeface="Aptos" panose="020B0004020202020204" pitchFamily="34" charset="0"/>
              <a:cs typeface="Times New Roman" panose="02020603050405020304" pitchFamily="18" charset="0"/>
            </a:endParaRPr>
          </a:p>
          <a:p>
            <a:pPr algn="just">
              <a:lnSpc>
                <a:spcPct val="107000"/>
              </a:lnSpc>
              <a:spcAft>
                <a:spcPts val="800"/>
              </a:spcAft>
            </a:pP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[6] Y. Huo, Y. Liu, P. He, L. Hu, W. Gao, and L. Gu, “Identifying tomato growth stages in protected agriculture with StyleGAN3–synthetic images and Vision Transformer,” </a:t>
            </a:r>
            <a:r>
              <a:rPr lang="en-IN" sz="1700" i="1" dirty="0">
                <a:effectLst/>
                <a:latin typeface="Times New Roman" panose="02020603050405020304" pitchFamily="18" charset="0"/>
                <a:ea typeface="Times New Roman" panose="02020603050405020304" pitchFamily="18" charset="0"/>
                <a:cs typeface="Times New Roman" panose="02020603050405020304" pitchFamily="18" charset="0"/>
              </a:rPr>
              <a:t>Agriculture</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vol. 15, no. 120, 2025.</a:t>
            </a:r>
            <a:endParaRPr lang="en-IN" sz="1700" dirty="0">
              <a:effectLst/>
              <a:latin typeface="Times New Roman" panose="02020603050405020304" pitchFamily="18" charset="0"/>
              <a:ea typeface="Aptos" panose="020B0004020202020204" pitchFamily="34" charset="0"/>
              <a:cs typeface="Times New Roman" panose="02020603050405020304" pitchFamily="18" charset="0"/>
            </a:endParaRPr>
          </a:p>
          <a:p>
            <a:pPr algn="just">
              <a:lnSpc>
                <a:spcPct val="107000"/>
              </a:lnSpc>
              <a:spcAft>
                <a:spcPts val="800"/>
              </a:spcAft>
            </a:pP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[7] D. S. Joseph, P. M. Pawar, and K. </a:t>
            </a:r>
            <a:r>
              <a:rPr lang="en-IN" sz="1700" dirty="0" err="1">
                <a:effectLst/>
                <a:latin typeface="Times New Roman" panose="02020603050405020304" pitchFamily="18" charset="0"/>
                <a:ea typeface="Times New Roman" panose="02020603050405020304" pitchFamily="18" charset="0"/>
                <a:cs typeface="Times New Roman" panose="02020603050405020304" pitchFamily="18" charset="0"/>
              </a:rPr>
              <a:t>Chakradeo</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“Real-time plant disease dataset development and detection of plant disease using deep learning,” </a:t>
            </a:r>
            <a:r>
              <a:rPr lang="en-IN" sz="1700" i="1" dirty="0">
                <a:effectLst/>
                <a:latin typeface="Times New Roman" panose="02020603050405020304" pitchFamily="18" charset="0"/>
                <a:ea typeface="Times New Roman" panose="02020603050405020304" pitchFamily="18" charset="0"/>
                <a:cs typeface="Times New Roman" panose="02020603050405020304" pitchFamily="18" charset="0"/>
              </a:rPr>
              <a:t>IEEE Access</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vol. 11, pp. 1–15, 2023.</a:t>
            </a:r>
            <a:endParaRPr lang="en-IN" sz="1700" dirty="0">
              <a:effectLst/>
              <a:latin typeface="Times New Roman" panose="02020603050405020304" pitchFamily="18" charset="0"/>
              <a:ea typeface="Aptos" panose="020B0004020202020204" pitchFamily="34" charset="0"/>
              <a:cs typeface="Times New Roman" panose="02020603050405020304" pitchFamily="18" charset="0"/>
            </a:endParaRPr>
          </a:p>
        </p:txBody>
      </p:sp>
      <p:sp>
        <p:nvSpPr>
          <p:cNvPr id="2" name="Google Shape;167;p1">
            <a:extLst>
              <a:ext uri="{FF2B5EF4-FFF2-40B4-BE49-F238E27FC236}">
                <a16:creationId xmlns:a16="http://schemas.microsoft.com/office/drawing/2014/main" id="{2FE6BDF5-AE30-5D13-75B2-606E7CC3515F}"/>
              </a:ext>
            </a:extLst>
          </p:cNvPr>
          <p:cNvSpPr txBox="1">
            <a:spLocks noGrp="1"/>
          </p:cNvSpPr>
          <p:nvPr>
            <p:ph type="dt" sz="half" idx="10"/>
          </p:nvPr>
        </p:nvSpPr>
        <p:spPr>
          <a:xfrm>
            <a:off x="0" y="6501342"/>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27BE5CDC-3CBB-AB90-633A-970154711940}"/>
              </a:ext>
            </a:extLst>
          </p:cNvPr>
          <p:cNvSpPr>
            <a:spLocks noGrp="1"/>
          </p:cNvSpPr>
          <p:nvPr>
            <p:ph type="sldNum" sz="quarter" idx="12"/>
          </p:nvPr>
        </p:nvSpPr>
        <p:spPr/>
        <p:txBody>
          <a:bodyPr/>
          <a:lstStyle/>
          <a:p>
            <a:fld id="{00000000-1234-1234-1234-123412341234}" type="slidenum">
              <a:rPr lang="en-US" smtClean="0"/>
              <a:t>56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272">
          <a:extLst>
            <a:ext uri="{FF2B5EF4-FFF2-40B4-BE49-F238E27FC236}">
              <a16:creationId xmlns:a16="http://schemas.microsoft.com/office/drawing/2014/main" id="{C5B57A2A-D858-B1E7-479B-AFE0B275F46F}"/>
            </a:ext>
          </a:extLst>
        </p:cNvPr>
        <p:cNvGrpSpPr/>
        <p:nvPr/>
      </p:nvGrpSpPr>
      <p:grpSpPr>
        <a:xfrm>
          <a:off x="0" y="0"/>
          <a:ext cx="0" cy="0"/>
          <a:chOff x="0" y="0"/>
          <a:chExt cx="0" cy="0"/>
        </a:xfrm>
      </p:grpSpPr>
      <p:sp>
        <p:nvSpPr>
          <p:cNvPr id="1273" name="Google Shape;1273;p103">
            <a:extLst>
              <a:ext uri="{FF2B5EF4-FFF2-40B4-BE49-F238E27FC236}">
                <a16:creationId xmlns:a16="http://schemas.microsoft.com/office/drawing/2014/main" id="{2A71885D-04D1-6F46-BED7-2FE52EBD46D1}"/>
              </a:ext>
            </a:extLst>
          </p:cNvPr>
          <p:cNvSpPr txBox="1">
            <a:spLocks noGrp="1"/>
          </p:cNvSpPr>
          <p:nvPr>
            <p:ph type="title"/>
          </p:nvPr>
        </p:nvSpPr>
        <p:spPr>
          <a:xfrm>
            <a:off x="0" y="0"/>
            <a:ext cx="9144000" cy="53309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2800" b="1" dirty="0">
                <a:solidFill>
                  <a:srgbClr val="006600"/>
                </a:solidFill>
                <a:latin typeface="Bookman Old Style" panose="02050604050505020204" pitchFamily="18" charset="0"/>
                <a:cs typeface="Calibri" panose="020F0502020204030204"/>
                <a:sym typeface="Times New Roman" panose="02020603050405020304"/>
              </a:rPr>
              <a:t>References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sz="2800" dirty="0">
              <a:solidFill>
                <a:srgbClr val="006600"/>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6" name="Google Shape;1249;p100">
            <a:extLst>
              <a:ext uri="{FF2B5EF4-FFF2-40B4-BE49-F238E27FC236}">
                <a16:creationId xmlns:a16="http://schemas.microsoft.com/office/drawing/2014/main" id="{069275B8-3617-164E-9108-56E778CBF583}"/>
              </a:ext>
            </a:extLst>
          </p:cNvPr>
          <p:cNvCxnSpPr/>
          <p:nvPr/>
        </p:nvCxnSpPr>
        <p:spPr>
          <a:xfrm>
            <a:off x="0" y="537855"/>
            <a:ext cx="9144000" cy="1588"/>
          </a:xfrm>
          <a:prstGeom prst="straightConnector1">
            <a:avLst/>
          </a:prstGeom>
          <a:noFill/>
          <a:ln w="25400" cap="flat" cmpd="sng">
            <a:solidFill>
              <a:srgbClr val="800000"/>
            </a:solidFill>
            <a:prstDash val="solid"/>
            <a:round/>
            <a:headEnd type="none" w="sm" len="sm"/>
            <a:tailEnd type="none" w="sm" len="sm"/>
          </a:ln>
        </p:spPr>
      </p:cxnSp>
      <p:sp>
        <p:nvSpPr>
          <p:cNvPr id="24" name="TextBox 23">
            <a:extLst>
              <a:ext uri="{FF2B5EF4-FFF2-40B4-BE49-F238E27FC236}">
                <a16:creationId xmlns:a16="http://schemas.microsoft.com/office/drawing/2014/main" id="{19D6A4D7-0405-D0C6-8004-8472ED7F33FB}"/>
              </a:ext>
            </a:extLst>
          </p:cNvPr>
          <p:cNvSpPr txBox="1"/>
          <p:nvPr/>
        </p:nvSpPr>
        <p:spPr>
          <a:xfrm>
            <a:off x="265656" y="573320"/>
            <a:ext cx="8728442" cy="6110584"/>
          </a:xfrm>
          <a:prstGeom prst="rect">
            <a:avLst/>
          </a:prstGeom>
          <a:noFill/>
        </p:spPr>
        <p:txBody>
          <a:bodyPr wrap="square" lIns="91440" tIns="45720" rIns="91440" bIns="45720" anchor="t">
            <a:spAutoFit/>
          </a:bodyPr>
          <a:lstStyle/>
          <a:p>
            <a:pPr>
              <a:lnSpc>
                <a:spcPct val="107000"/>
              </a:lnSpc>
              <a:spcAft>
                <a:spcPts val="800"/>
              </a:spcAft>
            </a:pP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[8] S. </a:t>
            </a:r>
            <a:r>
              <a:rPr lang="en-IN" sz="1700" dirty="0" err="1">
                <a:effectLst/>
                <a:latin typeface="Times New Roman" panose="02020603050405020304" pitchFamily="18" charset="0"/>
                <a:ea typeface="Times New Roman" panose="02020603050405020304" pitchFamily="18" charset="0"/>
                <a:cs typeface="Times New Roman" panose="02020603050405020304" pitchFamily="18" charset="0"/>
              </a:rPr>
              <a:t>Kanakala</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and S. </a:t>
            </a:r>
            <a:r>
              <a:rPr lang="en-IN" sz="1700" dirty="0" err="1">
                <a:effectLst/>
                <a:latin typeface="Times New Roman" panose="02020603050405020304" pitchFamily="18" charset="0"/>
                <a:ea typeface="Times New Roman" panose="02020603050405020304" pitchFamily="18" charset="0"/>
                <a:cs typeface="Times New Roman" panose="02020603050405020304" pitchFamily="18" charset="0"/>
              </a:rPr>
              <a:t>Ningappa</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“Detection and classification of diseases in multi-crop leaves using LSTM and CNN models,” </a:t>
            </a:r>
            <a:r>
              <a:rPr lang="en-IN" sz="1700" i="1" dirty="0">
                <a:effectLst/>
                <a:latin typeface="Times New Roman" panose="02020603050405020304" pitchFamily="18" charset="0"/>
                <a:ea typeface="Times New Roman" panose="02020603050405020304" pitchFamily="18" charset="0"/>
                <a:cs typeface="Times New Roman" panose="02020603050405020304" pitchFamily="18" charset="0"/>
              </a:rPr>
              <a:t>Journal of Innovative Image Processing</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vol. 7, no. 1, pp. 161–181, Mar. 2025. </a:t>
            </a:r>
            <a:endParaRPr lang="en-IN" sz="1700" dirty="0">
              <a:effectLst/>
              <a:latin typeface="Times New Roman" panose="02020603050405020304" pitchFamily="18" charset="0"/>
              <a:ea typeface="Aptos" panose="020B0004020202020204" pitchFamily="34" charset="0"/>
              <a:cs typeface="Times New Roman" panose="02020603050405020304" pitchFamily="18" charset="0"/>
            </a:endParaRPr>
          </a:p>
          <a:p>
            <a:pPr>
              <a:lnSpc>
                <a:spcPct val="107000"/>
              </a:lnSpc>
              <a:spcAft>
                <a:spcPts val="800"/>
              </a:spcAft>
            </a:pP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[9] A. Kaur and R. Kaur, “AI-enabled energy management for sustainable smart greenhouses: An integrated review,” </a:t>
            </a:r>
            <a:r>
              <a:rPr lang="en-IN" sz="1700" i="1" dirty="0">
                <a:effectLst/>
                <a:latin typeface="Times New Roman" panose="02020603050405020304" pitchFamily="18" charset="0"/>
                <a:ea typeface="Times New Roman" panose="02020603050405020304" pitchFamily="18" charset="0"/>
                <a:cs typeface="Times New Roman" panose="02020603050405020304" pitchFamily="18" charset="0"/>
              </a:rPr>
              <a:t>Journal of Cleaner Production</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vol. 382, pp. 1–15, 2024.</a:t>
            </a:r>
            <a:endParaRPr lang="en-IN" sz="1700" dirty="0">
              <a:effectLst/>
              <a:latin typeface="Times New Roman" panose="02020603050405020304" pitchFamily="18" charset="0"/>
              <a:ea typeface="Aptos" panose="020B0004020202020204" pitchFamily="34" charset="0"/>
              <a:cs typeface="Times New Roman" panose="02020603050405020304" pitchFamily="18" charset="0"/>
            </a:endParaRPr>
          </a:p>
          <a:p>
            <a:pPr>
              <a:lnSpc>
                <a:spcPct val="107000"/>
              </a:lnSpc>
              <a:spcAft>
                <a:spcPts val="800"/>
              </a:spcAft>
            </a:pP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[10] D. K. Lee, B. K. Kang, Y. J. Kim, T. G. An, and Y. T. Chae, “A digital twin-based framework for precision tomato cultivation: Integrating </a:t>
            </a:r>
            <a:r>
              <a:rPr lang="en-IN" sz="1700" dirty="0" err="1">
                <a:effectLst/>
                <a:latin typeface="Times New Roman" panose="02020603050405020304" pitchFamily="18" charset="0"/>
                <a:ea typeface="Times New Roman" panose="02020603050405020304" pitchFamily="18" charset="0"/>
                <a:cs typeface="Times New Roman" panose="02020603050405020304" pitchFamily="18" charset="0"/>
              </a:rPr>
              <a:t>XGBoost</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-based prediction with model predictive control,” </a:t>
            </a:r>
            <a:r>
              <a:rPr lang="en-IN" sz="1700" i="1" dirty="0">
                <a:effectLst/>
                <a:latin typeface="Times New Roman" panose="02020603050405020304" pitchFamily="18" charset="0"/>
                <a:ea typeface="Times New Roman" panose="02020603050405020304" pitchFamily="18" charset="0"/>
                <a:cs typeface="Times New Roman" panose="02020603050405020304" pitchFamily="18" charset="0"/>
              </a:rPr>
              <a:t>SSRN Electronic Journal</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2024.</a:t>
            </a:r>
            <a:endParaRPr lang="en-IN" sz="1700" dirty="0">
              <a:effectLst/>
              <a:latin typeface="Times New Roman" panose="02020603050405020304" pitchFamily="18" charset="0"/>
              <a:ea typeface="Aptos" panose="020B0004020202020204" pitchFamily="34" charset="0"/>
              <a:cs typeface="Times New Roman" panose="02020603050405020304" pitchFamily="18" charset="0"/>
            </a:endParaRPr>
          </a:p>
          <a:p>
            <a:pPr>
              <a:lnSpc>
                <a:spcPct val="107000"/>
              </a:lnSpc>
              <a:spcAft>
                <a:spcPts val="800"/>
              </a:spcAft>
            </a:pP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[11] S. R. Luna, M. P. García, and J. R. Torres, “Digital twin technology in greenhouse-based precision agriculture,” </a:t>
            </a:r>
            <a:r>
              <a:rPr lang="en-IN" sz="1700" i="1" dirty="0">
                <a:effectLst/>
                <a:latin typeface="Times New Roman" panose="02020603050405020304" pitchFamily="18" charset="0"/>
                <a:ea typeface="Times New Roman" panose="02020603050405020304" pitchFamily="18" charset="0"/>
                <a:cs typeface="Times New Roman" panose="02020603050405020304" pitchFamily="18" charset="0"/>
              </a:rPr>
              <a:t>Computers and Electronics in Agriculture</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vol. 209, pp. 107–119, 2023.</a:t>
            </a:r>
            <a:endParaRPr lang="en-IN" sz="1700" dirty="0">
              <a:effectLst/>
              <a:latin typeface="Times New Roman" panose="02020603050405020304" pitchFamily="18" charset="0"/>
              <a:ea typeface="Aptos" panose="020B0004020202020204" pitchFamily="34" charset="0"/>
              <a:cs typeface="Times New Roman" panose="02020603050405020304" pitchFamily="18" charset="0"/>
            </a:endParaRPr>
          </a:p>
          <a:p>
            <a:pPr>
              <a:lnSpc>
                <a:spcPct val="107000"/>
              </a:lnSpc>
              <a:spcAft>
                <a:spcPts val="800"/>
              </a:spcAft>
            </a:pP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[12] B. V. </a:t>
            </a:r>
            <a:r>
              <a:rPr lang="en-IN" sz="1700" dirty="0" err="1">
                <a:effectLst/>
                <a:latin typeface="Times New Roman" panose="02020603050405020304" pitchFamily="18" charset="0"/>
                <a:ea typeface="Times New Roman" panose="02020603050405020304" pitchFamily="18" charset="0"/>
                <a:cs typeface="Times New Roman" panose="02020603050405020304" pitchFamily="18" charset="0"/>
              </a:rPr>
              <a:t>Nikitha</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N. K. S. </a:t>
            </a:r>
            <a:r>
              <a:rPr lang="en-IN" sz="1700" dirty="0" err="1">
                <a:effectLst/>
                <a:latin typeface="Times New Roman" panose="02020603050405020304" pitchFamily="18" charset="0"/>
                <a:ea typeface="Times New Roman" panose="02020603050405020304" pitchFamily="18" charset="0"/>
                <a:cs typeface="Times New Roman" panose="02020603050405020304" pitchFamily="18" charset="0"/>
              </a:rPr>
              <a:t>Keerthan</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P. </a:t>
            </a:r>
            <a:r>
              <a:rPr lang="en-IN" sz="1700" dirty="0" err="1">
                <a:effectLst/>
                <a:latin typeface="Times New Roman" panose="02020603050405020304" pitchFamily="18" charset="0"/>
                <a:ea typeface="Times New Roman" panose="02020603050405020304" pitchFamily="18" charset="0"/>
                <a:cs typeface="Times New Roman" panose="02020603050405020304" pitchFamily="18" charset="0"/>
              </a:rPr>
              <a:t>Praneeth</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and T. Amrita, “Leaf disease detection and classification,” </a:t>
            </a:r>
            <a:r>
              <a:rPr lang="en-IN" sz="1700" i="1" dirty="0">
                <a:effectLst/>
                <a:latin typeface="Times New Roman" panose="02020603050405020304" pitchFamily="18" charset="0"/>
                <a:ea typeface="Times New Roman" panose="02020603050405020304" pitchFamily="18" charset="0"/>
                <a:cs typeface="Times New Roman" panose="02020603050405020304" pitchFamily="18" charset="0"/>
              </a:rPr>
              <a:t>Procedia Computer Science</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vol. 218, pp. 291–300, Jan. 2023.</a:t>
            </a:r>
            <a:endParaRPr lang="en-IN" sz="1700" dirty="0">
              <a:effectLst/>
              <a:latin typeface="Times New Roman" panose="02020603050405020304" pitchFamily="18" charset="0"/>
              <a:ea typeface="Aptos" panose="020B0004020202020204" pitchFamily="34" charset="0"/>
              <a:cs typeface="Times New Roman" panose="02020603050405020304" pitchFamily="18" charset="0"/>
            </a:endParaRPr>
          </a:p>
          <a:p>
            <a:pPr>
              <a:lnSpc>
                <a:spcPct val="107000"/>
              </a:lnSpc>
              <a:spcAft>
                <a:spcPts val="800"/>
              </a:spcAft>
            </a:pP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[13] A. Oad, S. S. Abbas, A. Zafar, et al., “Plant leaf disease detection using ensemble learning and explainable AI,” </a:t>
            </a:r>
            <a:r>
              <a:rPr lang="en-IN" sz="1700" i="1" dirty="0">
                <a:effectLst/>
                <a:latin typeface="Times New Roman" panose="02020603050405020304" pitchFamily="18" charset="0"/>
                <a:ea typeface="Times New Roman" panose="02020603050405020304" pitchFamily="18" charset="0"/>
                <a:cs typeface="Times New Roman" panose="02020603050405020304" pitchFamily="18" charset="0"/>
              </a:rPr>
              <a:t>IEEE Access</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vol. 12, pp. 156038–156052, 2024.</a:t>
            </a:r>
            <a:endParaRPr lang="en-IN" sz="1700" dirty="0">
              <a:effectLst/>
              <a:latin typeface="Times New Roman" panose="02020603050405020304" pitchFamily="18" charset="0"/>
              <a:ea typeface="Aptos" panose="020B0004020202020204" pitchFamily="34" charset="0"/>
              <a:cs typeface="Times New Roman" panose="02020603050405020304" pitchFamily="18" charset="0"/>
            </a:endParaRPr>
          </a:p>
          <a:p>
            <a:pPr>
              <a:lnSpc>
                <a:spcPct val="107000"/>
              </a:lnSpc>
              <a:spcAft>
                <a:spcPts val="800"/>
              </a:spcAft>
            </a:pP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[14] A. </a:t>
            </a:r>
            <a:r>
              <a:rPr lang="en-IN" sz="1700" dirty="0" err="1">
                <a:effectLst/>
                <a:latin typeface="Times New Roman" panose="02020603050405020304" pitchFamily="18" charset="0"/>
                <a:ea typeface="Times New Roman" panose="02020603050405020304" pitchFamily="18" charset="0"/>
                <a:cs typeface="Times New Roman" panose="02020603050405020304" pitchFamily="18" charset="0"/>
              </a:rPr>
              <a:t>Soussi</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E. Zero, C. D. C. Herrera, et al., “Integrating digital twins and model predictive control for sustainable greenhouse management in smart agriculture,” </a:t>
            </a:r>
            <a:r>
              <a:rPr lang="en-IN" sz="1700" i="1" dirty="0">
                <a:effectLst/>
                <a:latin typeface="Times New Roman" panose="02020603050405020304" pitchFamily="18" charset="0"/>
                <a:ea typeface="Times New Roman" panose="02020603050405020304" pitchFamily="18" charset="0"/>
                <a:cs typeface="Times New Roman" panose="02020603050405020304" pitchFamily="18" charset="0"/>
              </a:rPr>
              <a:t>IEEE Transactions on </a:t>
            </a:r>
            <a:r>
              <a:rPr lang="en-IN" sz="1700" i="1" dirty="0" err="1">
                <a:effectLst/>
                <a:latin typeface="Times New Roman" panose="02020603050405020304" pitchFamily="18" charset="0"/>
                <a:ea typeface="Times New Roman" panose="02020603050405020304" pitchFamily="18" charset="0"/>
                <a:cs typeface="Times New Roman" panose="02020603050405020304" pitchFamily="18" charset="0"/>
              </a:rPr>
              <a:t>AgriFood</a:t>
            </a:r>
            <a:r>
              <a:rPr lang="en-IN" sz="1700" i="1" dirty="0">
                <a:effectLst/>
                <a:latin typeface="Times New Roman" panose="02020603050405020304" pitchFamily="18" charset="0"/>
                <a:ea typeface="Times New Roman" panose="02020603050405020304" pitchFamily="18" charset="0"/>
                <a:cs typeface="Times New Roman" panose="02020603050405020304" pitchFamily="18" charset="0"/>
              </a:rPr>
              <a:t> Electronics</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vol. 1, no. 1, pp. 1–17, 2025.</a:t>
            </a:r>
          </a:p>
          <a:p>
            <a:pPr>
              <a:lnSpc>
                <a:spcPct val="107000"/>
              </a:lnSpc>
              <a:spcAft>
                <a:spcPts val="800"/>
              </a:spcAft>
            </a:pP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[15] A. F. Subahi and K. E. </a:t>
            </a:r>
            <a:r>
              <a:rPr lang="en-IN" sz="1700" dirty="0" err="1">
                <a:effectLst/>
                <a:latin typeface="Times New Roman" panose="02020603050405020304" pitchFamily="18" charset="0"/>
                <a:ea typeface="Times New Roman" panose="02020603050405020304" pitchFamily="18" charset="0"/>
                <a:cs typeface="Times New Roman" panose="02020603050405020304" pitchFamily="18" charset="0"/>
              </a:rPr>
              <a:t>Bouazza</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“An intelligent IoT-based system design for controlling and monitoring greenhouse temperature,” </a:t>
            </a:r>
            <a:r>
              <a:rPr lang="en-IN" sz="1700" i="1" dirty="0">
                <a:effectLst/>
                <a:latin typeface="Times New Roman" panose="02020603050405020304" pitchFamily="18" charset="0"/>
                <a:ea typeface="Times New Roman" panose="02020603050405020304" pitchFamily="18" charset="0"/>
                <a:cs typeface="Times New Roman" panose="02020603050405020304" pitchFamily="18" charset="0"/>
              </a:rPr>
              <a:t>IEEE Access</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vol. 10, pp. 1–12, 2022.</a:t>
            </a:r>
            <a:endParaRPr lang="en-IN" sz="1700" dirty="0">
              <a:effectLst/>
              <a:latin typeface="Times New Roman" panose="02020603050405020304" pitchFamily="18" charset="0"/>
              <a:ea typeface="Aptos" panose="020B0004020202020204" pitchFamily="34" charset="0"/>
              <a:cs typeface="Times New Roman" panose="02020603050405020304" pitchFamily="18" charset="0"/>
            </a:endParaRPr>
          </a:p>
        </p:txBody>
      </p:sp>
      <p:sp>
        <p:nvSpPr>
          <p:cNvPr id="2" name="Google Shape;167;p1">
            <a:extLst>
              <a:ext uri="{FF2B5EF4-FFF2-40B4-BE49-F238E27FC236}">
                <a16:creationId xmlns:a16="http://schemas.microsoft.com/office/drawing/2014/main" id="{45BFAD51-FFF9-0BD1-F841-030B914E32EE}"/>
              </a:ext>
            </a:extLst>
          </p:cNvPr>
          <p:cNvSpPr txBox="1">
            <a:spLocks noGrp="1"/>
          </p:cNvSpPr>
          <p:nvPr>
            <p:ph type="dt" sz="half" idx="10"/>
          </p:nvPr>
        </p:nvSpPr>
        <p:spPr>
          <a:xfrm>
            <a:off x="0" y="6501342"/>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B7A8BA43-D261-D2EB-1BFC-D424D9C9C161}"/>
              </a:ext>
            </a:extLst>
          </p:cNvPr>
          <p:cNvSpPr>
            <a:spLocks noGrp="1"/>
          </p:cNvSpPr>
          <p:nvPr>
            <p:ph type="sldNum" sz="quarter" idx="12"/>
          </p:nvPr>
        </p:nvSpPr>
        <p:spPr/>
        <p:txBody>
          <a:bodyPr/>
          <a:lstStyle/>
          <a:p>
            <a:fld id="{00000000-1234-1234-1234-123412341234}" type="slidenum">
              <a:rPr lang="en-US" smtClean="0"/>
              <a:t>57</a:t>
            </a:fld>
            <a:endParaRPr lang="en-US"/>
          </a:p>
        </p:txBody>
      </p:sp>
    </p:spTree>
    <p:extLst>
      <p:ext uri="{BB962C8B-B14F-4D97-AF65-F5344CB8AC3E}">
        <p14:creationId xmlns:p14="http://schemas.microsoft.com/office/powerpoint/2010/main" val="21766041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272">
          <a:extLst>
            <a:ext uri="{FF2B5EF4-FFF2-40B4-BE49-F238E27FC236}">
              <a16:creationId xmlns:a16="http://schemas.microsoft.com/office/drawing/2014/main" id="{C5B57A2A-D858-B1E7-479B-AFE0B275F46F}"/>
            </a:ext>
          </a:extLst>
        </p:cNvPr>
        <p:cNvGrpSpPr/>
        <p:nvPr/>
      </p:nvGrpSpPr>
      <p:grpSpPr>
        <a:xfrm>
          <a:off x="0" y="0"/>
          <a:ext cx="0" cy="0"/>
          <a:chOff x="0" y="0"/>
          <a:chExt cx="0" cy="0"/>
        </a:xfrm>
      </p:grpSpPr>
      <p:sp>
        <p:nvSpPr>
          <p:cNvPr id="1273" name="Google Shape;1273;p103">
            <a:extLst>
              <a:ext uri="{FF2B5EF4-FFF2-40B4-BE49-F238E27FC236}">
                <a16:creationId xmlns:a16="http://schemas.microsoft.com/office/drawing/2014/main" id="{2A71885D-04D1-6F46-BED7-2FE52EBD46D1}"/>
              </a:ext>
            </a:extLst>
          </p:cNvPr>
          <p:cNvSpPr txBox="1">
            <a:spLocks noGrp="1"/>
          </p:cNvSpPr>
          <p:nvPr>
            <p:ph type="title"/>
          </p:nvPr>
        </p:nvSpPr>
        <p:spPr>
          <a:xfrm>
            <a:off x="0" y="0"/>
            <a:ext cx="9144000" cy="53309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sz="2800" b="1" dirty="0">
                <a:solidFill>
                  <a:srgbClr val="006600"/>
                </a:solidFill>
                <a:latin typeface="Bookman Old Style" panose="02050604050505020204" pitchFamily="18" charset="0"/>
                <a:cs typeface="Calibri" panose="020F0502020204030204"/>
                <a:sym typeface="Times New Roman" panose="02020603050405020304"/>
              </a:rPr>
              <a:t>References </a:t>
            </a:r>
            <a:r>
              <a:rPr lang="en-US" sz="2800" b="1" dirty="0">
                <a:solidFill>
                  <a:srgbClr val="006600"/>
                </a:solidFill>
                <a:latin typeface="Bookman Old Style" panose="02050604050505020204" pitchFamily="18" charset="0"/>
                <a:cs typeface="Arial" panose="020B0604020202020204"/>
                <a:sym typeface="Times New Roman" panose="02020603050405020304"/>
              </a:rPr>
              <a:t>(Contd..)</a:t>
            </a:r>
            <a:endParaRPr sz="2800" dirty="0">
              <a:solidFill>
                <a:srgbClr val="006600"/>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6" name="Google Shape;1249;p100">
            <a:extLst>
              <a:ext uri="{FF2B5EF4-FFF2-40B4-BE49-F238E27FC236}">
                <a16:creationId xmlns:a16="http://schemas.microsoft.com/office/drawing/2014/main" id="{069275B8-3617-164E-9108-56E778CBF583}"/>
              </a:ext>
            </a:extLst>
          </p:cNvPr>
          <p:cNvCxnSpPr/>
          <p:nvPr/>
        </p:nvCxnSpPr>
        <p:spPr>
          <a:xfrm>
            <a:off x="0" y="537855"/>
            <a:ext cx="9144000" cy="1588"/>
          </a:xfrm>
          <a:prstGeom prst="straightConnector1">
            <a:avLst/>
          </a:prstGeom>
          <a:noFill/>
          <a:ln w="25400" cap="flat" cmpd="sng">
            <a:solidFill>
              <a:srgbClr val="800000"/>
            </a:solidFill>
            <a:prstDash val="solid"/>
            <a:round/>
            <a:headEnd type="none" w="sm" len="sm"/>
            <a:tailEnd type="none" w="sm" len="sm"/>
          </a:ln>
        </p:spPr>
      </p:cxnSp>
      <p:sp>
        <p:nvSpPr>
          <p:cNvPr id="24" name="TextBox 23">
            <a:extLst>
              <a:ext uri="{FF2B5EF4-FFF2-40B4-BE49-F238E27FC236}">
                <a16:creationId xmlns:a16="http://schemas.microsoft.com/office/drawing/2014/main" id="{19D6A4D7-0405-D0C6-8004-8472ED7F33FB}"/>
              </a:ext>
            </a:extLst>
          </p:cNvPr>
          <p:cNvSpPr txBox="1"/>
          <p:nvPr/>
        </p:nvSpPr>
        <p:spPr>
          <a:xfrm>
            <a:off x="265656" y="573320"/>
            <a:ext cx="8728442" cy="4350871"/>
          </a:xfrm>
          <a:prstGeom prst="rect">
            <a:avLst/>
          </a:prstGeom>
          <a:noFill/>
        </p:spPr>
        <p:txBody>
          <a:bodyPr wrap="square" lIns="91440" tIns="45720" rIns="91440" bIns="45720" anchor="t">
            <a:spAutoFit/>
          </a:bodyPr>
          <a:lstStyle/>
          <a:p>
            <a:pPr>
              <a:lnSpc>
                <a:spcPct val="107000"/>
              </a:lnSpc>
              <a:spcAft>
                <a:spcPts val="800"/>
              </a:spcAft>
            </a:pP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[16] R. A. Tathed, “Designing AI-driven platforms to transform agricultural ecosystems,” </a:t>
            </a:r>
            <a:r>
              <a:rPr lang="en-IN" sz="1700" i="1" dirty="0">
                <a:effectLst/>
                <a:latin typeface="Times New Roman" panose="02020603050405020304" pitchFamily="18" charset="0"/>
                <a:ea typeface="Times New Roman" panose="02020603050405020304" pitchFamily="18" charset="0"/>
                <a:cs typeface="Times New Roman" panose="02020603050405020304" pitchFamily="18" charset="0"/>
              </a:rPr>
              <a:t>International Journal for Research Publication and Seminar</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vol. 16, no. 2, pp. 249–268, Apr.–Jun. 2025.</a:t>
            </a:r>
            <a:endParaRPr lang="en-IN" sz="1700" dirty="0">
              <a:effectLst/>
              <a:latin typeface="Times New Roman" panose="02020603050405020304" pitchFamily="18" charset="0"/>
              <a:ea typeface="Aptos" panose="020B0004020202020204" pitchFamily="34" charset="0"/>
              <a:cs typeface="Times New Roman" panose="02020603050405020304" pitchFamily="18" charset="0"/>
            </a:endParaRPr>
          </a:p>
          <a:p>
            <a:pPr>
              <a:lnSpc>
                <a:spcPct val="107000"/>
              </a:lnSpc>
              <a:spcAft>
                <a:spcPts val="800"/>
              </a:spcAft>
            </a:pP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[17] M. Umar, S. Altaf, S. Ahmad, H. Mahmoud, A. S. N. Mohamed, and R. Ayub, “Precision agriculture through deep learning: Tomato plant multiple diseases recognition with CNN and improved YOLOv7,” </a:t>
            </a:r>
            <a:r>
              <a:rPr lang="en-IN" sz="1700" i="1" dirty="0">
                <a:effectLst/>
                <a:latin typeface="Times New Roman" panose="02020603050405020304" pitchFamily="18" charset="0"/>
                <a:ea typeface="Times New Roman" panose="02020603050405020304" pitchFamily="18" charset="0"/>
                <a:cs typeface="Times New Roman" panose="02020603050405020304" pitchFamily="18" charset="0"/>
              </a:rPr>
              <a:t>IEEE Access</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vol. 12, pp. 49167–49180, Apr. 2024.</a:t>
            </a:r>
          </a:p>
          <a:p>
            <a:pPr lvl="0" algn="just">
              <a:lnSpc>
                <a:spcPct val="115000"/>
              </a:lnSpc>
            </a:pP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[18] Y. Zhang, X. Wang, et al., “Data-driven robust model predictive control for greenhouse temperature control and energy utilisation assessment,” </a:t>
            </a:r>
            <a:r>
              <a:rPr lang="en-IN" sz="1700" i="1" dirty="0">
                <a:effectLst/>
                <a:latin typeface="Times New Roman" panose="02020603050405020304" pitchFamily="18" charset="0"/>
                <a:ea typeface="Times New Roman" panose="02020603050405020304" pitchFamily="18" charset="0"/>
                <a:cs typeface="Times New Roman" panose="02020603050405020304" pitchFamily="18" charset="0"/>
              </a:rPr>
              <a:t>Applied Energy</a:t>
            </a: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 2023.</a:t>
            </a:r>
            <a:endParaRPr lang="en-IN" sz="1700" dirty="0">
              <a:effectLst/>
              <a:latin typeface="Times New Roman" panose="02020603050405020304" pitchFamily="18" charset="0"/>
              <a:ea typeface="Calibri" panose="020F0502020204030204" pitchFamily="34" charset="0"/>
              <a:cs typeface="Times New Roman" panose="02020603050405020304" pitchFamily="18" charset="0"/>
            </a:endParaRPr>
          </a:p>
          <a:p>
            <a:pPr lvl="0" algn="just">
              <a:lnSpc>
                <a:spcPct val="115000"/>
              </a:lnSpc>
              <a:spcAft>
                <a:spcPts val="1000"/>
              </a:spcAft>
            </a:pPr>
            <a:r>
              <a:rPr lang="en-IN" sz="1700" dirty="0">
                <a:effectLst/>
                <a:latin typeface="Times New Roman" panose="02020603050405020304" pitchFamily="18" charset="0"/>
                <a:ea typeface="Times New Roman" panose="02020603050405020304" pitchFamily="18" charset="0"/>
                <a:cs typeface="Times New Roman" panose="02020603050405020304" pitchFamily="18" charset="0"/>
              </a:rPr>
              <a:t>[19] Z. Zhang, J. Li, and Y. Wang, “Digital twin-driven smart greenhouse management using deep learning and IoT integration,” Computers and Electronics in Agriculture, 2024.</a:t>
            </a:r>
          </a:p>
          <a:p>
            <a:pPr algn="just">
              <a:lnSpc>
                <a:spcPct val="115000"/>
              </a:lnSpc>
              <a:spcAft>
                <a:spcPts val="1000"/>
              </a:spcAft>
            </a:pPr>
            <a:r>
              <a:rPr lang="en-IN" sz="1700" dirty="0">
                <a:effectLst/>
                <a:latin typeface="Times New Roman" panose="02020603050405020304" pitchFamily="18" charset="0"/>
                <a:ea typeface="Aptos" panose="020B0004020202020204" pitchFamily="34" charset="0"/>
                <a:cs typeface="Times New Roman" panose="02020603050405020304" pitchFamily="18" charset="0"/>
              </a:rPr>
              <a:t>[20] Z. Zhao, Y. Zhou, and X. Zhu, “Deep learning-enabled digital twin framework for precision greenhouse agriculture,” </a:t>
            </a:r>
            <a:r>
              <a:rPr lang="en-IN" sz="1700" i="1" dirty="0">
                <a:effectLst/>
                <a:latin typeface="Times New Roman" panose="02020603050405020304" pitchFamily="18" charset="0"/>
                <a:ea typeface="Aptos" panose="020B0004020202020204" pitchFamily="34" charset="0"/>
                <a:cs typeface="Times New Roman" panose="02020603050405020304" pitchFamily="18" charset="0"/>
              </a:rPr>
              <a:t>Computers and Electronics in Agriculture</a:t>
            </a:r>
            <a:r>
              <a:rPr lang="en-IN" sz="1700" dirty="0">
                <a:effectLst/>
                <a:latin typeface="Times New Roman" panose="02020603050405020304" pitchFamily="18" charset="0"/>
                <a:ea typeface="Aptos" panose="020B0004020202020204" pitchFamily="34" charset="0"/>
                <a:cs typeface="Times New Roman" panose="02020603050405020304" pitchFamily="18" charset="0"/>
              </a:rPr>
              <a:t>, 2025.</a:t>
            </a:r>
          </a:p>
          <a:p>
            <a:pPr lvl="0" algn="just">
              <a:lnSpc>
                <a:spcPct val="115000"/>
              </a:lnSpc>
              <a:spcAft>
                <a:spcPts val="1000"/>
              </a:spcAft>
            </a:pPr>
            <a:endParaRPr lang="en-IN" sz="17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2" name="Google Shape;167;p1">
            <a:extLst>
              <a:ext uri="{FF2B5EF4-FFF2-40B4-BE49-F238E27FC236}">
                <a16:creationId xmlns:a16="http://schemas.microsoft.com/office/drawing/2014/main" id="{45BFAD51-FFF9-0BD1-F841-030B914E32EE}"/>
              </a:ext>
            </a:extLst>
          </p:cNvPr>
          <p:cNvSpPr txBox="1">
            <a:spLocks noGrp="1"/>
          </p:cNvSpPr>
          <p:nvPr>
            <p:ph type="dt" sz="half" idx="10"/>
          </p:nvPr>
        </p:nvSpPr>
        <p:spPr>
          <a:xfrm>
            <a:off x="0" y="6501342"/>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B7A8BA43-D261-D2EB-1BFC-D424D9C9C161}"/>
              </a:ext>
            </a:extLst>
          </p:cNvPr>
          <p:cNvSpPr>
            <a:spLocks noGrp="1"/>
          </p:cNvSpPr>
          <p:nvPr>
            <p:ph type="sldNum" sz="quarter" idx="12"/>
          </p:nvPr>
        </p:nvSpPr>
        <p:spPr/>
        <p:txBody>
          <a:bodyPr/>
          <a:lstStyle/>
          <a:p>
            <a:fld id="{00000000-1234-1234-1234-123412341234}" type="slidenum">
              <a:rPr lang="en-US" smtClean="0"/>
              <a:t>58</a:t>
            </a:fld>
            <a:endParaRPr lang="en-US"/>
          </a:p>
        </p:txBody>
      </p:sp>
    </p:spTree>
    <p:extLst>
      <p:ext uri="{BB962C8B-B14F-4D97-AF65-F5344CB8AC3E}">
        <p14:creationId xmlns:p14="http://schemas.microsoft.com/office/powerpoint/2010/main" val="30857506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304"/>
        <p:cNvGrpSpPr/>
        <p:nvPr/>
      </p:nvGrpSpPr>
      <p:grpSpPr>
        <a:xfrm>
          <a:off x="0" y="0"/>
          <a:ext cx="0" cy="0"/>
          <a:chOff x="0" y="0"/>
          <a:chExt cx="0" cy="0"/>
        </a:xfrm>
      </p:grpSpPr>
      <p:sp>
        <p:nvSpPr>
          <p:cNvPr id="1307" name="Google Shape;1307;p107"/>
          <p:cNvSpPr/>
          <p:nvPr/>
        </p:nvSpPr>
        <p:spPr>
          <a:xfrm>
            <a:off x="0" y="2598174"/>
            <a:ext cx="9144000" cy="1323399"/>
          </a:xfrm>
          <a:prstGeom prst="rect">
            <a:avLst/>
          </a:prstGeom>
          <a:noFill/>
          <a:ln>
            <a:noFill/>
          </a:ln>
        </p:spPr>
        <p:txBody>
          <a:bodyPr spcFirstLastPara="1" wrap="square" lIns="91425" tIns="45700" rIns="91425" bIns="45700" anchor="t" anchorCtr="0">
            <a:spAutoFit/>
          </a:bodyPr>
          <a:lstStyle/>
          <a:p>
            <a:pPr lvl="0" algn="ctr">
              <a:buClr>
                <a:srgbClr val="00B050"/>
              </a:buClr>
              <a:buSzPts val="5400"/>
            </a:pPr>
            <a:r>
              <a:rPr lang="en-US" sz="8000" b="1" i="0" u="none" strike="noStrike" cap="none" dirty="0">
                <a:solidFill>
                  <a:srgbClr val="006600"/>
                </a:solidFill>
                <a:latin typeface="Algerian" panose="04020705040A02060702" pitchFamily="82" charset="0"/>
                <a:sym typeface="Arial" panose="020B0604020202020204"/>
              </a:rPr>
              <a:t>Thank you </a:t>
            </a:r>
            <a:endParaRPr sz="2400" dirty="0">
              <a:solidFill>
                <a:srgbClr val="006600"/>
              </a:solidFill>
              <a:latin typeface="Algerian" panose="04020705040A02060702" pitchFamily="82" charset="0"/>
            </a:endParaRPr>
          </a:p>
        </p:txBody>
      </p:sp>
      <p:sp>
        <p:nvSpPr>
          <p:cNvPr id="2" name="Google Shape;167;p1">
            <a:extLst>
              <a:ext uri="{FF2B5EF4-FFF2-40B4-BE49-F238E27FC236}">
                <a16:creationId xmlns:a16="http://schemas.microsoft.com/office/drawing/2014/main" id="{4D8C5087-2000-D903-2CB6-EAE464394F04}"/>
              </a:ext>
            </a:extLst>
          </p:cNvPr>
          <p:cNvSpPr txBox="1">
            <a:spLocks noGrp="1"/>
          </p:cNvSpPr>
          <p:nvPr>
            <p:ph type="dt" sz="half" idx="10"/>
          </p:nvPr>
        </p:nvSpPr>
        <p:spPr>
          <a:xfrm>
            <a:off x="0" y="6492875"/>
            <a:ext cx="973667" cy="365125"/>
          </a:xfrm>
          <a:prstGeom prst="rect">
            <a:avLst/>
          </a:prstGeom>
          <a:noFill/>
          <a:ln>
            <a:noFill/>
          </a:ln>
        </p:spPr>
        <p:txBody>
          <a:bodyPr spcFirstLastPara="1" wrap="square" lIns="91425" tIns="45700" rIns="91425" bIns="45700" anchor="ctr" anchorCtr="0">
            <a:noAutofit/>
          </a:bodyPr>
          <a:lstStyle/>
          <a:p>
            <a:pPr lvl="0">
              <a:buClr>
                <a:srgbClr val="888888"/>
              </a:buClr>
              <a:buSzPts val="1200"/>
            </a:pPr>
            <a:r>
              <a:rPr lang="en-US" sz="1200">
                <a:solidFill>
                  <a:srgbClr val="888888"/>
                </a:solidFill>
              </a:rPr>
              <a:t>17/03/2026</a:t>
            </a:r>
            <a:endParaRPr sz="1200" b="0" i="0" u="none" strike="noStrike" cap="none">
              <a:solidFill>
                <a:srgbClr val="888888"/>
              </a:solidFill>
              <a:latin typeface="Arial" panose="020B0604020202020204"/>
              <a:ea typeface="Arial" panose="020B0604020202020204"/>
              <a:cs typeface="Arial" panose="020B0604020202020204"/>
              <a:sym typeface="Arial" panose="020B0604020202020204"/>
            </a:endParaRPr>
          </a:p>
        </p:txBody>
      </p:sp>
      <p:sp>
        <p:nvSpPr>
          <p:cNvPr id="3" name="Slide Number Placeholder 2">
            <a:extLst>
              <a:ext uri="{FF2B5EF4-FFF2-40B4-BE49-F238E27FC236}">
                <a16:creationId xmlns:a16="http://schemas.microsoft.com/office/drawing/2014/main" id="{7A8A9542-166A-F9E8-BB61-CA3CE9BDF847}"/>
              </a:ext>
            </a:extLst>
          </p:cNvPr>
          <p:cNvSpPr>
            <a:spLocks noGrp="1"/>
          </p:cNvSpPr>
          <p:nvPr>
            <p:ph type="sldNum" sz="quarter" idx="12"/>
          </p:nvPr>
        </p:nvSpPr>
        <p:spPr/>
        <p:txBody>
          <a:bodyPr/>
          <a:lstStyle/>
          <a:p>
            <a:fld id="{00000000-1234-1234-1234-123412341234}" type="slidenum">
              <a:rPr lang="en-US" smtClean="0"/>
              <a:t>59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800">
        <p159:morph option="byObject"/>
      </p:transition>
    </mc:Choice>
    <mc:Fallback xmlns="">
      <p:transition spd="slow">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TABLE_ENDDRAG_ORIGIN_RECT" val="695*361"/>
  <p:tag name="TABLE_ENDDRAG_RECT" val="13*100*695*361"/>
</p:tagLst>
</file>

<file path=ppt/tags/tag2.xml><?xml version="1.0" encoding="utf-8"?>
<p:tagLst xmlns:a="http://schemas.openxmlformats.org/drawingml/2006/main" xmlns:r="http://schemas.openxmlformats.org/officeDocument/2006/relationships" xmlns:p="http://schemas.openxmlformats.org/presentationml/2006/main">
  <p:tag name="TABLE_ENDDRAG_ORIGIN_RECT" val="695*361"/>
  <p:tag name="TABLE_ENDDRAG_RECT" val="13*100*695*361"/>
</p:tagLst>
</file>

<file path=ppt/tags/tag3.xml><?xml version="1.0" encoding="utf-8"?>
<p:tagLst xmlns:a="http://schemas.openxmlformats.org/drawingml/2006/main" xmlns:r="http://schemas.openxmlformats.org/officeDocument/2006/relationships" xmlns:p="http://schemas.openxmlformats.org/presentationml/2006/main">
  <p:tag name="TABLE_ENDDRAG_ORIGIN_RECT" val="695*361"/>
  <p:tag name="TABLE_ENDDRAG_RECT" val="13*100*695*36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7.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8.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9.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10.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1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1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468B0BB-C1D5-4F92-A32C-21ED7D6D2A09}">
  <we:reference id="wa200005566" version="1.0.0.0" store="en-US" storeType="omex"/>
  <we:alternateReferences>
    <we:reference id="wa200005566" version="1.0.0.0" store="omex"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2061</TotalTime>
  <Words>7022</Words>
  <Application>Microsoft Office PowerPoint</Application>
  <PresentationFormat>On-screen Show (4:3)</PresentationFormat>
  <Paragraphs>648</Paragraphs>
  <Slides>59</Slides>
  <Notes>59</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59</vt:i4>
      </vt:variant>
    </vt:vector>
  </HeadingPairs>
  <TitlesOfParts>
    <vt:vector size="70" baseType="lpstr">
      <vt:lpstr>Roboto</vt:lpstr>
      <vt:lpstr>Calibri Light</vt:lpstr>
      <vt:lpstr>Time New Roman</vt:lpstr>
      <vt:lpstr>Courier New</vt:lpstr>
      <vt:lpstr>Bookman Old Style</vt:lpstr>
      <vt:lpstr>Arial</vt:lpstr>
      <vt:lpstr>Calibri</vt:lpstr>
      <vt:lpstr>Algerian</vt:lpstr>
      <vt:lpstr>Wingdings</vt:lpstr>
      <vt:lpstr>Times New Roman</vt:lpstr>
      <vt:lpstr>Office Theme</vt:lpstr>
      <vt:lpstr>PowerPoint Presentation</vt:lpstr>
      <vt:lpstr>Agenda</vt:lpstr>
      <vt:lpstr>Abstract</vt:lpstr>
      <vt:lpstr>Introduction to Digital Twin–based Greenhouse Management</vt:lpstr>
      <vt:lpstr>Aligned Sustainable Development Goals</vt:lpstr>
      <vt:lpstr>Overview of Techniques, Algorithms and Simulation Used</vt:lpstr>
      <vt:lpstr>Overview of Techniques, Algorithms and Simulation Used (Contd..)</vt:lpstr>
      <vt:lpstr>Overview of Techniques, Algorithms and Simulation Used (Contd..)</vt:lpstr>
      <vt:lpstr>Overview of Techniques, Algorithms and Simulation Used (Contd..)</vt:lpstr>
      <vt:lpstr>Overview of Techniques, Algorithms and Simulation Used (Contd..)</vt:lpstr>
      <vt:lpstr>Overview of Techniques, Algorithms and Simulation Used (Contd..)</vt:lpstr>
      <vt:lpstr>PowerPoint Presentation</vt:lpstr>
      <vt:lpstr>PowerPoint Presentation</vt:lpstr>
      <vt:lpstr>PowerPoint Presentation</vt:lpstr>
      <vt:lpstr>Inference from Literature</vt:lpstr>
      <vt:lpstr>Proposed AgriTwin-GH System</vt:lpstr>
      <vt:lpstr>System Architecture of AgriTwin-GH</vt:lpstr>
      <vt:lpstr> System Architecture of AgriTwin-GH (Contd..)</vt:lpstr>
      <vt:lpstr>Project Modules</vt:lpstr>
      <vt:lpstr>Project Modules (Contd..)</vt:lpstr>
      <vt:lpstr>Project Modules (Contd..)</vt:lpstr>
      <vt:lpstr>Project Modules (Contd..)</vt:lpstr>
      <vt:lpstr>Project Modules (Contd..)</vt:lpstr>
      <vt:lpstr>Project Modules (Contd..)</vt:lpstr>
      <vt:lpstr>Project Modules (Contd..)</vt:lpstr>
      <vt:lpstr>Project Modules (Contd..)</vt:lpstr>
      <vt:lpstr>Project Modules (Contd..)</vt:lpstr>
      <vt:lpstr>Project Modules (Contd..)</vt:lpstr>
      <vt:lpstr>Project Modules (Contd..)</vt:lpstr>
      <vt:lpstr>Project Modules (Contd..)</vt:lpstr>
      <vt:lpstr>Project Modules (Contd..)</vt:lpstr>
      <vt:lpstr>Project Modules (Contd..)</vt:lpstr>
      <vt:lpstr>Project Modules (Contd..)</vt:lpstr>
      <vt:lpstr>Project Modules (Contd..)</vt:lpstr>
      <vt:lpstr>Project Modules (Contd..)</vt:lpstr>
      <vt:lpstr>Results &amp; Performance</vt:lpstr>
      <vt:lpstr>Results &amp; Performance (Contd..)</vt:lpstr>
      <vt:lpstr>Results &amp; Performance (Contd..)</vt:lpstr>
      <vt:lpstr>Results &amp; Performance (Contd..)</vt:lpstr>
      <vt:lpstr>Results &amp; Performance (Contd..)</vt:lpstr>
      <vt:lpstr>Results &amp; Performance (Contd..)</vt:lpstr>
      <vt:lpstr>Results &amp; Performance (Contd..)</vt:lpstr>
      <vt:lpstr>Results &amp; Performance (Contd..)</vt:lpstr>
      <vt:lpstr>Results &amp; Performance (Contd..)</vt:lpstr>
      <vt:lpstr>Results &amp; Performance (Contd..)</vt:lpstr>
      <vt:lpstr>Results &amp; Performance (Contd..)</vt:lpstr>
      <vt:lpstr>Results &amp; Performance (Contd..)</vt:lpstr>
      <vt:lpstr>Results &amp; Performance (Contd..)</vt:lpstr>
      <vt:lpstr>Results &amp; Performance (Contd..)</vt:lpstr>
      <vt:lpstr>Results &amp; Performance (Contd..)</vt:lpstr>
      <vt:lpstr>Comparison with Existing Systems</vt:lpstr>
      <vt:lpstr>Comparison with Existing Systems (Contd..)</vt:lpstr>
      <vt:lpstr>Comparison with Existing Systems (Contd..)</vt:lpstr>
      <vt:lpstr>Conclusion with Future Work</vt:lpstr>
      <vt:lpstr>Datasets Used</vt:lpstr>
      <vt:lpstr>References</vt:lpstr>
      <vt:lpstr>References (Contd..)</vt:lpstr>
      <vt:lpstr>References (Contd..)</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T23U5572</dc:creator>
  <cp:lastModifiedBy>Arjun Christopher</cp:lastModifiedBy>
  <cp:revision>1350</cp:revision>
  <dcterms:created xsi:type="dcterms:W3CDTF">2020-08-20T10:53:00Z</dcterms:created>
  <dcterms:modified xsi:type="dcterms:W3CDTF">2026-04-28T04:46:57Z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9F66D692DBFA4359B0825EFDAB6C8F37_13</vt:lpwstr>
  </property>
  <property fmtid="{D5CDD505-2E9C-101B-9397-08002B2CF9AE}" pid="3" name="KSOProductBuildVer">
    <vt:lpwstr>1033-12.2.0.23196</vt:lpwstr>
  </property>
</Properties>
</file>